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4"/>
  </p:sldMasterIdLst>
  <p:notesMasterIdLst>
    <p:notesMasterId r:id="rId5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4AA25-919E-4C60-9124-2ADF06B1B36F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0ED53-5F76-4806-8F99-2D72487523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08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0ED53-5F76-4806-8F99-2D724875231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0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269" y="-4273"/>
            <a:ext cx="4623110" cy="3469296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09" y="1213399"/>
            <a:ext cx="2937637" cy="830773"/>
          </a:xfrm>
        </p:spPr>
        <p:txBody>
          <a:bodyPr anchor="b">
            <a:noAutofit/>
          </a:bodyPr>
          <a:lstStyle>
            <a:lvl1pPr algn="r">
              <a:defRPr sz="272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09" y="2044171"/>
            <a:ext cx="2937637" cy="5535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6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91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22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52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83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13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44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71229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0381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1362938"/>
            <a:ext cx="3200306" cy="921747"/>
          </a:xfrm>
        </p:spPr>
        <p:txBody>
          <a:bodyPr anchor="b"/>
          <a:lstStyle>
            <a:lvl1pPr algn="l">
              <a:defRPr sz="201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5"/>
            <a:ext cx="3200306" cy="434183"/>
          </a:xfrm>
        </p:spPr>
        <p:txBody>
          <a:bodyPr anchor="t"/>
          <a:lstStyle>
            <a:lvl1pPr marL="0" indent="0" algn="l">
              <a:buNone/>
              <a:defRPr sz="10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57022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6" cy="66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340" y="1090297"/>
            <a:ext cx="1556922" cy="1958353"/>
          </a:xfrm>
        </p:spPr>
        <p:txBody>
          <a:bodyPr>
            <a:normAutofit/>
          </a:bodyPr>
          <a:lstStyle>
            <a:lvl1pPr>
              <a:defRPr sz="908"/>
            </a:lvl1pPr>
            <a:lvl2pPr>
              <a:defRPr sz="807"/>
            </a:lvl2pPr>
            <a:lvl3pPr>
              <a:defRPr sz="706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0724" y="1090298"/>
            <a:ext cx="1556922" cy="1958353"/>
          </a:xfrm>
        </p:spPr>
        <p:txBody>
          <a:bodyPr>
            <a:normAutofit/>
          </a:bodyPr>
          <a:lstStyle>
            <a:lvl1pPr>
              <a:defRPr sz="908"/>
            </a:lvl1pPr>
            <a:lvl2pPr>
              <a:defRPr sz="807"/>
            </a:lvl2pPr>
            <a:lvl3pPr>
              <a:defRPr sz="706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99441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5" cy="6665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1090496"/>
            <a:ext cx="155821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339" y="1381296"/>
            <a:ext cx="1558214" cy="166735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9431" y="1090496"/>
            <a:ext cx="155821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9431" y="1381296"/>
            <a:ext cx="1558214" cy="166735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5306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307622"/>
            <a:ext cx="3200306" cy="66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78750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55604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756240"/>
            <a:ext cx="1406717" cy="645152"/>
          </a:xfrm>
        </p:spPr>
        <p:txBody>
          <a:bodyPr anchor="b">
            <a:normAutofit/>
          </a:bodyPr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518" y="259847"/>
            <a:ext cx="1707127" cy="27888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339" y="1401391"/>
            <a:ext cx="1406717" cy="1304190"/>
          </a:xfrm>
        </p:spPr>
        <p:txBody>
          <a:bodyPr>
            <a:normAutofit/>
          </a:bodyPr>
          <a:lstStyle>
            <a:lvl1pPr marL="0" indent="0">
              <a:buNone/>
              <a:defRPr sz="706"/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02937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2422525"/>
            <a:ext cx="3200306" cy="285993"/>
          </a:xfrm>
        </p:spPr>
        <p:txBody>
          <a:bodyPr anchor="b">
            <a:normAutofit/>
          </a:bodyPr>
          <a:lstStyle>
            <a:lvl1pPr algn="l">
              <a:defRPr sz="121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339" y="307622"/>
            <a:ext cx="3200306" cy="1940663"/>
          </a:xfrm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339" y="2708518"/>
            <a:ext cx="3200306" cy="340132"/>
          </a:xfrm>
        </p:spPr>
        <p:txBody>
          <a:bodyPr>
            <a:normAutofit/>
          </a:bodyPr>
          <a:lstStyle>
            <a:lvl1pPr marL="0" indent="0">
              <a:buNone/>
              <a:defRPr sz="605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58832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6" cy="1717557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40" y="2255896"/>
            <a:ext cx="3200306" cy="792754"/>
          </a:xfrm>
        </p:spPr>
        <p:txBody>
          <a:bodyPr anchor="ctr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909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671" y="307622"/>
            <a:ext cx="3061392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55125" y="1832916"/>
            <a:ext cx="2732485" cy="192264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80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55896"/>
            <a:ext cx="3200306" cy="792754"/>
          </a:xfrm>
        </p:spPr>
        <p:txBody>
          <a:bodyPr anchor="ctr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  <p:sp>
        <p:nvSpPr>
          <p:cNvPr id="24" name="TextBox 23"/>
          <p:cNvSpPr txBox="1"/>
          <p:nvPr/>
        </p:nvSpPr>
        <p:spPr>
          <a:xfrm>
            <a:off x="243367" y="398848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965" y="1456642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2393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974938"/>
            <a:ext cx="3200306" cy="1309746"/>
          </a:xfrm>
        </p:spPr>
        <p:txBody>
          <a:bodyPr anchor="b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56807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671" y="307622"/>
            <a:ext cx="3061392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338" y="2025180"/>
            <a:ext cx="3200307" cy="25950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1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  <p:sp>
        <p:nvSpPr>
          <p:cNvPr id="24" name="TextBox 23"/>
          <p:cNvSpPr txBox="1"/>
          <p:nvPr/>
        </p:nvSpPr>
        <p:spPr>
          <a:xfrm>
            <a:off x="243367" y="398848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965" y="1456642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682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490" y="307622"/>
            <a:ext cx="3197155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338" y="2025180"/>
            <a:ext cx="3200307" cy="25950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10">
                <a:solidFill>
                  <a:schemeClr val="accent1"/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45367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105297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3562" y="307622"/>
            <a:ext cx="493484" cy="265003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339" y="307622"/>
            <a:ext cx="2619159" cy="2650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414426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207375"/>
            <a:ext cx="322326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</a:t>
            </a:r>
            <a:r>
              <a:rPr spc="10" dirty="0"/>
              <a:t> </a:t>
            </a:r>
            <a:r>
              <a:rPr spc="-10" dirty="0"/>
              <a:t>Kumar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Adarsh[dot]Kumar[at]ddn[dot]upes[dot]ac[dot]in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14034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269" y="-4273"/>
            <a:ext cx="4623110" cy="3469296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5" cy="666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1090298"/>
            <a:ext cx="3200306" cy="195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5151" y="3048651"/>
            <a:ext cx="344917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IN" spc="-10"/>
              <a:t>Adarsh[dot]Kumar[at]ddn[dot]upes[dot]ac[dot]in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340" y="3048651"/>
            <a:ext cx="233074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IN" spc="-10"/>
              <a:t>Adarsh</a:t>
            </a:r>
            <a:r>
              <a:rPr lang="en-IN" spc="10"/>
              <a:t> </a:t>
            </a:r>
            <a:r>
              <a:rPr lang="en-IN" spc="-10"/>
              <a:t>Kumar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49191" y="3048651"/>
            <a:ext cx="25845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accent1"/>
                </a:solidFill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lang="en-IN" smtClean="0"/>
              <a:t>‹#›</a:t>
            </a:fld>
            <a:r>
              <a:rPr lang="en-IN" spc="25"/>
              <a:t> </a:t>
            </a:r>
            <a:r>
              <a:rPr lang="en-IN" spc="150"/>
              <a:t>/</a:t>
            </a:r>
            <a:r>
              <a:rPr lang="en-IN" spc="25"/>
              <a:t> </a:t>
            </a:r>
            <a:r>
              <a:rPr lang="en-IN" spc="-25"/>
              <a:t>49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15125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230520" rtl="0" eaLnBrk="1" latinLnBrk="0" hangingPunct="1">
        <a:spcBef>
          <a:spcPct val="0"/>
        </a:spcBef>
        <a:buNone/>
        <a:defRPr sz="1815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2890" indent="-17289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4595" indent="-144075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630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682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3734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6786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9838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72890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95942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image" Target="../media/image1.png"/><Relationship Id="rId7" Type="http://schemas.openxmlformats.org/officeDocument/2006/relationships/slide" Target="slide46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5.png"/><Relationship Id="rId18" Type="http://schemas.openxmlformats.org/officeDocument/2006/relationships/slide" Target="slide10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4.png"/><Relationship Id="rId17" Type="http://schemas.openxmlformats.org/officeDocument/2006/relationships/slide" Target="slide9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3.png"/><Relationship Id="rId5" Type="http://schemas.openxmlformats.org/officeDocument/2006/relationships/slide" Target="slide15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19" Type="http://schemas.openxmlformats.org/officeDocument/2006/relationships/slide" Target="slide11.xml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0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3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1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7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5.png"/><Relationship Id="rId5" Type="http://schemas.openxmlformats.org/officeDocument/2006/relationships/slide" Target="slide15.xml"/><Relationship Id="rId15" Type="http://schemas.openxmlformats.org/officeDocument/2006/relationships/image" Target="../media/image19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slide" Target="slide16.xml"/><Relationship Id="rId12" Type="http://schemas.openxmlformats.org/officeDocument/2006/relationships/image" Target="../media/image21.png"/><Relationship Id="rId2" Type="http://schemas.openxmlformats.org/officeDocument/2006/relationships/image" Target="../media/image20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5" Type="http://schemas.openxmlformats.org/officeDocument/2006/relationships/slide" Target="slide13.xml"/><Relationship Id="rId15" Type="http://schemas.openxmlformats.org/officeDocument/2006/relationships/image" Target="../media/image24.png"/><Relationship Id="rId10" Type="http://schemas.openxmlformats.org/officeDocument/2006/relationships/slide" Target="slide48.xml"/><Relationship Id="rId4" Type="http://schemas.openxmlformats.org/officeDocument/2006/relationships/slide" Target="slide8.xml"/><Relationship Id="rId9" Type="http://schemas.openxmlformats.org/officeDocument/2006/relationships/slide" Target="slide47.xml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35.png"/><Relationship Id="rId7" Type="http://schemas.openxmlformats.org/officeDocument/2006/relationships/slide" Target="slide16.xml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image" Target="../media/image20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slide" Target="slide13.xml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slide" Target="slide48.xml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slide" Target="slide8.xml"/><Relationship Id="rId9" Type="http://schemas.openxmlformats.org/officeDocument/2006/relationships/slide" Target="slide47.xml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slide" Target="slide4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slide" Target="slide16.xml"/><Relationship Id="rId12" Type="http://schemas.openxmlformats.org/officeDocument/2006/relationships/image" Target="../media/image48.png"/><Relationship Id="rId17" Type="http://schemas.openxmlformats.org/officeDocument/2006/relationships/image" Target="../media/image52.png"/><Relationship Id="rId2" Type="http://schemas.openxmlformats.org/officeDocument/2006/relationships/image" Target="../media/image2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5" Type="http://schemas.openxmlformats.org/officeDocument/2006/relationships/slide" Target="slide13.xml"/><Relationship Id="rId15" Type="http://schemas.openxmlformats.org/officeDocument/2006/relationships/image" Target="../media/image51.png"/><Relationship Id="rId10" Type="http://schemas.openxmlformats.org/officeDocument/2006/relationships/slide" Target="slide48.xml"/><Relationship Id="rId4" Type="http://schemas.openxmlformats.org/officeDocument/2006/relationships/slide" Target="slide8.xml"/><Relationship Id="rId9" Type="http://schemas.openxmlformats.org/officeDocument/2006/relationships/slide" Target="slide47.xml"/><Relationship Id="rId1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slide" Target="slide16.xml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20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5" Type="http://schemas.openxmlformats.org/officeDocument/2006/relationships/slide" Target="slide13.xml"/><Relationship Id="rId15" Type="http://schemas.openxmlformats.org/officeDocument/2006/relationships/image" Target="../media/image56.png"/><Relationship Id="rId10" Type="http://schemas.openxmlformats.org/officeDocument/2006/relationships/slide" Target="slide48.xml"/><Relationship Id="rId4" Type="http://schemas.openxmlformats.org/officeDocument/2006/relationships/slide" Target="slide8.xml"/><Relationship Id="rId9" Type="http://schemas.openxmlformats.org/officeDocument/2006/relationships/slide" Target="slide47.xml"/><Relationship Id="rId1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3" Type="http://schemas.openxmlformats.org/officeDocument/2006/relationships/slide" Target="slide8.xml"/><Relationship Id="rId7" Type="http://schemas.openxmlformats.org/officeDocument/2006/relationships/slide" Target="slide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5" Type="http://schemas.openxmlformats.org/officeDocument/2006/relationships/slide" Target="slide13.xml"/><Relationship Id="rId10" Type="http://schemas.openxmlformats.org/officeDocument/2006/relationships/slide" Target="slide48.xml"/><Relationship Id="rId4" Type="http://schemas.openxmlformats.org/officeDocument/2006/relationships/image" Target="../media/image1.png"/><Relationship Id="rId9" Type="http://schemas.openxmlformats.org/officeDocument/2006/relationships/slide" Target="slide4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6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60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65.png"/><Relationship Id="rId18" Type="http://schemas.openxmlformats.org/officeDocument/2006/relationships/image" Target="../media/image30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1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63.png"/><Relationship Id="rId5" Type="http://schemas.openxmlformats.org/officeDocument/2006/relationships/slide" Target="slide15.xml"/><Relationship Id="rId15" Type="http://schemas.openxmlformats.org/officeDocument/2006/relationships/image" Target="../media/image67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7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71.png"/><Relationship Id="rId2" Type="http://schemas.openxmlformats.org/officeDocument/2006/relationships/image" Target="../media/image1.png"/><Relationship Id="rId16" Type="http://schemas.openxmlformats.org/officeDocument/2006/relationships/image" Target="../media/image75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70.png"/><Relationship Id="rId5" Type="http://schemas.openxmlformats.org/officeDocument/2006/relationships/slide" Target="slide15.xml"/><Relationship Id="rId15" Type="http://schemas.openxmlformats.org/officeDocument/2006/relationships/image" Target="../media/image74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79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77.png"/><Relationship Id="rId5" Type="http://schemas.openxmlformats.org/officeDocument/2006/relationships/slide" Target="slide15.xml"/><Relationship Id="rId15" Type="http://schemas.openxmlformats.org/officeDocument/2006/relationships/image" Target="../media/image81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48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50.png"/><Relationship Id="rId5" Type="http://schemas.openxmlformats.org/officeDocument/2006/relationships/slide" Target="slide15.xml"/><Relationship Id="rId15" Type="http://schemas.openxmlformats.org/officeDocument/2006/relationships/image" Target="../media/image85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88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9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90.png"/><Relationship Id="rId5" Type="http://schemas.openxmlformats.org/officeDocument/2006/relationships/slide" Target="slide15.xml"/><Relationship Id="rId15" Type="http://schemas.openxmlformats.org/officeDocument/2006/relationships/image" Target="../media/image94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96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97.png"/><Relationship Id="rId5" Type="http://schemas.openxmlformats.org/officeDocument/2006/relationships/slide" Target="slide15.xml"/><Relationship Id="rId15" Type="http://schemas.openxmlformats.org/officeDocument/2006/relationships/image" Target="../media/image101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08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105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06.png"/><Relationship Id="rId5" Type="http://schemas.openxmlformats.org/officeDocument/2006/relationships/slide" Target="slide15.xml"/><Relationship Id="rId15" Type="http://schemas.openxmlformats.org/officeDocument/2006/relationships/image" Target="../media/image110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16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13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14.png"/><Relationship Id="rId5" Type="http://schemas.openxmlformats.org/officeDocument/2006/relationships/slide" Target="slide15.xml"/><Relationship Id="rId15" Type="http://schemas.openxmlformats.org/officeDocument/2006/relationships/image" Target="../media/image118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2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21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14.png"/><Relationship Id="rId5" Type="http://schemas.openxmlformats.org/officeDocument/2006/relationships/slide" Target="slide15.xml"/><Relationship Id="rId15" Type="http://schemas.openxmlformats.org/officeDocument/2006/relationships/image" Target="../media/image118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2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23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14.png"/><Relationship Id="rId5" Type="http://schemas.openxmlformats.org/officeDocument/2006/relationships/slide" Target="slide15.xml"/><Relationship Id="rId15" Type="http://schemas.openxmlformats.org/officeDocument/2006/relationships/image" Target="../media/image118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126.png"/><Relationship Id="rId18" Type="http://schemas.openxmlformats.org/officeDocument/2006/relationships/image" Target="../media/image130.png"/><Relationship Id="rId3" Type="http://schemas.openxmlformats.org/officeDocument/2006/relationships/image" Target="../media/image124.png"/><Relationship Id="rId7" Type="http://schemas.openxmlformats.org/officeDocument/2006/relationships/slide" Target="slide16.xml"/><Relationship Id="rId12" Type="http://schemas.openxmlformats.org/officeDocument/2006/relationships/image" Target="../media/image125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2.png"/><Relationship Id="rId5" Type="http://schemas.openxmlformats.org/officeDocument/2006/relationships/slide" Target="slide13.xml"/><Relationship Id="rId15" Type="http://schemas.openxmlformats.org/officeDocument/2006/relationships/image" Target="../media/image128.png"/><Relationship Id="rId10" Type="http://schemas.openxmlformats.org/officeDocument/2006/relationships/slide" Target="slide48.xml"/><Relationship Id="rId19" Type="http://schemas.openxmlformats.org/officeDocument/2006/relationships/slide" Target="slide26.xml"/><Relationship Id="rId4" Type="http://schemas.openxmlformats.org/officeDocument/2006/relationships/slide" Target="slide8.xml"/><Relationship Id="rId9" Type="http://schemas.openxmlformats.org/officeDocument/2006/relationships/slide" Target="slide47.xml"/><Relationship Id="rId14" Type="http://schemas.openxmlformats.org/officeDocument/2006/relationships/image" Target="../media/image12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27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26.png"/><Relationship Id="rId17" Type="http://schemas.openxmlformats.org/officeDocument/2006/relationships/image" Target="../media/image130.png"/><Relationship Id="rId2" Type="http://schemas.openxmlformats.org/officeDocument/2006/relationships/image" Target="../media/image131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25.png"/><Relationship Id="rId5" Type="http://schemas.openxmlformats.org/officeDocument/2006/relationships/slide" Target="slide15.xml"/><Relationship Id="rId15" Type="http://schemas.openxmlformats.org/officeDocument/2006/relationships/image" Target="../media/image129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2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34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33.png"/><Relationship Id="rId17" Type="http://schemas.openxmlformats.org/officeDocument/2006/relationships/image" Target="../media/image137.png"/><Relationship Id="rId2" Type="http://schemas.openxmlformats.org/officeDocument/2006/relationships/image" Target="../media/image132.png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63.png"/><Relationship Id="rId5" Type="http://schemas.openxmlformats.org/officeDocument/2006/relationships/slide" Target="slide15.xml"/><Relationship Id="rId15" Type="http://schemas.openxmlformats.org/officeDocument/2006/relationships/image" Target="../media/image135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40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17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45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44.png"/><Relationship Id="rId2" Type="http://schemas.openxmlformats.org/officeDocument/2006/relationships/image" Target="../media/image142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43.png"/><Relationship Id="rId5" Type="http://schemas.openxmlformats.org/officeDocument/2006/relationships/slide" Target="slide15.xml"/><Relationship Id="rId15" Type="http://schemas.openxmlformats.org/officeDocument/2006/relationships/image" Target="../media/image147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4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slide" Target="slide8.xml"/><Relationship Id="rId21" Type="http://schemas.openxmlformats.org/officeDocument/2006/relationships/image" Target="../media/image160.png"/><Relationship Id="rId7" Type="http://schemas.openxmlformats.org/officeDocument/2006/relationships/slide" Target="slide46.xml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image" Target="../media/image149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50.png"/><Relationship Id="rId5" Type="http://schemas.openxmlformats.org/officeDocument/2006/relationships/slide" Target="slide15.xml"/><Relationship Id="rId15" Type="http://schemas.openxmlformats.org/officeDocument/2006/relationships/image" Target="../media/image154.png"/><Relationship Id="rId10" Type="http://schemas.openxmlformats.org/officeDocument/2006/relationships/image" Target="../media/image2.png"/><Relationship Id="rId19" Type="http://schemas.openxmlformats.org/officeDocument/2006/relationships/image" Target="../media/image158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5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64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63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62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68.png"/><Relationship Id="rId3" Type="http://schemas.openxmlformats.org/officeDocument/2006/relationships/image" Target="../media/image165.png"/><Relationship Id="rId7" Type="http://schemas.openxmlformats.org/officeDocument/2006/relationships/slide" Target="slide46.xml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" Type="http://schemas.openxmlformats.org/officeDocument/2006/relationships/slide" Target="slide8.xml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66.png"/><Relationship Id="rId5" Type="http://schemas.openxmlformats.org/officeDocument/2006/relationships/slide" Target="slide15.xml"/><Relationship Id="rId15" Type="http://schemas.openxmlformats.org/officeDocument/2006/relationships/image" Target="../media/image170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6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55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173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53.png"/><Relationship Id="rId5" Type="http://schemas.openxmlformats.org/officeDocument/2006/relationships/slide" Target="slide15.xml"/><Relationship Id="rId15" Type="http://schemas.openxmlformats.org/officeDocument/2006/relationships/image" Target="../media/image57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33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00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77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00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77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48.xml"/><Relationship Id="rId3" Type="http://schemas.openxmlformats.org/officeDocument/2006/relationships/slide" Target="slide13.xml"/><Relationship Id="rId7" Type="http://schemas.openxmlformats.org/officeDocument/2006/relationships/slide" Target="slide4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46.xml"/><Relationship Id="rId11" Type="http://schemas.openxmlformats.org/officeDocument/2006/relationships/image" Target="../media/image179.jpg"/><Relationship Id="rId5" Type="http://schemas.openxmlformats.org/officeDocument/2006/relationships/slide" Target="slide16.xml"/><Relationship Id="rId10" Type="http://schemas.openxmlformats.org/officeDocument/2006/relationships/image" Target="../media/image85.png"/><Relationship Id="rId4" Type="http://schemas.openxmlformats.org/officeDocument/2006/relationships/slide" Target="slide15.xml"/><Relationship Id="rId9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0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77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3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82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0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64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63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62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88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87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86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23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22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21.png"/><Relationship Id="rId5" Type="http://schemas.openxmlformats.org/officeDocument/2006/relationships/slide" Target="slide15.xml"/><Relationship Id="rId15" Type="http://schemas.openxmlformats.org/officeDocument/2006/relationships/image" Target="../media/image25.png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19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1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190.png"/><Relationship Id="rId5" Type="http://schemas.openxmlformats.org/officeDocument/2006/relationships/slide" Target="slide15.xml"/><Relationship Id="rId10" Type="http://schemas.openxmlformats.org/officeDocument/2006/relationships/image" Target="../media/image2.png"/><Relationship Id="rId4" Type="http://schemas.openxmlformats.org/officeDocument/2006/relationships/slide" Target="slide13.xml"/><Relationship Id="rId9" Type="http://schemas.openxmlformats.org/officeDocument/2006/relationships/slide" Target="slide48.xml"/><Relationship Id="rId14" Type="http://schemas.openxmlformats.org/officeDocument/2006/relationships/image" Target="../media/image19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62.png"/><Relationship Id="rId3" Type="http://schemas.openxmlformats.org/officeDocument/2006/relationships/slide" Target="slide8.xml"/><Relationship Id="rId7" Type="http://schemas.openxmlformats.org/officeDocument/2006/relationships/slide" Target="slide46.xml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60.png"/><Relationship Id="rId5" Type="http://schemas.openxmlformats.org/officeDocument/2006/relationships/slide" Target="slide15.xml"/><Relationship Id="rId10" Type="http://schemas.openxmlformats.org/officeDocument/2006/relationships/image" Target="../media/image194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8.xml"/><Relationship Id="rId7" Type="http://schemas.openxmlformats.org/officeDocument/2006/relationships/slide" Target="slide4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194.png"/><Relationship Id="rId4" Type="http://schemas.openxmlformats.org/officeDocument/2006/relationships/slide" Target="slide13.xml"/><Relationship Id="rId9" Type="http://schemas.openxmlformats.org/officeDocument/2006/relationships/slide" Target="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-9329"/>
            <a:ext cx="299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98B2CC"/>
                </a:solidFill>
                <a:latin typeface="Arial MT"/>
                <a:cs typeface="Arial MT"/>
                <a:hlinkClick r:id="rId2" action="ppaction://hlinksldjump"/>
              </a:rPr>
              <a:t>Syllabus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1707" y="105561"/>
            <a:ext cx="92075" cy="41275"/>
            <a:chOff x="481707" y="105561"/>
            <a:chExt cx="92075" cy="41275"/>
          </a:xfrm>
        </p:grpSpPr>
        <p:sp>
          <p:nvSpPr>
            <p:cNvPr id="4" name="object 4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960285" y="108092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98B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3852" y="105561"/>
            <a:ext cx="1578563" cy="410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8876" y="-9329"/>
            <a:ext cx="1601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75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7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8369" y="108092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98B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199340" y="105561"/>
            <a:ext cx="92075" cy="41275"/>
            <a:chOff x="4199340" y="105561"/>
            <a:chExt cx="92075" cy="41275"/>
          </a:xfrm>
        </p:grpSpPr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2277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9193" y="809319"/>
            <a:ext cx="4040504" cy="502920"/>
            <a:chOff x="309193" y="809319"/>
            <a:chExt cx="4040504" cy="502920"/>
          </a:xfrm>
        </p:grpSpPr>
        <p:sp>
          <p:nvSpPr>
            <p:cNvPr id="15" name="object 15"/>
            <p:cNvSpPr/>
            <p:nvPr/>
          </p:nvSpPr>
          <p:spPr>
            <a:xfrm>
              <a:off x="309193" y="809319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994" y="872580"/>
              <a:ext cx="3989704" cy="439420"/>
            </a:xfrm>
            <a:custGeom>
              <a:avLst/>
              <a:gdLst/>
              <a:ahLst/>
              <a:cxnLst/>
              <a:rect l="l" t="t" r="r" b="b"/>
              <a:pathLst>
                <a:path w="3989704" h="439419">
                  <a:moveTo>
                    <a:pt x="3989652" y="0"/>
                  </a:moveTo>
                  <a:lnTo>
                    <a:pt x="0" y="0"/>
                  </a:lnTo>
                  <a:lnTo>
                    <a:pt x="0" y="439101"/>
                  </a:lnTo>
                  <a:lnTo>
                    <a:pt x="3989652" y="4391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9193" y="853744"/>
              <a:ext cx="3989704" cy="407670"/>
            </a:xfrm>
            <a:custGeom>
              <a:avLst/>
              <a:gdLst/>
              <a:ahLst/>
              <a:cxnLst/>
              <a:rect l="l" t="t" r="r" b="b"/>
              <a:pathLst>
                <a:path w="3989704" h="407669">
                  <a:moveTo>
                    <a:pt x="3989652" y="0"/>
                  </a:moveTo>
                  <a:lnTo>
                    <a:pt x="0" y="0"/>
                  </a:lnTo>
                  <a:lnTo>
                    <a:pt x="0" y="356337"/>
                  </a:lnTo>
                  <a:lnTo>
                    <a:pt x="4008" y="376062"/>
                  </a:lnTo>
                  <a:lnTo>
                    <a:pt x="14922" y="392215"/>
                  </a:lnTo>
                  <a:lnTo>
                    <a:pt x="31075" y="403129"/>
                  </a:lnTo>
                  <a:lnTo>
                    <a:pt x="50800" y="407137"/>
                  </a:lnTo>
                  <a:lnTo>
                    <a:pt x="3938852" y="407137"/>
                  </a:lnTo>
                  <a:lnTo>
                    <a:pt x="3958576" y="403129"/>
                  </a:lnTo>
                  <a:lnTo>
                    <a:pt x="3974729" y="392215"/>
                  </a:lnTo>
                  <a:lnTo>
                    <a:pt x="3985644" y="376062"/>
                  </a:lnTo>
                  <a:lnTo>
                    <a:pt x="3989652" y="35633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9994" y="872580"/>
            <a:ext cx="3989704" cy="4394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75"/>
              </a:spcBef>
            </a:pPr>
            <a:r>
              <a:rPr sz="1200" b="1" spc="-10" dirty="0">
                <a:latin typeface="Arial"/>
                <a:cs typeface="Arial"/>
              </a:rPr>
              <a:t>Cybersecurity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757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Table</a:t>
            </a:r>
            <a:r>
              <a:rPr sz="1200" b="1" dirty="0">
                <a:latin typeface="Arial"/>
                <a:cs typeface="Arial"/>
              </a:rPr>
              <a:t> of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Contents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0741" y="897496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90741" y="897496"/>
            <a:ext cx="160655" cy="160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21030" y="1121308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1030" y="1293380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1030" y="1465453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1030" y="1637525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0741" y="1757870"/>
            <a:ext cx="160096" cy="102047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90741" y="1929294"/>
            <a:ext cx="160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0741" y="2101366"/>
            <a:ext cx="160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741" y="2273438"/>
            <a:ext cx="160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0741" y="2445510"/>
            <a:ext cx="160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0741" y="2617595"/>
            <a:ext cx="160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41414"/>
                </a:solidFill>
                <a:latin typeface="Arial MT"/>
                <a:cs typeface="Arial MT"/>
              </a:rPr>
              <a:t>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741" y="869402"/>
            <a:ext cx="1957070" cy="1912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endParaRPr sz="1100">
              <a:latin typeface="Arial MT"/>
              <a:cs typeface="Arial MT"/>
            </a:endParaRPr>
          </a:p>
          <a:p>
            <a:pPr marL="356870" marR="5080">
              <a:lnSpc>
                <a:spcPct val="102600"/>
              </a:lnSpc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3" action="ppaction://hlinksldjump"/>
              </a:rPr>
              <a:t>Unit-I: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3" action="ppaction://hlinksldjump"/>
              </a:rPr>
              <a:t>10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  <a:hlinkClick r:id="rId3" action="ppaction://hlinksldjump"/>
              </a:rPr>
              <a:t>Lecture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3" action="ppaction://hlinksldjump"/>
              </a:rPr>
              <a:t> Hours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UNIT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II: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12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Lecture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17" action="ppaction://hlinksldjump"/>
              </a:rPr>
              <a:t>Hours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UNIT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III: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11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Lecture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  <a:hlinkClick r:id="rId18" action="ppaction://hlinksldjump"/>
              </a:rPr>
              <a:t>Hours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UNIT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IV: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12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Lecture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Hours</a:t>
            </a:r>
            <a:endParaRPr sz="1100">
              <a:latin typeface="Arial MT"/>
              <a:cs typeface="Arial MT"/>
            </a:endParaRPr>
          </a:p>
          <a:p>
            <a:pPr marL="218440" marR="935355" indent="-165735">
              <a:lnSpc>
                <a:spcPct val="102600"/>
              </a:lnSpc>
            </a:pPr>
            <a:r>
              <a:rPr sz="1200" baseline="6944" dirty="0">
                <a:solidFill>
                  <a:srgbClr val="141414"/>
                </a:solidFill>
                <a:latin typeface="Arial MT"/>
                <a:cs typeface="Arial MT"/>
              </a:rPr>
              <a:t>2</a:t>
            </a:r>
            <a:r>
              <a:rPr sz="1200" spc="307" baseline="6944" dirty="0">
                <a:solidFill>
                  <a:srgbClr val="141414"/>
                </a:solidFill>
                <a:latin typeface="Arial MT"/>
                <a:cs typeface="Arial MT"/>
              </a:rPr>
              <a:t>  </a:t>
            </a: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336699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1100" spc="-45" dirty="0">
                <a:solidFill>
                  <a:srgbClr val="336699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100" spc="-70" dirty="0">
                <a:solidFill>
                  <a:srgbClr val="336699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endParaRPr sz="1100">
              <a:latin typeface="Arial MT"/>
              <a:cs typeface="Arial MT"/>
            </a:endParaRPr>
          </a:p>
          <a:p>
            <a:pPr marL="218440" marR="744855">
              <a:lnSpc>
                <a:spcPct val="102600"/>
              </a:lnSpc>
            </a:pPr>
            <a:r>
              <a:rPr sz="1100" spc="-65" dirty="0">
                <a:solidFill>
                  <a:srgbClr val="336699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1100" spc="10" dirty="0">
                <a:solidFill>
                  <a:srgbClr val="336699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1100" dirty="0">
                <a:solidFill>
                  <a:srgbClr val="336699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1100" spc="15" dirty="0">
                <a:solidFill>
                  <a:srgbClr val="336699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1100" spc="-40" dirty="0">
                <a:solidFill>
                  <a:srgbClr val="336699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r>
              <a:rPr sz="1100" spc="-4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336699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1100" spc="-45" dirty="0">
                <a:solidFill>
                  <a:srgbClr val="336699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336699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1100" spc="-20" dirty="0">
                <a:solidFill>
                  <a:srgbClr val="336699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1100" spc="-55" dirty="0">
                <a:solidFill>
                  <a:srgbClr val="336699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1100" spc="-5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336699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23998" y="920888"/>
            <a:ext cx="1943990" cy="194399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744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latin typeface="Arial"/>
                <a:cs typeface="Arial"/>
              </a:rPr>
              <a:t>Course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78419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4395" y="1494966"/>
            <a:ext cx="34620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enable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students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understand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basic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concepts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of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connected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world.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534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latin typeface="Arial"/>
                <a:cs typeface="Arial"/>
              </a:rPr>
              <a:t>Course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Outcomes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188719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398752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80857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162962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24395" y="1061489"/>
            <a:ext cx="3629660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CO1: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Describe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the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fundamentals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of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Security.</a:t>
            </a:r>
            <a:endParaRPr sz="1100">
              <a:latin typeface="Arial MT"/>
              <a:cs typeface="Arial MT"/>
            </a:endParaRPr>
          </a:p>
          <a:p>
            <a:pPr marL="12700" marR="207645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CO2: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several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vulnerabilities,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attacks,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and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cryptography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concepts.</a:t>
            </a:r>
            <a:endParaRPr sz="1100">
              <a:latin typeface="Arial MT"/>
              <a:cs typeface="Arial MT"/>
            </a:endParaRPr>
          </a:p>
          <a:p>
            <a:pPr marL="12700" marR="13716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CO3:</a:t>
            </a:r>
            <a:r>
              <a:rPr sz="11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Apply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various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approaches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for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security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audit.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CO4:</a:t>
            </a:r>
            <a:r>
              <a:rPr sz="11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Categorize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Physical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and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threats.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05" y="3351784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272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latin typeface="Arial"/>
                <a:cs typeface="Arial"/>
              </a:rPr>
              <a:t>Textbooks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Reference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Books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236218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2327" y="1426019"/>
            <a:ext cx="52590" cy="525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2327" y="1577860"/>
            <a:ext cx="52590" cy="5259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906803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2327" y="2096604"/>
            <a:ext cx="52590" cy="5259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24395" y="1127683"/>
            <a:ext cx="3636645" cy="12141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Textbooks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N. S.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Godbole,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i="1" spc="-20" dirty="0">
                <a:solidFill>
                  <a:srgbClr val="191933"/>
                </a:solidFill>
                <a:latin typeface="Arial"/>
                <a:cs typeface="Arial"/>
              </a:rPr>
              <a:t>Information</a:t>
            </a:r>
            <a:r>
              <a:rPr sz="1000" i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191933"/>
                </a:solidFill>
                <a:latin typeface="Arial"/>
                <a:cs typeface="Arial"/>
              </a:rPr>
              <a:t>Systems</a:t>
            </a:r>
            <a:r>
              <a:rPr sz="1000" i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191933"/>
                </a:solidFill>
                <a:latin typeface="Arial"/>
                <a:cs typeface="Arial"/>
              </a:rPr>
              <a:t>Security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Wiley,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2009.</a:t>
            </a:r>
            <a:endParaRPr sz="1000">
              <a:latin typeface="Arial MT"/>
              <a:cs typeface="Arial MT"/>
            </a:endParaRPr>
          </a:p>
          <a:p>
            <a:pPr marL="289560" marR="346075">
              <a:lnSpc>
                <a:spcPts val="1200"/>
              </a:lnSpc>
              <a:spcBef>
                <a:spcPts val="40"/>
              </a:spcBef>
            </a:pP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V.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K.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Jain,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i="1" spc="-35" dirty="0">
                <a:solidFill>
                  <a:srgbClr val="191933"/>
                </a:solidFill>
                <a:latin typeface="Arial"/>
                <a:cs typeface="Arial"/>
              </a:rPr>
              <a:t>Cryptography</a:t>
            </a:r>
            <a:r>
              <a:rPr sz="1000" i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1000" i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191933"/>
                </a:solidFill>
                <a:latin typeface="Arial"/>
                <a:cs typeface="Arial"/>
              </a:rPr>
              <a:t>Network</a:t>
            </a:r>
            <a:r>
              <a:rPr sz="1000" i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191933"/>
                </a:solidFill>
                <a:latin typeface="Arial"/>
                <a:cs typeface="Arial"/>
              </a:rPr>
              <a:t>Security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,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Khanna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Publishing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Arial MT"/>
                <a:cs typeface="Arial MT"/>
              </a:rPr>
              <a:t>House,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2013.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Reference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Books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P.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V.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K,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i="1" spc="-35" dirty="0">
                <a:solidFill>
                  <a:srgbClr val="191933"/>
                </a:solidFill>
                <a:latin typeface="Arial"/>
                <a:cs typeface="Arial"/>
              </a:rPr>
              <a:t>Cryptography</a:t>
            </a:r>
            <a:r>
              <a:rPr sz="1000" i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1000" i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191933"/>
                </a:solidFill>
                <a:latin typeface="Arial"/>
                <a:cs typeface="Arial"/>
              </a:rPr>
              <a:t>Information</a:t>
            </a:r>
            <a:r>
              <a:rPr sz="1000" i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191933"/>
                </a:solidFill>
                <a:latin typeface="Arial"/>
                <a:cs typeface="Arial"/>
              </a:rPr>
              <a:t>Security,</a:t>
            </a:r>
            <a:r>
              <a:rPr sz="1000" i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191933"/>
                </a:solidFill>
                <a:latin typeface="Arial"/>
                <a:cs typeface="Arial"/>
              </a:rPr>
              <a:t>Third</a:t>
            </a:r>
            <a:r>
              <a:rPr sz="1000" i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191933"/>
                </a:solidFill>
                <a:latin typeface="Arial"/>
                <a:cs typeface="Arial"/>
              </a:rPr>
              <a:t>Edition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,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PHI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Arial MT"/>
                <a:cs typeface="Arial MT"/>
              </a:rPr>
              <a:t>Learning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Pvt.</a:t>
            </a:r>
            <a:r>
              <a:rPr sz="1000" spc="1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Ltd.,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2019.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6224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70" dirty="0">
                <a:latin typeface="Arial"/>
                <a:cs typeface="Arial"/>
              </a:rPr>
              <a:t>Assessment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Weightage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20280" y="1380718"/>
          <a:ext cx="3361053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R="78740" algn="ctr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Components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IA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8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MID</a:t>
                      </a:r>
                      <a:r>
                        <a:rPr sz="1100" b="1" spc="10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SEM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End </a:t>
                      </a:r>
                      <a:r>
                        <a:rPr sz="110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Sem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Weightage</a:t>
                      </a:r>
                      <a:r>
                        <a:rPr sz="110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(%)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30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174356" y="1789905"/>
            <a:ext cx="2259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6699"/>
                </a:solidFill>
                <a:latin typeface="Arial MT"/>
                <a:cs typeface="Arial MT"/>
              </a:rPr>
              <a:t>Table:</a:t>
            </a:r>
            <a:r>
              <a:rPr sz="1000" spc="3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91933"/>
                </a:solidFill>
                <a:latin typeface="Arial MT"/>
                <a:cs typeface="Arial MT"/>
              </a:rPr>
              <a:t>Assessment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Weightage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Distribution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2136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Internal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Assessment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Weightage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69265" y="1036561"/>
          <a:ext cx="3864609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Internal</a:t>
                      </a:r>
                      <a:r>
                        <a:rPr sz="1100" b="1" spc="1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7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Assessment</a:t>
                      </a:r>
                      <a:r>
                        <a:rPr sz="1100" b="1" spc="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Weightage</a:t>
                      </a:r>
                      <a:r>
                        <a:rPr sz="1100" b="1" spc="7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(100</a:t>
                      </a:r>
                      <a:r>
                        <a:rPr sz="1100" b="1" spc="7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marks)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Quiz</a:t>
                      </a:r>
                      <a:r>
                        <a:rPr sz="11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175"/>
                        </a:lnSpc>
                      </a:pPr>
                      <a:r>
                        <a:rPr sz="11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Quiz</a:t>
                      </a:r>
                      <a:r>
                        <a:rPr sz="11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175"/>
                        </a:lnSpc>
                      </a:pPr>
                      <a:r>
                        <a:rPr sz="1100" spc="-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1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Test</a:t>
                      </a:r>
                      <a:r>
                        <a:rPr sz="11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175"/>
                        </a:lnSpc>
                      </a:pPr>
                      <a:r>
                        <a:rPr sz="1100" spc="-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Class</a:t>
                      </a:r>
                      <a:r>
                        <a:rPr sz="11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Test</a:t>
                      </a:r>
                      <a:r>
                        <a:rPr sz="11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15%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ts val="1175"/>
                        </a:lnSpc>
                      </a:pPr>
                      <a:r>
                        <a:rPr sz="11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Assignment</a:t>
                      </a:r>
                      <a:r>
                        <a:rPr sz="11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1/Project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20%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78105">
                        <a:lnSpc>
                          <a:spcPts val="1175"/>
                        </a:lnSpc>
                      </a:pPr>
                      <a:r>
                        <a:rPr sz="11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Assignment</a:t>
                      </a:r>
                      <a:r>
                        <a:rPr sz="11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2/Project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20%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863498" y="2306134"/>
            <a:ext cx="28816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6699"/>
                </a:solidFill>
                <a:latin typeface="Arial MT"/>
                <a:cs typeface="Arial MT"/>
              </a:rPr>
              <a:t>Table:</a:t>
            </a:r>
            <a:r>
              <a:rPr sz="1000" spc="1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Weightage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Internal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191933"/>
                </a:solidFill>
                <a:latin typeface="Arial MT"/>
                <a:cs typeface="Arial MT"/>
              </a:rPr>
              <a:t>Assessment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Arial MT"/>
                <a:cs typeface="Arial MT"/>
              </a:rPr>
              <a:t>Components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4" y="0"/>
            <a:ext cx="4608195" cy="3456304"/>
            <a:chOff x="-34" y="0"/>
            <a:chExt cx="4608195" cy="3456304"/>
          </a:xfrm>
        </p:grpSpPr>
        <p:sp>
          <p:nvSpPr>
            <p:cNvPr id="3" name="object 3"/>
            <p:cNvSpPr/>
            <p:nvPr/>
          </p:nvSpPr>
          <p:spPr>
            <a:xfrm>
              <a:off x="0" y="202438"/>
              <a:ext cx="4608195" cy="3253740"/>
            </a:xfrm>
            <a:custGeom>
              <a:avLst/>
              <a:gdLst/>
              <a:ahLst/>
              <a:cxnLst/>
              <a:rect l="l" t="t" r="r" b="b"/>
              <a:pathLst>
                <a:path w="4608195" h="3253740">
                  <a:moveTo>
                    <a:pt x="0" y="3253562"/>
                  </a:moveTo>
                  <a:lnTo>
                    <a:pt x="4608004" y="3253562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3253562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69083" y="3261575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9465" y="3257613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2392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9573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0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70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2024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-34" y="200756"/>
              <a:ext cx="4608195" cy="34290"/>
            </a:xfrm>
            <a:custGeom>
              <a:avLst/>
              <a:gdLst/>
              <a:ahLst/>
              <a:cxnLst/>
              <a:rect l="l" t="t" r="r" b="b"/>
              <a:pathLst>
                <a:path w="4608195" h="34289">
                  <a:moveTo>
                    <a:pt x="4608060" y="0"/>
                  </a:moveTo>
                  <a:lnTo>
                    <a:pt x="0" y="0"/>
                  </a:lnTo>
                  <a:lnTo>
                    <a:pt x="0" y="33740"/>
                  </a:lnTo>
                  <a:lnTo>
                    <a:pt x="4608060" y="3374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18110" y="105552"/>
            <a:ext cx="2944495" cy="41275"/>
            <a:chOff x="118110" y="105552"/>
            <a:chExt cx="2944495" cy="41275"/>
          </a:xfrm>
        </p:grpSpPr>
        <p:sp>
          <p:nvSpPr>
            <p:cNvPr id="22" name="object 22"/>
            <p:cNvSpPr/>
            <p:nvPr/>
          </p:nvSpPr>
          <p:spPr>
            <a:xfrm>
              <a:off x="120650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Syllabus</a:t>
            </a:r>
            <a:r>
              <a:rPr sz="6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33" name="object 33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300" y="207375"/>
            <a:ext cx="521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Unit</a:t>
            </a:r>
            <a:r>
              <a:rPr sz="1200" b="1" spc="1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311198"/>
            <a:ext cx="65265" cy="6526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521231"/>
            <a:ext cx="65265" cy="6526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731264"/>
            <a:ext cx="65265" cy="6526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1941296"/>
            <a:ext cx="65265" cy="6526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2151329"/>
            <a:ext cx="65265" cy="6526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24395" y="1183967"/>
            <a:ext cx="212725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Introduction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Space Introduction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Systems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Need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Security Introduction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Classification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8" name="object 48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4" y="0"/>
            <a:ext cx="4608195" cy="3456304"/>
            <a:chOff x="-34" y="0"/>
            <a:chExt cx="4608195" cy="3456304"/>
          </a:xfrm>
        </p:grpSpPr>
        <p:sp>
          <p:nvSpPr>
            <p:cNvPr id="3" name="object 3"/>
            <p:cNvSpPr/>
            <p:nvPr/>
          </p:nvSpPr>
          <p:spPr>
            <a:xfrm>
              <a:off x="0" y="202438"/>
              <a:ext cx="4608195" cy="3253740"/>
            </a:xfrm>
            <a:custGeom>
              <a:avLst/>
              <a:gdLst/>
              <a:ahLst/>
              <a:cxnLst/>
              <a:rect l="l" t="t" r="r" b="b"/>
              <a:pathLst>
                <a:path w="4608195" h="3253740">
                  <a:moveTo>
                    <a:pt x="0" y="3253562"/>
                  </a:moveTo>
                  <a:lnTo>
                    <a:pt x="4608004" y="3253562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3253562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69083" y="3261575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9465" y="3257613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2392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9573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0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70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2024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-34" y="200756"/>
              <a:ext cx="4608195" cy="34290"/>
            </a:xfrm>
            <a:custGeom>
              <a:avLst/>
              <a:gdLst/>
              <a:ahLst/>
              <a:cxnLst/>
              <a:rect l="l" t="t" r="r" b="b"/>
              <a:pathLst>
                <a:path w="4608195" h="34289">
                  <a:moveTo>
                    <a:pt x="4608060" y="0"/>
                  </a:moveTo>
                  <a:lnTo>
                    <a:pt x="0" y="0"/>
                  </a:lnTo>
                  <a:lnTo>
                    <a:pt x="0" y="33740"/>
                  </a:lnTo>
                  <a:lnTo>
                    <a:pt x="4608060" y="3374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22" name="object 22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Syllabus</a:t>
            </a:r>
            <a:r>
              <a:rPr sz="6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33" name="object 33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300" y="207375"/>
            <a:ext cx="25209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Unit-II: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Malware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Security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Tools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557428"/>
            <a:ext cx="65265" cy="6526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682688"/>
            <a:ext cx="65265" cy="6526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807935"/>
            <a:ext cx="65265" cy="6526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964831"/>
            <a:ext cx="65265" cy="6526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92327" y="1101077"/>
            <a:ext cx="52590" cy="5259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92327" y="1221282"/>
            <a:ext cx="52590" cy="5259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92327" y="1341475"/>
            <a:ext cx="52590" cy="5259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2327" y="1461681"/>
            <a:ext cx="52590" cy="5259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2327" y="1581873"/>
            <a:ext cx="52590" cy="5259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2327" y="1702079"/>
            <a:ext cx="52590" cy="5259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2327" y="1822272"/>
            <a:ext cx="52590" cy="5259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92327" y="1942477"/>
            <a:ext cx="52590" cy="5259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92327" y="2062670"/>
            <a:ext cx="52590" cy="5259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2551" y="2175256"/>
            <a:ext cx="65265" cy="6526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02551" y="2332151"/>
            <a:ext cx="65265" cy="6526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92327" y="2468397"/>
            <a:ext cx="52590" cy="5259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92327" y="2588590"/>
            <a:ext cx="52590" cy="5259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92327" y="2708795"/>
            <a:ext cx="52590" cy="5259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92327" y="2828988"/>
            <a:ext cx="52590" cy="5259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02551" y="2941574"/>
            <a:ext cx="65265" cy="6526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2551" y="3066834"/>
            <a:ext cx="65265" cy="6526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2551" y="3192094"/>
            <a:ext cx="65265" cy="65265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624395" y="511300"/>
            <a:ext cx="1611630" cy="27819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471805">
              <a:lnSpc>
                <a:spcPct val="102699"/>
              </a:lnSpc>
              <a:spcBef>
                <a:spcPts val="7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Classification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Malware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Explanation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Malware</a:t>
            </a:r>
            <a:endParaRPr sz="800">
              <a:latin typeface="Arial MT"/>
              <a:cs typeface="Arial MT"/>
            </a:endParaRPr>
          </a:p>
          <a:p>
            <a:pPr marL="289560" marR="752475" indent="-277495">
              <a:lnSpc>
                <a:spcPct val="98900"/>
              </a:lnSpc>
              <a:spcBef>
                <a:spcPts val="28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Malware: Virus</a:t>
            </a:r>
            <a:r>
              <a:rPr sz="8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Worms Trojans Rootkits Robots Adware Spyware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Ransomware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Zombies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Malware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Analysis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Open</a:t>
            </a:r>
            <a:r>
              <a:rPr sz="8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Source</a:t>
            </a:r>
            <a:r>
              <a:rPr sz="8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Tools:</a:t>
            </a:r>
            <a:endParaRPr sz="800">
              <a:latin typeface="Arial MT"/>
              <a:cs typeface="Arial MT"/>
            </a:endParaRPr>
          </a:p>
          <a:p>
            <a:pPr marL="289560" marR="410209">
              <a:lnSpc>
                <a:spcPts val="950"/>
              </a:lnSpc>
              <a:spcBef>
                <a:spcPts val="5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Antivirus</a:t>
            </a:r>
            <a:r>
              <a:rPr sz="800" spc="1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Protection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Anti-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Spyware</a:t>
            </a:r>
            <a:endParaRPr sz="800">
              <a:latin typeface="Arial MT"/>
              <a:cs typeface="Arial MT"/>
            </a:endParaRPr>
          </a:p>
          <a:p>
            <a:pPr marL="289560">
              <a:lnSpc>
                <a:spcPts val="905"/>
              </a:lnSpc>
            </a:pP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Tuning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Tools</a:t>
            </a:r>
            <a:endParaRPr sz="800">
              <a:latin typeface="Arial MT"/>
              <a:cs typeface="Arial MT"/>
            </a:endParaRPr>
          </a:p>
          <a:p>
            <a:pPr marL="12700" marR="483234" indent="276860">
              <a:lnSpc>
                <a:spcPts val="990"/>
              </a:lnSpc>
              <a:spcBef>
                <a:spcPts val="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Anti-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Phishing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Vulnerability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91933"/>
                </a:solidFill>
                <a:latin typeface="Arial MT"/>
                <a:cs typeface="Arial MT"/>
              </a:rPr>
              <a:t>Assessment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Intrusion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(IDS)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Intrusion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Prevention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(IPS)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5" name="object 6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4" y="0"/>
            <a:ext cx="4608195" cy="3456304"/>
            <a:chOff x="-34" y="0"/>
            <a:chExt cx="4608195" cy="3456304"/>
          </a:xfrm>
        </p:grpSpPr>
        <p:sp>
          <p:nvSpPr>
            <p:cNvPr id="3" name="object 3"/>
            <p:cNvSpPr/>
            <p:nvPr/>
          </p:nvSpPr>
          <p:spPr>
            <a:xfrm>
              <a:off x="0" y="202438"/>
              <a:ext cx="4608195" cy="3253740"/>
            </a:xfrm>
            <a:custGeom>
              <a:avLst/>
              <a:gdLst/>
              <a:ahLst/>
              <a:cxnLst/>
              <a:rect l="l" t="t" r="r" b="b"/>
              <a:pathLst>
                <a:path w="4608195" h="3253740">
                  <a:moveTo>
                    <a:pt x="0" y="3253562"/>
                  </a:moveTo>
                  <a:lnTo>
                    <a:pt x="4608004" y="3253562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3253562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69083" y="3261575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9465" y="3257613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2392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9573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0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70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2024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-34" y="200756"/>
              <a:ext cx="4608195" cy="34290"/>
            </a:xfrm>
            <a:custGeom>
              <a:avLst/>
              <a:gdLst/>
              <a:ahLst/>
              <a:cxnLst/>
              <a:rect l="l" t="t" r="r" b="b"/>
              <a:pathLst>
                <a:path w="4608195" h="34289">
                  <a:moveTo>
                    <a:pt x="4608060" y="0"/>
                  </a:moveTo>
                  <a:lnTo>
                    <a:pt x="0" y="0"/>
                  </a:lnTo>
                  <a:lnTo>
                    <a:pt x="0" y="33740"/>
                  </a:lnTo>
                  <a:lnTo>
                    <a:pt x="4608060" y="3374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22" name="object 22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Syllabus</a:t>
            </a:r>
            <a:r>
              <a:rPr sz="6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33" name="object 33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300" y="207375"/>
            <a:ext cx="28949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75" dirty="0">
                <a:latin typeface="Arial"/>
                <a:cs typeface="Arial"/>
              </a:rPr>
              <a:t>UNIT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III:Cryptography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Cryptanalysis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227175"/>
            <a:ext cx="65265" cy="6526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437208"/>
            <a:ext cx="65265" cy="6526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647240"/>
            <a:ext cx="65265" cy="6526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1857273"/>
            <a:ext cx="65265" cy="6526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2067306"/>
            <a:ext cx="65265" cy="6526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2277338"/>
            <a:ext cx="65265" cy="65265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624395" y="1099957"/>
            <a:ext cx="1803400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Introduction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Cryptography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Symmetric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Key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Cryptography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Asymmetric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Key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Cryptography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Message</a:t>
            </a:r>
            <a:r>
              <a:rPr sz="11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Authentication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Digital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Signatures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Applications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Cryptography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9" name="object 4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4" y="0"/>
            <a:ext cx="4608195" cy="3456304"/>
            <a:chOff x="-34" y="0"/>
            <a:chExt cx="4608195" cy="3456304"/>
          </a:xfrm>
        </p:grpSpPr>
        <p:sp>
          <p:nvSpPr>
            <p:cNvPr id="3" name="object 3"/>
            <p:cNvSpPr/>
            <p:nvPr/>
          </p:nvSpPr>
          <p:spPr>
            <a:xfrm>
              <a:off x="0" y="202438"/>
              <a:ext cx="4608195" cy="3253740"/>
            </a:xfrm>
            <a:custGeom>
              <a:avLst/>
              <a:gdLst/>
              <a:ahLst/>
              <a:cxnLst/>
              <a:rect l="l" t="t" r="r" b="b"/>
              <a:pathLst>
                <a:path w="4608195" h="3253740">
                  <a:moveTo>
                    <a:pt x="0" y="3253562"/>
                  </a:moveTo>
                  <a:lnTo>
                    <a:pt x="4608004" y="3253562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3253562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69083" y="3261575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9465" y="3257613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2392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9573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0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70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2024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-34" y="200756"/>
              <a:ext cx="4608195" cy="34290"/>
            </a:xfrm>
            <a:custGeom>
              <a:avLst/>
              <a:gdLst/>
              <a:ahLst/>
              <a:cxnLst/>
              <a:rect l="l" t="t" r="r" b="b"/>
              <a:pathLst>
                <a:path w="4608195" h="34289">
                  <a:moveTo>
                    <a:pt x="4608060" y="0"/>
                  </a:moveTo>
                  <a:lnTo>
                    <a:pt x="0" y="0"/>
                  </a:lnTo>
                  <a:lnTo>
                    <a:pt x="0" y="33740"/>
                  </a:lnTo>
                  <a:lnTo>
                    <a:pt x="4608060" y="3374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22" name="object 22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Syllabus</a:t>
            </a:r>
            <a:r>
              <a:rPr sz="6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33" name="object 33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300" y="207375"/>
            <a:ext cx="19697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75" dirty="0">
                <a:latin typeface="Arial"/>
                <a:cs typeface="Arial"/>
              </a:rPr>
              <a:t>UNIT</a:t>
            </a:r>
            <a:r>
              <a:rPr sz="1200" b="1" spc="9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IV:</a:t>
            </a:r>
            <a:r>
              <a:rPr sz="1200" b="1" spc="9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Cyber</a:t>
            </a:r>
            <a:r>
              <a:rPr sz="1200" b="1" spc="100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Law-</a:t>
            </a:r>
            <a:r>
              <a:rPr sz="1200" b="1" spc="-45" dirty="0"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143165"/>
            <a:ext cx="65265" cy="6526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353197"/>
            <a:ext cx="65265" cy="6526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563230"/>
            <a:ext cx="65265" cy="6526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1773263"/>
            <a:ext cx="65265" cy="6526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1983295"/>
            <a:ext cx="65265" cy="6526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2193328"/>
            <a:ext cx="65265" cy="6526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2551" y="2403360"/>
            <a:ext cx="65265" cy="65265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24395" y="1015946"/>
            <a:ext cx="242951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990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Technology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Act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2000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Amendments</a:t>
            </a:r>
            <a:r>
              <a:rPr sz="11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11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Act</a:t>
            </a:r>
            <a:r>
              <a:rPr sz="11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2000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Evidentiary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Value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Email/SMS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Cybercrimes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Offenses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Dealt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IPC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RBI Act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IPR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Act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India</a:t>
            </a:r>
            <a:r>
              <a:rPr sz="11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Jurisdiction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Crime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191933"/>
                </a:solidFill>
                <a:latin typeface="Arial MT"/>
                <a:cs typeface="Arial MT"/>
              </a:rPr>
              <a:t>Awareness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Tips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0" name="object 5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4" y="0"/>
            <a:ext cx="4608195" cy="3456304"/>
            <a:chOff x="-34" y="0"/>
            <a:chExt cx="4608195" cy="3456304"/>
          </a:xfrm>
        </p:grpSpPr>
        <p:sp>
          <p:nvSpPr>
            <p:cNvPr id="3" name="object 3"/>
            <p:cNvSpPr/>
            <p:nvPr/>
          </p:nvSpPr>
          <p:spPr>
            <a:xfrm>
              <a:off x="0" y="202438"/>
              <a:ext cx="4608195" cy="3253740"/>
            </a:xfrm>
            <a:custGeom>
              <a:avLst/>
              <a:gdLst/>
              <a:ahLst/>
              <a:cxnLst/>
              <a:rect l="l" t="t" r="r" b="b"/>
              <a:pathLst>
                <a:path w="4608195" h="3253740">
                  <a:moveTo>
                    <a:pt x="0" y="3253562"/>
                  </a:moveTo>
                  <a:lnTo>
                    <a:pt x="4608004" y="3253562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3253562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69083" y="3261575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9465" y="3257613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2392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E0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E0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49573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0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70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2024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-34" y="200756"/>
              <a:ext cx="4608195" cy="34290"/>
            </a:xfrm>
            <a:custGeom>
              <a:avLst/>
              <a:gdLst/>
              <a:ahLst/>
              <a:cxnLst/>
              <a:rect l="l" t="t" r="r" b="b"/>
              <a:pathLst>
                <a:path w="4608195" h="34289">
                  <a:moveTo>
                    <a:pt x="4608060" y="0"/>
                  </a:moveTo>
                  <a:lnTo>
                    <a:pt x="0" y="0"/>
                  </a:lnTo>
                  <a:lnTo>
                    <a:pt x="0" y="33740"/>
                  </a:lnTo>
                  <a:lnTo>
                    <a:pt x="4608060" y="3374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68516" y="105552"/>
            <a:ext cx="192405" cy="41275"/>
            <a:chOff x="168516" y="105552"/>
            <a:chExt cx="192405" cy="41275"/>
          </a:xfrm>
        </p:grpSpPr>
        <p:sp>
          <p:nvSpPr>
            <p:cNvPr id="22" name="object 22"/>
            <p:cNvSpPr/>
            <p:nvPr/>
          </p:nvSpPr>
          <p:spPr>
            <a:xfrm>
              <a:off x="1710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14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856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24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5300" y="-9329"/>
            <a:ext cx="299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1698" y="105552"/>
            <a:ext cx="2581275" cy="41275"/>
            <a:chOff x="481698" y="105552"/>
            <a:chExt cx="2581275" cy="41275"/>
          </a:xfrm>
        </p:grpSpPr>
        <p:sp>
          <p:nvSpPr>
            <p:cNvPr id="29" name="object 29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58876" y="-9329"/>
            <a:ext cx="1601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75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7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35" name="object 35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58215" y="1439349"/>
            <a:ext cx="2892425" cy="580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b="1" spc="-10" dirty="0">
                <a:solidFill>
                  <a:srgbClr val="191933"/>
                </a:solidFill>
                <a:latin typeface="Arial"/>
                <a:cs typeface="Arial"/>
              </a:rPr>
              <a:t>Welcome</a:t>
            </a:r>
            <a:r>
              <a:rPr sz="17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91933"/>
                </a:solidFill>
                <a:latin typeface="Arial"/>
                <a:cs typeface="Arial"/>
              </a:rPr>
              <a:t>to</a:t>
            </a:r>
            <a:r>
              <a:rPr sz="17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91933"/>
                </a:solidFill>
                <a:latin typeface="Arial"/>
                <a:cs typeface="Arial"/>
              </a:rPr>
              <a:t>the</a:t>
            </a:r>
            <a:r>
              <a:rPr sz="1700" b="1" spc="8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91933"/>
                </a:solidFill>
                <a:latin typeface="Arial"/>
                <a:cs typeface="Arial"/>
              </a:rPr>
              <a:t>Basics!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1000" i="1" spc="-40" dirty="0">
                <a:solidFill>
                  <a:srgbClr val="191933"/>
                </a:solidFill>
                <a:latin typeface="Arial"/>
                <a:cs typeface="Arial"/>
              </a:rPr>
              <a:t>Discover</a:t>
            </a:r>
            <a:r>
              <a:rPr sz="1000" i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191933"/>
                </a:solidFill>
                <a:latin typeface="Arial"/>
                <a:cs typeface="Arial"/>
              </a:rPr>
              <a:t>the</a:t>
            </a:r>
            <a:r>
              <a:rPr sz="1000" i="1" spc="-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191933"/>
                </a:solidFill>
                <a:latin typeface="Arial"/>
                <a:cs typeface="Arial"/>
              </a:rPr>
              <a:t>fundamental</a:t>
            </a:r>
            <a:r>
              <a:rPr sz="1000" i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191933"/>
                </a:solidFill>
                <a:latin typeface="Arial"/>
                <a:cs typeface="Arial"/>
              </a:rPr>
              <a:t>concepts</a:t>
            </a:r>
            <a:r>
              <a:rPr sz="1000" i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1000" i="1" spc="-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191933"/>
                </a:solidFill>
                <a:latin typeface="Arial"/>
                <a:cs typeface="Arial"/>
              </a:rPr>
              <a:t>key</a:t>
            </a:r>
            <a:r>
              <a:rPr sz="1000" i="1" spc="-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191933"/>
                </a:solidFill>
                <a:latin typeface="Arial"/>
                <a:cs typeface="Arial"/>
              </a:rPr>
              <a:t>principles.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4" name="object 4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10" name="object 10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880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latin typeface="Arial"/>
                <a:cs typeface="Arial"/>
              </a:rPr>
              <a:t>Introduction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79219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689252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9928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24395" y="1351989"/>
            <a:ext cx="165290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Definition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Cybersecurity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Importance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Cybersecurity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Key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Concepts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10" name="object 10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709307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2327" y="899122"/>
            <a:ext cx="52590" cy="525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683550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2327" y="1841728"/>
            <a:ext cx="52590" cy="5259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2327" y="2082126"/>
            <a:ext cx="52590" cy="525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92327" y="2322525"/>
            <a:ext cx="52590" cy="5259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92327" y="2683129"/>
            <a:ext cx="52590" cy="525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92327" y="2923527"/>
            <a:ext cx="52590" cy="5259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5300" y="207375"/>
            <a:ext cx="4165600" cy="2924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Arial"/>
                <a:cs typeface="Arial"/>
              </a:rPr>
              <a:t>Introduction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Cybersecurity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Definition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 of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Cybersecurity</a:t>
            </a:r>
            <a:endParaRPr sz="1100">
              <a:latin typeface="Arial"/>
              <a:cs typeface="Arial"/>
            </a:endParaRPr>
          </a:p>
          <a:p>
            <a:pPr marL="818515" marR="97155">
              <a:lnSpc>
                <a:spcPct val="100000"/>
              </a:lnSpc>
              <a:spcBef>
                <a:spcPts val="175"/>
              </a:spcBef>
            </a:pPr>
            <a:r>
              <a:rPr sz="1000" spc="-45" dirty="0">
                <a:solidFill>
                  <a:srgbClr val="191933"/>
                </a:solidFill>
                <a:latin typeface="Arial MT"/>
                <a:cs typeface="Arial MT"/>
              </a:rPr>
              <a:t>Cybersecurity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refers</a:t>
            </a:r>
            <a:r>
              <a:rPr sz="10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practice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protecting</a:t>
            </a:r>
            <a:r>
              <a:rPr sz="10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systems,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networks,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10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digital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attacks,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5" dirty="0">
                <a:solidFill>
                  <a:srgbClr val="191933"/>
                </a:solidFill>
                <a:latin typeface="Arial MT"/>
                <a:cs typeface="Arial MT"/>
              </a:rPr>
              <a:t>unauthorized</a:t>
            </a:r>
            <a:r>
              <a:rPr sz="10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191933"/>
                </a:solidFill>
                <a:latin typeface="Arial MT"/>
                <a:cs typeface="Arial MT"/>
              </a:rPr>
              <a:t>access,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damage.</a:t>
            </a:r>
            <a:r>
              <a:rPr sz="1000" spc="114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implementing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various</a:t>
            </a:r>
            <a:r>
              <a:rPr sz="10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technologies, </a:t>
            </a:r>
            <a:r>
              <a:rPr sz="1000" spc="-70" dirty="0">
                <a:solidFill>
                  <a:srgbClr val="191933"/>
                </a:solidFill>
                <a:latin typeface="Arial MT"/>
                <a:cs typeface="Arial MT"/>
              </a:rPr>
              <a:t>processes,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practices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55" dirty="0">
                <a:solidFill>
                  <a:srgbClr val="191933"/>
                </a:solidFill>
                <a:latin typeface="Arial MT"/>
                <a:cs typeface="Arial MT"/>
              </a:rPr>
              <a:t>safeguard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ensure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integrity,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confidentiality,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availability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digital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assets.</a:t>
            </a:r>
            <a:endParaRPr sz="10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175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Importance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Cybersecurity</a:t>
            </a:r>
            <a:endParaRPr sz="1100">
              <a:latin typeface="Arial"/>
              <a:cs typeface="Arial"/>
            </a:endParaRPr>
          </a:p>
          <a:p>
            <a:pPr marL="818515" marR="381635">
              <a:lnSpc>
                <a:spcPts val="950"/>
              </a:lnSpc>
              <a:spcBef>
                <a:spcPts val="16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Protection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Sensitive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Data:</a:t>
            </a:r>
            <a:r>
              <a:rPr sz="8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Safeguards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personal,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financial,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 sensitive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breaches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theft.</a:t>
            </a:r>
            <a:endParaRPr sz="800">
              <a:latin typeface="Arial MT"/>
              <a:cs typeface="Arial MT"/>
            </a:endParaRPr>
          </a:p>
          <a:p>
            <a:pPr marL="818515">
              <a:lnSpc>
                <a:spcPts val="905"/>
              </a:lnSpc>
            </a:pP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Prevention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8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91933"/>
                </a:solidFill>
                <a:latin typeface="Arial"/>
                <a:cs typeface="Arial"/>
              </a:rPr>
              <a:t>Cyber</a:t>
            </a:r>
            <a:r>
              <a:rPr sz="8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Attacks:</a:t>
            </a:r>
            <a:r>
              <a:rPr sz="8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Shields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various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endParaRPr sz="800">
              <a:latin typeface="Arial MT"/>
              <a:cs typeface="Arial MT"/>
            </a:endParaRPr>
          </a:p>
          <a:p>
            <a:pPr marL="818515">
              <a:lnSpc>
                <a:spcPts val="944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malware,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ransomware,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 and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phishing.</a:t>
            </a:r>
            <a:endParaRPr sz="800">
              <a:latin typeface="Arial MT"/>
              <a:cs typeface="Arial MT"/>
            </a:endParaRPr>
          </a:p>
          <a:p>
            <a:pPr marL="818515" marR="60325">
              <a:lnSpc>
                <a:spcPts val="950"/>
              </a:lnSpc>
              <a:spcBef>
                <a:spcPts val="3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Maintaining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Trust</a:t>
            </a:r>
            <a:r>
              <a:rPr sz="8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and</a:t>
            </a:r>
            <a:r>
              <a:rPr sz="8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Reputation:</a:t>
            </a:r>
            <a:r>
              <a:rPr sz="800" b="1" spc="10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Ensures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individuals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maintain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trust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positive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reputation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protecting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against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breaches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incidents.</a:t>
            </a:r>
            <a:endParaRPr sz="800">
              <a:latin typeface="Arial MT"/>
              <a:cs typeface="Arial MT"/>
            </a:endParaRPr>
          </a:p>
          <a:p>
            <a:pPr marL="818515">
              <a:lnSpc>
                <a:spcPts val="905"/>
              </a:lnSpc>
            </a:pPr>
            <a:r>
              <a:rPr sz="800" b="1" spc="-35" dirty="0">
                <a:solidFill>
                  <a:srgbClr val="191933"/>
                </a:solidFill>
                <a:latin typeface="Arial"/>
                <a:cs typeface="Arial"/>
              </a:rPr>
              <a:t>Compliance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with</a:t>
            </a:r>
            <a:r>
              <a:rPr sz="8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Regulations:</a:t>
            </a:r>
            <a:r>
              <a:rPr sz="8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Helps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organizations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adhere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regulatory</a:t>
            </a:r>
            <a:endParaRPr sz="800">
              <a:latin typeface="Arial MT"/>
              <a:cs typeface="Arial MT"/>
            </a:endParaRPr>
          </a:p>
          <a:p>
            <a:pPr marL="818515" marR="5080">
              <a:lnSpc>
                <a:spcPts val="950"/>
              </a:lnSpc>
              <a:spcBef>
                <a:spcPts val="3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requirements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standards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related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protection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privacy. </a:t>
            </a:r>
            <a:r>
              <a:rPr sz="800" b="1" spc="-40" dirty="0">
                <a:solidFill>
                  <a:srgbClr val="191933"/>
                </a:solidFill>
                <a:latin typeface="Arial"/>
                <a:cs typeface="Arial"/>
              </a:rPr>
              <a:t>Ensuring</a:t>
            </a:r>
            <a:r>
              <a:rPr sz="8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55" dirty="0">
                <a:solidFill>
                  <a:srgbClr val="191933"/>
                </a:solidFill>
                <a:latin typeface="Arial"/>
                <a:cs typeface="Arial"/>
              </a:rPr>
              <a:t>Business</a:t>
            </a:r>
            <a:r>
              <a:rPr sz="800" b="1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Continuity:</a:t>
            </a:r>
            <a:r>
              <a:rPr sz="8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Minimizes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disruptions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potential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financial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191933"/>
                </a:solidFill>
                <a:latin typeface="Arial MT"/>
                <a:cs typeface="Arial MT"/>
              </a:rPr>
              <a:t>losses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preventing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mitigating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impact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cyber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incidents.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10" name="object 10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989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Key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2945" y="126513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2945" y="1475168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2945" y="1685201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2945" y="1895233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2945" y="2105266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74777" y="1137930"/>
            <a:ext cx="880110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Confidentiality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Integrity Availability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Authentication</a:t>
            </a:r>
            <a:endParaRPr sz="1100">
              <a:latin typeface="Arial MT"/>
              <a:cs typeface="Arial MT"/>
            </a:endParaRPr>
          </a:p>
          <a:p>
            <a:pPr marL="12700" marR="211454">
              <a:lnSpc>
                <a:spcPct val="102699"/>
              </a:lnSpc>
              <a:spcBef>
                <a:spcPts val="300"/>
              </a:spcBef>
            </a:pP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Non-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repudiation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53768" y="1284964"/>
            <a:ext cx="2177312" cy="124777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128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Types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 </a:t>
            </a:r>
            <a:r>
              <a:rPr sz="1200" b="1" spc="-10" dirty="0">
                <a:latin typeface="Arial"/>
                <a:cs typeface="Arial"/>
              </a:rPr>
              <a:t>Threats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321968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32001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4203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952066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162098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24395" y="1194737"/>
            <a:ext cx="206692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55115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Malware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Denial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(DoS)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Man-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in-the-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Middle</a:t>
            </a:r>
            <a:r>
              <a:rPr sz="1100" spc="1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(MitM)</a:t>
            </a:r>
            <a:r>
              <a:rPr sz="1100" spc="1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Insider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345615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727720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210982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491930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87403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5300" y="207375"/>
            <a:ext cx="4136390" cy="277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Malware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200" dirty="0">
              <a:latin typeface="Arial"/>
              <a:cs typeface="Arial"/>
            </a:endParaRPr>
          </a:p>
          <a:p>
            <a:pPr marL="264160" marR="17780">
              <a:lnSpc>
                <a:spcPct val="102600"/>
              </a:lnSpc>
            </a:pP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Malware,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short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software,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any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intentionally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designed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191933"/>
                </a:solidFill>
                <a:latin typeface="Arial MT"/>
                <a:cs typeface="Arial MT"/>
              </a:rPr>
              <a:t>cause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damage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computer,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server,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client,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or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network.</a:t>
            </a:r>
            <a:r>
              <a:rPr sz="11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of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malware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include:</a:t>
            </a:r>
            <a:endParaRPr sz="1100" dirty="0">
              <a:latin typeface="Arial MT"/>
              <a:cs typeface="Arial MT"/>
            </a:endParaRPr>
          </a:p>
          <a:p>
            <a:pPr marL="541655" marR="5080">
              <a:lnSpc>
                <a:spcPct val="102600"/>
              </a:lnSpc>
              <a:spcBef>
                <a:spcPts val="300"/>
              </a:spcBef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Viruses:</a:t>
            </a:r>
            <a:r>
              <a:rPr sz="11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Attach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themselves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spread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when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executed.</a:t>
            </a:r>
            <a:endParaRPr sz="1100" dirty="0">
              <a:latin typeface="Arial MT"/>
              <a:cs typeface="Arial MT"/>
            </a:endParaRPr>
          </a:p>
          <a:p>
            <a:pPr marL="541655" marR="383540">
              <a:lnSpc>
                <a:spcPct val="102600"/>
              </a:lnSpc>
              <a:spcBef>
                <a:spcPts val="300"/>
              </a:spcBef>
            </a:pP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Worms: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Self-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replicate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independently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across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networks.</a:t>
            </a:r>
            <a:endParaRPr sz="1100" dirty="0">
              <a:latin typeface="Arial MT"/>
              <a:cs typeface="Arial MT"/>
            </a:endParaRPr>
          </a:p>
          <a:p>
            <a:pPr marL="541655" marR="163195">
              <a:lnSpc>
                <a:spcPct val="102600"/>
              </a:lnSpc>
              <a:spcBef>
                <a:spcPts val="30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Trojan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Horses: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Disguise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themselves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software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but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perform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activities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once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installed.</a:t>
            </a:r>
            <a:endParaRPr sz="1100" dirty="0">
              <a:latin typeface="Arial MT"/>
              <a:cs typeface="Arial MT"/>
            </a:endParaRPr>
          </a:p>
          <a:p>
            <a:pPr marL="541655" marR="51435">
              <a:lnSpc>
                <a:spcPct val="102699"/>
              </a:lnSpc>
              <a:spcBef>
                <a:spcPts val="300"/>
              </a:spcBef>
            </a:pPr>
            <a:r>
              <a:rPr sz="1100" b="1" spc="-55" dirty="0">
                <a:solidFill>
                  <a:srgbClr val="191933"/>
                </a:solidFill>
                <a:latin typeface="Arial"/>
                <a:cs typeface="Arial"/>
              </a:rPr>
              <a:t>Ransomware:</a:t>
            </a: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Encrypts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user’s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demands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ransom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decryption.</a:t>
            </a:r>
            <a:endParaRPr sz="1100" dirty="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330"/>
              </a:spcBef>
            </a:pPr>
            <a:r>
              <a:rPr sz="1100" b="1" spc="-50" dirty="0">
                <a:solidFill>
                  <a:srgbClr val="191933"/>
                </a:solidFill>
                <a:latin typeface="Arial"/>
                <a:cs typeface="Arial"/>
              </a:rPr>
              <a:t>Spyware: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Collects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data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their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consent.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61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Types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 </a:t>
            </a:r>
            <a:r>
              <a:rPr sz="1200" b="1" spc="-10" dirty="0">
                <a:latin typeface="Arial"/>
                <a:cs typeface="Arial"/>
              </a:rPr>
              <a:t>Malware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92284" y="729814"/>
          <a:ext cx="3818254" cy="2425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  <a:tabLst>
                          <a:tab pos="471805" algn="l"/>
                        </a:tabLst>
                      </a:pPr>
                      <a:r>
                        <a:rPr sz="750" b="1" spc="-2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75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Malware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  <a:tabLst>
                          <a:tab pos="723265" algn="l"/>
                        </a:tabLst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Method</a:t>
                      </a:r>
                      <a:r>
                        <a:rPr sz="75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Spread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Examples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Attaches</a:t>
                      </a:r>
                      <a:r>
                        <a:rPr sz="750" spc="1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itself</a:t>
                      </a:r>
                      <a:r>
                        <a:rPr sz="750" spc="1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  <a:tabLst>
                          <a:tab pos="626745" algn="l"/>
                        </a:tabLst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legitimate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soft-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ware.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Spread</a:t>
                      </a:r>
                      <a:r>
                        <a:rPr sz="750" spc="1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sz="750" spc="1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infected</a:t>
                      </a:r>
                      <a:r>
                        <a:rPr sz="75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software</a:t>
                      </a:r>
                      <a:r>
                        <a:rPr sz="75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executed.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Corrupts</a:t>
                      </a:r>
                      <a:r>
                        <a:rPr sz="750" spc="1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750" spc="1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dam-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ages</a:t>
                      </a:r>
                      <a:r>
                        <a:rPr sz="75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files</a:t>
                      </a:r>
                      <a:r>
                        <a:rPr sz="75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75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sys-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tems.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ILOVEYOU,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255270">
                        <a:lnSpc>
                          <a:spcPct val="105200"/>
                        </a:lnSpc>
                      </a:pP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Melissa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Virus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2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Worm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Self-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replicates</a:t>
                      </a:r>
                      <a:r>
                        <a:rPr sz="75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spreads</a:t>
                      </a:r>
                      <a:r>
                        <a:rPr sz="750" spc="4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indepen-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dently.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Over</a:t>
                      </a:r>
                      <a:r>
                        <a:rPr sz="750" spc="1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networks</a:t>
                      </a:r>
                      <a:r>
                        <a:rPr sz="750" spc="1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750" spc="2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75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vulnera-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bilities.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  <a:tabLst>
                          <a:tab pos="381000" algn="l"/>
                        </a:tabLst>
                      </a:pP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overwhelm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sz="750" spc="2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resources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and</a:t>
                      </a:r>
                      <a:r>
                        <a:rPr sz="75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systems.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WannaCry,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Conficker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Trojan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Horse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just">
                        <a:lnSpc>
                          <a:spcPts val="825"/>
                        </a:lnSpc>
                      </a:pPr>
                      <a:r>
                        <a:rPr sz="75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Disguises</a:t>
                      </a:r>
                      <a:r>
                        <a:rPr sz="75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75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legiti-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 algn="just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mate</a:t>
                      </a:r>
                      <a:r>
                        <a:rPr sz="75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software</a:t>
                      </a:r>
                      <a:r>
                        <a:rPr sz="75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sz="75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performs</a:t>
                      </a:r>
                      <a:r>
                        <a:rPr sz="75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activities.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  <a:tabLst>
                          <a:tab pos="494665" algn="l"/>
                        </a:tabLst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Spread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  <a:tabLst>
                          <a:tab pos="565150" algn="l"/>
                        </a:tabLst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deceptive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down-</a:t>
                      </a:r>
                      <a:r>
                        <a:rPr sz="75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loads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75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software.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  <a:tabLst>
                          <a:tab pos="447040" algn="l"/>
                        </a:tabLst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Allows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unautho-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rized</a:t>
                      </a:r>
                      <a:r>
                        <a:rPr sz="750" spc="1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750" spc="1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75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damage.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Emotet,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Zeus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Trojan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4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Ransomware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Encrypts</a:t>
                      </a:r>
                      <a:r>
                        <a:rPr sz="75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files</a:t>
                      </a:r>
                      <a:r>
                        <a:rPr sz="75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demands</a:t>
                      </a:r>
                      <a:r>
                        <a:rPr sz="75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75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ransom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for</a:t>
                      </a:r>
                      <a:r>
                        <a:rPr sz="75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decryption.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just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Spread</a:t>
                      </a:r>
                      <a:r>
                        <a:rPr sz="750" spc="2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via</a:t>
                      </a:r>
                      <a:r>
                        <a:rPr sz="750" spc="2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355" algn="just">
                        <a:lnSpc>
                          <a:spcPct val="105200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attachments,</a:t>
                      </a:r>
                      <a:r>
                        <a:rPr sz="75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mali-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cious</a:t>
                      </a:r>
                      <a:r>
                        <a:rPr sz="75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links,</a:t>
                      </a:r>
                      <a:r>
                        <a:rPr sz="750" spc="1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75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ploits.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Locks</a:t>
                      </a:r>
                      <a:r>
                        <a:rPr sz="750" spc="3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750" spc="3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files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until</a:t>
                      </a:r>
                      <a:r>
                        <a:rPr sz="75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ransom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75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paid.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Cryptolocker,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Ryuk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Spyware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Collects</a:t>
                      </a:r>
                      <a:r>
                        <a:rPr sz="75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75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75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consent.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just">
                        <a:lnSpc>
                          <a:spcPts val="825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sz="750" spc="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installed</a:t>
                      </a:r>
                      <a:r>
                        <a:rPr sz="750" spc="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via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 algn="just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bundled</a:t>
                      </a:r>
                      <a:r>
                        <a:rPr sz="750" spc="4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software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or </a:t>
                      </a:r>
                      <a:r>
                        <a:rPr sz="75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down-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loads.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Steals</a:t>
                      </a:r>
                      <a:r>
                        <a:rPr sz="75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75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in-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 marR="46990">
                        <a:lnSpc>
                          <a:spcPct val="105200"/>
                        </a:lnSpc>
                      </a:pP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formation</a:t>
                      </a:r>
                      <a:r>
                        <a:rPr sz="75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75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moni-</a:t>
                      </a:r>
                      <a:r>
                        <a:rPr sz="7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tors</a:t>
                      </a:r>
                      <a:r>
                        <a:rPr sz="75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activities.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Keyloggers,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5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Adware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986675" y="3210273"/>
            <a:ext cx="2635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6699"/>
                </a:solidFill>
                <a:latin typeface="Arial MT"/>
                <a:cs typeface="Arial MT"/>
              </a:rPr>
              <a:t>Table:</a:t>
            </a:r>
            <a:r>
              <a:rPr sz="100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Comparison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Different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Malware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31" y="3390041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846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VIRUS</a:t>
            </a:r>
            <a:r>
              <a:rPr sz="1200" b="1" spc="17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Symptoms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0" y="507080"/>
            <a:ext cx="4608195" cy="2948940"/>
            <a:chOff x="0" y="507080"/>
            <a:chExt cx="4608195" cy="294894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994" y="507080"/>
              <a:ext cx="3887757" cy="29160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121308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293380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637538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5300" y="207375"/>
            <a:ext cx="4111625" cy="1710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Viruses</a:t>
            </a:r>
            <a:endParaRPr sz="1200">
              <a:latin typeface="Arial"/>
              <a:cs typeface="Arial"/>
            </a:endParaRPr>
          </a:p>
          <a:p>
            <a:pPr marL="264160" marR="288925">
              <a:lnSpc>
                <a:spcPct val="102600"/>
              </a:lnSpc>
              <a:spcBef>
                <a:spcPts val="944"/>
              </a:spcBef>
            </a:pP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Viruses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attach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themselves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legitimate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programs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files.</a:t>
            </a:r>
            <a:r>
              <a:rPr sz="1100" spc="8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when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infected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executed.</a:t>
            </a:r>
            <a:r>
              <a:rPr sz="1100" spc="1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Here’s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how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works:</a:t>
            </a:r>
            <a:endParaRPr sz="1100">
              <a:latin typeface="Arial MT"/>
              <a:cs typeface="Arial MT"/>
            </a:endParaRPr>
          </a:p>
          <a:p>
            <a:pPr marL="541655" marR="5080">
              <a:lnSpc>
                <a:spcPct val="102600"/>
              </a:lnSpc>
              <a:spcBef>
                <a:spcPts val="5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Infection:</a:t>
            </a:r>
            <a:r>
              <a:rPr sz="1100" b="1" spc="7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attaches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program. 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Execution: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When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infected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program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executed,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also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executed.</a:t>
            </a:r>
            <a:endParaRPr sz="1100">
              <a:latin typeface="Arial MT"/>
              <a:cs typeface="Arial MT"/>
            </a:endParaRPr>
          </a:p>
          <a:p>
            <a:pPr marL="541655" marR="6985">
              <a:lnSpc>
                <a:spcPct val="102600"/>
              </a:lnSpc>
            </a:pP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Spread:</a:t>
            </a:r>
            <a:r>
              <a:rPr sz="1100" b="1" spc="6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replicates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spread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to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other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or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programs.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8766" y="1973927"/>
            <a:ext cx="3110865" cy="1166495"/>
            <a:chOff x="748766" y="1973927"/>
            <a:chExt cx="3110865" cy="1166495"/>
          </a:xfrm>
        </p:grpSpPr>
        <p:sp>
          <p:nvSpPr>
            <p:cNvPr id="21" name="object 21"/>
            <p:cNvSpPr/>
            <p:nvPr/>
          </p:nvSpPr>
          <p:spPr>
            <a:xfrm>
              <a:off x="748766" y="1973927"/>
              <a:ext cx="3110865" cy="1166495"/>
            </a:xfrm>
            <a:custGeom>
              <a:avLst/>
              <a:gdLst/>
              <a:ahLst/>
              <a:cxnLst/>
              <a:rect l="l" t="t" r="r" b="b"/>
              <a:pathLst>
                <a:path w="3110865" h="1166495">
                  <a:moveTo>
                    <a:pt x="3110452" y="1166413"/>
                  </a:moveTo>
                  <a:lnTo>
                    <a:pt x="0" y="1166413"/>
                  </a:lnTo>
                  <a:lnTo>
                    <a:pt x="0" y="0"/>
                  </a:lnTo>
                  <a:lnTo>
                    <a:pt x="3110452" y="0"/>
                  </a:lnTo>
                  <a:lnTo>
                    <a:pt x="3110452" y="1166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5314" y="2056234"/>
              <a:ext cx="140313" cy="1988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575718" y="2123441"/>
              <a:ext cx="823594" cy="118745"/>
            </a:xfrm>
            <a:custGeom>
              <a:avLst/>
              <a:gdLst/>
              <a:ahLst/>
              <a:cxnLst/>
              <a:rect l="l" t="t" r="r" b="b"/>
              <a:pathLst>
                <a:path w="823594" h="118744">
                  <a:moveTo>
                    <a:pt x="811597" y="118623"/>
                  </a:moveTo>
                  <a:lnTo>
                    <a:pt x="11515" y="118623"/>
                  </a:lnTo>
                  <a:lnTo>
                    <a:pt x="9821" y="118408"/>
                  </a:lnTo>
                  <a:lnTo>
                    <a:pt x="0" y="111270"/>
                  </a:lnTo>
                  <a:lnTo>
                    <a:pt x="0" y="7352"/>
                  </a:lnTo>
                  <a:lnTo>
                    <a:pt x="11515" y="0"/>
                  </a:lnTo>
                  <a:lnTo>
                    <a:pt x="13276" y="0"/>
                  </a:lnTo>
                  <a:lnTo>
                    <a:pt x="811597" y="0"/>
                  </a:lnTo>
                  <a:lnTo>
                    <a:pt x="823112" y="7352"/>
                  </a:lnTo>
                  <a:lnTo>
                    <a:pt x="823112" y="111270"/>
                  </a:lnTo>
                  <a:lnTo>
                    <a:pt x="813290" y="118408"/>
                  </a:lnTo>
                  <a:lnTo>
                    <a:pt x="811597" y="11862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75718" y="2123441"/>
              <a:ext cx="823594" cy="118745"/>
            </a:xfrm>
            <a:custGeom>
              <a:avLst/>
              <a:gdLst/>
              <a:ahLst/>
              <a:cxnLst/>
              <a:rect l="l" t="t" r="r" b="b"/>
              <a:pathLst>
                <a:path w="823594" h="118744">
                  <a:moveTo>
                    <a:pt x="13276" y="0"/>
                  </a:moveTo>
                  <a:lnTo>
                    <a:pt x="809836" y="0"/>
                  </a:lnTo>
                  <a:lnTo>
                    <a:pt x="811597" y="0"/>
                  </a:lnTo>
                  <a:lnTo>
                    <a:pt x="813290" y="215"/>
                  </a:lnTo>
                  <a:lnTo>
                    <a:pt x="814916" y="645"/>
                  </a:lnTo>
                  <a:lnTo>
                    <a:pt x="816543" y="1075"/>
                  </a:lnTo>
                  <a:lnTo>
                    <a:pt x="817979" y="1687"/>
                  </a:lnTo>
                  <a:lnTo>
                    <a:pt x="819223" y="2482"/>
                  </a:lnTo>
                  <a:lnTo>
                    <a:pt x="820468" y="3277"/>
                  </a:lnTo>
                  <a:lnTo>
                    <a:pt x="821427" y="4194"/>
                  </a:lnTo>
                  <a:lnTo>
                    <a:pt x="822101" y="5232"/>
                  </a:lnTo>
                  <a:lnTo>
                    <a:pt x="822775" y="6271"/>
                  </a:lnTo>
                  <a:lnTo>
                    <a:pt x="823112" y="7352"/>
                  </a:lnTo>
                  <a:lnTo>
                    <a:pt x="823112" y="8476"/>
                  </a:lnTo>
                  <a:lnTo>
                    <a:pt x="823112" y="110146"/>
                  </a:lnTo>
                  <a:lnTo>
                    <a:pt x="819223" y="116140"/>
                  </a:lnTo>
                  <a:lnTo>
                    <a:pt x="817979" y="116935"/>
                  </a:lnTo>
                  <a:lnTo>
                    <a:pt x="816543" y="117547"/>
                  </a:lnTo>
                  <a:lnTo>
                    <a:pt x="814916" y="117977"/>
                  </a:lnTo>
                  <a:lnTo>
                    <a:pt x="813290" y="118408"/>
                  </a:lnTo>
                  <a:lnTo>
                    <a:pt x="811597" y="118623"/>
                  </a:lnTo>
                  <a:lnTo>
                    <a:pt x="809836" y="118623"/>
                  </a:lnTo>
                  <a:lnTo>
                    <a:pt x="13276" y="118623"/>
                  </a:lnTo>
                  <a:lnTo>
                    <a:pt x="3888" y="116140"/>
                  </a:lnTo>
                  <a:lnTo>
                    <a:pt x="2643" y="115345"/>
                  </a:lnTo>
                  <a:lnTo>
                    <a:pt x="1684" y="114428"/>
                  </a:lnTo>
                  <a:lnTo>
                    <a:pt x="1010" y="113390"/>
                  </a:lnTo>
                  <a:lnTo>
                    <a:pt x="336" y="112351"/>
                  </a:lnTo>
                  <a:lnTo>
                    <a:pt x="0" y="111270"/>
                  </a:lnTo>
                  <a:lnTo>
                    <a:pt x="0" y="110146"/>
                  </a:lnTo>
                  <a:lnTo>
                    <a:pt x="0" y="8476"/>
                  </a:lnTo>
                  <a:lnTo>
                    <a:pt x="0" y="7352"/>
                  </a:lnTo>
                  <a:lnTo>
                    <a:pt x="336" y="6271"/>
                  </a:lnTo>
                  <a:lnTo>
                    <a:pt x="1010" y="5232"/>
                  </a:lnTo>
                  <a:lnTo>
                    <a:pt x="1684" y="4194"/>
                  </a:lnTo>
                  <a:lnTo>
                    <a:pt x="2643" y="3277"/>
                  </a:lnTo>
                  <a:lnTo>
                    <a:pt x="3888" y="2482"/>
                  </a:lnTo>
                  <a:lnTo>
                    <a:pt x="5133" y="1687"/>
                  </a:lnTo>
                  <a:lnTo>
                    <a:pt x="6568" y="1075"/>
                  </a:lnTo>
                  <a:lnTo>
                    <a:pt x="8195" y="645"/>
                  </a:lnTo>
                  <a:lnTo>
                    <a:pt x="9821" y="215"/>
                  </a:lnTo>
                  <a:lnTo>
                    <a:pt x="11515" y="0"/>
                  </a:lnTo>
                  <a:lnTo>
                    <a:pt x="13276" y="0"/>
                  </a:lnTo>
                  <a:close/>
                </a:path>
              </a:pathLst>
            </a:custGeom>
            <a:ln w="31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48306" y="2564238"/>
              <a:ext cx="478155" cy="118745"/>
            </a:xfrm>
            <a:custGeom>
              <a:avLst/>
              <a:gdLst/>
              <a:ahLst/>
              <a:cxnLst/>
              <a:rect l="l" t="t" r="r" b="b"/>
              <a:pathLst>
                <a:path w="478155" h="118744">
                  <a:moveTo>
                    <a:pt x="466420" y="118623"/>
                  </a:moveTo>
                  <a:lnTo>
                    <a:pt x="11515" y="118623"/>
                  </a:lnTo>
                  <a:lnTo>
                    <a:pt x="9822" y="118408"/>
                  </a:lnTo>
                  <a:lnTo>
                    <a:pt x="0" y="111270"/>
                  </a:lnTo>
                  <a:lnTo>
                    <a:pt x="0" y="7352"/>
                  </a:lnTo>
                  <a:lnTo>
                    <a:pt x="11515" y="0"/>
                  </a:lnTo>
                  <a:lnTo>
                    <a:pt x="13276" y="0"/>
                  </a:lnTo>
                  <a:lnTo>
                    <a:pt x="466420" y="0"/>
                  </a:lnTo>
                  <a:lnTo>
                    <a:pt x="477936" y="7352"/>
                  </a:lnTo>
                  <a:lnTo>
                    <a:pt x="477936" y="111270"/>
                  </a:lnTo>
                  <a:lnTo>
                    <a:pt x="468114" y="118408"/>
                  </a:lnTo>
                  <a:lnTo>
                    <a:pt x="466420" y="11862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48306" y="2564238"/>
              <a:ext cx="478155" cy="118745"/>
            </a:xfrm>
            <a:custGeom>
              <a:avLst/>
              <a:gdLst/>
              <a:ahLst/>
              <a:cxnLst/>
              <a:rect l="l" t="t" r="r" b="b"/>
              <a:pathLst>
                <a:path w="478155" h="118744">
                  <a:moveTo>
                    <a:pt x="13276" y="0"/>
                  </a:moveTo>
                  <a:lnTo>
                    <a:pt x="464660" y="0"/>
                  </a:lnTo>
                  <a:lnTo>
                    <a:pt x="466420" y="0"/>
                  </a:lnTo>
                  <a:lnTo>
                    <a:pt x="468114" y="215"/>
                  </a:lnTo>
                  <a:lnTo>
                    <a:pt x="476925" y="5232"/>
                  </a:lnTo>
                  <a:lnTo>
                    <a:pt x="477599" y="6271"/>
                  </a:lnTo>
                  <a:lnTo>
                    <a:pt x="477936" y="7352"/>
                  </a:lnTo>
                  <a:lnTo>
                    <a:pt x="477936" y="8476"/>
                  </a:lnTo>
                  <a:lnTo>
                    <a:pt x="477936" y="110146"/>
                  </a:lnTo>
                  <a:lnTo>
                    <a:pt x="469740" y="117977"/>
                  </a:lnTo>
                  <a:lnTo>
                    <a:pt x="468114" y="118408"/>
                  </a:lnTo>
                  <a:lnTo>
                    <a:pt x="466420" y="118623"/>
                  </a:lnTo>
                  <a:lnTo>
                    <a:pt x="464660" y="118623"/>
                  </a:lnTo>
                  <a:lnTo>
                    <a:pt x="13276" y="118623"/>
                  </a:lnTo>
                  <a:lnTo>
                    <a:pt x="11515" y="118623"/>
                  </a:lnTo>
                  <a:lnTo>
                    <a:pt x="9822" y="118408"/>
                  </a:lnTo>
                  <a:lnTo>
                    <a:pt x="8195" y="117977"/>
                  </a:lnTo>
                  <a:lnTo>
                    <a:pt x="6568" y="117547"/>
                  </a:lnTo>
                  <a:lnTo>
                    <a:pt x="5133" y="116935"/>
                  </a:lnTo>
                  <a:lnTo>
                    <a:pt x="3888" y="116140"/>
                  </a:lnTo>
                  <a:lnTo>
                    <a:pt x="2643" y="115345"/>
                  </a:lnTo>
                  <a:lnTo>
                    <a:pt x="1684" y="114428"/>
                  </a:lnTo>
                  <a:lnTo>
                    <a:pt x="1010" y="113390"/>
                  </a:lnTo>
                  <a:lnTo>
                    <a:pt x="336" y="112351"/>
                  </a:lnTo>
                  <a:lnTo>
                    <a:pt x="0" y="111270"/>
                  </a:lnTo>
                  <a:lnTo>
                    <a:pt x="0" y="110146"/>
                  </a:lnTo>
                  <a:lnTo>
                    <a:pt x="0" y="8476"/>
                  </a:lnTo>
                  <a:lnTo>
                    <a:pt x="0" y="7352"/>
                  </a:lnTo>
                  <a:lnTo>
                    <a:pt x="336" y="6271"/>
                  </a:lnTo>
                  <a:lnTo>
                    <a:pt x="1010" y="5232"/>
                  </a:lnTo>
                  <a:lnTo>
                    <a:pt x="1684" y="4194"/>
                  </a:lnTo>
                  <a:lnTo>
                    <a:pt x="2643" y="3277"/>
                  </a:lnTo>
                  <a:lnTo>
                    <a:pt x="3888" y="2482"/>
                  </a:lnTo>
                  <a:lnTo>
                    <a:pt x="5133" y="1687"/>
                  </a:lnTo>
                  <a:lnTo>
                    <a:pt x="6568" y="1075"/>
                  </a:lnTo>
                  <a:lnTo>
                    <a:pt x="8195" y="645"/>
                  </a:lnTo>
                  <a:lnTo>
                    <a:pt x="9822" y="215"/>
                  </a:lnTo>
                  <a:lnTo>
                    <a:pt x="11515" y="0"/>
                  </a:lnTo>
                  <a:lnTo>
                    <a:pt x="13276" y="0"/>
                  </a:lnTo>
                  <a:close/>
                </a:path>
              </a:pathLst>
            </a:custGeom>
            <a:ln w="31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5546" y="2937220"/>
              <a:ext cx="743585" cy="118745"/>
            </a:xfrm>
            <a:custGeom>
              <a:avLst/>
              <a:gdLst/>
              <a:ahLst/>
              <a:cxnLst/>
              <a:rect l="l" t="t" r="r" b="b"/>
              <a:pathLst>
                <a:path w="743585" h="118744">
                  <a:moveTo>
                    <a:pt x="731941" y="118623"/>
                  </a:moveTo>
                  <a:lnTo>
                    <a:pt x="11515" y="118623"/>
                  </a:lnTo>
                  <a:lnTo>
                    <a:pt x="9822" y="118408"/>
                  </a:lnTo>
                  <a:lnTo>
                    <a:pt x="0" y="111270"/>
                  </a:lnTo>
                  <a:lnTo>
                    <a:pt x="0" y="7352"/>
                  </a:lnTo>
                  <a:lnTo>
                    <a:pt x="11515" y="0"/>
                  </a:lnTo>
                  <a:lnTo>
                    <a:pt x="13276" y="0"/>
                  </a:lnTo>
                  <a:lnTo>
                    <a:pt x="731941" y="0"/>
                  </a:lnTo>
                  <a:lnTo>
                    <a:pt x="743456" y="7352"/>
                  </a:lnTo>
                  <a:lnTo>
                    <a:pt x="743456" y="111270"/>
                  </a:lnTo>
                  <a:lnTo>
                    <a:pt x="733634" y="118408"/>
                  </a:lnTo>
                  <a:lnTo>
                    <a:pt x="731941" y="11862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15546" y="2937220"/>
              <a:ext cx="743585" cy="118745"/>
            </a:xfrm>
            <a:custGeom>
              <a:avLst/>
              <a:gdLst/>
              <a:ahLst/>
              <a:cxnLst/>
              <a:rect l="l" t="t" r="r" b="b"/>
              <a:pathLst>
                <a:path w="743585" h="118744">
                  <a:moveTo>
                    <a:pt x="13276" y="0"/>
                  </a:moveTo>
                  <a:lnTo>
                    <a:pt x="730180" y="0"/>
                  </a:lnTo>
                  <a:lnTo>
                    <a:pt x="731941" y="0"/>
                  </a:lnTo>
                  <a:lnTo>
                    <a:pt x="733634" y="215"/>
                  </a:lnTo>
                  <a:lnTo>
                    <a:pt x="735261" y="645"/>
                  </a:lnTo>
                  <a:lnTo>
                    <a:pt x="736887" y="1075"/>
                  </a:lnTo>
                  <a:lnTo>
                    <a:pt x="738323" y="1687"/>
                  </a:lnTo>
                  <a:lnTo>
                    <a:pt x="739568" y="2482"/>
                  </a:lnTo>
                  <a:lnTo>
                    <a:pt x="740812" y="3277"/>
                  </a:lnTo>
                  <a:lnTo>
                    <a:pt x="743456" y="8476"/>
                  </a:lnTo>
                  <a:lnTo>
                    <a:pt x="743456" y="110146"/>
                  </a:lnTo>
                  <a:lnTo>
                    <a:pt x="735261" y="117977"/>
                  </a:lnTo>
                  <a:lnTo>
                    <a:pt x="733634" y="118408"/>
                  </a:lnTo>
                  <a:lnTo>
                    <a:pt x="731941" y="118623"/>
                  </a:lnTo>
                  <a:lnTo>
                    <a:pt x="730180" y="118623"/>
                  </a:lnTo>
                  <a:lnTo>
                    <a:pt x="13276" y="118623"/>
                  </a:lnTo>
                  <a:lnTo>
                    <a:pt x="11515" y="118623"/>
                  </a:lnTo>
                  <a:lnTo>
                    <a:pt x="9822" y="118408"/>
                  </a:lnTo>
                  <a:lnTo>
                    <a:pt x="8195" y="117977"/>
                  </a:lnTo>
                  <a:lnTo>
                    <a:pt x="6569" y="117547"/>
                  </a:lnTo>
                  <a:lnTo>
                    <a:pt x="1010" y="113390"/>
                  </a:lnTo>
                  <a:lnTo>
                    <a:pt x="336" y="112351"/>
                  </a:lnTo>
                  <a:lnTo>
                    <a:pt x="0" y="111270"/>
                  </a:lnTo>
                  <a:lnTo>
                    <a:pt x="0" y="110146"/>
                  </a:lnTo>
                  <a:lnTo>
                    <a:pt x="0" y="8476"/>
                  </a:lnTo>
                  <a:lnTo>
                    <a:pt x="0" y="7352"/>
                  </a:lnTo>
                  <a:lnTo>
                    <a:pt x="336" y="6271"/>
                  </a:lnTo>
                  <a:lnTo>
                    <a:pt x="1010" y="5232"/>
                  </a:lnTo>
                  <a:lnTo>
                    <a:pt x="1684" y="4194"/>
                  </a:lnTo>
                  <a:lnTo>
                    <a:pt x="2643" y="3277"/>
                  </a:lnTo>
                  <a:lnTo>
                    <a:pt x="3888" y="2482"/>
                  </a:lnTo>
                  <a:lnTo>
                    <a:pt x="5133" y="1687"/>
                  </a:lnTo>
                  <a:lnTo>
                    <a:pt x="6569" y="1075"/>
                  </a:lnTo>
                  <a:lnTo>
                    <a:pt x="8195" y="645"/>
                  </a:lnTo>
                  <a:lnTo>
                    <a:pt x="9822" y="215"/>
                  </a:lnTo>
                  <a:lnTo>
                    <a:pt x="11515" y="0"/>
                  </a:lnTo>
                  <a:lnTo>
                    <a:pt x="13276" y="0"/>
                  </a:lnTo>
                  <a:close/>
                </a:path>
              </a:pathLst>
            </a:custGeom>
            <a:ln w="31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75869" y="2564238"/>
              <a:ext cx="887094" cy="118745"/>
            </a:xfrm>
            <a:custGeom>
              <a:avLst/>
              <a:gdLst/>
              <a:ahLst/>
              <a:cxnLst/>
              <a:rect l="l" t="t" r="r" b="b"/>
              <a:pathLst>
                <a:path w="887095" h="118744">
                  <a:moveTo>
                    <a:pt x="875321" y="118623"/>
                  </a:moveTo>
                  <a:lnTo>
                    <a:pt x="11515" y="118623"/>
                  </a:lnTo>
                  <a:lnTo>
                    <a:pt x="9822" y="118408"/>
                  </a:lnTo>
                  <a:lnTo>
                    <a:pt x="0" y="111270"/>
                  </a:lnTo>
                  <a:lnTo>
                    <a:pt x="0" y="7352"/>
                  </a:lnTo>
                  <a:lnTo>
                    <a:pt x="11515" y="0"/>
                  </a:lnTo>
                  <a:lnTo>
                    <a:pt x="13276" y="0"/>
                  </a:lnTo>
                  <a:lnTo>
                    <a:pt x="875321" y="0"/>
                  </a:lnTo>
                  <a:lnTo>
                    <a:pt x="886837" y="7352"/>
                  </a:lnTo>
                  <a:lnTo>
                    <a:pt x="886837" y="111270"/>
                  </a:lnTo>
                  <a:lnTo>
                    <a:pt x="877015" y="118408"/>
                  </a:lnTo>
                  <a:lnTo>
                    <a:pt x="875321" y="11862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75869" y="2564238"/>
            <a:ext cx="887094" cy="118745"/>
          </a:xfrm>
          <a:prstGeom prst="rect">
            <a:avLst/>
          </a:prstGeom>
          <a:ln w="3420">
            <a:solidFill>
              <a:srgbClr val="171717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270"/>
              </a:spcBef>
            </a:pPr>
            <a:r>
              <a:rPr sz="350" spc="140" dirty="0">
                <a:latin typeface="Arial MT"/>
                <a:cs typeface="Arial MT"/>
              </a:rPr>
              <a:t>Spread</a:t>
            </a:r>
            <a:r>
              <a:rPr sz="350" spc="135" dirty="0">
                <a:latin typeface="Arial MT"/>
                <a:cs typeface="Arial MT"/>
              </a:rPr>
              <a:t> </a:t>
            </a:r>
            <a:r>
              <a:rPr sz="350" spc="105" dirty="0">
                <a:latin typeface="Arial MT"/>
                <a:cs typeface="Arial MT"/>
              </a:rPr>
              <a:t>to</a:t>
            </a:r>
            <a:r>
              <a:rPr sz="350" spc="135" dirty="0">
                <a:latin typeface="Arial MT"/>
                <a:cs typeface="Arial MT"/>
              </a:rPr>
              <a:t> </a:t>
            </a:r>
            <a:r>
              <a:rPr sz="350" spc="130" dirty="0">
                <a:latin typeface="Arial MT"/>
                <a:cs typeface="Arial MT"/>
              </a:rPr>
              <a:t>Other</a:t>
            </a:r>
            <a:r>
              <a:rPr sz="350" spc="140" dirty="0">
                <a:latin typeface="Arial MT"/>
                <a:cs typeface="Arial MT"/>
              </a:rPr>
              <a:t> </a:t>
            </a:r>
            <a:r>
              <a:rPr sz="350" spc="105" dirty="0">
                <a:latin typeface="Arial MT"/>
                <a:cs typeface="Arial MT"/>
              </a:rPr>
              <a:t>Files</a:t>
            </a:r>
            <a:endParaRPr sz="3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90135" y="2167097"/>
            <a:ext cx="1686560" cy="772160"/>
            <a:chOff x="1090135" y="2167097"/>
            <a:chExt cx="1686560" cy="772160"/>
          </a:xfrm>
        </p:grpSpPr>
        <p:sp>
          <p:nvSpPr>
            <p:cNvPr id="32" name="object 32"/>
            <p:cNvSpPr/>
            <p:nvPr/>
          </p:nvSpPr>
          <p:spPr>
            <a:xfrm>
              <a:off x="1090135" y="2182779"/>
              <a:ext cx="453390" cy="0"/>
            </a:xfrm>
            <a:custGeom>
              <a:avLst/>
              <a:gdLst/>
              <a:ahLst/>
              <a:cxnLst/>
              <a:rect l="l" t="t" r="r" b="b"/>
              <a:pathLst>
                <a:path w="453390">
                  <a:moveTo>
                    <a:pt x="0" y="0"/>
                  </a:moveTo>
                  <a:lnTo>
                    <a:pt x="0" y="0"/>
                  </a:lnTo>
                  <a:lnTo>
                    <a:pt x="392986" y="0"/>
                  </a:lnTo>
                  <a:lnTo>
                    <a:pt x="453349" y="0"/>
                  </a:lnTo>
                </a:path>
              </a:pathLst>
            </a:custGeom>
            <a:ln w="3390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27553" y="2169216"/>
              <a:ext cx="48260" cy="27305"/>
            </a:xfrm>
            <a:custGeom>
              <a:avLst/>
              <a:gdLst/>
              <a:ahLst/>
              <a:cxnLst/>
              <a:rect l="l" t="t" r="r" b="b"/>
              <a:pathLst>
                <a:path w="48259" h="27305">
                  <a:moveTo>
                    <a:pt x="0" y="27125"/>
                  </a:moveTo>
                  <a:lnTo>
                    <a:pt x="21241" y="13562"/>
                  </a:lnTo>
                  <a:lnTo>
                    <a:pt x="0" y="0"/>
                  </a:lnTo>
                  <a:lnTo>
                    <a:pt x="47793" y="13562"/>
                  </a:lnTo>
                  <a:lnTo>
                    <a:pt x="0" y="27125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7553" y="2169216"/>
              <a:ext cx="459740" cy="374015"/>
            </a:xfrm>
            <a:custGeom>
              <a:avLst/>
              <a:gdLst/>
              <a:ahLst/>
              <a:cxnLst/>
              <a:rect l="l" t="t" r="r" b="b"/>
              <a:pathLst>
                <a:path w="459739" h="374014">
                  <a:moveTo>
                    <a:pt x="47793" y="13562"/>
                  </a:moveTo>
                  <a:lnTo>
                    <a:pt x="0" y="0"/>
                  </a:lnTo>
                  <a:lnTo>
                    <a:pt x="21241" y="13562"/>
                  </a:lnTo>
                  <a:lnTo>
                    <a:pt x="0" y="27125"/>
                  </a:lnTo>
                  <a:lnTo>
                    <a:pt x="47793" y="13562"/>
                  </a:lnTo>
                  <a:close/>
                </a:path>
                <a:path w="459739" h="374014">
                  <a:moveTo>
                    <a:pt x="459721" y="73680"/>
                  </a:moveTo>
                  <a:lnTo>
                    <a:pt x="459721" y="73680"/>
                  </a:lnTo>
                  <a:lnTo>
                    <a:pt x="459721" y="328523"/>
                  </a:lnTo>
                  <a:lnTo>
                    <a:pt x="459721" y="373863"/>
                  </a:lnTo>
                </a:path>
              </a:pathLst>
            </a:custGeom>
            <a:ln w="4350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66033" y="2532907"/>
              <a:ext cx="42545" cy="31115"/>
            </a:xfrm>
            <a:custGeom>
              <a:avLst/>
              <a:gdLst/>
              <a:ahLst/>
              <a:cxnLst/>
              <a:rect l="l" t="t" r="r" b="b"/>
              <a:pathLst>
                <a:path w="42544" h="31114">
                  <a:moveTo>
                    <a:pt x="21241" y="30516"/>
                  </a:moveTo>
                  <a:lnTo>
                    <a:pt x="0" y="0"/>
                  </a:lnTo>
                  <a:lnTo>
                    <a:pt x="21241" y="13562"/>
                  </a:lnTo>
                  <a:lnTo>
                    <a:pt x="42483" y="0"/>
                  </a:lnTo>
                  <a:lnTo>
                    <a:pt x="21241" y="30516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66033" y="2532907"/>
              <a:ext cx="42545" cy="31115"/>
            </a:xfrm>
            <a:custGeom>
              <a:avLst/>
              <a:gdLst/>
              <a:ahLst/>
              <a:cxnLst/>
              <a:rect l="l" t="t" r="r" b="b"/>
              <a:pathLst>
                <a:path w="42544" h="31114">
                  <a:moveTo>
                    <a:pt x="21241" y="30516"/>
                  </a:moveTo>
                  <a:lnTo>
                    <a:pt x="42483" y="0"/>
                  </a:lnTo>
                  <a:lnTo>
                    <a:pt x="21241" y="13562"/>
                  </a:lnTo>
                  <a:lnTo>
                    <a:pt x="0" y="0"/>
                  </a:lnTo>
                  <a:lnTo>
                    <a:pt x="21241" y="30516"/>
                  </a:lnTo>
                  <a:close/>
                </a:path>
              </a:pathLst>
            </a:custGeom>
            <a:ln w="4044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0374" y="2680622"/>
              <a:ext cx="151783" cy="25787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999170" y="2703732"/>
              <a:ext cx="16510" cy="233045"/>
            </a:xfrm>
            <a:custGeom>
              <a:avLst/>
              <a:gdLst/>
              <a:ahLst/>
              <a:cxnLst/>
              <a:rect l="l" t="t" r="r" b="b"/>
              <a:pathLst>
                <a:path w="16510" h="233044">
                  <a:moveTo>
                    <a:pt x="0" y="232640"/>
                  </a:moveTo>
                  <a:lnTo>
                    <a:pt x="8403" y="183550"/>
                  </a:lnTo>
                  <a:lnTo>
                    <a:pt x="14656" y="131765"/>
                  </a:lnTo>
                  <a:lnTo>
                    <a:pt x="16308" y="95341"/>
                  </a:lnTo>
                  <a:lnTo>
                    <a:pt x="15108" y="62284"/>
                  </a:lnTo>
                  <a:lnTo>
                    <a:pt x="11497" y="31026"/>
                  </a:lnTo>
                  <a:lnTo>
                    <a:pt x="5921" y="0"/>
                  </a:lnTo>
                </a:path>
              </a:pathLst>
            </a:custGeom>
            <a:ln w="5301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86085" y="2683558"/>
              <a:ext cx="42545" cy="32384"/>
            </a:xfrm>
            <a:custGeom>
              <a:avLst/>
              <a:gdLst/>
              <a:ahLst/>
              <a:cxnLst/>
              <a:rect l="l" t="t" r="r" b="b"/>
              <a:pathLst>
                <a:path w="42544" h="32385">
                  <a:moveTo>
                    <a:pt x="0" y="32013"/>
                  </a:moveTo>
                  <a:lnTo>
                    <a:pt x="14890" y="0"/>
                  </a:lnTo>
                  <a:lnTo>
                    <a:pt x="42127" y="28509"/>
                  </a:lnTo>
                  <a:lnTo>
                    <a:pt x="18319" y="16811"/>
                  </a:lnTo>
                  <a:lnTo>
                    <a:pt x="0" y="3201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86085" y="2623576"/>
              <a:ext cx="756285" cy="92075"/>
            </a:xfrm>
            <a:custGeom>
              <a:avLst/>
              <a:gdLst/>
              <a:ahLst/>
              <a:cxnLst/>
              <a:rect l="l" t="t" r="r" b="b"/>
              <a:pathLst>
                <a:path w="756285" h="92075">
                  <a:moveTo>
                    <a:pt x="14890" y="59982"/>
                  </a:moveTo>
                  <a:lnTo>
                    <a:pt x="0" y="91995"/>
                  </a:lnTo>
                  <a:lnTo>
                    <a:pt x="18319" y="76793"/>
                  </a:lnTo>
                  <a:lnTo>
                    <a:pt x="42127" y="88491"/>
                  </a:lnTo>
                  <a:lnTo>
                    <a:pt x="14890" y="59982"/>
                  </a:lnTo>
                  <a:close/>
                </a:path>
                <a:path w="756285" h="92075">
                  <a:moveTo>
                    <a:pt x="240210" y="0"/>
                  </a:moveTo>
                  <a:lnTo>
                    <a:pt x="240210" y="0"/>
                  </a:lnTo>
                  <a:lnTo>
                    <a:pt x="700803" y="0"/>
                  </a:lnTo>
                  <a:lnTo>
                    <a:pt x="756010" y="0"/>
                  </a:lnTo>
                </a:path>
              </a:pathLst>
            </a:custGeom>
            <a:ln w="4350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26164" y="2610013"/>
              <a:ext cx="48260" cy="27305"/>
            </a:xfrm>
            <a:custGeom>
              <a:avLst/>
              <a:gdLst/>
              <a:ahLst/>
              <a:cxnLst/>
              <a:rect l="l" t="t" r="r" b="b"/>
              <a:pathLst>
                <a:path w="48260" h="27305">
                  <a:moveTo>
                    <a:pt x="0" y="27125"/>
                  </a:moveTo>
                  <a:lnTo>
                    <a:pt x="21241" y="13562"/>
                  </a:lnTo>
                  <a:lnTo>
                    <a:pt x="0" y="0"/>
                  </a:lnTo>
                  <a:lnTo>
                    <a:pt x="47793" y="13562"/>
                  </a:lnTo>
                  <a:lnTo>
                    <a:pt x="0" y="27125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26164" y="2610013"/>
              <a:ext cx="48260" cy="27305"/>
            </a:xfrm>
            <a:custGeom>
              <a:avLst/>
              <a:gdLst/>
              <a:ahLst/>
              <a:cxnLst/>
              <a:rect l="l" t="t" r="r" b="b"/>
              <a:pathLst>
                <a:path w="48260" h="27305">
                  <a:moveTo>
                    <a:pt x="47793" y="13562"/>
                  </a:moveTo>
                  <a:lnTo>
                    <a:pt x="0" y="0"/>
                  </a:lnTo>
                  <a:lnTo>
                    <a:pt x="21241" y="13562"/>
                  </a:lnTo>
                  <a:lnTo>
                    <a:pt x="0" y="27125"/>
                  </a:lnTo>
                  <a:lnTo>
                    <a:pt x="47793" y="13562"/>
                  </a:lnTo>
                  <a:close/>
                </a:path>
              </a:pathLst>
            </a:custGeom>
            <a:ln w="3858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48766" y="1973927"/>
            <a:ext cx="3110865" cy="116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350">
              <a:latin typeface="Times New Roman"/>
              <a:cs typeface="Times New Roman"/>
            </a:endParaRPr>
          </a:p>
          <a:p>
            <a:pPr marL="437515">
              <a:lnSpc>
                <a:spcPts val="350"/>
              </a:lnSpc>
            </a:pPr>
            <a:r>
              <a:rPr sz="350" spc="90" dirty="0">
                <a:latin typeface="Arial MT"/>
                <a:cs typeface="Arial MT"/>
              </a:rPr>
              <a:t>Executes</a:t>
            </a:r>
            <a:endParaRPr sz="350">
              <a:latin typeface="Arial MT"/>
              <a:cs typeface="Arial MT"/>
            </a:endParaRPr>
          </a:p>
          <a:p>
            <a:pPr marR="625475" algn="ctr">
              <a:lnSpc>
                <a:spcPts val="350"/>
              </a:lnSpc>
            </a:pPr>
            <a:r>
              <a:rPr sz="350" spc="125" dirty="0">
                <a:latin typeface="Arial MT"/>
                <a:cs typeface="Arial MT"/>
              </a:rPr>
              <a:t>Legitimate</a:t>
            </a:r>
            <a:r>
              <a:rPr sz="350" spc="145" dirty="0">
                <a:latin typeface="Arial MT"/>
                <a:cs typeface="Arial MT"/>
              </a:rPr>
              <a:t> </a:t>
            </a:r>
            <a:r>
              <a:rPr sz="350" spc="120" dirty="0">
                <a:latin typeface="Arial MT"/>
                <a:cs typeface="Arial MT"/>
              </a:rPr>
              <a:t>Software</a:t>
            </a:r>
            <a:endParaRPr sz="350">
              <a:latin typeface="Arial MT"/>
              <a:cs typeface="Arial MT"/>
            </a:endParaRPr>
          </a:p>
          <a:p>
            <a:pPr marL="191770">
              <a:lnSpc>
                <a:spcPct val="100000"/>
              </a:lnSpc>
              <a:spcBef>
                <a:spcPts val="384"/>
              </a:spcBef>
            </a:pPr>
            <a:r>
              <a:rPr sz="350" spc="85" dirty="0">
                <a:latin typeface="Arial MT"/>
                <a:cs typeface="Arial MT"/>
              </a:rPr>
              <a:t>User</a:t>
            </a: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50">
              <a:latin typeface="Arial MT"/>
              <a:cs typeface="Arial MT"/>
            </a:endParaRPr>
          </a:p>
          <a:p>
            <a:pPr marR="222885" algn="ctr">
              <a:lnSpc>
                <a:spcPct val="100000"/>
              </a:lnSpc>
              <a:spcBef>
                <a:spcPts val="5"/>
              </a:spcBef>
            </a:pPr>
            <a:r>
              <a:rPr sz="350" spc="120" dirty="0">
                <a:latin typeface="Arial MT"/>
                <a:cs typeface="Arial MT"/>
              </a:rPr>
              <a:t>Attaches</a:t>
            </a:r>
            <a:r>
              <a:rPr sz="350" spc="135" dirty="0">
                <a:latin typeface="Arial MT"/>
                <a:cs typeface="Arial MT"/>
              </a:rPr>
              <a:t> </a:t>
            </a:r>
            <a:r>
              <a:rPr sz="350" spc="65" dirty="0">
                <a:latin typeface="Arial MT"/>
                <a:cs typeface="Arial MT"/>
              </a:rPr>
              <a:t>to</a:t>
            </a: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350">
              <a:latin typeface="Arial MT"/>
              <a:cs typeface="Arial MT"/>
            </a:endParaRPr>
          </a:p>
          <a:p>
            <a:pPr marL="393700" algn="ctr">
              <a:lnSpc>
                <a:spcPts val="350"/>
              </a:lnSpc>
            </a:pPr>
            <a:r>
              <a:rPr sz="350" spc="100" dirty="0">
                <a:latin typeface="Arial MT"/>
                <a:cs typeface="Arial MT"/>
              </a:rPr>
              <a:t>Replicates</a:t>
            </a:r>
            <a:endParaRPr sz="350">
              <a:latin typeface="Arial MT"/>
              <a:cs typeface="Arial MT"/>
            </a:endParaRPr>
          </a:p>
          <a:p>
            <a:pPr marR="625475" algn="ctr">
              <a:lnSpc>
                <a:spcPts val="350"/>
              </a:lnSpc>
            </a:pPr>
            <a:r>
              <a:rPr sz="350" spc="105" dirty="0">
                <a:latin typeface="Arial MT"/>
                <a:cs typeface="Arial MT"/>
              </a:rPr>
              <a:t>Virus</a:t>
            </a:r>
            <a:r>
              <a:rPr sz="350" spc="75" dirty="0">
                <a:latin typeface="Arial MT"/>
                <a:cs typeface="Arial MT"/>
              </a:rPr>
              <a:t> </a:t>
            </a:r>
            <a:r>
              <a:rPr sz="350" spc="114" dirty="0">
                <a:latin typeface="Arial MT"/>
                <a:cs typeface="Arial MT"/>
              </a:rPr>
              <a:t>Code</a:t>
            </a: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350">
              <a:latin typeface="Arial MT"/>
              <a:cs typeface="Arial MT"/>
            </a:endParaRPr>
          </a:p>
          <a:p>
            <a:pPr marR="163830" algn="ctr">
              <a:lnSpc>
                <a:spcPct val="100000"/>
              </a:lnSpc>
            </a:pPr>
            <a:r>
              <a:rPr sz="350" spc="50" dirty="0">
                <a:latin typeface="Arial MT"/>
                <a:cs typeface="Arial MT"/>
              </a:rPr>
              <a:t>I</a:t>
            </a:r>
            <a:r>
              <a:rPr sz="350" spc="-45" dirty="0">
                <a:latin typeface="Arial MT"/>
                <a:cs typeface="Arial MT"/>
              </a:rPr>
              <a:t> </a:t>
            </a:r>
            <a:r>
              <a:rPr sz="350" spc="100" dirty="0">
                <a:latin typeface="Arial MT"/>
                <a:cs typeface="Arial MT"/>
              </a:rPr>
              <a:t>n</a:t>
            </a:r>
            <a:r>
              <a:rPr sz="350" spc="-45" dirty="0">
                <a:latin typeface="Arial MT"/>
                <a:cs typeface="Arial MT"/>
              </a:rPr>
              <a:t> </a:t>
            </a:r>
            <a:r>
              <a:rPr sz="350" spc="50" dirty="0">
                <a:latin typeface="Arial MT"/>
                <a:cs typeface="Arial MT"/>
              </a:rPr>
              <a:t>f</a:t>
            </a:r>
            <a:r>
              <a:rPr sz="350" spc="-40" dirty="0">
                <a:latin typeface="Arial MT"/>
                <a:cs typeface="Arial MT"/>
              </a:rPr>
              <a:t> </a:t>
            </a:r>
            <a:r>
              <a:rPr sz="350" spc="100" dirty="0">
                <a:latin typeface="Arial MT"/>
                <a:cs typeface="Arial MT"/>
              </a:rPr>
              <a:t>e</a:t>
            </a:r>
            <a:r>
              <a:rPr sz="350" spc="-45" dirty="0">
                <a:latin typeface="Arial MT"/>
                <a:cs typeface="Arial MT"/>
              </a:rPr>
              <a:t> </a:t>
            </a:r>
            <a:r>
              <a:rPr sz="350" spc="95" dirty="0">
                <a:latin typeface="Arial MT"/>
                <a:cs typeface="Arial MT"/>
              </a:rPr>
              <a:t>c</a:t>
            </a:r>
            <a:r>
              <a:rPr sz="350" spc="-40" dirty="0">
                <a:latin typeface="Arial MT"/>
                <a:cs typeface="Arial MT"/>
              </a:rPr>
              <a:t> </a:t>
            </a:r>
            <a:r>
              <a:rPr sz="350" spc="50" dirty="0">
                <a:latin typeface="Arial MT"/>
                <a:cs typeface="Arial MT"/>
              </a:rPr>
              <a:t>t</a:t>
            </a:r>
            <a:r>
              <a:rPr sz="350" spc="-45" dirty="0">
                <a:latin typeface="Arial MT"/>
                <a:cs typeface="Arial MT"/>
              </a:rPr>
              <a:t> </a:t>
            </a:r>
            <a:r>
              <a:rPr sz="350" spc="95" dirty="0">
                <a:latin typeface="Arial MT"/>
                <a:cs typeface="Arial MT"/>
              </a:rPr>
              <a:t>s</a:t>
            </a:r>
            <a:r>
              <a:rPr sz="350" spc="340" dirty="0">
                <a:latin typeface="Arial MT"/>
                <a:cs typeface="Arial MT"/>
              </a:rPr>
              <a:t> </a:t>
            </a:r>
            <a:r>
              <a:rPr sz="350" spc="110" dirty="0">
                <a:latin typeface="Arial MT"/>
                <a:cs typeface="Arial MT"/>
              </a:rPr>
              <a:t>Executes </a:t>
            </a:r>
            <a:r>
              <a:rPr sz="350" spc="100" dirty="0">
                <a:latin typeface="Arial MT"/>
                <a:cs typeface="Arial MT"/>
              </a:rPr>
              <a:t>Virus</a:t>
            </a:r>
            <a:r>
              <a:rPr sz="350" spc="105" dirty="0">
                <a:latin typeface="Arial MT"/>
                <a:cs typeface="Arial MT"/>
              </a:rPr>
              <a:t> Code</a:t>
            </a: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350">
              <a:latin typeface="Arial MT"/>
              <a:cs typeface="Arial MT"/>
            </a:endParaRPr>
          </a:p>
          <a:p>
            <a:pPr marR="625475" algn="ctr">
              <a:lnSpc>
                <a:spcPct val="100000"/>
              </a:lnSpc>
            </a:pPr>
            <a:r>
              <a:rPr sz="350" spc="120" dirty="0">
                <a:latin typeface="Arial MT"/>
                <a:cs typeface="Arial MT"/>
              </a:rPr>
              <a:t>Infected</a:t>
            </a:r>
            <a:r>
              <a:rPr sz="350" spc="135" dirty="0">
                <a:latin typeface="Arial MT"/>
                <a:cs typeface="Arial MT"/>
              </a:rPr>
              <a:t> </a:t>
            </a:r>
            <a:r>
              <a:rPr sz="350" spc="120" dirty="0">
                <a:latin typeface="Arial MT"/>
                <a:cs typeface="Arial MT"/>
              </a:rPr>
              <a:t>Software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9994" y="3284707"/>
            <a:ext cx="283845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25" dirty="0">
                <a:solidFill>
                  <a:srgbClr val="336699"/>
                </a:solidFill>
                <a:latin typeface="Arial MT"/>
                <a:cs typeface="Arial MT"/>
              </a:rPr>
              <a:t>Figure:</a:t>
            </a:r>
            <a:r>
              <a:rPr sz="1000" spc="-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Diagram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illustrating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how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10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attaches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to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40184" y="3284707"/>
            <a:ext cx="99758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10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program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7" name="object 47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9177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Types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Computer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Viruses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94031" y="804228"/>
          <a:ext cx="3816985" cy="205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175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Type of</a:t>
                      </a:r>
                      <a:r>
                        <a:rPr sz="800" b="1" spc="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800" b="1" spc="-1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Infector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Attaches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itself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executable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files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acti-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vates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run.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ILOVEYOU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Macro</a:t>
                      </a:r>
                      <a:r>
                        <a:rPr sz="800" b="1" spc="4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Infects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documents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contain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macros,</a:t>
                      </a:r>
                      <a:r>
                        <a:rPr sz="8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exe-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 marR="50800">
                        <a:lnSpc>
                          <a:spcPct val="104000"/>
                        </a:lnSpc>
                      </a:pP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cuting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macros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sz="800" spc="-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document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is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opened.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Melissa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Virus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3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Polymorphic</a:t>
                      </a:r>
                      <a:r>
                        <a:rPr sz="800" b="1" spc="6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Changes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infects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new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evade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detection.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Storm</a:t>
                      </a:r>
                      <a:r>
                        <a:rPr sz="8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Worm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Metamorphic</a:t>
                      </a:r>
                      <a:r>
                        <a:rPr sz="800" b="1" spc="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Completely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rewrites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own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 marR="50165">
                        <a:lnSpc>
                          <a:spcPct val="104000"/>
                        </a:lnSpc>
                      </a:pP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infects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new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file,</a:t>
                      </a:r>
                      <a:r>
                        <a:rPr sz="8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making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detection</a:t>
                      </a:r>
                      <a:r>
                        <a:rPr sz="8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very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difficult.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Simile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Virus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2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Resident</a:t>
                      </a:r>
                      <a:r>
                        <a:rPr sz="800" b="1" spc="3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Installs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itself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computer’s</a:t>
                      </a:r>
                      <a:r>
                        <a:rPr sz="8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memory,</a:t>
                      </a:r>
                      <a:r>
                        <a:rPr sz="8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al-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 marR="50800">
                        <a:lnSpc>
                          <a:spcPct val="104000"/>
                        </a:lnSpc>
                      </a:pP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lowing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execute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8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sz="8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without </a:t>
                      </a: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needing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to</a:t>
                      </a:r>
                      <a:r>
                        <a:rPr sz="8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infect</a:t>
                      </a:r>
                      <a:r>
                        <a:rPr sz="8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CIH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(Chernobyl)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b="1" spc="-3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Resident</a:t>
                      </a:r>
                      <a:r>
                        <a:rPr sz="800" b="1" spc="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Virus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Requires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host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execute,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active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sz="8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while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host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file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running.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75"/>
                        </a:lnSpc>
                      </a:pPr>
                      <a:r>
                        <a:rPr sz="800" spc="-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Sasser</a:t>
                      </a:r>
                      <a:r>
                        <a:rPr sz="8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Virus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191933"/>
                      </a:solidFill>
                      <a:prstDash val="solid"/>
                    </a:lnL>
                    <a:lnR w="6350">
                      <a:solidFill>
                        <a:srgbClr val="191933"/>
                      </a:solidFill>
                      <a:prstDash val="solid"/>
                    </a:lnR>
                    <a:lnT w="6350">
                      <a:solidFill>
                        <a:srgbClr val="191933"/>
                      </a:solidFill>
                      <a:prstDash val="solid"/>
                    </a:lnT>
                    <a:lnB w="6350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139913" y="2912737"/>
            <a:ext cx="2328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6699"/>
                </a:solidFill>
                <a:latin typeface="Arial MT"/>
                <a:cs typeface="Arial MT"/>
              </a:rPr>
              <a:t>Table:</a:t>
            </a:r>
            <a:r>
              <a:rPr sz="1000" spc="-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Different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Computer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Viruses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93583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713776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954174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074379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59304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2679509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64433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2551" y="3284626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5300" y="207375"/>
            <a:ext cx="4164965" cy="317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latin typeface="Arial"/>
                <a:cs typeface="Arial"/>
              </a:rPr>
              <a:t>Signature-</a:t>
            </a:r>
            <a:r>
              <a:rPr sz="1200" b="1" spc="-25" dirty="0">
                <a:latin typeface="Arial"/>
                <a:cs typeface="Arial"/>
              </a:rPr>
              <a:t>Based</a:t>
            </a:r>
            <a:r>
              <a:rPr sz="1200" b="1" spc="1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VIRUS</a:t>
            </a:r>
            <a:r>
              <a:rPr sz="1200" b="1" spc="114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Detection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5080">
              <a:lnSpc>
                <a:spcPct val="102600"/>
              </a:lnSpc>
            </a:pP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Signature-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identifying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viruses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comparing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database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signatures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(unique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bytes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sequences).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ts val="131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ts val="940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Maintain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database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signatures.</a:t>
            </a:r>
            <a:endParaRPr sz="800">
              <a:latin typeface="Arial MT"/>
              <a:cs typeface="Arial MT"/>
            </a:endParaRPr>
          </a:p>
          <a:p>
            <a:pPr marL="541655" marR="36258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When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accessed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executed,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compute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hash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extract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byte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patterns.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ts val="905"/>
              </a:lnSpc>
            </a:pP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Compare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those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database.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ts val="95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match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is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found.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ts val="1310"/>
              </a:lnSpc>
              <a:spcBef>
                <a:spcPts val="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ts val="940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Effective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viruses.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ts val="95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Low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false-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positive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rate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signatures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accurate.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ts val="131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ts val="940"/>
              </a:lnSpc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Ineffective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against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new,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viruses.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ts val="955"/>
              </a:lnSpc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frequent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updates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database.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605927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861134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996147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517952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652966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54578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89592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5300" y="207375"/>
            <a:ext cx="4119879" cy="308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latin typeface="Arial"/>
                <a:cs typeface="Arial"/>
              </a:rPr>
              <a:t>Heuristic-</a:t>
            </a:r>
            <a:r>
              <a:rPr sz="1200" b="1" spc="-20" dirty="0">
                <a:latin typeface="Arial"/>
                <a:cs typeface="Arial"/>
              </a:rPr>
              <a:t>Based</a:t>
            </a:r>
            <a:r>
              <a:rPr sz="1200" b="1" spc="114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VIRUS</a:t>
            </a:r>
            <a:r>
              <a:rPr sz="1200" b="1" spc="114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Detection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5080">
              <a:lnSpc>
                <a:spcPct val="102600"/>
              </a:lnSpc>
            </a:pP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Heuristic-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analyzing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the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or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characteristics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identify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potential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viruses,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even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they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are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not in the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signature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database.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 marR="454659">
              <a:lnSpc>
                <a:spcPts val="950"/>
              </a:lnSpc>
              <a:spcBef>
                <a:spcPts val="114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file’s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suspicious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characteristics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(e.g., self-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replication,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code injection).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70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predefined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rules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heuristics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evaluate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file.</a:t>
            </a:r>
            <a:endParaRPr sz="800">
              <a:latin typeface="Arial MT"/>
              <a:cs typeface="Arial MT"/>
            </a:endParaRPr>
          </a:p>
          <a:p>
            <a:pPr marL="541655" marR="332105">
              <a:lnSpc>
                <a:spcPts val="950"/>
              </a:lnSpc>
              <a:spcBef>
                <a:spcPts val="14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exhibits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matches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virus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anomalies.</a:t>
            </a: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  <a:spcBef>
                <a:spcPts val="77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 marR="1809114">
              <a:lnSpc>
                <a:spcPts val="106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previously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viruses.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Provides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broader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scope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detection.</a:t>
            </a: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  <a:spcBef>
                <a:spcPts val="76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 marR="1732914">
              <a:lnSpc>
                <a:spcPts val="1060"/>
              </a:lnSpc>
              <a:spcBef>
                <a:spcPts val="2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higher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false-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positive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rate.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careful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tuning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heuristic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rules.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40916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8440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2788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37181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15298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39046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5300" y="207375"/>
            <a:ext cx="4164965" cy="293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latin typeface="Arial"/>
                <a:cs typeface="Arial"/>
              </a:rPr>
              <a:t>Behavior-</a:t>
            </a:r>
            <a:r>
              <a:rPr sz="1200" b="1" spc="-25" dirty="0">
                <a:latin typeface="Arial"/>
                <a:cs typeface="Arial"/>
              </a:rPr>
              <a:t>Based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Detection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488315">
              <a:lnSpc>
                <a:spcPct val="102600"/>
              </a:lnSpc>
            </a:pP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Behavior-based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monitors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runtime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of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programs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identify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activity.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 marR="5080">
              <a:lnSpc>
                <a:spcPts val="113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sandbox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actions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real-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time.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Observe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behavior,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modifications,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activity,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calls.</a:t>
            </a:r>
            <a:endParaRPr sz="800">
              <a:latin typeface="Arial MT"/>
              <a:cs typeface="Arial MT"/>
            </a:endParaRPr>
          </a:p>
          <a:p>
            <a:pPr marL="541655" marR="5080">
              <a:lnSpc>
                <a:spcPts val="950"/>
              </a:lnSpc>
              <a:spcBef>
                <a:spcPts val="14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matches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deviations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from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 marR="894715">
              <a:lnSpc>
                <a:spcPts val="113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viruses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their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actions. Provides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real-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time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protection.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dynamic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analysis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(sandbox).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82531"/>
            <a:ext cx="65265" cy="6526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4395" y="3160595"/>
            <a:ext cx="151574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impact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performance.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40916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8440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48078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37181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15298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39046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5300" y="207375"/>
            <a:ext cx="4053840" cy="293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Static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Code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5080">
              <a:lnSpc>
                <a:spcPct val="102600"/>
              </a:lnSpc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Static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analysis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examining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without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executing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it,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looking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vulnerabilities.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file’s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binary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running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it.</a:t>
            </a:r>
            <a:endParaRPr sz="800">
              <a:latin typeface="Arial MT"/>
              <a:cs typeface="Arial MT"/>
            </a:endParaRPr>
          </a:p>
          <a:p>
            <a:pPr marL="541655" marR="99695">
              <a:lnSpc>
                <a:spcPts val="950"/>
              </a:lnSpc>
              <a:spcBef>
                <a:spcPts val="210"/>
              </a:spcBef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Search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suspicious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function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calls,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code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anomalies.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if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before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17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Useful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analyzing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known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patterns.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Limited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detected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code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analysis.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82531"/>
            <a:ext cx="65265" cy="6526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4395" y="3160595"/>
            <a:ext cx="236728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miss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apparent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runtime.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40916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8440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48078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37181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15298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39046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5300" y="207375"/>
            <a:ext cx="4163695" cy="293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908935" algn="ctr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Arial"/>
                <a:cs typeface="Arial"/>
              </a:rPr>
              <a:t>Dynamic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R="2865755" algn="ctr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5080">
              <a:lnSpc>
                <a:spcPct val="102600"/>
              </a:lnSpc>
            </a:pP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Dynamic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analysis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executing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controlled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observing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its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activity.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R="2957830" algn="ctr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Run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sandbox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environment.</a:t>
            </a:r>
            <a:endParaRPr sz="800">
              <a:latin typeface="Arial MT"/>
              <a:cs typeface="Arial MT"/>
            </a:endParaRPr>
          </a:p>
          <a:p>
            <a:pPr marL="541655" marR="109220">
              <a:lnSpc>
                <a:spcPts val="950"/>
              </a:lnSpc>
              <a:spcBef>
                <a:spcPts val="21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interactions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changes,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network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activity,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process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creation.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suspicious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indicative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virus.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 marR="683895">
              <a:lnSpc>
                <a:spcPts val="113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Provides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insights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how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behaves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real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environment. Can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manifest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during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30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file,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which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risky.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82531"/>
            <a:ext cx="65265" cy="6526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4395" y="3160595"/>
            <a:ext cx="278701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Resource-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intensive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require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sophisticated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sandboxing.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10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97050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2142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845792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457856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2582227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074098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5300" y="207375"/>
            <a:ext cx="4157345" cy="296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Machine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Learning-</a:t>
            </a:r>
            <a:r>
              <a:rPr sz="1200" b="1" spc="-35" dirty="0">
                <a:latin typeface="Arial"/>
                <a:cs typeface="Arial"/>
              </a:rPr>
              <a:t>Based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Detection</a:t>
            </a:r>
            <a:endParaRPr sz="1200" dirty="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 dirty="0">
              <a:latin typeface="Arial"/>
              <a:cs typeface="Arial"/>
            </a:endParaRPr>
          </a:p>
          <a:p>
            <a:pPr marL="264160" marR="102235">
              <a:lnSpc>
                <a:spcPct val="102600"/>
              </a:lnSpc>
            </a:pP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Machine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learning-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training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models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recognize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on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various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features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extracted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from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files.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 dirty="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 dirty="0">
              <a:latin typeface="Arial"/>
              <a:cs typeface="Arial"/>
            </a:endParaRPr>
          </a:p>
          <a:p>
            <a:pPr marL="541655" marR="107950">
              <a:lnSpc>
                <a:spcPts val="980"/>
              </a:lnSpc>
              <a:spcBef>
                <a:spcPts val="2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Extract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features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byte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91933"/>
                </a:solidFill>
                <a:latin typeface="Arial MT"/>
                <a:cs typeface="Arial MT"/>
              </a:rPr>
              <a:t>sequences,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calls,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API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usage).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Train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machine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learning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model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using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labeled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datasets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(malicious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vs.</a:t>
            </a:r>
            <a:r>
              <a:rPr sz="8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benign).</a:t>
            </a:r>
            <a:endParaRPr sz="800" dirty="0">
              <a:latin typeface="Arial MT"/>
              <a:cs typeface="Arial MT"/>
            </a:endParaRPr>
          </a:p>
          <a:p>
            <a:pPr marL="541655" marR="5080">
              <a:lnSpc>
                <a:spcPts val="950"/>
              </a:lnSpc>
              <a:spcBef>
                <a:spcPts val="25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trained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model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classify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benign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their features.</a:t>
            </a: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 dirty="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 dirty="0">
              <a:latin typeface="Arial"/>
              <a:cs typeface="Arial"/>
            </a:endParaRPr>
          </a:p>
          <a:p>
            <a:pPr marL="541655" marR="961390">
              <a:lnSpc>
                <a:spcPts val="980"/>
              </a:lnSpc>
              <a:spcBef>
                <a:spcPts val="2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adapt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new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retraining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updated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data. Can handle complex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 correlations.</a:t>
            </a: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800" dirty="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 dirty="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labeled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datasets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training.</a:t>
            </a:r>
            <a:endParaRPr sz="800" dirty="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2551" y="3198456"/>
            <a:ext cx="65265" cy="6526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4395" y="3176521"/>
            <a:ext cx="271335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Model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performance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depends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on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quality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training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  <a:hlinkClick r:id="rId19" action="ppaction://hlinksldjump"/>
              </a:rPr>
              <a:t>data.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97050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72142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45792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457856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82227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74098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198456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5300" y="207375"/>
            <a:ext cx="4149725" cy="3091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latin typeface="Arial"/>
                <a:cs typeface="Arial"/>
              </a:rPr>
              <a:t>Anomaly-</a:t>
            </a:r>
            <a:r>
              <a:rPr sz="1200" b="1" spc="-25" dirty="0">
                <a:latin typeface="Arial"/>
                <a:cs typeface="Arial"/>
              </a:rPr>
              <a:t>Based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Detection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5080">
              <a:lnSpc>
                <a:spcPct val="102600"/>
              </a:lnSpc>
            </a:pP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Anomaly-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detection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establishing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baseline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normal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identifying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deviations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this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baseline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potential threats.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 marR="292100">
              <a:lnSpc>
                <a:spcPts val="980"/>
              </a:lnSpc>
              <a:spcBef>
                <a:spcPts val="2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establish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baseline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behavior.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Continuously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activities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compare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them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baseline.</a:t>
            </a:r>
            <a:endParaRPr sz="800">
              <a:latin typeface="Arial MT"/>
              <a:cs typeface="Arial MT"/>
            </a:endParaRPr>
          </a:p>
          <a:p>
            <a:pPr marL="541655" marR="292100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Flag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activities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significantly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deviate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normal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patterns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potential threats.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previously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threats.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2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Flexible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adaptable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changing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environments.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 marR="1916430">
              <a:lnSpc>
                <a:spcPts val="980"/>
              </a:lnSpc>
              <a:spcBef>
                <a:spcPts val="20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higher</a:t>
            </a:r>
            <a:r>
              <a:rPr sz="8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false-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positive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rate.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Requires</a:t>
            </a:r>
            <a:r>
              <a:rPr sz="8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accurate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baseline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modeling.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55268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Arial MT"/>
                <a:cs typeface="Arial MT"/>
              </a:rPr>
              <a:t>28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150" dirty="0">
                <a:latin typeface="Arial MT"/>
                <a:cs typeface="Arial MT"/>
              </a:rPr>
              <a:t>/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49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42732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8840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54276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381656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527338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3054718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3200387"/>
            <a:ext cx="65265" cy="6526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5300" y="207375"/>
            <a:ext cx="4165600" cy="309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Sandboxing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8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Description:</a:t>
            </a:r>
            <a:endParaRPr sz="1100">
              <a:latin typeface="Arial"/>
              <a:cs typeface="Arial"/>
            </a:endParaRPr>
          </a:p>
          <a:p>
            <a:pPr marL="264160" marR="70485">
              <a:lnSpc>
                <a:spcPct val="102600"/>
              </a:lnSpc>
            </a:pP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Sandboxing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involves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executing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observe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its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affecting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actual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system.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541655">
              <a:lnSpc>
                <a:spcPct val="100000"/>
              </a:lnSpc>
              <a:spcBef>
                <a:spcPts val="14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Create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virtual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isolated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(sandbox)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execution.</a:t>
            </a:r>
            <a:endParaRPr sz="800">
              <a:latin typeface="Arial MT"/>
              <a:cs typeface="Arial MT"/>
            </a:endParaRPr>
          </a:p>
          <a:p>
            <a:pPr marL="541655" marR="311785">
              <a:lnSpc>
                <a:spcPts val="950"/>
              </a:lnSpc>
              <a:spcBef>
                <a:spcPts val="229"/>
              </a:spcBef>
            </a:pP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Monitor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record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file’s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including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changes,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network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activity,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access.</a:t>
            </a:r>
            <a:endParaRPr sz="800">
              <a:latin typeface="Arial MT"/>
              <a:cs typeface="Arial MT"/>
            </a:endParaRPr>
          </a:p>
          <a:p>
            <a:pPr marL="541655">
              <a:lnSpc>
                <a:spcPct val="100000"/>
              </a:lnSpc>
              <a:spcBef>
                <a:spcPts val="150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Analyze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recorded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signs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activity.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Pros:</a:t>
            </a:r>
            <a:endParaRPr sz="1100">
              <a:latin typeface="Arial"/>
              <a:cs typeface="Arial"/>
            </a:endParaRPr>
          </a:p>
          <a:p>
            <a:pPr marL="541655" marR="736600">
              <a:lnSpc>
                <a:spcPts val="115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Provides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safe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environment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for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testing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harmful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files. Can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detect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behavioral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indicators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malware.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800">
              <a:latin typeface="Arial MT"/>
              <a:cs typeface="Arial MT"/>
            </a:endParaRPr>
          </a:p>
          <a:p>
            <a:pPr marL="264160">
              <a:lnSpc>
                <a:spcPct val="100000"/>
              </a:lnSpc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Cons:</a:t>
            </a:r>
            <a:endParaRPr sz="1100">
              <a:latin typeface="Arial"/>
              <a:cs typeface="Arial"/>
            </a:endParaRPr>
          </a:p>
          <a:p>
            <a:pPr marL="541655" marR="5080">
              <a:lnSpc>
                <a:spcPts val="1150"/>
              </a:lnSpc>
              <a:spcBef>
                <a:spcPts val="25"/>
              </a:spcBef>
            </a:pP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Execution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file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sandbox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may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not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always</a:t>
            </a:r>
            <a:r>
              <a:rPr sz="8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replicate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real-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world</a:t>
            </a:r>
            <a:r>
              <a:rPr sz="8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conditions.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Performance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overhead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resource-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intensive.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29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34" y="105561"/>
            <a:ext cx="4608195" cy="354330"/>
            <a:chOff x="-34" y="105561"/>
            <a:chExt cx="4608195" cy="35433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-34" y="425045"/>
              <a:ext cx="4608195" cy="34925"/>
            </a:xfrm>
            <a:custGeom>
              <a:avLst/>
              <a:gdLst/>
              <a:ahLst/>
              <a:cxnLst/>
              <a:rect l="l" t="t" r="r" b="b"/>
              <a:pathLst>
                <a:path w="4608195" h="34925">
                  <a:moveTo>
                    <a:pt x="4608060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4608060" y="34794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241513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481912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22310"/>
            <a:ext cx="65265" cy="6526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5300" y="207375"/>
            <a:ext cx="4135754" cy="23099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Phishing</a:t>
            </a:r>
            <a:endParaRPr sz="1200" dirty="0">
              <a:latin typeface="Arial"/>
              <a:cs typeface="Arial"/>
            </a:endParaRPr>
          </a:p>
          <a:p>
            <a:pPr marL="264160" marR="104139">
              <a:lnSpc>
                <a:spcPct val="102600"/>
              </a:lnSpc>
              <a:spcBef>
                <a:spcPts val="944"/>
              </a:spcBef>
            </a:pP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is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type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social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engineering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attack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where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attackers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deceive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individuals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into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providing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sensitive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information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such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as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usernames,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passwords,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or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credit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card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numbers.</a:t>
            </a:r>
            <a:r>
              <a:rPr sz="11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typically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occurs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via:</a:t>
            </a:r>
            <a:endParaRPr sz="1100" dirty="0">
              <a:latin typeface="Arial MT"/>
              <a:cs typeface="Arial MT"/>
            </a:endParaRPr>
          </a:p>
          <a:p>
            <a:pPr marL="541655" marR="327025">
              <a:lnSpc>
                <a:spcPts val="950"/>
              </a:lnSpc>
              <a:spcBef>
                <a:spcPts val="15"/>
              </a:spcBef>
            </a:pPr>
            <a:r>
              <a:rPr sz="800" b="1" spc="-10" dirty="0">
                <a:solidFill>
                  <a:srgbClr val="191933"/>
                </a:solidFill>
                <a:latin typeface="Arial"/>
                <a:cs typeface="Arial"/>
              </a:rPr>
              <a:t>Email:</a:t>
            </a:r>
            <a:r>
              <a:rPr sz="8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Fake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emails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appear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be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from</a:t>
            </a:r>
            <a:r>
              <a:rPr sz="8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91933"/>
                </a:solidFill>
                <a:latin typeface="Arial MT"/>
                <a:cs typeface="Arial MT"/>
              </a:rPr>
              <a:t>sources</a:t>
            </a:r>
            <a:r>
              <a:rPr sz="8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requesting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personal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information.</a:t>
            </a:r>
            <a:endParaRPr sz="800" dirty="0">
              <a:latin typeface="Arial MT"/>
              <a:cs typeface="Arial MT"/>
            </a:endParaRPr>
          </a:p>
          <a:p>
            <a:pPr marL="541655">
              <a:lnSpc>
                <a:spcPts val="905"/>
              </a:lnSpc>
            </a:pPr>
            <a:r>
              <a:rPr sz="800" b="1" spc="-30" dirty="0">
                <a:solidFill>
                  <a:srgbClr val="191933"/>
                </a:solidFill>
                <a:latin typeface="Arial"/>
                <a:cs typeface="Arial"/>
              </a:rPr>
              <a:t>Websites:</a:t>
            </a:r>
            <a:r>
              <a:rPr sz="8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Fraudulent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websites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are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designed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look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like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legitimate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sites</a:t>
            </a:r>
            <a:r>
              <a:rPr sz="8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8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steal</a:t>
            </a:r>
            <a:endParaRPr sz="800" dirty="0">
              <a:latin typeface="Arial MT"/>
              <a:cs typeface="Arial MT"/>
            </a:endParaRPr>
          </a:p>
          <a:p>
            <a:pPr marL="541655">
              <a:lnSpc>
                <a:spcPts val="944"/>
              </a:lnSpc>
            </a:pP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user</a:t>
            </a:r>
            <a:r>
              <a:rPr sz="8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credentials.</a:t>
            </a:r>
            <a:endParaRPr sz="800" dirty="0">
              <a:latin typeface="Arial MT"/>
              <a:cs typeface="Arial MT"/>
            </a:endParaRPr>
          </a:p>
          <a:p>
            <a:pPr marL="541655" marR="94615">
              <a:lnSpc>
                <a:spcPts val="950"/>
              </a:lnSpc>
              <a:spcBef>
                <a:spcPts val="35"/>
              </a:spcBef>
            </a:pPr>
            <a:r>
              <a:rPr sz="800" b="1" spc="-45" dirty="0">
                <a:solidFill>
                  <a:srgbClr val="191933"/>
                </a:solidFill>
                <a:latin typeface="Arial"/>
                <a:cs typeface="Arial"/>
              </a:rPr>
              <a:t>Messages:</a:t>
            </a:r>
            <a:r>
              <a:rPr sz="8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Text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messages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social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media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91933"/>
                </a:solidFill>
                <a:latin typeface="Arial MT"/>
                <a:cs typeface="Arial MT"/>
              </a:rPr>
              <a:t>messages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8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91933"/>
                </a:solidFill>
                <a:latin typeface="Arial MT"/>
                <a:cs typeface="Arial MT"/>
              </a:rPr>
              <a:t>trick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individuals</a:t>
            </a:r>
            <a:r>
              <a:rPr sz="800" spc="5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91933"/>
                </a:solidFill>
                <a:latin typeface="Arial MT"/>
                <a:cs typeface="Arial MT"/>
              </a:rPr>
              <a:t>into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revealing</a:t>
            </a:r>
            <a:r>
              <a:rPr sz="8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personal</a:t>
            </a:r>
            <a:r>
              <a:rPr sz="8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91933"/>
                </a:solidFill>
                <a:latin typeface="Arial MT"/>
                <a:cs typeface="Arial MT"/>
              </a:rPr>
              <a:t>information.</a:t>
            </a: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850" dirty="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4" name="object 3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7628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Types</a:t>
            </a:r>
            <a:r>
              <a:rPr sz="1200" b="1" dirty="0">
                <a:latin typeface="Arial"/>
                <a:cs typeface="Arial"/>
              </a:rPr>
              <a:t> of </a:t>
            </a:r>
            <a:r>
              <a:rPr sz="1200" b="1" spc="-50" dirty="0">
                <a:latin typeface="Arial"/>
                <a:cs typeface="Arial"/>
              </a:rPr>
              <a:t>Phishing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dirty="0">
                <a:latin typeface="Arial"/>
                <a:cs typeface="Arial"/>
              </a:rPr>
              <a:t> Their </a:t>
            </a:r>
            <a:r>
              <a:rPr sz="1200" b="1" spc="-25" dirty="0">
                <a:latin typeface="Arial"/>
                <a:cs typeface="Arial"/>
              </a:rPr>
              <a:t>Properties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86872" y="817212"/>
          <a:ext cx="3830954" cy="202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600" b="1" spc="6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600" b="1" spc="7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Phishing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Common</a:t>
                      </a:r>
                      <a:r>
                        <a:rPr sz="600" b="1" spc="6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Indicators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Email</a:t>
                      </a:r>
                      <a:r>
                        <a:rPr sz="600" b="1" spc="65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Phishing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Uses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fraudulent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emails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appear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come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8100">
                        <a:lnSpc>
                          <a:spcPct val="109500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60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legitimate</a:t>
                      </a:r>
                      <a:r>
                        <a:rPr sz="60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r>
                        <a:rPr sz="600" spc="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trick</a:t>
                      </a:r>
                      <a:r>
                        <a:rPr sz="600" spc="7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r>
                        <a:rPr sz="600" spc="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revealing</a:t>
                      </a:r>
                      <a:r>
                        <a:rPr sz="6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sensitive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information.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Suspicious</a:t>
                      </a:r>
                      <a:r>
                        <a:rPr sz="6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sender</a:t>
                      </a:r>
                      <a:r>
                        <a:rPr sz="6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address,</a:t>
                      </a:r>
                      <a:r>
                        <a:rPr sz="6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urgent</a:t>
                      </a:r>
                      <a:r>
                        <a:rPr sz="600" spc="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language,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unexpected</a:t>
                      </a:r>
                      <a:r>
                        <a:rPr sz="6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attachments</a:t>
                      </a:r>
                      <a:r>
                        <a:rPr sz="6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links.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Spear</a:t>
                      </a:r>
                      <a:r>
                        <a:rPr sz="600" b="1" spc="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Phishing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Targets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individuals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organizations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8100">
                        <a:lnSpc>
                          <a:spcPct val="109500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personalized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increase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like-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lihood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success.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Personalization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content,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con-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tains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about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target.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Whaling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1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type</a:t>
                      </a:r>
                      <a:r>
                        <a:rPr sz="600" spc="1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600" spc="1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spear</a:t>
                      </a:r>
                      <a:r>
                        <a:rPr sz="600" spc="1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phishing</a:t>
                      </a:r>
                      <a:r>
                        <a:rPr sz="600" spc="1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targeting</a:t>
                      </a:r>
                      <a:r>
                        <a:rPr sz="600" spc="16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high-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8100">
                        <a:lnSpc>
                          <a:spcPct val="109500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profile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individuals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such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executives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im-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portant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figures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600" spc="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organization.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level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personalization,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involves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high-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targets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sensitive</a:t>
                      </a:r>
                      <a:r>
                        <a:rPr sz="600" spc="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topics.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Smishing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Phishing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conducted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via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SMS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mes-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7465">
                        <a:lnSpc>
                          <a:spcPct val="109500"/>
                        </a:lnSpc>
                      </a:pPr>
                      <a:r>
                        <a:rPr sz="6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sages.</a:t>
                      </a:r>
                      <a:r>
                        <a:rPr sz="600" spc="10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sz="6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includes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fake</a:t>
                      </a:r>
                      <a:r>
                        <a:rPr sz="600" spc="-1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website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directly.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Unexpected</a:t>
                      </a:r>
                      <a:r>
                        <a:rPr sz="600" spc="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sz="600" spc="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messages,</a:t>
                      </a:r>
                      <a:r>
                        <a:rPr sz="600" spc="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urgent</a:t>
                      </a:r>
                      <a:r>
                        <a:rPr sz="600" spc="7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requests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information,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suspicious</a:t>
                      </a:r>
                      <a:r>
                        <a:rPr sz="600" spc="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links.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Vishing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Voice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phishing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carried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out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over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phone</a:t>
                      </a:r>
                      <a:r>
                        <a:rPr sz="600" spc="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calls,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7465">
                        <a:lnSpc>
                          <a:spcPct val="109500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where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attackers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impersonate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legitimate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or-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ganizations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extract</a:t>
                      </a:r>
                      <a:r>
                        <a:rPr sz="600" spc="4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sensitive</a:t>
                      </a:r>
                      <a:r>
                        <a:rPr sz="600" spc="5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information.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Unsolicited</a:t>
                      </a:r>
                      <a:r>
                        <a:rPr sz="600" spc="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calls,</a:t>
                      </a:r>
                      <a:r>
                        <a:rPr sz="600" spc="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6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6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600" spc="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infor-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mation,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3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pressure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5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act</a:t>
                      </a:r>
                      <a:r>
                        <a:rPr sz="600" spc="6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quickly.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b="1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Clone</a:t>
                      </a:r>
                      <a:r>
                        <a:rPr sz="600" b="1" spc="3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91933"/>
                          </a:solidFill>
                          <a:latin typeface="Arial"/>
                          <a:cs typeface="Arial"/>
                        </a:rPr>
                        <a:t>Phishing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just">
                        <a:lnSpc>
                          <a:spcPts val="685"/>
                        </a:lnSpc>
                      </a:pP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Involves</a:t>
                      </a:r>
                      <a:r>
                        <a:rPr sz="600" spc="8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creating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nearly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identical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replica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 marR="38100" algn="just">
                        <a:lnSpc>
                          <a:spcPct val="109500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legitimate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been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previ-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ously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sent,</a:t>
                      </a:r>
                      <a:r>
                        <a:rPr sz="600" spc="10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links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8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at-</a:t>
                      </a:r>
                      <a:r>
                        <a:rPr sz="600" spc="5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tachments.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685"/>
                        </a:lnSpc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Identical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9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legitimate</a:t>
                      </a:r>
                      <a:r>
                        <a:rPr sz="600" spc="9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email,</a:t>
                      </a:r>
                      <a:r>
                        <a:rPr sz="600" spc="1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altered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new</a:t>
                      </a:r>
                      <a:r>
                        <a:rPr sz="600" spc="4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malicious</a:t>
                      </a:r>
                      <a:r>
                        <a:rPr sz="600" spc="35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solidFill>
                            <a:srgbClr val="191933"/>
                          </a:solidFill>
                          <a:latin typeface="Arial MT"/>
                          <a:cs typeface="Arial MT"/>
                        </a:rPr>
                        <a:t>content.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191933"/>
                      </a:solidFill>
                      <a:prstDash val="solid"/>
                    </a:lnL>
                    <a:lnR w="3175">
                      <a:solidFill>
                        <a:srgbClr val="191933"/>
                      </a:solidFill>
                      <a:prstDash val="solid"/>
                    </a:lnR>
                    <a:lnT w="3175">
                      <a:solidFill>
                        <a:srgbClr val="191933"/>
                      </a:solidFill>
                      <a:prstDash val="solid"/>
                    </a:lnT>
                    <a:lnB w="3175">
                      <a:solidFill>
                        <a:srgbClr val="191933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817105" y="2893268"/>
            <a:ext cx="2973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6699"/>
                </a:solidFill>
                <a:latin typeface="Arial MT"/>
                <a:cs typeface="Arial MT"/>
              </a:rPr>
              <a:t>Table:</a:t>
            </a:r>
            <a:r>
              <a:rPr sz="1000" spc="-15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Different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Types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0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Their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91933"/>
                </a:solidFill>
                <a:latin typeface="Arial MT"/>
                <a:cs typeface="Arial MT"/>
              </a:rPr>
              <a:t>Properties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701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Email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Phishing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09193" y="570445"/>
            <a:ext cx="4040504" cy="1605280"/>
            <a:chOff x="309193" y="570445"/>
            <a:chExt cx="4040504" cy="1605280"/>
          </a:xfrm>
        </p:grpSpPr>
        <p:sp>
          <p:nvSpPr>
            <p:cNvPr id="18" name="object 18"/>
            <p:cNvSpPr/>
            <p:nvPr/>
          </p:nvSpPr>
          <p:spPr>
            <a:xfrm>
              <a:off x="309193" y="570445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9994" y="633687"/>
              <a:ext cx="3989704" cy="1541780"/>
            </a:xfrm>
            <a:custGeom>
              <a:avLst/>
              <a:gdLst/>
              <a:ahLst/>
              <a:cxnLst/>
              <a:rect l="l" t="t" r="r" b="b"/>
              <a:pathLst>
                <a:path w="3989704" h="1541780">
                  <a:moveTo>
                    <a:pt x="3989652" y="0"/>
                  </a:moveTo>
                  <a:lnTo>
                    <a:pt x="0" y="0"/>
                  </a:lnTo>
                  <a:lnTo>
                    <a:pt x="0" y="1541735"/>
                  </a:lnTo>
                  <a:lnTo>
                    <a:pt x="3989652" y="154173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193" y="614850"/>
              <a:ext cx="3989704" cy="1510030"/>
            </a:xfrm>
            <a:custGeom>
              <a:avLst/>
              <a:gdLst/>
              <a:ahLst/>
              <a:cxnLst/>
              <a:rect l="l" t="t" r="r" b="b"/>
              <a:pathLst>
                <a:path w="3989704" h="1510030">
                  <a:moveTo>
                    <a:pt x="3989652" y="0"/>
                  </a:moveTo>
                  <a:lnTo>
                    <a:pt x="0" y="0"/>
                  </a:lnTo>
                  <a:lnTo>
                    <a:pt x="0" y="1458970"/>
                  </a:lnTo>
                  <a:lnTo>
                    <a:pt x="4008" y="1478695"/>
                  </a:lnTo>
                  <a:lnTo>
                    <a:pt x="14922" y="1494848"/>
                  </a:lnTo>
                  <a:lnTo>
                    <a:pt x="31075" y="1505762"/>
                  </a:lnTo>
                  <a:lnTo>
                    <a:pt x="50800" y="1509771"/>
                  </a:lnTo>
                  <a:lnTo>
                    <a:pt x="3938852" y="1509771"/>
                  </a:lnTo>
                  <a:lnTo>
                    <a:pt x="3958576" y="1505762"/>
                  </a:lnTo>
                  <a:lnTo>
                    <a:pt x="3974729" y="1494848"/>
                  </a:lnTo>
                  <a:lnTo>
                    <a:pt x="3985644" y="1478695"/>
                  </a:lnTo>
                  <a:lnTo>
                    <a:pt x="3989652" y="145897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3271" y="641356"/>
              <a:ext cx="422909" cy="169545"/>
            </a:xfrm>
            <a:custGeom>
              <a:avLst/>
              <a:gdLst/>
              <a:ahLst/>
              <a:cxnLst/>
              <a:rect l="l" t="t" r="r" b="b"/>
              <a:pathLst>
                <a:path w="422909" h="169545">
                  <a:moveTo>
                    <a:pt x="399065" y="0"/>
                  </a:moveTo>
                  <a:lnTo>
                    <a:pt x="23777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7" y="169137"/>
                  </a:lnTo>
                  <a:lnTo>
                    <a:pt x="399065" y="169137"/>
                  </a:lnTo>
                  <a:lnTo>
                    <a:pt x="408320" y="167268"/>
                  </a:lnTo>
                  <a:lnTo>
                    <a:pt x="415878" y="162172"/>
                  </a:lnTo>
                  <a:lnTo>
                    <a:pt x="420974" y="154614"/>
                  </a:lnTo>
                  <a:lnTo>
                    <a:pt x="422843" y="145359"/>
                  </a:lnTo>
                  <a:lnTo>
                    <a:pt x="422843" y="23778"/>
                  </a:lnTo>
                  <a:lnTo>
                    <a:pt x="420974" y="14522"/>
                  </a:lnTo>
                  <a:lnTo>
                    <a:pt x="415878" y="6964"/>
                  </a:lnTo>
                  <a:lnTo>
                    <a:pt x="408320" y="1868"/>
                  </a:lnTo>
                  <a:lnTo>
                    <a:pt x="399065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271" y="641356"/>
              <a:ext cx="422909" cy="169545"/>
            </a:xfrm>
            <a:custGeom>
              <a:avLst/>
              <a:gdLst/>
              <a:ahLst/>
              <a:cxnLst/>
              <a:rect l="l" t="t" r="r" b="b"/>
              <a:pathLst>
                <a:path w="422909" h="169545">
                  <a:moveTo>
                    <a:pt x="399065" y="0"/>
                  </a:moveTo>
                  <a:lnTo>
                    <a:pt x="23777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7" y="169137"/>
                  </a:lnTo>
                  <a:lnTo>
                    <a:pt x="399065" y="169137"/>
                  </a:lnTo>
                  <a:lnTo>
                    <a:pt x="408320" y="167268"/>
                  </a:lnTo>
                  <a:lnTo>
                    <a:pt x="415878" y="162172"/>
                  </a:lnTo>
                  <a:lnTo>
                    <a:pt x="420974" y="154614"/>
                  </a:lnTo>
                  <a:lnTo>
                    <a:pt x="422843" y="145359"/>
                  </a:lnTo>
                  <a:lnTo>
                    <a:pt x="422843" y="23778"/>
                  </a:lnTo>
                  <a:lnTo>
                    <a:pt x="420974" y="14522"/>
                  </a:lnTo>
                  <a:lnTo>
                    <a:pt x="415878" y="6964"/>
                  </a:lnTo>
                  <a:lnTo>
                    <a:pt x="408320" y="1868"/>
                  </a:lnTo>
                  <a:lnTo>
                    <a:pt x="39906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550" y="895062"/>
              <a:ext cx="634365" cy="169545"/>
            </a:xfrm>
            <a:custGeom>
              <a:avLst/>
              <a:gdLst/>
              <a:ahLst/>
              <a:cxnLst/>
              <a:rect l="l" t="t" r="r" b="b"/>
              <a:pathLst>
                <a:path w="634365" h="169544">
                  <a:moveTo>
                    <a:pt x="634284" y="0"/>
                  </a:moveTo>
                  <a:lnTo>
                    <a:pt x="0" y="0"/>
                  </a:lnTo>
                  <a:lnTo>
                    <a:pt x="0" y="169137"/>
                  </a:lnTo>
                  <a:lnTo>
                    <a:pt x="634284" y="169137"/>
                  </a:lnTo>
                  <a:lnTo>
                    <a:pt x="634284" y="0"/>
                  </a:lnTo>
                  <a:close/>
                </a:path>
              </a:pathLst>
            </a:custGeom>
            <a:solidFill>
              <a:srgbClr val="FFD8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550" y="895062"/>
              <a:ext cx="634365" cy="169545"/>
            </a:xfrm>
            <a:custGeom>
              <a:avLst/>
              <a:gdLst/>
              <a:ahLst/>
              <a:cxnLst/>
              <a:rect l="l" t="t" r="r" b="b"/>
              <a:pathLst>
                <a:path w="634365" h="169544">
                  <a:moveTo>
                    <a:pt x="0" y="169137"/>
                  </a:moveTo>
                  <a:lnTo>
                    <a:pt x="634284" y="169137"/>
                  </a:lnTo>
                  <a:lnTo>
                    <a:pt x="634284" y="0"/>
                  </a:lnTo>
                  <a:lnTo>
                    <a:pt x="0" y="0"/>
                  </a:lnTo>
                  <a:lnTo>
                    <a:pt x="0" y="1691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967" y="1148768"/>
              <a:ext cx="654050" cy="169545"/>
            </a:xfrm>
            <a:custGeom>
              <a:avLst/>
              <a:gdLst/>
              <a:ahLst/>
              <a:cxnLst/>
              <a:rect l="l" t="t" r="r" b="b"/>
              <a:pathLst>
                <a:path w="654050" h="169544">
                  <a:moveTo>
                    <a:pt x="653449" y="0"/>
                  </a:moveTo>
                  <a:lnTo>
                    <a:pt x="0" y="0"/>
                  </a:lnTo>
                  <a:lnTo>
                    <a:pt x="0" y="169137"/>
                  </a:lnTo>
                  <a:lnTo>
                    <a:pt x="653449" y="169137"/>
                  </a:lnTo>
                  <a:lnTo>
                    <a:pt x="653449" y="0"/>
                  </a:lnTo>
                  <a:close/>
                </a:path>
              </a:pathLst>
            </a:custGeom>
            <a:solidFill>
              <a:srgbClr val="FFD8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967" y="1148768"/>
              <a:ext cx="654050" cy="169545"/>
            </a:xfrm>
            <a:custGeom>
              <a:avLst/>
              <a:gdLst/>
              <a:ahLst/>
              <a:cxnLst/>
              <a:rect l="l" t="t" r="r" b="b"/>
              <a:pathLst>
                <a:path w="654050" h="169544">
                  <a:moveTo>
                    <a:pt x="0" y="169137"/>
                  </a:moveTo>
                  <a:lnTo>
                    <a:pt x="653449" y="169137"/>
                  </a:lnTo>
                  <a:lnTo>
                    <a:pt x="653449" y="0"/>
                  </a:lnTo>
                  <a:lnTo>
                    <a:pt x="0" y="0"/>
                  </a:lnTo>
                  <a:lnTo>
                    <a:pt x="0" y="1691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1358" y="1402474"/>
              <a:ext cx="647065" cy="169545"/>
            </a:xfrm>
            <a:custGeom>
              <a:avLst/>
              <a:gdLst/>
              <a:ahLst/>
              <a:cxnLst/>
              <a:rect l="l" t="t" r="r" b="b"/>
              <a:pathLst>
                <a:path w="647065" h="169544">
                  <a:moveTo>
                    <a:pt x="622891" y="0"/>
                  </a:moveTo>
                  <a:lnTo>
                    <a:pt x="23777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7" y="169137"/>
                  </a:lnTo>
                  <a:lnTo>
                    <a:pt x="622891" y="169137"/>
                  </a:lnTo>
                  <a:lnTo>
                    <a:pt x="632146" y="167268"/>
                  </a:lnTo>
                  <a:lnTo>
                    <a:pt x="639705" y="162172"/>
                  </a:lnTo>
                  <a:lnTo>
                    <a:pt x="644800" y="154614"/>
                  </a:lnTo>
                  <a:lnTo>
                    <a:pt x="646669" y="145359"/>
                  </a:lnTo>
                  <a:lnTo>
                    <a:pt x="646669" y="23778"/>
                  </a:lnTo>
                  <a:lnTo>
                    <a:pt x="644800" y="14522"/>
                  </a:lnTo>
                  <a:lnTo>
                    <a:pt x="639705" y="6964"/>
                  </a:lnTo>
                  <a:lnTo>
                    <a:pt x="632146" y="1868"/>
                  </a:lnTo>
                  <a:lnTo>
                    <a:pt x="622891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1358" y="1402474"/>
              <a:ext cx="647065" cy="169545"/>
            </a:xfrm>
            <a:custGeom>
              <a:avLst/>
              <a:gdLst/>
              <a:ahLst/>
              <a:cxnLst/>
              <a:rect l="l" t="t" r="r" b="b"/>
              <a:pathLst>
                <a:path w="647065" h="169544">
                  <a:moveTo>
                    <a:pt x="622891" y="0"/>
                  </a:moveTo>
                  <a:lnTo>
                    <a:pt x="23777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7" y="169137"/>
                  </a:lnTo>
                  <a:lnTo>
                    <a:pt x="622891" y="169137"/>
                  </a:lnTo>
                  <a:lnTo>
                    <a:pt x="632146" y="167268"/>
                  </a:lnTo>
                  <a:lnTo>
                    <a:pt x="639705" y="162172"/>
                  </a:lnTo>
                  <a:lnTo>
                    <a:pt x="644800" y="154614"/>
                  </a:lnTo>
                  <a:lnTo>
                    <a:pt x="646669" y="145359"/>
                  </a:lnTo>
                  <a:lnTo>
                    <a:pt x="646669" y="23778"/>
                  </a:lnTo>
                  <a:lnTo>
                    <a:pt x="644800" y="14522"/>
                  </a:lnTo>
                  <a:lnTo>
                    <a:pt x="639705" y="6964"/>
                  </a:lnTo>
                  <a:lnTo>
                    <a:pt x="632146" y="1868"/>
                  </a:lnTo>
                  <a:lnTo>
                    <a:pt x="6228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27618" y="1402474"/>
              <a:ext cx="616585" cy="169545"/>
            </a:xfrm>
            <a:custGeom>
              <a:avLst/>
              <a:gdLst/>
              <a:ahLst/>
              <a:cxnLst/>
              <a:rect l="l" t="t" r="r" b="b"/>
              <a:pathLst>
                <a:path w="616585" h="169544">
                  <a:moveTo>
                    <a:pt x="616383" y="0"/>
                  </a:moveTo>
                  <a:lnTo>
                    <a:pt x="0" y="0"/>
                  </a:lnTo>
                  <a:lnTo>
                    <a:pt x="0" y="169137"/>
                  </a:lnTo>
                  <a:lnTo>
                    <a:pt x="616383" y="169137"/>
                  </a:lnTo>
                  <a:lnTo>
                    <a:pt x="616383" y="0"/>
                  </a:lnTo>
                  <a:close/>
                </a:path>
              </a:pathLst>
            </a:custGeom>
            <a:solidFill>
              <a:srgbClr val="FFD8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27618" y="1402474"/>
              <a:ext cx="616585" cy="169545"/>
            </a:xfrm>
            <a:custGeom>
              <a:avLst/>
              <a:gdLst/>
              <a:ahLst/>
              <a:cxnLst/>
              <a:rect l="l" t="t" r="r" b="b"/>
              <a:pathLst>
                <a:path w="616585" h="169544">
                  <a:moveTo>
                    <a:pt x="0" y="169137"/>
                  </a:moveTo>
                  <a:lnTo>
                    <a:pt x="616383" y="169137"/>
                  </a:lnTo>
                  <a:lnTo>
                    <a:pt x="616383" y="0"/>
                  </a:lnTo>
                  <a:lnTo>
                    <a:pt x="0" y="0"/>
                  </a:lnTo>
                  <a:lnTo>
                    <a:pt x="0" y="1691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24389" y="1656180"/>
              <a:ext cx="422909" cy="169545"/>
            </a:xfrm>
            <a:custGeom>
              <a:avLst/>
              <a:gdLst/>
              <a:ahLst/>
              <a:cxnLst/>
              <a:rect l="l" t="t" r="r" b="b"/>
              <a:pathLst>
                <a:path w="422910" h="169544">
                  <a:moveTo>
                    <a:pt x="422843" y="0"/>
                  </a:moveTo>
                  <a:lnTo>
                    <a:pt x="0" y="0"/>
                  </a:lnTo>
                  <a:lnTo>
                    <a:pt x="0" y="169137"/>
                  </a:lnTo>
                  <a:lnTo>
                    <a:pt x="422843" y="169137"/>
                  </a:lnTo>
                  <a:lnTo>
                    <a:pt x="422843" y="0"/>
                  </a:lnTo>
                  <a:close/>
                </a:path>
              </a:pathLst>
            </a:custGeom>
            <a:solidFill>
              <a:srgbClr val="FFD8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24389" y="1656180"/>
              <a:ext cx="422909" cy="169545"/>
            </a:xfrm>
            <a:custGeom>
              <a:avLst/>
              <a:gdLst/>
              <a:ahLst/>
              <a:cxnLst/>
              <a:rect l="l" t="t" r="r" b="b"/>
              <a:pathLst>
                <a:path w="422910" h="169544">
                  <a:moveTo>
                    <a:pt x="0" y="169137"/>
                  </a:moveTo>
                  <a:lnTo>
                    <a:pt x="422843" y="169137"/>
                  </a:lnTo>
                  <a:lnTo>
                    <a:pt x="422843" y="0"/>
                  </a:lnTo>
                  <a:lnTo>
                    <a:pt x="0" y="0"/>
                  </a:lnTo>
                  <a:lnTo>
                    <a:pt x="0" y="1691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05107" y="1909886"/>
              <a:ext cx="661670" cy="169545"/>
            </a:xfrm>
            <a:custGeom>
              <a:avLst/>
              <a:gdLst/>
              <a:ahLst/>
              <a:cxnLst/>
              <a:rect l="l" t="t" r="r" b="b"/>
              <a:pathLst>
                <a:path w="661669" h="169544">
                  <a:moveTo>
                    <a:pt x="637627" y="0"/>
                  </a:moveTo>
                  <a:lnTo>
                    <a:pt x="23778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8" y="169137"/>
                  </a:lnTo>
                  <a:lnTo>
                    <a:pt x="637627" y="169137"/>
                  </a:lnTo>
                  <a:lnTo>
                    <a:pt x="646883" y="167268"/>
                  </a:lnTo>
                  <a:lnTo>
                    <a:pt x="654441" y="162172"/>
                  </a:lnTo>
                  <a:lnTo>
                    <a:pt x="659537" y="154614"/>
                  </a:lnTo>
                  <a:lnTo>
                    <a:pt x="661405" y="145359"/>
                  </a:lnTo>
                  <a:lnTo>
                    <a:pt x="661405" y="23778"/>
                  </a:lnTo>
                  <a:lnTo>
                    <a:pt x="659537" y="14522"/>
                  </a:lnTo>
                  <a:lnTo>
                    <a:pt x="654441" y="6964"/>
                  </a:lnTo>
                  <a:lnTo>
                    <a:pt x="646883" y="1868"/>
                  </a:lnTo>
                  <a:lnTo>
                    <a:pt x="637627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05107" y="1909886"/>
              <a:ext cx="661670" cy="169545"/>
            </a:xfrm>
            <a:custGeom>
              <a:avLst/>
              <a:gdLst/>
              <a:ahLst/>
              <a:cxnLst/>
              <a:rect l="l" t="t" r="r" b="b"/>
              <a:pathLst>
                <a:path w="661669" h="169544">
                  <a:moveTo>
                    <a:pt x="637627" y="0"/>
                  </a:moveTo>
                  <a:lnTo>
                    <a:pt x="23778" y="0"/>
                  </a:lnTo>
                  <a:lnTo>
                    <a:pt x="14522" y="1868"/>
                  </a:lnTo>
                  <a:lnTo>
                    <a:pt x="6964" y="6964"/>
                  </a:lnTo>
                  <a:lnTo>
                    <a:pt x="1868" y="14522"/>
                  </a:lnTo>
                  <a:lnTo>
                    <a:pt x="0" y="23778"/>
                  </a:lnTo>
                  <a:lnTo>
                    <a:pt x="0" y="145359"/>
                  </a:lnTo>
                  <a:lnTo>
                    <a:pt x="1868" y="154614"/>
                  </a:lnTo>
                  <a:lnTo>
                    <a:pt x="6964" y="162172"/>
                  </a:lnTo>
                  <a:lnTo>
                    <a:pt x="14522" y="167268"/>
                  </a:lnTo>
                  <a:lnTo>
                    <a:pt x="23778" y="169137"/>
                  </a:lnTo>
                  <a:lnTo>
                    <a:pt x="637627" y="169137"/>
                  </a:lnTo>
                  <a:lnTo>
                    <a:pt x="646883" y="167268"/>
                  </a:lnTo>
                  <a:lnTo>
                    <a:pt x="654441" y="162172"/>
                  </a:lnTo>
                  <a:lnTo>
                    <a:pt x="659537" y="154614"/>
                  </a:lnTo>
                  <a:lnTo>
                    <a:pt x="661405" y="145359"/>
                  </a:lnTo>
                  <a:lnTo>
                    <a:pt x="661405" y="23778"/>
                  </a:lnTo>
                  <a:lnTo>
                    <a:pt x="659537" y="14522"/>
                  </a:lnTo>
                  <a:lnTo>
                    <a:pt x="654441" y="6964"/>
                  </a:lnTo>
                  <a:lnTo>
                    <a:pt x="646883" y="1868"/>
                  </a:lnTo>
                  <a:lnTo>
                    <a:pt x="6376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9994" y="633687"/>
            <a:ext cx="3989704" cy="154178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R="3152140" algn="ctr">
              <a:lnSpc>
                <a:spcPct val="100000"/>
              </a:lnSpc>
              <a:spcBef>
                <a:spcPts val="405"/>
              </a:spcBef>
            </a:pPr>
            <a:r>
              <a:rPr sz="500" spc="-10" dirty="0">
                <a:latin typeface="Arial MT"/>
                <a:cs typeface="Arial MT"/>
              </a:rPr>
              <a:t>Attacker</a:t>
            </a:r>
            <a:endParaRPr sz="500">
              <a:latin typeface="Arial MT"/>
              <a:cs typeface="Arial MT"/>
            </a:endParaRPr>
          </a:p>
          <a:p>
            <a:pPr marL="109220" marR="3261995" indent="-635" algn="ctr">
              <a:lnSpc>
                <a:spcPts val="2050"/>
              </a:lnSpc>
              <a:spcBef>
                <a:spcPts val="204"/>
              </a:spcBef>
            </a:pPr>
            <a:r>
              <a:rPr sz="500" dirty="0">
                <a:latin typeface="Arial MT"/>
                <a:cs typeface="Arial MT"/>
              </a:rPr>
              <a:t>Crafts </a:t>
            </a:r>
            <a:r>
              <a:rPr sz="500" spc="-10" dirty="0">
                <a:latin typeface="Arial MT"/>
                <a:cs typeface="Arial MT"/>
              </a:rPr>
              <a:t>Phishing</a:t>
            </a:r>
            <a:r>
              <a:rPr sz="50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Email</a:t>
            </a:r>
            <a:r>
              <a:rPr sz="500" spc="500" dirty="0">
                <a:latin typeface="Arial MT"/>
                <a:cs typeface="Arial MT"/>
              </a:rPr>
              <a:t> </a:t>
            </a:r>
            <a:r>
              <a:rPr sz="500" spc="-35" dirty="0">
                <a:latin typeface="Arial MT"/>
                <a:cs typeface="Arial MT"/>
              </a:rPr>
              <a:t>Sends</a:t>
            </a:r>
            <a:r>
              <a:rPr sz="500" spc="15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Email</a:t>
            </a:r>
            <a:r>
              <a:rPr sz="500" spc="20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to</a:t>
            </a:r>
            <a:r>
              <a:rPr sz="500" spc="2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Victim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500">
              <a:latin typeface="Arial MT"/>
              <a:cs typeface="Arial MT"/>
            </a:endParaRPr>
          </a:p>
          <a:p>
            <a:pPr marL="113030">
              <a:lnSpc>
                <a:spcPct val="100000"/>
              </a:lnSpc>
              <a:tabLst>
                <a:tab pos="889000" algn="l"/>
              </a:tabLst>
            </a:pPr>
            <a:r>
              <a:rPr sz="500" dirty="0">
                <a:latin typeface="Arial MT"/>
                <a:cs typeface="Arial MT"/>
              </a:rPr>
              <a:t>Victim</a:t>
            </a:r>
            <a:r>
              <a:rPr sz="500" spc="55" dirty="0">
                <a:latin typeface="Arial MT"/>
                <a:cs typeface="Arial MT"/>
              </a:rPr>
              <a:t> </a:t>
            </a:r>
            <a:r>
              <a:rPr sz="500" spc="-35" dirty="0">
                <a:latin typeface="Arial MT"/>
                <a:cs typeface="Arial MT"/>
              </a:rPr>
              <a:t>Receives</a:t>
            </a:r>
            <a:r>
              <a:rPr sz="500" spc="55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Email</a:t>
            </a:r>
            <a:r>
              <a:rPr sz="500" dirty="0">
                <a:latin typeface="Arial MT"/>
                <a:cs typeface="Arial MT"/>
              </a:rPr>
              <a:t>	</a:t>
            </a:r>
            <a:r>
              <a:rPr sz="500" spc="-10" dirty="0">
                <a:latin typeface="Arial MT"/>
                <a:cs typeface="Arial MT"/>
              </a:rPr>
              <a:t>Clicks</a:t>
            </a:r>
            <a:r>
              <a:rPr sz="500" spc="15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Malicious</a:t>
            </a:r>
            <a:r>
              <a:rPr sz="500" spc="15" dirty="0">
                <a:latin typeface="Arial MT"/>
                <a:cs typeface="Arial MT"/>
              </a:rPr>
              <a:t> </a:t>
            </a:r>
            <a:r>
              <a:rPr sz="500" spc="-20" dirty="0">
                <a:latin typeface="Arial MT"/>
                <a:cs typeface="Arial MT"/>
              </a:rPr>
              <a:t>Link</a:t>
            </a:r>
            <a:endParaRPr sz="500">
              <a:latin typeface="Arial MT"/>
              <a:cs typeface="Arial MT"/>
            </a:endParaRPr>
          </a:p>
          <a:p>
            <a:pPr marL="866775" marR="2496820" indent="127635">
              <a:lnSpc>
                <a:spcPct val="332900"/>
              </a:lnSpc>
            </a:pPr>
            <a:r>
              <a:rPr sz="500" spc="-25" dirty="0">
                <a:latin typeface="Arial MT"/>
                <a:cs typeface="Arial MT"/>
              </a:rPr>
              <a:t>Fake</a:t>
            </a:r>
            <a:r>
              <a:rPr sz="500" spc="1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Website</a:t>
            </a:r>
            <a:r>
              <a:rPr sz="500" spc="500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Attacker</a:t>
            </a:r>
            <a:r>
              <a:rPr sz="500" spc="-5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Collects</a:t>
            </a:r>
            <a:r>
              <a:rPr sz="500" spc="-5" dirty="0">
                <a:latin typeface="Arial MT"/>
                <a:cs typeface="Arial MT"/>
              </a:rPr>
              <a:t> </a:t>
            </a:r>
            <a:r>
              <a:rPr sz="500" spc="-20" dirty="0">
                <a:latin typeface="Arial MT"/>
                <a:cs typeface="Arial MT"/>
              </a:rPr>
              <a:t>Data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62328" y="811682"/>
            <a:ext cx="786130" cy="1097280"/>
            <a:chOff x="762328" y="811682"/>
            <a:chExt cx="786130" cy="1097280"/>
          </a:xfrm>
        </p:grpSpPr>
        <p:sp>
          <p:nvSpPr>
            <p:cNvPr id="37" name="object 37"/>
            <p:cNvSpPr/>
            <p:nvPr/>
          </p:nvSpPr>
          <p:spPr>
            <a:xfrm>
              <a:off x="774692" y="811682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h="67309">
                  <a:moveTo>
                    <a:pt x="0" y="0"/>
                  </a:moveTo>
                  <a:lnTo>
                    <a:pt x="0" y="66735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2328" y="86914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24728" y="0"/>
                  </a:moveTo>
                  <a:lnTo>
                    <a:pt x="12364" y="9273"/>
                  </a:lnTo>
                  <a:lnTo>
                    <a:pt x="0" y="0"/>
                  </a:lnTo>
                  <a:lnTo>
                    <a:pt x="12364" y="24728"/>
                  </a:lnTo>
                  <a:lnTo>
                    <a:pt x="24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4692" y="1065389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h="67309">
                  <a:moveTo>
                    <a:pt x="0" y="0"/>
                  </a:moveTo>
                  <a:lnTo>
                    <a:pt x="0" y="66735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2328" y="1122851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24728" y="0"/>
                  </a:moveTo>
                  <a:lnTo>
                    <a:pt x="12364" y="9273"/>
                  </a:lnTo>
                  <a:lnTo>
                    <a:pt x="0" y="0"/>
                  </a:lnTo>
                  <a:lnTo>
                    <a:pt x="12364" y="24728"/>
                  </a:lnTo>
                  <a:lnTo>
                    <a:pt x="24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4692" y="1319095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h="67309">
                  <a:moveTo>
                    <a:pt x="0" y="0"/>
                  </a:moveTo>
                  <a:lnTo>
                    <a:pt x="0" y="66735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2328" y="1376557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24728" y="0"/>
                  </a:moveTo>
                  <a:lnTo>
                    <a:pt x="12364" y="9273"/>
                  </a:lnTo>
                  <a:lnTo>
                    <a:pt x="0" y="0"/>
                  </a:lnTo>
                  <a:lnTo>
                    <a:pt x="12364" y="24728"/>
                  </a:lnTo>
                  <a:lnTo>
                    <a:pt x="24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99216" y="1487043"/>
              <a:ext cx="111760" cy="0"/>
            </a:xfrm>
            <a:custGeom>
              <a:avLst/>
              <a:gdLst/>
              <a:ahLst/>
              <a:cxnLst/>
              <a:rect l="l" t="t" r="r" b="b"/>
              <a:pathLst>
                <a:path w="111759">
                  <a:moveTo>
                    <a:pt x="0" y="0"/>
                  </a:moveTo>
                  <a:lnTo>
                    <a:pt x="111758" y="0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01701" y="147467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0" y="0"/>
                  </a:moveTo>
                  <a:lnTo>
                    <a:pt x="9273" y="12364"/>
                  </a:lnTo>
                  <a:lnTo>
                    <a:pt x="0" y="24728"/>
                  </a:lnTo>
                  <a:lnTo>
                    <a:pt x="24728" y="12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35810" y="1572800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h="67310">
                  <a:moveTo>
                    <a:pt x="0" y="0"/>
                  </a:moveTo>
                  <a:lnTo>
                    <a:pt x="0" y="66735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23446" y="1630263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24728" y="0"/>
                  </a:moveTo>
                  <a:lnTo>
                    <a:pt x="12364" y="9273"/>
                  </a:lnTo>
                  <a:lnTo>
                    <a:pt x="0" y="0"/>
                  </a:lnTo>
                  <a:lnTo>
                    <a:pt x="12364" y="24728"/>
                  </a:lnTo>
                  <a:lnTo>
                    <a:pt x="24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35810" y="1826507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h="67310">
                  <a:moveTo>
                    <a:pt x="0" y="0"/>
                  </a:moveTo>
                  <a:lnTo>
                    <a:pt x="0" y="66735"/>
                  </a:lnTo>
                </a:path>
              </a:pathLst>
            </a:custGeom>
            <a:ln w="47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23446" y="188396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24728" y="0"/>
                  </a:moveTo>
                  <a:lnTo>
                    <a:pt x="12364" y="9273"/>
                  </a:lnTo>
                  <a:lnTo>
                    <a:pt x="0" y="0"/>
                  </a:lnTo>
                  <a:lnTo>
                    <a:pt x="12364" y="24728"/>
                  </a:lnTo>
                  <a:lnTo>
                    <a:pt x="24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309193" y="223859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8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59994" y="2267750"/>
            <a:ext cx="65278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09193" y="2245995"/>
            <a:ext cx="4040504" cy="1160780"/>
            <a:chOff x="309193" y="2295511"/>
            <a:chExt cx="4040504" cy="1160780"/>
          </a:xfrm>
        </p:grpSpPr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193" y="2412492"/>
              <a:ext cx="3989652" cy="5060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59994" y="2295511"/>
              <a:ext cx="3989704" cy="1160780"/>
            </a:xfrm>
            <a:custGeom>
              <a:avLst/>
              <a:gdLst/>
              <a:ahLst/>
              <a:cxnLst/>
              <a:rect l="l" t="t" r="r" b="b"/>
              <a:pathLst>
                <a:path w="3989704" h="1160779">
                  <a:moveTo>
                    <a:pt x="3989652" y="0"/>
                  </a:moveTo>
                  <a:lnTo>
                    <a:pt x="0" y="0"/>
                  </a:lnTo>
                  <a:lnTo>
                    <a:pt x="0" y="1160488"/>
                  </a:lnTo>
                  <a:lnTo>
                    <a:pt x="3989652" y="116048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9193" y="2456764"/>
              <a:ext cx="3989704" cy="999490"/>
            </a:xfrm>
            <a:custGeom>
              <a:avLst/>
              <a:gdLst/>
              <a:ahLst/>
              <a:cxnLst/>
              <a:rect l="l" t="t" r="r" b="b"/>
              <a:pathLst>
                <a:path w="3989704" h="999489">
                  <a:moveTo>
                    <a:pt x="3989652" y="0"/>
                  </a:moveTo>
                  <a:lnTo>
                    <a:pt x="0" y="0"/>
                  </a:lnTo>
                  <a:lnTo>
                    <a:pt x="0" y="999235"/>
                  </a:lnTo>
                  <a:lnTo>
                    <a:pt x="3989652" y="99923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551" y="2510497"/>
              <a:ext cx="65265" cy="6526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327" y="2700312"/>
              <a:ext cx="52590" cy="5259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2327" y="2991319"/>
              <a:ext cx="52590" cy="5259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9416" y="3155797"/>
              <a:ext cx="52590" cy="5259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9416" y="3294976"/>
              <a:ext cx="52590" cy="5259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624395" y="2401963"/>
            <a:ext cx="3564254" cy="1305678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10" dirty="0">
                <a:latin typeface="Arial"/>
                <a:cs typeface="Arial"/>
              </a:rPr>
              <a:t>Email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Phishing</a:t>
            </a:r>
            <a:r>
              <a:rPr sz="1100" spc="-10" dirty="0">
                <a:latin typeface="Arial MT"/>
                <a:cs typeface="Arial MT"/>
              </a:rPr>
              <a:t>:</a:t>
            </a:r>
            <a:endParaRPr sz="1100" dirty="0">
              <a:latin typeface="Arial MT"/>
              <a:cs typeface="Arial MT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90" dirty="0">
                <a:latin typeface="Arial MT"/>
                <a:cs typeface="Arial MT"/>
              </a:rPr>
              <a:t>Uses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fraudulent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emails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appear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come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legitimate </a:t>
            </a:r>
            <a:r>
              <a:rPr sz="1000" spc="-55" dirty="0">
                <a:latin typeface="Arial MT"/>
                <a:cs typeface="Arial MT"/>
              </a:rPr>
              <a:t>source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trick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users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into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revealing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sensitive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information.</a:t>
            </a:r>
            <a:endParaRPr sz="1000" dirty="0">
              <a:latin typeface="Arial MT"/>
              <a:cs typeface="Arial MT"/>
            </a:endParaRPr>
          </a:p>
          <a:p>
            <a:pPr marL="289560">
              <a:lnSpc>
                <a:spcPts val="1090"/>
              </a:lnSpc>
            </a:pPr>
            <a:r>
              <a:rPr sz="1000" b="1" spc="-30" dirty="0">
                <a:latin typeface="Arial"/>
                <a:cs typeface="Arial"/>
              </a:rPr>
              <a:t>Common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Indicators</a:t>
            </a:r>
            <a:r>
              <a:rPr sz="1000" spc="-10" dirty="0">
                <a:latin typeface="Arial MT"/>
                <a:cs typeface="Arial MT"/>
              </a:rPr>
              <a:t>:</a:t>
            </a:r>
            <a:endParaRPr sz="1000" dirty="0">
              <a:latin typeface="Arial MT"/>
              <a:cs typeface="Arial MT"/>
            </a:endParaRPr>
          </a:p>
          <a:p>
            <a:pPr marL="566420" marR="1740535">
              <a:lnSpc>
                <a:spcPct val="101499"/>
              </a:lnSpc>
              <a:spcBef>
                <a:spcPts val="180"/>
              </a:spcBef>
            </a:pPr>
            <a:r>
              <a:rPr sz="900" spc="-10" dirty="0">
                <a:latin typeface="Tahoma"/>
                <a:cs typeface="Tahoma"/>
              </a:rPr>
              <a:t>Suspicious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sender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address </a:t>
            </a:r>
            <a:r>
              <a:rPr sz="900" dirty="0">
                <a:latin typeface="Tahoma"/>
                <a:cs typeface="Tahoma"/>
              </a:rPr>
              <a:t>Urgent</a:t>
            </a:r>
            <a:r>
              <a:rPr sz="900" spc="-6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language</a:t>
            </a:r>
            <a:endParaRPr lang="en-IN" sz="900" spc="-10" dirty="0">
              <a:latin typeface="Tahoma"/>
              <a:cs typeface="Tahoma"/>
            </a:endParaRPr>
          </a:p>
          <a:p>
            <a:pPr marL="566420" marR="1740535">
              <a:lnSpc>
                <a:spcPct val="101499"/>
              </a:lnSpc>
              <a:spcBef>
                <a:spcPts val="180"/>
              </a:spcBef>
            </a:pPr>
            <a:endParaRPr lang="en-IN" sz="900" spc="-10" dirty="0">
              <a:latin typeface="Tahoma"/>
              <a:cs typeface="Tahoma"/>
            </a:endParaRPr>
          </a:p>
          <a:p>
            <a:pPr marL="566420" marR="1740535">
              <a:lnSpc>
                <a:spcPct val="101499"/>
              </a:lnSpc>
              <a:spcBef>
                <a:spcPts val="180"/>
              </a:spcBef>
            </a:pPr>
            <a:endParaRPr sz="900" dirty="0">
              <a:latin typeface="Tahoma"/>
              <a:cs typeface="Tahom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2" name="object 6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7068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Arial"/>
                <a:cs typeface="Arial"/>
              </a:rPr>
              <a:t>Spear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Phishing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9587" y="767816"/>
            <a:ext cx="2096770" cy="2578735"/>
            <a:chOff x="59587" y="767816"/>
            <a:chExt cx="2096770" cy="2578735"/>
          </a:xfrm>
        </p:grpSpPr>
        <p:sp>
          <p:nvSpPr>
            <p:cNvPr id="18" name="object 18"/>
            <p:cNvSpPr/>
            <p:nvPr/>
          </p:nvSpPr>
          <p:spPr>
            <a:xfrm>
              <a:off x="59587" y="767816"/>
              <a:ext cx="2045970" cy="82550"/>
            </a:xfrm>
            <a:custGeom>
              <a:avLst/>
              <a:gdLst/>
              <a:ahLst/>
              <a:cxnLst/>
              <a:rect l="l" t="t" r="r" b="b"/>
              <a:pathLst>
                <a:path w="2045970" h="82550">
                  <a:moveTo>
                    <a:pt x="199482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2045626" y="82384"/>
                  </a:lnTo>
                  <a:lnTo>
                    <a:pt x="2045626" y="50800"/>
                  </a:lnTo>
                  <a:lnTo>
                    <a:pt x="2041618" y="31075"/>
                  </a:lnTo>
                  <a:lnTo>
                    <a:pt x="2030704" y="14922"/>
                  </a:lnTo>
                  <a:lnTo>
                    <a:pt x="2014551" y="4008"/>
                  </a:lnTo>
                  <a:lnTo>
                    <a:pt x="199482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388" y="831056"/>
              <a:ext cx="2045970" cy="2515870"/>
            </a:xfrm>
            <a:custGeom>
              <a:avLst/>
              <a:gdLst/>
              <a:ahLst/>
              <a:cxnLst/>
              <a:rect l="l" t="t" r="r" b="b"/>
              <a:pathLst>
                <a:path w="2045970" h="2515870">
                  <a:moveTo>
                    <a:pt x="0" y="2515291"/>
                  </a:moveTo>
                  <a:lnTo>
                    <a:pt x="2045626" y="2515291"/>
                  </a:lnTo>
                  <a:lnTo>
                    <a:pt x="2045626" y="0"/>
                  </a:lnTo>
                  <a:lnTo>
                    <a:pt x="0" y="0"/>
                  </a:lnTo>
                  <a:lnTo>
                    <a:pt x="0" y="2515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87" y="812219"/>
              <a:ext cx="2045970" cy="2519680"/>
            </a:xfrm>
            <a:custGeom>
              <a:avLst/>
              <a:gdLst/>
              <a:ahLst/>
              <a:cxnLst/>
              <a:rect l="l" t="t" r="r" b="b"/>
              <a:pathLst>
                <a:path w="2045970" h="2519679">
                  <a:moveTo>
                    <a:pt x="2045626" y="0"/>
                  </a:moveTo>
                  <a:lnTo>
                    <a:pt x="0" y="0"/>
                  </a:lnTo>
                  <a:lnTo>
                    <a:pt x="0" y="2468355"/>
                  </a:lnTo>
                  <a:lnTo>
                    <a:pt x="4008" y="2488080"/>
                  </a:lnTo>
                  <a:lnTo>
                    <a:pt x="14922" y="2504233"/>
                  </a:lnTo>
                  <a:lnTo>
                    <a:pt x="31075" y="2515147"/>
                  </a:lnTo>
                  <a:lnTo>
                    <a:pt x="50800" y="2519155"/>
                  </a:lnTo>
                  <a:lnTo>
                    <a:pt x="1994826" y="2519155"/>
                  </a:lnTo>
                  <a:lnTo>
                    <a:pt x="2014551" y="2515147"/>
                  </a:lnTo>
                  <a:lnTo>
                    <a:pt x="2030704" y="2504233"/>
                  </a:lnTo>
                  <a:lnTo>
                    <a:pt x="2041618" y="2488080"/>
                  </a:lnTo>
                  <a:lnTo>
                    <a:pt x="2045626" y="2468355"/>
                  </a:lnTo>
                  <a:lnTo>
                    <a:pt x="204562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413" y="837529"/>
              <a:ext cx="1943980" cy="194401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7688" y="2882714"/>
            <a:ext cx="15868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6699"/>
                </a:solidFill>
                <a:latin typeface="Arial MT"/>
                <a:cs typeface="Arial MT"/>
              </a:rPr>
              <a:t>Figure:</a:t>
            </a:r>
            <a:r>
              <a:rPr sz="100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Diagram</a:t>
            </a:r>
            <a:r>
              <a:rPr sz="10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illustrating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91933"/>
                </a:solidFill>
                <a:latin typeface="Arial MT"/>
                <a:cs typeface="Arial MT"/>
              </a:rPr>
              <a:t>a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 attack.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13977" y="767816"/>
            <a:ext cx="2434590" cy="186690"/>
          </a:xfrm>
          <a:custGeom>
            <a:avLst/>
            <a:gdLst/>
            <a:ahLst/>
            <a:cxnLst/>
            <a:rect l="l" t="t" r="r" b="b"/>
            <a:pathLst>
              <a:path w="2434590" h="186690">
                <a:moveTo>
                  <a:pt x="238365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2434455" y="186558"/>
                </a:lnTo>
                <a:lnTo>
                  <a:pt x="2434455" y="50800"/>
                </a:lnTo>
                <a:lnTo>
                  <a:pt x="2430447" y="31075"/>
                </a:lnTo>
                <a:lnTo>
                  <a:pt x="2419532" y="14922"/>
                </a:lnTo>
                <a:lnTo>
                  <a:pt x="2403379" y="4008"/>
                </a:lnTo>
                <a:lnTo>
                  <a:pt x="2383655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64778" y="796975"/>
            <a:ext cx="65278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113977" y="824727"/>
            <a:ext cx="2485390" cy="2353945"/>
            <a:chOff x="2113977" y="824727"/>
            <a:chExt cx="2485390" cy="2353945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13977" y="941730"/>
              <a:ext cx="2434455" cy="506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64778" y="824727"/>
              <a:ext cx="2434590" cy="2353945"/>
            </a:xfrm>
            <a:custGeom>
              <a:avLst/>
              <a:gdLst/>
              <a:ahLst/>
              <a:cxnLst/>
              <a:rect l="l" t="t" r="r" b="b"/>
              <a:pathLst>
                <a:path w="2434590" h="2353945">
                  <a:moveTo>
                    <a:pt x="2434455" y="0"/>
                  </a:moveTo>
                  <a:lnTo>
                    <a:pt x="0" y="0"/>
                  </a:lnTo>
                  <a:lnTo>
                    <a:pt x="0" y="2353931"/>
                  </a:lnTo>
                  <a:lnTo>
                    <a:pt x="2434455" y="2353931"/>
                  </a:lnTo>
                  <a:lnTo>
                    <a:pt x="2434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13977" y="985980"/>
              <a:ext cx="2434590" cy="2142490"/>
            </a:xfrm>
            <a:custGeom>
              <a:avLst/>
              <a:gdLst/>
              <a:ahLst/>
              <a:cxnLst/>
              <a:rect l="l" t="t" r="r" b="b"/>
              <a:pathLst>
                <a:path w="2434590" h="2142490">
                  <a:moveTo>
                    <a:pt x="2434455" y="0"/>
                  </a:moveTo>
                  <a:lnTo>
                    <a:pt x="0" y="0"/>
                  </a:lnTo>
                  <a:lnTo>
                    <a:pt x="0" y="2091077"/>
                  </a:lnTo>
                  <a:lnTo>
                    <a:pt x="4008" y="2110801"/>
                  </a:lnTo>
                  <a:lnTo>
                    <a:pt x="14922" y="2126954"/>
                  </a:lnTo>
                  <a:lnTo>
                    <a:pt x="31075" y="2137869"/>
                  </a:lnTo>
                  <a:lnTo>
                    <a:pt x="50800" y="2141877"/>
                  </a:lnTo>
                  <a:lnTo>
                    <a:pt x="2383655" y="2141877"/>
                  </a:lnTo>
                  <a:lnTo>
                    <a:pt x="2403379" y="2137869"/>
                  </a:lnTo>
                  <a:lnTo>
                    <a:pt x="2419532" y="2126954"/>
                  </a:lnTo>
                  <a:lnTo>
                    <a:pt x="2430447" y="2110801"/>
                  </a:lnTo>
                  <a:lnTo>
                    <a:pt x="2434455" y="2091077"/>
                  </a:lnTo>
                  <a:lnTo>
                    <a:pt x="2434455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7336" y="1039736"/>
              <a:ext cx="65265" cy="6526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97111" y="1166279"/>
              <a:ext cx="52590" cy="525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97111" y="1482598"/>
              <a:ext cx="52590" cy="5259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74200" y="1596466"/>
              <a:ext cx="52590" cy="5259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74200" y="1862163"/>
              <a:ext cx="52590" cy="5259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74200" y="2216442"/>
              <a:ext cx="52590" cy="5259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74200" y="2393581"/>
              <a:ext cx="52590" cy="5259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74200" y="2659278"/>
              <a:ext cx="52590" cy="5259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74200" y="2836418"/>
              <a:ext cx="52590" cy="5259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429179" y="937588"/>
            <a:ext cx="2072005" cy="21590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1" spc="-35" dirty="0">
                <a:latin typeface="Arial"/>
                <a:cs typeface="Arial"/>
              </a:rPr>
              <a:t>Spear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Phishing</a:t>
            </a:r>
            <a:r>
              <a:rPr sz="1100" spc="-10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289560" marR="70485">
              <a:lnSpc>
                <a:spcPts val="700"/>
              </a:lnSpc>
              <a:spcBef>
                <a:spcPts val="120"/>
              </a:spcBef>
            </a:pPr>
            <a:r>
              <a:rPr sz="600" spc="-10" dirty="0">
                <a:latin typeface="Arial MT"/>
                <a:cs typeface="Arial MT"/>
              </a:rPr>
              <a:t>Targets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specific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individuals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or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organizations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with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personalized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40" dirty="0">
                <a:latin typeface="Arial MT"/>
                <a:cs typeface="Arial MT"/>
              </a:rPr>
              <a:t>messages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increase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likelihood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of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success.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600" b="1" spc="-20" dirty="0">
                <a:latin typeface="Arial"/>
                <a:cs typeface="Arial"/>
              </a:rPr>
              <a:t>Typical</a:t>
            </a:r>
            <a:r>
              <a:rPr sz="600" b="1" spc="35" dirty="0">
                <a:latin typeface="Arial"/>
                <a:cs typeface="Arial"/>
              </a:rPr>
              <a:t> </a:t>
            </a:r>
            <a:r>
              <a:rPr sz="600" b="1" spc="-10" dirty="0">
                <a:latin typeface="Arial"/>
                <a:cs typeface="Arial"/>
              </a:rPr>
              <a:t>Steps</a:t>
            </a:r>
            <a:r>
              <a:rPr sz="600" spc="-10" dirty="0"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 marL="566420" marR="100965">
              <a:lnSpc>
                <a:spcPts val="700"/>
              </a:lnSpc>
              <a:spcBef>
                <a:spcPts val="215"/>
              </a:spcBef>
            </a:pPr>
            <a:r>
              <a:rPr sz="600" b="1" spc="-35" dirty="0">
                <a:latin typeface="Arial"/>
                <a:cs typeface="Arial"/>
              </a:rPr>
              <a:t>Research</a:t>
            </a:r>
            <a:r>
              <a:rPr sz="600" b="1" spc="2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Target</a:t>
            </a:r>
            <a:r>
              <a:rPr sz="600" dirty="0">
                <a:latin typeface="Arial MT"/>
                <a:cs typeface="Arial MT"/>
              </a:rPr>
              <a:t>: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attacker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gathers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information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about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target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make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the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phishing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attempt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more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convincing.</a:t>
            </a:r>
            <a:endParaRPr sz="600">
              <a:latin typeface="Arial MT"/>
              <a:cs typeface="Arial MT"/>
            </a:endParaRPr>
          </a:p>
          <a:p>
            <a:pPr marL="566420">
              <a:lnSpc>
                <a:spcPts val="660"/>
              </a:lnSpc>
            </a:pPr>
            <a:r>
              <a:rPr sz="600" b="1" spc="-10" dirty="0">
                <a:latin typeface="Arial"/>
                <a:cs typeface="Arial"/>
              </a:rPr>
              <a:t>Crafts</a:t>
            </a:r>
            <a:r>
              <a:rPr sz="600" b="1" spc="20" dirty="0">
                <a:latin typeface="Arial"/>
                <a:cs typeface="Arial"/>
              </a:rPr>
              <a:t> </a:t>
            </a:r>
            <a:r>
              <a:rPr sz="600" b="1" spc="-30" dirty="0">
                <a:latin typeface="Arial"/>
                <a:cs typeface="Arial"/>
              </a:rPr>
              <a:t>Personalized</a:t>
            </a:r>
            <a:r>
              <a:rPr sz="600" b="1" spc="2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Email</a:t>
            </a:r>
            <a:r>
              <a:rPr sz="600" dirty="0">
                <a:latin typeface="Arial MT"/>
                <a:cs typeface="Arial MT"/>
              </a:rPr>
              <a:t>: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attacker</a:t>
            </a:r>
            <a:endParaRPr sz="600">
              <a:latin typeface="Arial MT"/>
              <a:cs typeface="Arial MT"/>
            </a:endParaRPr>
          </a:p>
          <a:p>
            <a:pPr marL="566420" marR="5080" algn="just">
              <a:lnSpc>
                <a:spcPts val="700"/>
              </a:lnSpc>
              <a:spcBef>
                <a:spcPts val="30"/>
              </a:spcBef>
            </a:pPr>
            <a:r>
              <a:rPr sz="600" spc="-10" dirty="0">
                <a:latin typeface="Arial MT"/>
                <a:cs typeface="Arial MT"/>
              </a:rPr>
              <a:t>creates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email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that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appears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come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from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trusted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source,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using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information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gathered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about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target.</a:t>
            </a:r>
            <a:endParaRPr sz="600">
              <a:latin typeface="Arial MT"/>
              <a:cs typeface="Arial MT"/>
            </a:endParaRPr>
          </a:p>
          <a:p>
            <a:pPr marL="566420" algn="just">
              <a:lnSpc>
                <a:spcPts val="660"/>
              </a:lnSpc>
            </a:pPr>
            <a:r>
              <a:rPr sz="600" b="1" spc="-35" dirty="0">
                <a:latin typeface="Arial"/>
                <a:cs typeface="Arial"/>
              </a:rPr>
              <a:t>Sends</a:t>
            </a:r>
            <a:r>
              <a:rPr sz="600" b="1" spc="20" dirty="0">
                <a:latin typeface="Arial"/>
                <a:cs typeface="Arial"/>
              </a:rPr>
              <a:t> </a:t>
            </a:r>
            <a:r>
              <a:rPr sz="600" b="1" spc="-10" dirty="0">
                <a:latin typeface="Arial"/>
                <a:cs typeface="Arial"/>
              </a:rPr>
              <a:t>Email</a:t>
            </a:r>
            <a:r>
              <a:rPr sz="600" b="1" spc="2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to</a:t>
            </a:r>
            <a:r>
              <a:rPr sz="600" b="1" spc="2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Target</a:t>
            </a:r>
            <a:r>
              <a:rPr sz="600" dirty="0">
                <a:latin typeface="Arial MT"/>
                <a:cs typeface="Arial MT"/>
              </a:rPr>
              <a:t>:</a:t>
            </a:r>
            <a:r>
              <a:rPr sz="600" spc="7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attacker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sends</a:t>
            </a:r>
            <a:endParaRPr sz="600">
              <a:latin typeface="Arial MT"/>
              <a:cs typeface="Arial MT"/>
            </a:endParaRPr>
          </a:p>
          <a:p>
            <a:pPr marL="566420">
              <a:lnSpc>
                <a:spcPts val="695"/>
              </a:lnSpc>
            </a:pPr>
            <a:r>
              <a:rPr sz="600" dirty="0">
                <a:latin typeface="Arial MT"/>
                <a:cs typeface="Arial MT"/>
              </a:rPr>
              <a:t>the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personalized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email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target.</a:t>
            </a:r>
            <a:endParaRPr sz="600">
              <a:latin typeface="Arial MT"/>
              <a:cs typeface="Arial MT"/>
            </a:endParaRPr>
          </a:p>
          <a:p>
            <a:pPr marL="566420" marR="35560">
              <a:lnSpc>
                <a:spcPts val="700"/>
              </a:lnSpc>
              <a:spcBef>
                <a:spcPts val="30"/>
              </a:spcBef>
            </a:pPr>
            <a:r>
              <a:rPr sz="600" b="1" spc="-30" dirty="0">
                <a:latin typeface="Arial"/>
                <a:cs typeface="Arial"/>
              </a:rPr>
              <a:t>Clicks</a:t>
            </a:r>
            <a:r>
              <a:rPr sz="600" b="1" spc="15" dirty="0">
                <a:latin typeface="Arial"/>
                <a:cs typeface="Arial"/>
              </a:rPr>
              <a:t> </a:t>
            </a:r>
            <a:r>
              <a:rPr sz="600" b="1" spc="-10" dirty="0">
                <a:latin typeface="Arial"/>
                <a:cs typeface="Arial"/>
              </a:rPr>
              <a:t>Malicious</a:t>
            </a:r>
            <a:r>
              <a:rPr sz="600" b="1" spc="1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Link</a:t>
            </a:r>
            <a:r>
              <a:rPr sz="600" dirty="0">
                <a:latin typeface="Arial MT"/>
                <a:cs typeface="Arial MT"/>
              </a:rPr>
              <a:t>: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target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clicks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on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link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within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email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that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directs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spc="-50" dirty="0">
                <a:latin typeface="Arial MT"/>
                <a:cs typeface="Arial MT"/>
              </a:rPr>
              <a:t>a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fraudulent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website.</a:t>
            </a:r>
            <a:endParaRPr sz="600">
              <a:latin typeface="Arial MT"/>
              <a:cs typeface="Arial MT"/>
            </a:endParaRPr>
          </a:p>
          <a:p>
            <a:pPr marL="566420">
              <a:lnSpc>
                <a:spcPts val="660"/>
              </a:lnSpc>
            </a:pPr>
            <a:r>
              <a:rPr sz="600" b="1" spc="-20" dirty="0">
                <a:latin typeface="Arial"/>
                <a:cs typeface="Arial"/>
              </a:rPr>
              <a:t>Fake</a:t>
            </a:r>
            <a:r>
              <a:rPr sz="600" b="1" spc="15" dirty="0">
                <a:latin typeface="Arial"/>
                <a:cs typeface="Arial"/>
              </a:rPr>
              <a:t> </a:t>
            </a:r>
            <a:r>
              <a:rPr sz="600" b="1" spc="-10" dirty="0">
                <a:latin typeface="Arial"/>
                <a:cs typeface="Arial"/>
              </a:rPr>
              <a:t>Website</a:t>
            </a:r>
            <a:r>
              <a:rPr sz="600" spc="-10" dirty="0">
                <a:latin typeface="Arial MT"/>
                <a:cs typeface="Arial MT"/>
              </a:rPr>
              <a:t>:</a:t>
            </a:r>
            <a:r>
              <a:rPr sz="600" spc="6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website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collects</a:t>
            </a:r>
            <a:endParaRPr sz="600">
              <a:latin typeface="Arial MT"/>
              <a:cs typeface="Arial MT"/>
            </a:endParaRPr>
          </a:p>
          <a:p>
            <a:pPr marL="566420" marR="196850">
              <a:lnSpc>
                <a:spcPts val="700"/>
              </a:lnSpc>
              <a:spcBef>
                <a:spcPts val="25"/>
              </a:spcBef>
            </a:pPr>
            <a:r>
              <a:rPr sz="600" spc="-20" dirty="0">
                <a:latin typeface="Arial MT"/>
                <a:cs typeface="Arial MT"/>
              </a:rPr>
              <a:t>sensitive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information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from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6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target.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b="1" spc="-10" dirty="0">
                <a:latin typeface="Arial"/>
                <a:cs typeface="Arial"/>
              </a:rPr>
              <a:t>Attacker</a:t>
            </a:r>
            <a:r>
              <a:rPr sz="600" b="1" spc="45" dirty="0">
                <a:latin typeface="Arial"/>
                <a:cs typeface="Arial"/>
              </a:rPr>
              <a:t> </a:t>
            </a:r>
            <a:r>
              <a:rPr sz="600" b="1" spc="-25" dirty="0">
                <a:latin typeface="Arial"/>
                <a:cs typeface="Arial"/>
              </a:rPr>
              <a:t>Collects</a:t>
            </a:r>
            <a:r>
              <a:rPr sz="600" b="1" spc="5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Data</a:t>
            </a:r>
            <a:r>
              <a:rPr sz="600" dirty="0">
                <a:latin typeface="Arial MT"/>
                <a:cs typeface="Arial MT"/>
              </a:rPr>
              <a:t>:</a:t>
            </a:r>
            <a:r>
              <a:rPr sz="600" spc="10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attacker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gathers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information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entered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by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the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target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on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the</a:t>
            </a:r>
            <a:r>
              <a:rPr sz="600" spc="2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fake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website.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272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Denial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Service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(DoS)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82470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96457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2346680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47294" y="944827"/>
            <a:ext cx="3914140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92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Denial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(DoS)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attack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aims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to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make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service,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server,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website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unavailable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users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overwhelming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a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flood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illegitimate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requests.</a:t>
            </a:r>
            <a:r>
              <a:rPr sz="11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Variants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include: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SYN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Exploits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TCP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handshake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process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overload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servers.</a:t>
            </a:r>
            <a:endParaRPr sz="1100">
              <a:latin typeface="Arial MT"/>
              <a:cs typeface="Arial MT"/>
            </a:endParaRPr>
          </a:p>
          <a:p>
            <a:pPr marL="289560" marR="410209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UDP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number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UDP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packets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random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ports,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causing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to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exhaust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resources.</a:t>
            </a:r>
            <a:endParaRPr sz="1100">
              <a:latin typeface="Arial MT"/>
              <a:cs typeface="Arial MT"/>
            </a:endParaRPr>
          </a:p>
          <a:p>
            <a:pPr marL="289560" marR="17145">
              <a:lnSpc>
                <a:spcPct val="102600"/>
              </a:lnSpc>
              <a:spcBef>
                <a:spcPts val="300"/>
              </a:spcBef>
            </a:pP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HTTP</a:t>
            </a:r>
            <a:r>
              <a:rPr sz="11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Targets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web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servers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sending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a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volume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HTTP</a:t>
            </a:r>
            <a:r>
              <a:rPr sz="11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requests.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-9329"/>
            <a:ext cx="299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98B2CC"/>
                </a:solidFill>
                <a:latin typeface="Arial MT"/>
                <a:cs typeface="Arial MT"/>
                <a:hlinkClick r:id="rId2" action="ppaction://hlinksldjump"/>
              </a:rPr>
              <a:t>Syllabus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1698" y="105552"/>
            <a:ext cx="2581275" cy="41275"/>
            <a:chOff x="481698" y="105552"/>
            <a:chExt cx="2581275" cy="41275"/>
          </a:xfrm>
        </p:grpSpPr>
        <p:sp>
          <p:nvSpPr>
            <p:cNvPr id="4" name="object 4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58876" y="-9329"/>
            <a:ext cx="1601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75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5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7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10" name="object 10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322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latin typeface="Arial"/>
                <a:cs typeface="Arial"/>
              </a:rPr>
              <a:t>DoS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59994" y="729809"/>
            <a:ext cx="3887470" cy="1169035"/>
            <a:chOff x="359994" y="729809"/>
            <a:chExt cx="3887470" cy="1169035"/>
          </a:xfrm>
        </p:grpSpPr>
        <p:sp>
          <p:nvSpPr>
            <p:cNvPr id="19" name="object 19"/>
            <p:cNvSpPr/>
            <p:nvPr/>
          </p:nvSpPr>
          <p:spPr>
            <a:xfrm>
              <a:off x="359994" y="729809"/>
              <a:ext cx="3887470" cy="1169035"/>
            </a:xfrm>
            <a:custGeom>
              <a:avLst/>
              <a:gdLst/>
              <a:ahLst/>
              <a:cxnLst/>
              <a:rect l="l" t="t" r="r" b="b"/>
              <a:pathLst>
                <a:path w="3887470" h="1169035">
                  <a:moveTo>
                    <a:pt x="3887307" y="1168728"/>
                  </a:moveTo>
                  <a:lnTo>
                    <a:pt x="0" y="1168728"/>
                  </a:lnTo>
                  <a:lnTo>
                    <a:pt x="0" y="0"/>
                  </a:lnTo>
                  <a:lnTo>
                    <a:pt x="3887307" y="0"/>
                  </a:lnTo>
                  <a:lnTo>
                    <a:pt x="3887307" y="11687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207" y="770170"/>
              <a:ext cx="630555" cy="499109"/>
            </a:xfrm>
            <a:custGeom>
              <a:avLst/>
              <a:gdLst/>
              <a:ahLst/>
              <a:cxnLst/>
              <a:rect l="l" t="t" r="r" b="b"/>
              <a:pathLst>
                <a:path w="630555" h="499109">
                  <a:moveTo>
                    <a:pt x="0" y="0"/>
                  </a:moveTo>
                  <a:lnTo>
                    <a:pt x="630369" y="0"/>
                  </a:lnTo>
                  <a:lnTo>
                    <a:pt x="630369" y="498500"/>
                  </a:lnTo>
                  <a:lnTo>
                    <a:pt x="0" y="498500"/>
                  </a:lnTo>
                  <a:lnTo>
                    <a:pt x="0" y="0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0392" y="1268671"/>
              <a:ext cx="0" cy="575310"/>
            </a:xfrm>
            <a:custGeom>
              <a:avLst/>
              <a:gdLst/>
              <a:ahLst/>
              <a:cxnLst/>
              <a:rect l="l" t="t" r="r" b="b"/>
              <a:pathLst>
                <a:path h="575310">
                  <a:moveTo>
                    <a:pt x="0" y="0"/>
                  </a:moveTo>
                  <a:lnTo>
                    <a:pt x="0" y="575192"/>
                  </a:lnTo>
                </a:path>
              </a:pathLst>
            </a:custGeom>
            <a:ln w="420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7366" y="945367"/>
            <a:ext cx="214629" cy="135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700" b="1" spc="-155" dirty="0">
                <a:latin typeface="Arial"/>
                <a:cs typeface="Arial"/>
              </a:rPr>
              <a:t>Attacker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21889" y="766360"/>
            <a:ext cx="638175" cy="1080135"/>
            <a:chOff x="1321889" y="766360"/>
            <a:chExt cx="638175" cy="1080135"/>
          </a:xfrm>
        </p:grpSpPr>
        <p:sp>
          <p:nvSpPr>
            <p:cNvPr id="24" name="object 24"/>
            <p:cNvSpPr/>
            <p:nvPr/>
          </p:nvSpPr>
          <p:spPr>
            <a:xfrm>
              <a:off x="1325699" y="770170"/>
              <a:ext cx="630555" cy="499109"/>
            </a:xfrm>
            <a:custGeom>
              <a:avLst/>
              <a:gdLst/>
              <a:ahLst/>
              <a:cxnLst/>
              <a:rect l="l" t="t" r="r" b="b"/>
              <a:pathLst>
                <a:path w="630555" h="499109">
                  <a:moveTo>
                    <a:pt x="0" y="0"/>
                  </a:moveTo>
                  <a:lnTo>
                    <a:pt x="630369" y="0"/>
                  </a:lnTo>
                  <a:lnTo>
                    <a:pt x="630369" y="498500"/>
                  </a:lnTo>
                  <a:lnTo>
                    <a:pt x="0" y="498500"/>
                  </a:lnTo>
                  <a:lnTo>
                    <a:pt x="0" y="0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40884" y="1268671"/>
              <a:ext cx="0" cy="575310"/>
            </a:xfrm>
            <a:custGeom>
              <a:avLst/>
              <a:gdLst/>
              <a:ahLst/>
              <a:cxnLst/>
              <a:rect l="l" t="t" r="r" b="b"/>
              <a:pathLst>
                <a:path h="575310">
                  <a:moveTo>
                    <a:pt x="0" y="0"/>
                  </a:moveTo>
                  <a:lnTo>
                    <a:pt x="0" y="575192"/>
                  </a:lnTo>
                </a:path>
              </a:pathLst>
            </a:custGeom>
            <a:ln w="420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88353" y="945367"/>
            <a:ext cx="113664" cy="135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700" b="1" spc="-190" dirty="0">
                <a:latin typeface="Arial"/>
                <a:cs typeface="Arial"/>
              </a:rPr>
              <a:t>DoS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43087" y="766360"/>
            <a:ext cx="638175" cy="1080135"/>
            <a:chOff x="2343087" y="766360"/>
            <a:chExt cx="638175" cy="1080135"/>
          </a:xfrm>
        </p:grpSpPr>
        <p:sp>
          <p:nvSpPr>
            <p:cNvPr id="28" name="object 28"/>
            <p:cNvSpPr/>
            <p:nvPr/>
          </p:nvSpPr>
          <p:spPr>
            <a:xfrm>
              <a:off x="2346897" y="770170"/>
              <a:ext cx="630555" cy="499109"/>
            </a:xfrm>
            <a:custGeom>
              <a:avLst/>
              <a:gdLst/>
              <a:ahLst/>
              <a:cxnLst/>
              <a:rect l="l" t="t" r="r" b="b"/>
              <a:pathLst>
                <a:path w="630555" h="499109">
                  <a:moveTo>
                    <a:pt x="0" y="0"/>
                  </a:moveTo>
                  <a:lnTo>
                    <a:pt x="630369" y="0"/>
                  </a:lnTo>
                  <a:lnTo>
                    <a:pt x="630369" y="498500"/>
                  </a:lnTo>
                  <a:lnTo>
                    <a:pt x="0" y="498500"/>
                  </a:lnTo>
                  <a:lnTo>
                    <a:pt x="0" y="0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62082" y="1268671"/>
              <a:ext cx="0" cy="575310"/>
            </a:xfrm>
            <a:custGeom>
              <a:avLst/>
              <a:gdLst/>
              <a:ahLst/>
              <a:cxnLst/>
              <a:rect l="l" t="t" r="r" b="b"/>
              <a:pathLst>
                <a:path h="575310">
                  <a:moveTo>
                    <a:pt x="0" y="0"/>
                  </a:moveTo>
                  <a:lnTo>
                    <a:pt x="0" y="575192"/>
                  </a:lnTo>
                </a:path>
              </a:pathLst>
            </a:custGeom>
            <a:ln w="420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591363" y="945367"/>
            <a:ext cx="150495" cy="135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700" b="1" spc="-160" dirty="0">
                <a:latin typeface="Arial"/>
                <a:cs typeface="Arial"/>
              </a:rPr>
              <a:t>Flood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86157" y="766360"/>
            <a:ext cx="638175" cy="1080135"/>
            <a:chOff x="3486157" y="766360"/>
            <a:chExt cx="638175" cy="1080135"/>
          </a:xfrm>
        </p:grpSpPr>
        <p:sp>
          <p:nvSpPr>
            <p:cNvPr id="32" name="object 32"/>
            <p:cNvSpPr/>
            <p:nvPr/>
          </p:nvSpPr>
          <p:spPr>
            <a:xfrm>
              <a:off x="3489967" y="770170"/>
              <a:ext cx="630555" cy="499109"/>
            </a:xfrm>
            <a:custGeom>
              <a:avLst/>
              <a:gdLst/>
              <a:ahLst/>
              <a:cxnLst/>
              <a:rect l="l" t="t" r="r" b="b"/>
              <a:pathLst>
                <a:path w="630554" h="499109">
                  <a:moveTo>
                    <a:pt x="0" y="0"/>
                  </a:moveTo>
                  <a:lnTo>
                    <a:pt x="630369" y="0"/>
                  </a:lnTo>
                  <a:lnTo>
                    <a:pt x="630369" y="498500"/>
                  </a:lnTo>
                  <a:lnTo>
                    <a:pt x="0" y="498500"/>
                  </a:lnTo>
                  <a:lnTo>
                    <a:pt x="0" y="0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05151" y="1268671"/>
              <a:ext cx="0" cy="575310"/>
            </a:xfrm>
            <a:custGeom>
              <a:avLst/>
              <a:gdLst/>
              <a:ahLst/>
              <a:cxnLst/>
              <a:rect l="l" t="t" r="r" b="b"/>
              <a:pathLst>
                <a:path h="575310">
                  <a:moveTo>
                    <a:pt x="0" y="0"/>
                  </a:moveTo>
                  <a:lnTo>
                    <a:pt x="0" y="575192"/>
                  </a:lnTo>
                </a:path>
              </a:pathLst>
            </a:custGeom>
            <a:ln w="420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25037" y="945367"/>
            <a:ext cx="368935" cy="135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700" b="1" spc="-170" dirty="0">
                <a:latin typeface="Arial"/>
                <a:cs typeface="Arial"/>
              </a:rPr>
              <a:t>NetworkServer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93406" y="1430384"/>
            <a:ext cx="843915" cy="60325"/>
            <a:chOff x="793406" y="1430384"/>
            <a:chExt cx="843915" cy="60325"/>
          </a:xfrm>
        </p:grpSpPr>
        <p:sp>
          <p:nvSpPr>
            <p:cNvPr id="36" name="object 36"/>
            <p:cNvSpPr/>
            <p:nvPr/>
          </p:nvSpPr>
          <p:spPr>
            <a:xfrm>
              <a:off x="797534" y="1460402"/>
              <a:ext cx="807720" cy="0"/>
            </a:xfrm>
            <a:custGeom>
              <a:avLst/>
              <a:gdLst/>
              <a:ahLst/>
              <a:cxnLst/>
              <a:rect l="l" t="t" r="r" b="b"/>
              <a:pathLst>
                <a:path w="807719">
                  <a:moveTo>
                    <a:pt x="0" y="0"/>
                  </a:moveTo>
                  <a:lnTo>
                    <a:pt x="460925" y="0"/>
                  </a:lnTo>
                  <a:lnTo>
                    <a:pt x="807124" y="0"/>
                  </a:lnTo>
                </a:path>
              </a:pathLst>
            </a:custGeom>
            <a:ln w="7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04659" y="1433559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0" y="53684"/>
                  </a:moveTo>
                  <a:lnTo>
                    <a:pt x="0" y="0"/>
                  </a:lnTo>
                  <a:lnTo>
                    <a:pt x="29417" y="26842"/>
                  </a:lnTo>
                  <a:lnTo>
                    <a:pt x="0" y="53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04659" y="1433559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29417" y="26842"/>
                  </a:moveTo>
                  <a:lnTo>
                    <a:pt x="0" y="53684"/>
                  </a:lnTo>
                  <a:lnTo>
                    <a:pt x="0" y="0"/>
                  </a:lnTo>
                  <a:lnTo>
                    <a:pt x="29417" y="26842"/>
                  </a:lnTo>
                  <a:close/>
                </a:path>
              </a:pathLst>
            </a:custGeom>
            <a:ln w="5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66628" y="1321053"/>
            <a:ext cx="311150" cy="127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650" spc="-120" dirty="0">
                <a:latin typeface="Arial MT"/>
                <a:cs typeface="Arial MT"/>
              </a:rPr>
              <a:t>Initiates</a:t>
            </a:r>
            <a:r>
              <a:rPr sz="650" spc="-25" dirty="0">
                <a:latin typeface="Arial MT"/>
                <a:cs typeface="Arial MT"/>
              </a:rPr>
              <a:t> </a:t>
            </a:r>
            <a:r>
              <a:rPr sz="650" spc="-125" dirty="0">
                <a:latin typeface="Arial MT"/>
                <a:cs typeface="Arial MT"/>
              </a:rPr>
              <a:t>Attack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33899" y="1522415"/>
            <a:ext cx="1024890" cy="60325"/>
            <a:chOff x="1633899" y="1522415"/>
            <a:chExt cx="1024890" cy="60325"/>
          </a:xfrm>
        </p:grpSpPr>
        <p:sp>
          <p:nvSpPr>
            <p:cNvPr id="41" name="object 41"/>
            <p:cNvSpPr/>
            <p:nvPr/>
          </p:nvSpPr>
          <p:spPr>
            <a:xfrm>
              <a:off x="1638026" y="1552432"/>
              <a:ext cx="988060" cy="0"/>
            </a:xfrm>
            <a:custGeom>
              <a:avLst/>
              <a:gdLst/>
              <a:ahLst/>
              <a:cxnLst/>
              <a:rect l="l" t="t" r="r" b="b"/>
              <a:pathLst>
                <a:path w="988060">
                  <a:moveTo>
                    <a:pt x="0" y="0"/>
                  </a:moveTo>
                  <a:lnTo>
                    <a:pt x="549177" y="0"/>
                  </a:lnTo>
                  <a:lnTo>
                    <a:pt x="987830" y="0"/>
                  </a:lnTo>
                </a:path>
              </a:pathLst>
            </a:custGeom>
            <a:ln w="7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25857" y="1525590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0" y="53684"/>
                  </a:moveTo>
                  <a:lnTo>
                    <a:pt x="0" y="0"/>
                  </a:lnTo>
                  <a:lnTo>
                    <a:pt x="29417" y="26842"/>
                  </a:lnTo>
                  <a:lnTo>
                    <a:pt x="0" y="53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25857" y="1525590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29417" y="26842"/>
                  </a:moveTo>
                  <a:lnTo>
                    <a:pt x="0" y="53684"/>
                  </a:lnTo>
                  <a:lnTo>
                    <a:pt x="0" y="0"/>
                  </a:lnTo>
                  <a:lnTo>
                    <a:pt x="29417" y="26842"/>
                  </a:lnTo>
                  <a:close/>
                </a:path>
              </a:pathLst>
            </a:custGeom>
            <a:ln w="5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889056" y="1413126"/>
            <a:ext cx="532130" cy="127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650" spc="-175" dirty="0">
                <a:latin typeface="Arial MT"/>
                <a:cs typeface="Arial MT"/>
              </a:rPr>
              <a:t>Sends</a:t>
            </a:r>
            <a:r>
              <a:rPr sz="650" spc="-55" dirty="0">
                <a:latin typeface="Arial MT"/>
                <a:cs typeface="Arial MT"/>
              </a:rPr>
              <a:t> </a:t>
            </a:r>
            <a:r>
              <a:rPr sz="650" spc="-155" dirty="0">
                <a:latin typeface="Arial MT"/>
                <a:cs typeface="Arial MT"/>
              </a:rPr>
              <a:t>Flood</a:t>
            </a:r>
            <a:r>
              <a:rPr sz="650" spc="-50" dirty="0">
                <a:latin typeface="Arial MT"/>
                <a:cs typeface="Arial MT"/>
              </a:rPr>
              <a:t> </a:t>
            </a:r>
            <a:r>
              <a:rPr sz="650" spc="-125" dirty="0">
                <a:latin typeface="Arial MT"/>
                <a:cs typeface="Arial MT"/>
              </a:rPr>
              <a:t>of</a:t>
            </a:r>
            <a:r>
              <a:rPr sz="650" spc="-55" dirty="0">
                <a:latin typeface="Arial MT"/>
                <a:cs typeface="Arial MT"/>
              </a:rPr>
              <a:t> </a:t>
            </a:r>
            <a:r>
              <a:rPr sz="650" spc="-145" dirty="0">
                <a:latin typeface="Arial MT"/>
                <a:cs typeface="Arial MT"/>
              </a:rPr>
              <a:t>Requests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9273" y="1614653"/>
            <a:ext cx="3004185" cy="205740"/>
            <a:chOff x="799273" y="1614653"/>
            <a:chExt cx="3004185" cy="205740"/>
          </a:xfrm>
        </p:grpSpPr>
        <p:sp>
          <p:nvSpPr>
            <p:cNvPr id="46" name="object 46"/>
            <p:cNvSpPr/>
            <p:nvPr/>
          </p:nvSpPr>
          <p:spPr>
            <a:xfrm>
              <a:off x="2659225" y="1644463"/>
              <a:ext cx="1109980" cy="0"/>
            </a:xfrm>
            <a:custGeom>
              <a:avLst/>
              <a:gdLst/>
              <a:ahLst/>
              <a:cxnLst/>
              <a:rect l="l" t="t" r="r" b="b"/>
              <a:pathLst>
                <a:path w="1109979">
                  <a:moveTo>
                    <a:pt x="0" y="0"/>
                  </a:moveTo>
                  <a:lnTo>
                    <a:pt x="612214" y="0"/>
                  </a:lnTo>
                  <a:lnTo>
                    <a:pt x="1109701" y="0"/>
                  </a:lnTo>
                </a:path>
              </a:pathLst>
            </a:custGeom>
            <a:ln w="7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68926" y="1617621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5" h="53975">
                  <a:moveTo>
                    <a:pt x="0" y="53684"/>
                  </a:moveTo>
                  <a:lnTo>
                    <a:pt x="0" y="0"/>
                  </a:lnTo>
                  <a:lnTo>
                    <a:pt x="29417" y="26842"/>
                  </a:lnTo>
                  <a:lnTo>
                    <a:pt x="0" y="53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1658" y="1617621"/>
              <a:ext cx="2971800" cy="172720"/>
            </a:xfrm>
            <a:custGeom>
              <a:avLst/>
              <a:gdLst/>
              <a:ahLst/>
              <a:cxnLst/>
              <a:rect l="l" t="t" r="r" b="b"/>
              <a:pathLst>
                <a:path w="2971800" h="172719">
                  <a:moveTo>
                    <a:pt x="2966685" y="26842"/>
                  </a:moveTo>
                  <a:lnTo>
                    <a:pt x="2937268" y="53684"/>
                  </a:lnTo>
                  <a:lnTo>
                    <a:pt x="2937268" y="0"/>
                  </a:lnTo>
                  <a:lnTo>
                    <a:pt x="2966685" y="26842"/>
                  </a:lnTo>
                  <a:close/>
                </a:path>
                <a:path w="2971800" h="172719">
                  <a:moveTo>
                    <a:pt x="2971392" y="172557"/>
                  </a:moveTo>
                  <a:lnTo>
                    <a:pt x="0" y="172557"/>
                  </a:lnTo>
                </a:path>
              </a:pathLst>
            </a:custGeom>
            <a:ln w="59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2241" y="1763337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29417" y="53684"/>
                  </a:moveTo>
                  <a:lnTo>
                    <a:pt x="0" y="26842"/>
                  </a:lnTo>
                  <a:lnTo>
                    <a:pt x="29417" y="0"/>
                  </a:lnTo>
                  <a:lnTo>
                    <a:pt x="29417" y="53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2241" y="1763337"/>
              <a:ext cx="29845" cy="53975"/>
            </a:xfrm>
            <a:custGeom>
              <a:avLst/>
              <a:gdLst/>
              <a:ahLst/>
              <a:cxnLst/>
              <a:rect l="l" t="t" r="r" b="b"/>
              <a:pathLst>
                <a:path w="29844" h="53975">
                  <a:moveTo>
                    <a:pt x="0" y="26842"/>
                  </a:moveTo>
                  <a:lnTo>
                    <a:pt x="29417" y="0"/>
                  </a:lnTo>
                  <a:lnTo>
                    <a:pt x="29417" y="53684"/>
                  </a:lnTo>
                  <a:lnTo>
                    <a:pt x="0" y="26842"/>
                  </a:lnTo>
                  <a:close/>
                </a:path>
              </a:pathLst>
            </a:custGeom>
            <a:ln w="5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058818" y="1460704"/>
            <a:ext cx="1477010" cy="31686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875665">
              <a:lnSpc>
                <a:spcPct val="100000"/>
              </a:lnSpc>
              <a:spcBef>
                <a:spcPts val="464"/>
              </a:spcBef>
            </a:pPr>
            <a:r>
              <a:rPr sz="650" spc="-170" dirty="0">
                <a:latin typeface="Arial MT"/>
                <a:cs typeface="Arial MT"/>
              </a:rPr>
              <a:t>Overwhelms</a:t>
            </a:r>
            <a:r>
              <a:rPr sz="650" spc="-15" dirty="0">
                <a:latin typeface="Arial MT"/>
                <a:cs typeface="Arial MT"/>
              </a:rPr>
              <a:t> </a:t>
            </a:r>
            <a:r>
              <a:rPr sz="650" spc="-140" dirty="0">
                <a:latin typeface="Arial MT"/>
                <a:cs typeface="Arial MT"/>
              </a:rPr>
              <a:t>Network/Server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r>
              <a:rPr sz="650" spc="-195" dirty="0">
                <a:latin typeface="Arial MT"/>
                <a:cs typeface="Arial MT"/>
              </a:rPr>
              <a:t>No</a:t>
            </a:r>
            <a:r>
              <a:rPr sz="650" spc="-35" dirty="0">
                <a:latin typeface="Arial MT"/>
                <a:cs typeface="Arial MT"/>
              </a:rPr>
              <a:t> </a:t>
            </a:r>
            <a:r>
              <a:rPr sz="650" spc="-175" dirty="0">
                <a:latin typeface="Arial MT"/>
                <a:cs typeface="Arial MT"/>
              </a:rPr>
              <a:t>Response</a:t>
            </a:r>
            <a:r>
              <a:rPr sz="650" spc="-35" dirty="0">
                <a:latin typeface="Arial MT"/>
                <a:cs typeface="Arial MT"/>
              </a:rPr>
              <a:t> </a:t>
            </a:r>
            <a:r>
              <a:rPr sz="650" spc="-55" dirty="0">
                <a:latin typeface="Arial MT"/>
                <a:cs typeface="Arial MT"/>
              </a:rPr>
              <a:t>(Outage)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68222" y="2017666"/>
            <a:ext cx="2471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6699"/>
                </a:solidFill>
                <a:latin typeface="Arial MT"/>
                <a:cs typeface="Arial MT"/>
              </a:rPr>
              <a:t>Figure:</a:t>
            </a:r>
            <a:r>
              <a:rPr sz="1000" spc="-1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Diagram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illustrating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phishing</a:t>
            </a:r>
            <a:r>
              <a:rPr sz="10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attack.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2411031"/>
            <a:ext cx="65265" cy="6526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2327" y="2526119"/>
            <a:ext cx="52590" cy="5259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2327" y="2753855"/>
            <a:ext cx="52590" cy="5259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9416" y="2842425"/>
            <a:ext cx="52590" cy="52590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069416" y="3019564"/>
            <a:ext cx="52705" cy="141605"/>
            <a:chOff x="1069416" y="3019564"/>
            <a:chExt cx="52705" cy="141605"/>
          </a:xfrm>
        </p:grpSpPr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9416" y="3019564"/>
              <a:ext cx="52590" cy="5259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9416" y="3108134"/>
              <a:ext cx="52590" cy="52590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69416" y="3285261"/>
            <a:ext cx="52590" cy="5259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624395" y="2327591"/>
            <a:ext cx="3636010" cy="1040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315"/>
              </a:lnSpc>
              <a:spcBef>
                <a:spcPts val="9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Denial</a:t>
            </a:r>
            <a:r>
              <a:rPr sz="11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Service</a:t>
            </a:r>
            <a:r>
              <a:rPr sz="11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(DoS)</a:t>
            </a:r>
            <a:r>
              <a:rPr sz="1100" b="1" spc="6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Attack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289560" marR="286385">
              <a:lnSpc>
                <a:spcPts val="700"/>
              </a:lnSpc>
              <a:spcBef>
                <a:spcPts val="35"/>
              </a:spcBef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Aims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make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service,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network,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unavailable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overwhelming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it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flood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illegitimate</a:t>
            </a:r>
            <a:r>
              <a:rPr sz="600" spc="7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requests.</a:t>
            </a:r>
            <a:endParaRPr sz="600">
              <a:latin typeface="Arial MT"/>
              <a:cs typeface="Arial MT"/>
            </a:endParaRPr>
          </a:p>
          <a:p>
            <a:pPr marL="289560">
              <a:lnSpc>
                <a:spcPts val="710"/>
              </a:lnSpc>
              <a:spcBef>
                <a:spcPts val="350"/>
              </a:spcBef>
            </a:pPr>
            <a:r>
              <a:rPr sz="600" b="1" spc="-20" dirty="0">
                <a:solidFill>
                  <a:srgbClr val="191933"/>
                </a:solidFill>
                <a:latin typeface="Arial"/>
                <a:cs typeface="Arial"/>
              </a:rPr>
              <a:t>Typical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Methods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endParaRPr sz="600">
              <a:latin typeface="Arial MT"/>
              <a:cs typeface="Arial MT"/>
            </a:endParaRPr>
          </a:p>
          <a:p>
            <a:pPr marL="566420" marR="246379">
              <a:lnSpc>
                <a:spcPts val="700"/>
              </a:lnSpc>
              <a:spcBef>
                <a:spcPts val="30"/>
              </a:spcBef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Flood</a:t>
            </a:r>
            <a:r>
              <a:rPr sz="600" b="1" spc="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Attack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r>
              <a:rPr sz="6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massive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volume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exhaust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system’s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resources,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causing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6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disruption.</a:t>
            </a:r>
            <a:endParaRPr sz="600">
              <a:latin typeface="Arial MT"/>
              <a:cs typeface="Arial MT"/>
            </a:endParaRPr>
          </a:p>
          <a:p>
            <a:pPr marL="566420">
              <a:lnSpc>
                <a:spcPts val="665"/>
              </a:lnSpc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Ping</a:t>
            </a:r>
            <a:r>
              <a:rPr sz="600" b="1" spc="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6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Death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r>
              <a:rPr sz="600" spc="7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oversized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malformed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packets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crash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freeze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target</a:t>
            </a:r>
            <a:r>
              <a:rPr sz="6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system.</a:t>
            </a:r>
            <a:endParaRPr sz="600">
              <a:latin typeface="Arial MT"/>
              <a:cs typeface="Arial MT"/>
            </a:endParaRPr>
          </a:p>
          <a:p>
            <a:pPr marL="566420" marR="266700">
              <a:lnSpc>
                <a:spcPts val="700"/>
              </a:lnSpc>
              <a:spcBef>
                <a:spcPts val="30"/>
              </a:spcBef>
            </a:pP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SYN</a:t>
            </a:r>
            <a:r>
              <a:rPr sz="6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Flood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r>
              <a:rPr sz="600" spc="9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Exploits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TCP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handshake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30" dirty="0">
                <a:solidFill>
                  <a:srgbClr val="191933"/>
                </a:solidFill>
                <a:latin typeface="Arial MT"/>
                <a:cs typeface="Arial MT"/>
              </a:rPr>
              <a:t>process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sending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numerous</a:t>
            </a:r>
            <a:r>
              <a:rPr sz="6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connection</a:t>
            </a:r>
            <a:r>
              <a:rPr sz="600" spc="5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completing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them,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exhausting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6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resources.</a:t>
            </a:r>
            <a:endParaRPr sz="600">
              <a:latin typeface="Arial MT"/>
              <a:cs typeface="Arial MT"/>
            </a:endParaRPr>
          </a:p>
          <a:p>
            <a:pPr marL="566420">
              <a:lnSpc>
                <a:spcPts val="675"/>
              </a:lnSpc>
            </a:pPr>
            <a:r>
              <a:rPr sz="600" b="1" spc="-10" dirty="0">
                <a:solidFill>
                  <a:srgbClr val="191933"/>
                </a:solidFill>
                <a:latin typeface="Arial"/>
                <a:cs typeface="Arial"/>
              </a:rPr>
              <a:t>Distributed</a:t>
            </a:r>
            <a:r>
              <a:rPr sz="6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Denial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600" b="1" spc="5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191933"/>
                </a:solidFill>
                <a:latin typeface="Arial"/>
                <a:cs typeface="Arial"/>
              </a:rPr>
              <a:t>Service</a:t>
            </a:r>
            <a:r>
              <a:rPr sz="6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191933"/>
                </a:solidFill>
                <a:latin typeface="Arial"/>
                <a:cs typeface="Arial"/>
              </a:rPr>
              <a:t>(DDoS)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: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Utilizes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multiple</a:t>
            </a:r>
            <a:r>
              <a:rPr sz="6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191933"/>
                </a:solidFill>
                <a:latin typeface="Arial MT"/>
                <a:cs typeface="Arial MT"/>
              </a:rPr>
              <a:t>compromised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191933"/>
                </a:solidFill>
                <a:latin typeface="Arial MT"/>
                <a:cs typeface="Arial MT"/>
              </a:rPr>
              <a:t>systems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6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generate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91272" y="3371190"/>
            <a:ext cx="204533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coordinated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flood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traffic,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amplifying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600" spc="6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91933"/>
                </a:solidFill>
                <a:latin typeface="Arial MT"/>
                <a:cs typeface="Arial MT"/>
              </a:rPr>
              <a:t>attack’s</a:t>
            </a:r>
            <a:r>
              <a:rPr sz="600" spc="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91933"/>
                </a:solidFill>
                <a:latin typeface="Arial MT"/>
                <a:cs typeface="Arial MT"/>
              </a:rPr>
              <a:t>impact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236376" y="3371190"/>
            <a:ext cx="228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0" dirty="0">
                <a:solidFill>
                  <a:srgbClr val="191933"/>
                </a:solidFill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5" name="object 65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3030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DoS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Attack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Types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143165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353197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563230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773263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1983295"/>
            <a:ext cx="65265" cy="652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2551" y="2193328"/>
            <a:ext cx="65265" cy="652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2551" y="2403360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24395" y="1015946"/>
            <a:ext cx="267589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3955">
              <a:lnSpc>
                <a:spcPct val="125299"/>
              </a:lnSpc>
              <a:spcBef>
                <a:spcPts val="100"/>
              </a:spcBef>
            </a:pP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Volume-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100" spc="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 Protocol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Application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Layer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Attacks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Distributed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 Denial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Service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(DDoS)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Resource</a:t>
            </a:r>
            <a:r>
              <a:rPr sz="11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Exhaustion</a:t>
            </a:r>
            <a:r>
              <a:rPr sz="1100" spc="4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</a:t>
            </a:r>
            <a:endParaRPr sz="1100">
              <a:latin typeface="Arial MT"/>
              <a:cs typeface="Arial MT"/>
            </a:endParaRPr>
          </a:p>
          <a:p>
            <a:pPr marL="12700" marR="1404620">
              <a:lnSpc>
                <a:spcPct val="125299"/>
              </a:lnSpc>
            </a:pP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Amplification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Attacks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Zero-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Day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6" name="object 26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6059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latin typeface="Arial"/>
                <a:cs typeface="Arial"/>
              </a:rPr>
              <a:t>Volume-</a:t>
            </a:r>
            <a:r>
              <a:rPr sz="1200" b="1" spc="-25" dirty="0">
                <a:latin typeface="Arial"/>
                <a:cs typeface="Arial"/>
              </a:rPr>
              <a:t>Based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150251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32356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47294" y="1066798"/>
            <a:ext cx="3830320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9560" marR="325755">
              <a:lnSpc>
                <a:spcPct val="102699"/>
              </a:lnSpc>
              <a:spcBef>
                <a:spcPts val="5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UDP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number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UDP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packets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random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ports,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consuming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resources.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ICMP</a:t>
            </a:r>
            <a:r>
              <a:rPr sz="1100" b="1" spc="4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flood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ICMP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Echo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Request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packets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overwhelm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target.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ICMP</a:t>
            </a:r>
            <a:r>
              <a:rPr sz="11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(Internet</a:t>
            </a:r>
            <a:r>
              <a:rPr sz="11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Control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sz="11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Protocol)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Arial MT"/>
                <a:cs typeface="Arial MT"/>
              </a:rPr>
              <a:t>packets</a:t>
            </a:r>
            <a:r>
              <a:rPr sz="11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1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crucial for </a:t>
            </a:r>
            <a:r>
              <a:rPr sz="1100" spc="-35" dirty="0">
                <a:solidFill>
                  <a:srgbClr val="FF0000"/>
                </a:solidFill>
                <a:latin typeface="Arial MT"/>
                <a:cs typeface="Arial MT"/>
              </a:rPr>
              <a:t>network</a:t>
            </a:r>
            <a:r>
              <a:rPr sz="11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Arial MT"/>
                <a:cs typeface="Arial MT"/>
              </a:rPr>
              <a:t>operations</a:t>
            </a:r>
            <a:r>
              <a:rPr sz="11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diagnostics.</a:t>
            </a:r>
            <a:endParaRPr sz="1100">
              <a:latin typeface="Arial MT"/>
              <a:cs typeface="Arial MT"/>
            </a:endParaRPr>
          </a:p>
          <a:p>
            <a:pPr marL="12700" marR="170180">
              <a:lnSpc>
                <a:spcPct val="102600"/>
              </a:lnSpc>
            </a:pP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Major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Arial MT"/>
                <a:cs typeface="Arial MT"/>
              </a:rPr>
              <a:t>Operations:</a:t>
            </a:r>
            <a:r>
              <a:rPr sz="110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Arial MT"/>
                <a:cs typeface="Arial MT"/>
              </a:rPr>
              <a:t>Error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Arial MT"/>
                <a:cs typeface="Arial MT"/>
              </a:rPr>
              <a:t>Reporting,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Arial MT"/>
                <a:cs typeface="Arial MT"/>
              </a:rPr>
              <a:t>Network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Arial MT"/>
                <a:cs typeface="Arial MT"/>
              </a:rPr>
              <a:t>Diagnostics,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Arial MT"/>
                <a:cs typeface="Arial MT"/>
              </a:rPr>
              <a:t>Flow 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Control,</a:t>
            </a:r>
            <a:r>
              <a:rPr sz="11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Arial MT"/>
                <a:cs typeface="Arial MT"/>
              </a:rPr>
              <a:t>Network</a:t>
            </a:r>
            <a:r>
              <a:rPr sz="11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Management.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020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Arial"/>
                <a:cs typeface="Arial"/>
              </a:rPr>
              <a:t>Protocol</a:t>
            </a:r>
            <a:r>
              <a:rPr sz="1200" b="1" spc="2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25575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807679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395" y="1342122"/>
            <a:ext cx="353441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1623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SYN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14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Exploits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TCP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handshake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sending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SYN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completing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handshake.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Ping</a:t>
            </a:r>
            <a:r>
              <a:rPr sz="1100" b="1" spc="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of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Death: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maliciously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crafted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ping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packets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that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overflow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memory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buffers.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8154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Application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Layer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25575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807679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395" y="1342122"/>
            <a:ext cx="346202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HTTP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Sends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number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HTTP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requests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exhaust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resources.</a:t>
            </a:r>
            <a:endParaRPr sz="1100">
              <a:latin typeface="Arial MT"/>
              <a:cs typeface="Arial MT"/>
            </a:endParaRPr>
          </a:p>
          <a:p>
            <a:pPr marL="12700" marR="291465">
              <a:lnSpc>
                <a:spcPct val="102699"/>
              </a:lnSpc>
              <a:spcBef>
                <a:spcPts val="300"/>
              </a:spcBef>
            </a:pPr>
            <a:r>
              <a:rPr sz="1100" b="1" spc="-55" dirty="0">
                <a:solidFill>
                  <a:srgbClr val="191933"/>
                </a:solidFill>
                <a:latin typeface="Arial"/>
                <a:cs typeface="Arial"/>
              </a:rPr>
              <a:t>Slowloris: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Holds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connections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open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partial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HTTP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headers,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consuming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server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resources.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39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-9329"/>
            <a:ext cx="44697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15285" algn="l"/>
              </a:tabLst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2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Threats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4" name="object 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Distributed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Denial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Service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(DDoS)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  <p:sp>
        <p:nvSpPr>
          <p:cNvPr id="7" name="object 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2551" y="876960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4395" y="793507"/>
            <a:ext cx="336422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Botnet-</a:t>
            </a: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Based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 Attacks: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191933"/>
                </a:solidFill>
                <a:latin typeface="Arial MT"/>
                <a:cs typeface="Arial MT"/>
              </a:rPr>
              <a:t>Uses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network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compromised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devices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launch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coordinated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8830" y="1281320"/>
            <a:ext cx="3110411" cy="116636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0351" y="2569100"/>
            <a:ext cx="2647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6699"/>
                </a:solidFill>
                <a:latin typeface="Arial MT"/>
                <a:cs typeface="Arial MT"/>
              </a:rPr>
              <a:t>Figure:</a:t>
            </a:r>
            <a:r>
              <a:rPr sz="1000" spc="10" dirty="0">
                <a:solidFill>
                  <a:srgbClr val="336699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191933"/>
                </a:solidFill>
                <a:latin typeface="Arial MT"/>
                <a:cs typeface="Arial MT"/>
              </a:rPr>
              <a:t>Diagram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illustrating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191933"/>
                </a:solidFill>
                <a:latin typeface="Arial MT"/>
                <a:cs typeface="Arial MT"/>
              </a:rPr>
              <a:t>Botnet-</a:t>
            </a:r>
            <a:r>
              <a:rPr sz="1000" spc="-25" dirty="0">
                <a:solidFill>
                  <a:srgbClr val="191933"/>
                </a:solidFill>
                <a:latin typeface="Arial MT"/>
                <a:cs typeface="Arial MT"/>
              </a:rPr>
              <a:t>based</a:t>
            </a:r>
            <a:r>
              <a:rPr sz="10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91933"/>
                </a:solidFill>
                <a:latin typeface="Arial MT"/>
                <a:cs typeface="Arial MT"/>
              </a:rPr>
              <a:t>attacks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0466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5" dirty="0">
                <a:latin typeface="Arial"/>
                <a:cs typeface="Arial"/>
              </a:rPr>
              <a:t>Resource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Exhaustion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25575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807679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395" y="1342122"/>
            <a:ext cx="328104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51130">
              <a:lnSpc>
                <a:spcPct val="102600"/>
              </a:lnSpc>
              <a:spcBef>
                <a:spcPts val="55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Memory</a:t>
            </a:r>
            <a:r>
              <a:rPr sz="1100" b="1" spc="1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8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Overloads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target’s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memory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with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excessive</a:t>
            </a:r>
            <a:r>
              <a:rPr sz="1100" spc="8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CPU</a:t>
            </a:r>
            <a:r>
              <a:rPr sz="1100" b="1" spc="5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Flood: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191933"/>
                </a:solidFill>
                <a:latin typeface="Arial MT"/>
                <a:cs typeface="Arial MT"/>
              </a:rPr>
              <a:t>Consumes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CPU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191933"/>
                </a:solidFill>
                <a:latin typeface="Arial MT"/>
                <a:cs typeface="Arial MT"/>
              </a:rPr>
              <a:t>resources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complex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or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computationally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intensive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requests.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5265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latin typeface="Arial"/>
                <a:cs typeface="Arial"/>
              </a:rPr>
              <a:t>Amplification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36344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818462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395" y="1352904"/>
            <a:ext cx="3500754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solidFill>
                  <a:srgbClr val="191933"/>
                </a:solidFill>
                <a:latin typeface="Arial"/>
                <a:cs typeface="Arial"/>
              </a:rPr>
              <a:t>DNS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Amplification: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191933"/>
                </a:solidFill>
                <a:latin typeface="Arial MT"/>
                <a:cs typeface="Arial MT"/>
              </a:rPr>
              <a:t>Uses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open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DNS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resolvers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flood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the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target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large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responses.</a:t>
            </a:r>
            <a:endParaRPr sz="1100">
              <a:latin typeface="Arial MT"/>
              <a:cs typeface="Arial MT"/>
            </a:endParaRPr>
          </a:p>
          <a:p>
            <a:pPr marL="12700" marR="161290">
              <a:lnSpc>
                <a:spcPct val="102600"/>
              </a:lnSpc>
              <a:spcBef>
                <a:spcPts val="300"/>
              </a:spcBef>
            </a:pPr>
            <a:r>
              <a:rPr sz="1100" b="1" spc="65" dirty="0">
                <a:solidFill>
                  <a:srgbClr val="191933"/>
                </a:solidFill>
                <a:latin typeface="Arial"/>
                <a:cs typeface="Arial"/>
              </a:rPr>
              <a:t>NTP</a:t>
            </a:r>
            <a:r>
              <a:rPr sz="1100" b="1" spc="7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Amplification:</a:t>
            </a:r>
            <a:r>
              <a:rPr sz="1100" b="1" spc="1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191933"/>
                </a:solidFill>
                <a:latin typeface="Arial MT"/>
                <a:cs typeface="Arial MT"/>
              </a:rPr>
              <a:t>Uses</a:t>
            </a:r>
            <a:r>
              <a:rPr sz="11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NTP</a:t>
            </a:r>
            <a:r>
              <a:rPr sz="11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servers</a:t>
            </a:r>
            <a:r>
              <a:rPr sz="11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generate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high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volumes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traffic.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256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Zero-Day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78419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4395" y="1494966"/>
            <a:ext cx="312737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Exploit</a:t>
            </a:r>
            <a:r>
              <a:rPr sz="1100" b="1" spc="-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91933"/>
                </a:solidFill>
                <a:latin typeface="Arial"/>
                <a:cs typeface="Arial"/>
              </a:rPr>
              <a:t>Unknown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Vulnerabilities: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191933"/>
                </a:solidFill>
                <a:latin typeface="Arial MT"/>
                <a:cs typeface="Arial MT"/>
              </a:rPr>
              <a:t>Uses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unknown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or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unpatched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vulnerabilities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launch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attacks.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24942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Man-in-the-</a:t>
            </a:r>
            <a:r>
              <a:rPr sz="1200" b="1" dirty="0">
                <a:latin typeface="Arial"/>
                <a:cs typeface="Arial"/>
              </a:rPr>
              <a:t>Middle</a:t>
            </a:r>
            <a:r>
              <a:rPr sz="1200" b="1" spc="100" dirty="0">
                <a:latin typeface="Arial"/>
                <a:cs typeface="Arial"/>
              </a:rPr>
              <a:t> (MitM)</a:t>
            </a:r>
            <a:r>
              <a:rPr sz="1200" b="1" spc="1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Attacks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82470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96457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2346680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47294" y="944827"/>
            <a:ext cx="3914140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33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Man-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in-the-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Middle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attack,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attacker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intercepts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and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potentially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alters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communication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between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two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parties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without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their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knowledge.</a:t>
            </a:r>
            <a:r>
              <a:rPr sz="1100" spc="9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Common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techniques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include:</a:t>
            </a:r>
            <a:endParaRPr sz="1100">
              <a:latin typeface="Arial MT"/>
              <a:cs typeface="Arial MT"/>
            </a:endParaRPr>
          </a:p>
          <a:p>
            <a:pPr marL="289560" marR="483870">
              <a:lnSpc>
                <a:spcPct val="102600"/>
              </a:lnSpc>
              <a:spcBef>
                <a:spcPts val="300"/>
              </a:spcBef>
            </a:pPr>
            <a:r>
              <a:rPr sz="1100" b="1" spc="-55" dirty="0">
                <a:solidFill>
                  <a:srgbClr val="191933"/>
                </a:solidFill>
                <a:latin typeface="Arial"/>
                <a:cs typeface="Arial"/>
              </a:rPr>
              <a:t>Eavesdropping:</a:t>
            </a:r>
            <a:r>
              <a:rPr sz="1100" b="1" spc="13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Intercepting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communications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3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gain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information.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b="1" spc="-80" dirty="0">
                <a:solidFill>
                  <a:srgbClr val="191933"/>
                </a:solidFill>
                <a:latin typeface="Arial"/>
                <a:cs typeface="Arial"/>
              </a:rPr>
              <a:t>Session</a:t>
            </a:r>
            <a:r>
              <a:rPr sz="1100" b="1" spc="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Hijacking:</a:t>
            </a:r>
            <a:r>
              <a:rPr sz="1100" b="1" spc="10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Taking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over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a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web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191933"/>
                </a:solidFill>
                <a:latin typeface="Arial MT"/>
                <a:cs typeface="Arial MT"/>
              </a:rPr>
              <a:t>session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impersonate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user.</a:t>
            </a:r>
            <a:endParaRPr sz="1100">
              <a:latin typeface="Arial MT"/>
              <a:cs typeface="Arial MT"/>
            </a:endParaRPr>
          </a:p>
          <a:p>
            <a:pPr marL="289560" marR="31750">
              <a:lnSpc>
                <a:spcPct val="102600"/>
              </a:lnSpc>
              <a:spcBef>
                <a:spcPts val="300"/>
              </a:spcBef>
            </a:pPr>
            <a:r>
              <a:rPr sz="1100" b="1" spc="-25" dirty="0">
                <a:solidFill>
                  <a:srgbClr val="191933"/>
                </a:solidFill>
                <a:latin typeface="Arial"/>
                <a:cs typeface="Arial"/>
              </a:rPr>
              <a:t>SSL</a:t>
            </a:r>
            <a:r>
              <a:rPr sz="1100" b="1" spc="2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Stripping:</a:t>
            </a:r>
            <a:r>
              <a:rPr sz="1100" b="1" spc="9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Downgrading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a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secure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HTTPS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connection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to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unencrypted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HTTP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connection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intercept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0750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latin typeface="Arial"/>
                <a:cs typeface="Arial"/>
              </a:rPr>
              <a:t>Insider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Threats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593240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975345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2357450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47294" y="955610"/>
            <a:ext cx="3905885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8735">
              <a:lnSpc>
                <a:spcPct val="102600"/>
              </a:lnSpc>
              <a:spcBef>
                <a:spcPts val="55"/>
              </a:spcBef>
            </a:pP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Insider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threats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involve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malicious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or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negligent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actions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by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individuals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within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an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that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compromise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security.</a:t>
            </a:r>
            <a:r>
              <a:rPr sz="1100" spc="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These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threats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can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come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from:</a:t>
            </a:r>
            <a:endParaRPr sz="1100">
              <a:latin typeface="Arial MT"/>
              <a:cs typeface="Arial MT"/>
            </a:endParaRPr>
          </a:p>
          <a:p>
            <a:pPr marL="289560" marR="62865">
              <a:lnSpc>
                <a:spcPct val="102699"/>
              </a:lnSpc>
              <a:spcBef>
                <a:spcPts val="300"/>
              </a:spcBef>
            </a:pPr>
            <a:r>
              <a:rPr sz="1100" b="1" spc="-35" dirty="0">
                <a:solidFill>
                  <a:srgbClr val="191933"/>
                </a:solidFill>
                <a:latin typeface="Arial"/>
                <a:cs typeface="Arial"/>
              </a:rPr>
              <a:t>Disgruntled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Employees:</a:t>
            </a:r>
            <a:r>
              <a:rPr sz="1100" b="1" spc="11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Individuals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who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91933"/>
                </a:solidFill>
                <a:latin typeface="Arial MT"/>
                <a:cs typeface="Arial MT"/>
              </a:rPr>
              <a:t>intentionally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cause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harm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 the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organization.</a:t>
            </a:r>
            <a:endParaRPr sz="1100">
              <a:latin typeface="Arial MT"/>
              <a:cs typeface="Arial MT"/>
            </a:endParaRPr>
          </a:p>
          <a:p>
            <a:pPr marL="289560" marR="309880">
              <a:lnSpc>
                <a:spcPct val="102600"/>
              </a:lnSpc>
              <a:spcBef>
                <a:spcPts val="300"/>
              </a:spcBef>
            </a:pPr>
            <a:r>
              <a:rPr sz="1100" b="1" spc="-20" dirty="0">
                <a:solidFill>
                  <a:srgbClr val="191933"/>
                </a:solidFill>
                <a:latin typeface="Arial"/>
                <a:cs typeface="Arial"/>
              </a:rPr>
              <a:t>Negligent</a:t>
            </a:r>
            <a:r>
              <a:rPr sz="1100" b="1" spc="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Employees:</a:t>
            </a:r>
            <a:r>
              <a:rPr sz="1100" b="1" spc="9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Individuals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who</a:t>
            </a:r>
            <a:r>
              <a:rPr sz="1100" spc="-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unintentionally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expose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the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organization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risks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through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191933"/>
                </a:solidFill>
                <a:latin typeface="Arial MT"/>
                <a:cs typeface="Arial MT"/>
              </a:rPr>
              <a:t>careless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actions.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295"/>
              </a:spcBef>
            </a:pPr>
            <a:r>
              <a:rPr sz="1100" b="1" spc="-55" dirty="0">
                <a:solidFill>
                  <a:srgbClr val="191933"/>
                </a:solidFill>
                <a:latin typeface="Arial"/>
                <a:cs typeface="Arial"/>
              </a:rPr>
              <a:t>Compromised</a:t>
            </a:r>
            <a:r>
              <a:rPr sz="1100" b="1" spc="45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191933"/>
                </a:solidFill>
                <a:latin typeface="Arial"/>
                <a:cs typeface="Arial"/>
              </a:rPr>
              <a:t>Accounts:</a:t>
            </a:r>
            <a:r>
              <a:rPr sz="1100" b="1" spc="12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191933"/>
                </a:solidFill>
                <a:latin typeface="Arial MT"/>
                <a:cs typeface="Arial MT"/>
              </a:rPr>
              <a:t>Employee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accounts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that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have</a:t>
            </a:r>
            <a:r>
              <a:rPr sz="1100" spc="2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been </a:t>
            </a:r>
            <a:r>
              <a:rPr sz="1100" spc="-70" dirty="0">
                <a:solidFill>
                  <a:srgbClr val="191933"/>
                </a:solidFill>
                <a:latin typeface="Arial MT"/>
                <a:cs typeface="Arial MT"/>
              </a:rPr>
              <a:t>hacked</a:t>
            </a:r>
            <a:r>
              <a:rPr sz="1100" spc="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191933"/>
                </a:solidFill>
                <a:latin typeface="Arial MT"/>
                <a:cs typeface="Arial MT"/>
              </a:rPr>
              <a:t>used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to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191933"/>
                </a:solidFill>
                <a:latin typeface="Arial MT"/>
                <a:cs typeface="Arial MT"/>
              </a:rPr>
              <a:t>access</a:t>
            </a:r>
            <a:r>
              <a:rPr sz="1100" spc="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sensitive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information.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300" y="207375"/>
            <a:ext cx="10293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Best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Practices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311198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521231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731264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1941296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2551" y="2151329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24395" y="1183967"/>
            <a:ext cx="188404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5125">
              <a:lnSpc>
                <a:spcPct val="125299"/>
              </a:lnSpc>
              <a:spcBef>
                <a:spcPts val="100"/>
              </a:spcBef>
            </a:pPr>
            <a:r>
              <a:rPr sz="1100" spc="-100" dirty="0">
                <a:solidFill>
                  <a:srgbClr val="191933"/>
                </a:solidFill>
                <a:latin typeface="Arial MT"/>
                <a:cs typeface="Arial MT"/>
              </a:rPr>
              <a:t>Use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Strong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Passwords </a:t>
            </a:r>
            <a:r>
              <a:rPr sz="1100" spc="-60" dirty="0">
                <a:solidFill>
                  <a:srgbClr val="191933"/>
                </a:solidFill>
                <a:latin typeface="Arial MT"/>
                <a:cs typeface="Arial MT"/>
              </a:rPr>
              <a:t>Regular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Software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Updates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Firewalls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Antivirus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Software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Data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Encryption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191933"/>
                </a:solidFill>
                <a:latin typeface="Arial MT"/>
                <a:cs typeface="Arial MT"/>
              </a:rPr>
              <a:t>Awareness</a:t>
            </a:r>
            <a:r>
              <a:rPr sz="1100" spc="2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Training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12014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latin typeface="Arial"/>
                <a:cs typeface="Arial"/>
              </a:rPr>
              <a:t>Emerging</a:t>
            </a:r>
            <a:r>
              <a:rPr sz="1200" b="1" spc="2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Trends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392123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602155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12188"/>
            <a:ext cx="65265" cy="652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2551" y="2022221"/>
            <a:ext cx="65265" cy="6526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24395" y="1264904"/>
            <a:ext cx="241300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4955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AI </a:t>
            </a:r>
            <a:r>
              <a:rPr sz="1100" spc="-45" dirty="0">
                <a:solidFill>
                  <a:srgbClr val="191933"/>
                </a:solidFill>
                <a:latin typeface="Arial MT"/>
                <a:cs typeface="Arial MT"/>
              </a:rPr>
              <a:t>and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Machine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Learning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Security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Zero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Trust</a:t>
            </a:r>
            <a:r>
              <a:rPr sz="1100" spc="-6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Architecture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Cloud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Security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Privacy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91933"/>
                </a:solidFill>
                <a:latin typeface="Arial MT"/>
                <a:cs typeface="Arial MT"/>
              </a:rPr>
              <a:t>Regulations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(e.g.,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GDPR,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CCPA)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675005" cy="41275"/>
            <a:chOff x="3565829" y="105552"/>
            <a:chExt cx="675005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7708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70" dirty="0">
                <a:latin typeface="Arial"/>
                <a:cs typeface="Arial"/>
              </a:rPr>
              <a:t>Conclusion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51" y="1479219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551" y="1689252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551" y="189928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24395" y="1351989"/>
            <a:ext cx="200152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Summary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Key</a:t>
            </a:r>
            <a:r>
              <a:rPr sz="1100" spc="-1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Points </a:t>
            </a:r>
            <a:r>
              <a:rPr sz="1100" spc="-40" dirty="0">
                <a:solidFill>
                  <a:srgbClr val="191933"/>
                </a:solidFill>
                <a:latin typeface="Arial MT"/>
                <a:cs typeface="Arial MT"/>
              </a:rPr>
              <a:t>Importance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of</a:t>
            </a:r>
            <a:r>
              <a:rPr sz="1100" spc="1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91933"/>
                </a:solidFill>
                <a:latin typeface="Arial MT"/>
                <a:cs typeface="Arial MT"/>
              </a:rPr>
              <a:t>Staying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91933"/>
                </a:solidFill>
                <a:latin typeface="Arial MT"/>
                <a:cs typeface="Arial MT"/>
              </a:rPr>
              <a:t>Informed </a:t>
            </a:r>
            <a:r>
              <a:rPr sz="1100" spc="-25" dirty="0">
                <a:solidFill>
                  <a:srgbClr val="191933"/>
                </a:solidFill>
                <a:latin typeface="Arial MT"/>
                <a:cs typeface="Arial MT"/>
              </a:rPr>
              <a:t>Future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91933"/>
                </a:solidFill>
                <a:latin typeface="Arial MT"/>
                <a:cs typeface="Arial MT"/>
              </a:rPr>
              <a:t>Directions</a:t>
            </a:r>
            <a:r>
              <a:rPr sz="1100" spc="5" dirty="0">
                <a:solidFill>
                  <a:srgbClr val="1919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91933"/>
                </a:solidFill>
                <a:latin typeface="Arial MT"/>
                <a:cs typeface="Arial MT"/>
              </a:rPr>
              <a:t>in </a:t>
            </a:r>
            <a:r>
              <a:rPr sz="1100" spc="-55" dirty="0">
                <a:solidFill>
                  <a:srgbClr val="191933"/>
                </a:solidFill>
                <a:latin typeface="Arial MT"/>
                <a:cs typeface="Arial MT"/>
              </a:rPr>
              <a:t>Cybersecurity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516" y="105552"/>
            <a:ext cx="2894330" cy="41275"/>
            <a:chOff x="168516" y="105552"/>
            <a:chExt cx="2894330" cy="41275"/>
          </a:xfrm>
        </p:grpSpPr>
        <p:sp>
          <p:nvSpPr>
            <p:cNvPr id="3" name="object 3"/>
            <p:cNvSpPr/>
            <p:nvPr/>
          </p:nvSpPr>
          <p:spPr>
            <a:xfrm>
              <a:off x="484238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63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285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852" y="105561"/>
              <a:ext cx="1578563" cy="41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00" y="-9329"/>
            <a:ext cx="1965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3" action="ppaction://hlinksldjump"/>
              </a:rPr>
              <a:t>Syllabus</a:t>
            </a:r>
            <a:r>
              <a:rPr sz="600" spc="43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sz="600" spc="260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Key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5" action="ppaction://hlinksldjump"/>
              </a:rPr>
              <a:t>Concepts</a:t>
            </a:r>
            <a:r>
              <a:rPr sz="600" spc="254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Types</a:t>
            </a:r>
            <a:r>
              <a:rPr sz="600" spc="2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sz="600" spc="15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6" action="ppaction://hlinksldjump"/>
              </a:rPr>
              <a:t>Threats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5829" y="105552"/>
            <a:ext cx="722630" cy="41275"/>
            <a:chOff x="3565829" y="105552"/>
            <a:chExt cx="722630" cy="41275"/>
          </a:xfrm>
        </p:grpSpPr>
        <p:sp>
          <p:nvSpPr>
            <p:cNvPr id="9" name="object 9"/>
            <p:cNvSpPr/>
            <p:nvPr/>
          </p:nvSpPr>
          <p:spPr>
            <a:xfrm>
              <a:off x="3568369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98B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871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2277" y="1080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8533" y="-9329"/>
            <a:ext cx="1566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Best</a:t>
            </a:r>
            <a:r>
              <a:rPr sz="600" spc="5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7" action="ppaction://hlinksldjump"/>
              </a:rPr>
              <a:t>Practices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Emerging</a:t>
            </a:r>
            <a:r>
              <a:rPr sz="600" spc="1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98B2CC"/>
                </a:solidFill>
                <a:latin typeface="Arial MT"/>
                <a:cs typeface="Arial MT"/>
                <a:hlinkClick r:id="rId8" action="ppaction://hlinksldjump"/>
              </a:rPr>
              <a:t>Trends</a:t>
            </a:r>
            <a:r>
              <a:rPr sz="600" spc="229" dirty="0">
                <a:solidFill>
                  <a:srgbClr val="98B2CC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05561"/>
            <a:ext cx="4608195" cy="321310"/>
            <a:chOff x="0" y="105561"/>
            <a:chExt cx="4608195" cy="3213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05561"/>
              <a:ext cx="4608004" cy="128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230505"/>
              <a:ext cx="4608195" cy="196850"/>
            </a:xfrm>
            <a:custGeom>
              <a:avLst/>
              <a:gdLst/>
              <a:ahLst/>
              <a:cxnLst/>
              <a:rect l="l" t="t" r="r" b="b"/>
              <a:pathLst>
                <a:path w="4608195" h="196850">
                  <a:moveTo>
                    <a:pt x="4608004" y="0"/>
                  </a:moveTo>
                  <a:lnTo>
                    <a:pt x="0" y="0"/>
                  </a:lnTo>
                  <a:lnTo>
                    <a:pt x="0" y="196278"/>
                  </a:lnTo>
                  <a:lnTo>
                    <a:pt x="4608004" y="196278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300" y="207375"/>
            <a:ext cx="7067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-34" y="425045"/>
            <a:ext cx="4608195" cy="34925"/>
          </a:xfrm>
          <a:custGeom>
            <a:avLst/>
            <a:gdLst/>
            <a:ahLst/>
            <a:cxnLst/>
            <a:rect l="l" t="t" r="r" b="b"/>
            <a:pathLst>
              <a:path w="4608195" h="34925">
                <a:moveTo>
                  <a:pt x="4608060" y="0"/>
                </a:moveTo>
                <a:lnTo>
                  <a:pt x="0" y="0"/>
                </a:lnTo>
                <a:lnTo>
                  <a:pt x="0" y="34794"/>
                </a:lnTo>
                <a:lnTo>
                  <a:pt x="4608060" y="34794"/>
                </a:lnTo>
                <a:lnTo>
                  <a:pt x="46080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95208" y="1556205"/>
            <a:ext cx="10179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91933"/>
                </a:solidFill>
                <a:latin typeface="Arial"/>
                <a:cs typeface="Arial"/>
              </a:rPr>
              <a:t>Any</a:t>
            </a:r>
            <a:r>
              <a:rPr sz="1100" b="1" spc="-30" dirty="0">
                <a:solidFill>
                  <a:srgbClr val="191933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191933"/>
                </a:solidFill>
                <a:latin typeface="Arial"/>
                <a:cs typeface="Arial"/>
              </a:rPr>
              <a:t>Questions?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3225800" cy="109855"/>
            </a:xfrm>
            <a:custGeom>
              <a:avLst/>
              <a:gdLst/>
              <a:ahLst/>
              <a:cxnLst/>
              <a:rect l="l" t="t" r="r" b="b"/>
              <a:pathLst>
                <a:path w="3225800" h="109854">
                  <a:moveTo>
                    <a:pt x="322558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3225584" y="109651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6348"/>
              <a:ext cx="1383030" cy="109855"/>
            </a:xfrm>
            <a:custGeom>
              <a:avLst/>
              <a:gdLst/>
              <a:ahLst/>
              <a:cxnLst/>
              <a:rect l="l" t="t" r="r" b="b"/>
              <a:pathLst>
                <a:path w="1383029" h="109854">
                  <a:moveTo>
                    <a:pt x="1382420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382420" y="109651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49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9731EF4AC17418DD61BA71806550D" ma:contentTypeVersion="6" ma:contentTypeDescription="Create a new document." ma:contentTypeScope="" ma:versionID="17510bbf7b7796fcc5ac5b4f5fa94b3b">
  <xsd:schema xmlns:xsd="http://www.w3.org/2001/XMLSchema" xmlns:xs="http://www.w3.org/2001/XMLSchema" xmlns:p="http://schemas.microsoft.com/office/2006/metadata/properties" xmlns:ns3="402dcb60-90af-4779-b57d-1d68dc2d6925" targetNamespace="http://schemas.microsoft.com/office/2006/metadata/properties" ma:root="true" ma:fieldsID="469a90975eca7d294ccea0263b9fc331" ns3:_="">
    <xsd:import namespace="402dcb60-90af-4779-b57d-1d68dc2d69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dcb60-90af-4779-b57d-1d68dc2d69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2dcb60-90af-4779-b57d-1d68dc2d6925" xsi:nil="true"/>
  </documentManagement>
</p:properties>
</file>

<file path=customXml/itemProps1.xml><?xml version="1.0" encoding="utf-8"?>
<ds:datastoreItem xmlns:ds="http://schemas.openxmlformats.org/officeDocument/2006/customXml" ds:itemID="{B7BE9626-7FB2-4792-B63B-D9E2FC1DA9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2dcb60-90af-4779-b57d-1d68dc2d6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5B02C-0BAC-4CEC-9A62-72A80348FA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C4B40-E92E-41DB-AD6D-6A73B849BE6E}">
  <ds:schemaRefs>
    <ds:schemaRef ds:uri="402dcb60-90af-4779-b57d-1d68dc2d6925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3853</Words>
  <Application>Microsoft Office PowerPoint</Application>
  <PresentationFormat>Custom</PresentationFormat>
  <Paragraphs>611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Arial</vt:lpstr>
      <vt:lpstr>Arial MT</vt:lpstr>
      <vt:lpstr>Tahoma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Distributed Denial of Service (DDoS) Attacks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</dc:title>
  <dc:creator>Adarsh Kumar  Professor, Systems, School of Computer Science, UPES, Dehradun, Uttrakhand, India  adarsh.kumar@ddn.upes.ac.in</dc:creator>
  <cp:lastModifiedBy>Abhishek Yadav</cp:lastModifiedBy>
  <cp:revision>3</cp:revision>
  <dcterms:created xsi:type="dcterms:W3CDTF">2025-01-07T12:47:49Z</dcterms:created>
  <dcterms:modified xsi:type="dcterms:W3CDTF">2025-02-06T06:18:53Z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2025-01-07T00:00:00Z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  <property fmtid="{D5CDD505-2E9C-101B-9397-08002B2CF9AE}" pid="7" name="ContentTypeId">
    <vt:lpwstr>0x0101003579731EF4AC17418DD61BA71806550D</vt:lpwstr>
  </property>
</Properties>
</file>