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  <p:sldId id="344" r:id="rId92"/>
    <p:sldId id="345" r:id="rId93"/>
    <p:sldId id="346" r:id="rId94"/>
    <p:sldId id="347" r:id="rId95"/>
    <p:sldId id="348" r:id="rId96"/>
    <p:sldId id="349" r:id="rId97"/>
    <p:sldId id="350" r:id="rId98"/>
    <p:sldId id="351" r:id="rId99"/>
    <p:sldId id="352" r:id="rId100"/>
    <p:sldId id="353" r:id="rId101"/>
    <p:sldId id="354" r:id="rId102"/>
    <p:sldId id="355" r:id="rId103"/>
    <p:sldId id="356" r:id="rId104"/>
    <p:sldId id="357" r:id="rId105"/>
    <p:sldId id="358" r:id="rId106"/>
    <p:sldId id="359" r:id="rId107"/>
    <p:sldId id="361" r:id="rId108"/>
    <p:sldId id="362" r:id="rId109"/>
    <p:sldId id="363" r:id="rId110"/>
    <p:sldId id="364" r:id="rId111"/>
    <p:sldId id="372" r:id="rId112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51" d="100"/>
          <a:sy n="151" d="100"/>
        </p:scale>
        <p:origin x="1637" y="8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12" Type="http://schemas.openxmlformats.org/officeDocument/2006/relationships/slide" Target="slides/slide108.xml"/><Relationship Id="rId16" Type="http://schemas.openxmlformats.org/officeDocument/2006/relationships/slide" Target="slides/slide12.xml"/><Relationship Id="rId107" Type="http://schemas.openxmlformats.org/officeDocument/2006/relationships/slide" Target="slides/slide103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113" Type="http://schemas.openxmlformats.org/officeDocument/2006/relationships/presProps" Target="presProps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slide" Target="slides/slide99.xml"/><Relationship Id="rId108" Type="http://schemas.openxmlformats.org/officeDocument/2006/relationships/slide" Target="slides/slide104.xml"/><Relationship Id="rId54" Type="http://schemas.openxmlformats.org/officeDocument/2006/relationships/slide" Target="slides/slide50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6" Type="http://schemas.openxmlformats.org/officeDocument/2006/relationships/slide" Target="slides/slide102.xml"/><Relationship Id="rId114" Type="http://schemas.openxmlformats.org/officeDocument/2006/relationships/viewProps" Target="viewProp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openxmlformats.org/officeDocument/2006/relationships/slide" Target="slides/slide10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slide" Target="slides/slide100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slide" Target="slides/slide106.xml"/><Relationship Id="rId115" Type="http://schemas.openxmlformats.org/officeDocument/2006/relationships/theme" Target="theme/theme1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slide" Target="slides/slide10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3" Type="http://schemas.openxmlformats.org/officeDocument/2006/relationships/customXml" Target="../customXml/item3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116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111" Type="http://schemas.openxmlformats.org/officeDocument/2006/relationships/slide" Target="slides/slide10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5300" y="51013"/>
            <a:ext cx="459105" cy="207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191933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10" dirty="0"/>
              <a:t>Adarsh</a:t>
            </a:r>
            <a:r>
              <a:rPr spc="10" dirty="0"/>
              <a:t> </a:t>
            </a:r>
            <a:r>
              <a:rPr spc="-10" dirty="0"/>
              <a:t>Kumar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10" dirty="0"/>
              <a:t>Adarsh[dot]Kumar[at]ddn[dot]upes[dot]ac[dot]in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  <a:t>‹#›</a:t>
            </a:fld>
            <a:r>
              <a:rPr spc="35" dirty="0"/>
              <a:t> </a:t>
            </a:r>
            <a:r>
              <a:rPr spc="150" dirty="0"/>
              <a:t>/</a:t>
            </a:r>
            <a:r>
              <a:rPr spc="35" dirty="0"/>
              <a:t> </a:t>
            </a:r>
            <a:r>
              <a:rPr spc="-25" dirty="0"/>
              <a:t>93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191933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10" dirty="0"/>
              <a:t>Adarsh</a:t>
            </a:r>
            <a:r>
              <a:rPr spc="10" dirty="0"/>
              <a:t> </a:t>
            </a:r>
            <a:r>
              <a:rPr spc="-10" dirty="0"/>
              <a:t>Kumar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10" dirty="0"/>
              <a:t>Adarsh[dot]Kumar[at]ddn[dot]upes[dot]ac[dot]in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  <a:t>‹#›</a:t>
            </a:fld>
            <a:r>
              <a:rPr spc="35" dirty="0"/>
              <a:t> </a:t>
            </a:r>
            <a:r>
              <a:rPr spc="150" dirty="0"/>
              <a:t>/</a:t>
            </a:r>
            <a:r>
              <a:rPr spc="35" dirty="0"/>
              <a:t> </a:t>
            </a:r>
            <a:r>
              <a:rPr spc="-25" dirty="0"/>
              <a:t>93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10" dirty="0"/>
              <a:t>Adarsh</a:t>
            </a:r>
            <a:r>
              <a:rPr spc="10" dirty="0"/>
              <a:t> </a:t>
            </a:r>
            <a:r>
              <a:rPr spc="-10" dirty="0"/>
              <a:t>Kumar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10" dirty="0"/>
              <a:t>Adarsh[dot]Kumar[at]ddn[dot]upes[dot]ac[dot]in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  <a:t>‹#›</a:t>
            </a:fld>
            <a:r>
              <a:rPr spc="35" dirty="0"/>
              <a:t> </a:t>
            </a:r>
            <a:r>
              <a:rPr spc="150" dirty="0"/>
              <a:t>/</a:t>
            </a:r>
            <a:r>
              <a:rPr spc="35" dirty="0"/>
              <a:t> </a:t>
            </a:r>
            <a:r>
              <a:rPr spc="-25" dirty="0"/>
              <a:t>93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10" dirty="0"/>
              <a:t>Adarsh</a:t>
            </a:r>
            <a:r>
              <a:rPr spc="10" dirty="0"/>
              <a:t> </a:t>
            </a:r>
            <a:r>
              <a:rPr spc="-10" dirty="0"/>
              <a:t>Kumar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10" dirty="0"/>
              <a:t>Adarsh[dot]Kumar[at]ddn[dot]upes[dot]ac[dot]in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  <a:t>‹#›</a:t>
            </a:fld>
            <a:r>
              <a:rPr spc="35" dirty="0"/>
              <a:t> </a:t>
            </a:r>
            <a:r>
              <a:rPr spc="150" dirty="0"/>
              <a:t>/</a:t>
            </a:r>
            <a:r>
              <a:rPr spc="35" dirty="0"/>
              <a:t> </a:t>
            </a:r>
            <a:r>
              <a:rPr spc="-25" dirty="0"/>
              <a:t>93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4608195" cy="3456304"/>
          </a:xfrm>
          <a:custGeom>
            <a:avLst/>
            <a:gdLst/>
            <a:ahLst/>
            <a:cxnLst/>
            <a:rect l="l" t="t" r="r" b="b"/>
            <a:pathLst>
              <a:path w="4608195" h="3456304">
                <a:moveTo>
                  <a:pt x="4608004" y="0"/>
                </a:moveTo>
                <a:lnTo>
                  <a:pt x="0" y="0"/>
                </a:lnTo>
                <a:lnTo>
                  <a:pt x="0" y="3456000"/>
                </a:lnTo>
                <a:lnTo>
                  <a:pt x="4608004" y="3456000"/>
                </a:lnTo>
                <a:lnTo>
                  <a:pt x="4608004" y="0"/>
                </a:lnTo>
                <a:close/>
              </a:path>
            </a:pathLst>
          </a:custGeom>
          <a:solidFill>
            <a:srgbClr val="B2E5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3069083" y="3261575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D6E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989465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EA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167268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EA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3323614" y="3251262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D6E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326044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EA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3620326" y="326396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D6E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353142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EA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3607626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EAF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3878593" y="3251262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D6E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3802393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EA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3878593" y="328936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ln w="7591">
            <a:solidFill>
              <a:srgbClr val="D6EAF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4149573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D6E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4451033" y="3281743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D6E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4423969" y="3255248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D6E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4329112" y="3251262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D6E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10" dirty="0"/>
              <a:t>Adarsh</a:t>
            </a:r>
            <a:r>
              <a:rPr spc="10" dirty="0"/>
              <a:t> </a:t>
            </a:r>
            <a:r>
              <a:rPr spc="-10" dirty="0"/>
              <a:t>Kumar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10" dirty="0"/>
              <a:t>Adarsh[dot]Kumar[at]ddn[dot]upes[dot]ac[dot]in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  <a:t>‹#›</a:t>
            </a:fld>
            <a:r>
              <a:rPr spc="35" dirty="0"/>
              <a:t> </a:t>
            </a:r>
            <a:r>
              <a:rPr spc="150" dirty="0"/>
              <a:t>/</a:t>
            </a:r>
            <a:r>
              <a:rPr spc="35" dirty="0"/>
              <a:t> </a:t>
            </a:r>
            <a:r>
              <a:rPr spc="-25" dirty="0"/>
              <a:t>93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4608195" cy="3456304"/>
          </a:xfrm>
          <a:custGeom>
            <a:avLst/>
            <a:gdLst/>
            <a:ahLst/>
            <a:cxnLst/>
            <a:rect l="l" t="t" r="r" b="b"/>
            <a:pathLst>
              <a:path w="4608195" h="3456304">
                <a:moveTo>
                  <a:pt x="4608004" y="0"/>
                </a:moveTo>
                <a:lnTo>
                  <a:pt x="0" y="0"/>
                </a:lnTo>
                <a:lnTo>
                  <a:pt x="0" y="3456000"/>
                </a:lnTo>
                <a:lnTo>
                  <a:pt x="4608004" y="3456000"/>
                </a:lnTo>
                <a:lnTo>
                  <a:pt x="4608004" y="0"/>
                </a:lnTo>
                <a:close/>
              </a:path>
            </a:pathLst>
          </a:custGeom>
          <a:solidFill>
            <a:srgbClr val="B2E5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3069083" y="3261575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D6E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989465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EA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167268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EA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3323614" y="3251262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D6E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326044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EA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3620326" y="326396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D6E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353142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EA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3607626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EAF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3878593" y="3251262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D6E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3802393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EA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3878593" y="328936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ln w="7591">
            <a:solidFill>
              <a:srgbClr val="D6EAF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4149573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D6E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4451033" y="3281743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D6E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4423969" y="3255248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D6E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4329112" y="3251262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D6E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g object 32"/>
          <p:cNvSpPr/>
          <p:nvPr/>
        </p:nvSpPr>
        <p:spPr>
          <a:xfrm>
            <a:off x="0" y="0"/>
            <a:ext cx="4608195" cy="307340"/>
          </a:xfrm>
          <a:custGeom>
            <a:avLst/>
            <a:gdLst/>
            <a:ahLst/>
            <a:cxnLst/>
            <a:rect l="l" t="t" r="r" b="b"/>
            <a:pathLst>
              <a:path w="4608195" h="307340">
                <a:moveTo>
                  <a:pt x="4608004" y="0"/>
                </a:moveTo>
                <a:lnTo>
                  <a:pt x="0" y="0"/>
                </a:lnTo>
                <a:lnTo>
                  <a:pt x="0" y="307098"/>
                </a:lnTo>
                <a:lnTo>
                  <a:pt x="4608004" y="307098"/>
                </a:lnTo>
                <a:lnTo>
                  <a:pt x="4608004" y="0"/>
                </a:lnTo>
                <a:close/>
              </a:path>
            </a:pathLst>
          </a:custGeom>
          <a:solidFill>
            <a:srgbClr val="33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51013"/>
            <a:ext cx="4199255" cy="207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02932" y="870646"/>
            <a:ext cx="4079240" cy="16300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191933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48615" y="3351784"/>
            <a:ext cx="510552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10" dirty="0"/>
              <a:t>Adarsh</a:t>
            </a:r>
            <a:r>
              <a:rPr spc="10" dirty="0"/>
              <a:t> </a:t>
            </a:r>
            <a:r>
              <a:rPr spc="-10" dirty="0"/>
              <a:t>Kumar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55863" y="3351784"/>
            <a:ext cx="1643392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10" dirty="0"/>
              <a:t>Adarsh[dot]Kumar[at]ddn[dot]upes[dot]ac[dot]in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170187" y="3351784"/>
            <a:ext cx="306704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  <a:t>‹#›</a:t>
            </a:fld>
            <a:r>
              <a:rPr spc="35" dirty="0"/>
              <a:t> </a:t>
            </a:r>
            <a:r>
              <a:rPr spc="150" dirty="0"/>
              <a:t>/</a:t>
            </a:r>
            <a:r>
              <a:rPr spc="35" dirty="0"/>
              <a:t> </a:t>
            </a:r>
            <a:r>
              <a:rPr spc="-25" dirty="0"/>
              <a:t>93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slide" Target="slide10.xml"/><Relationship Id="rId26" Type="http://schemas.openxmlformats.org/officeDocument/2006/relationships/image" Target="../media/image14.png"/><Relationship Id="rId3" Type="http://schemas.openxmlformats.org/officeDocument/2006/relationships/image" Target="../media/image2.png"/><Relationship Id="rId21" Type="http://schemas.openxmlformats.org/officeDocument/2006/relationships/slide" Target="slide23.xml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slide" Target="slide8.xml"/><Relationship Id="rId25" Type="http://schemas.openxmlformats.org/officeDocument/2006/relationships/slide" Target="slide103.xml"/><Relationship Id="rId2" Type="http://schemas.openxmlformats.org/officeDocument/2006/relationships/image" Target="../media/image1.png"/><Relationship Id="rId16" Type="http://schemas.openxmlformats.org/officeDocument/2006/relationships/slide" Target="slide4.xml"/><Relationship Id="rId20" Type="http://schemas.openxmlformats.org/officeDocument/2006/relationships/slide" Target="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slide" Target="slide83.xml"/><Relationship Id="rId5" Type="http://schemas.openxmlformats.org/officeDocument/2006/relationships/image" Target="../media/image4.png"/><Relationship Id="rId15" Type="http://schemas.openxmlformats.org/officeDocument/2006/relationships/slide" Target="slide3.xml"/><Relationship Id="rId23" Type="http://schemas.openxmlformats.org/officeDocument/2006/relationships/slide" Target="slide47.xml"/><Relationship Id="rId10" Type="http://schemas.openxmlformats.org/officeDocument/2006/relationships/image" Target="../media/image9.png"/><Relationship Id="rId19" Type="http://schemas.openxmlformats.org/officeDocument/2006/relationships/slide" Target="slide12.xml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slide" Target="slide2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71.png"/><Relationship Id="rId7" Type="http://schemas.openxmlformats.org/officeDocument/2006/relationships/image" Target="../media/image75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Relationship Id="rId9" Type="http://schemas.openxmlformats.org/officeDocument/2006/relationships/image" Target="../media/image7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3" Type="http://schemas.openxmlformats.org/officeDocument/2006/relationships/image" Target="../media/image83.png"/><Relationship Id="rId7" Type="http://schemas.openxmlformats.org/officeDocument/2006/relationships/image" Target="../media/image87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84.png"/><Relationship Id="rId9" Type="http://schemas.openxmlformats.org/officeDocument/2006/relationships/image" Target="../media/image8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6.png"/><Relationship Id="rId4" Type="http://schemas.openxmlformats.org/officeDocument/2006/relationships/image" Target="../media/image9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2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13" Type="http://schemas.openxmlformats.org/officeDocument/2006/relationships/image" Target="../media/image115.png"/><Relationship Id="rId3" Type="http://schemas.openxmlformats.org/officeDocument/2006/relationships/image" Target="../media/image106.png"/><Relationship Id="rId7" Type="http://schemas.openxmlformats.org/officeDocument/2006/relationships/image" Target="../media/image109.png"/><Relationship Id="rId12" Type="http://schemas.openxmlformats.org/officeDocument/2006/relationships/image" Target="../media/image114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8.png"/><Relationship Id="rId11" Type="http://schemas.openxmlformats.org/officeDocument/2006/relationships/image" Target="../media/image113.png"/><Relationship Id="rId5" Type="http://schemas.openxmlformats.org/officeDocument/2006/relationships/image" Target="../media/image39.png"/><Relationship Id="rId10" Type="http://schemas.openxmlformats.org/officeDocument/2006/relationships/image" Target="../media/image112.png"/><Relationship Id="rId4" Type="http://schemas.openxmlformats.org/officeDocument/2006/relationships/image" Target="../media/image107.png"/><Relationship Id="rId9" Type="http://schemas.openxmlformats.org/officeDocument/2006/relationships/image" Target="../media/image11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9.png"/><Relationship Id="rId4" Type="http://schemas.openxmlformats.org/officeDocument/2006/relationships/image" Target="../media/image11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4.png"/><Relationship Id="rId5" Type="http://schemas.openxmlformats.org/officeDocument/2006/relationships/image" Target="../media/image123.png"/><Relationship Id="rId4" Type="http://schemas.openxmlformats.org/officeDocument/2006/relationships/image" Target="../media/image12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4.png"/><Relationship Id="rId5" Type="http://schemas.openxmlformats.org/officeDocument/2006/relationships/image" Target="../media/image123.png"/><Relationship Id="rId4" Type="http://schemas.openxmlformats.org/officeDocument/2006/relationships/image" Target="../media/image122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6.png"/><Relationship Id="rId4" Type="http://schemas.openxmlformats.org/officeDocument/2006/relationships/image" Target="../media/image125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9.png"/><Relationship Id="rId4" Type="http://schemas.openxmlformats.org/officeDocument/2006/relationships/image" Target="../media/image128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7" Type="http://schemas.openxmlformats.org/officeDocument/2006/relationships/image" Target="../media/image135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4.png"/><Relationship Id="rId5" Type="http://schemas.openxmlformats.org/officeDocument/2006/relationships/image" Target="../media/image133.png"/><Relationship Id="rId4" Type="http://schemas.openxmlformats.org/officeDocument/2006/relationships/image" Target="../media/image132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2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1.png"/><Relationship Id="rId4" Type="http://schemas.openxmlformats.org/officeDocument/2006/relationships/image" Target="../media/image140.pn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4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4.pn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7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7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7.png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png"/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2.png"/><Relationship Id="rId5" Type="http://schemas.openxmlformats.org/officeDocument/2006/relationships/image" Target="../media/image151.png"/><Relationship Id="rId4" Type="http://schemas.openxmlformats.org/officeDocument/2006/relationships/image" Target="../media/image150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png"/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2.png"/><Relationship Id="rId5" Type="http://schemas.openxmlformats.org/officeDocument/2006/relationships/image" Target="../media/image151.png"/><Relationship Id="rId4" Type="http://schemas.openxmlformats.org/officeDocument/2006/relationships/image" Target="../media/image150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png"/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2.png"/><Relationship Id="rId5" Type="http://schemas.openxmlformats.org/officeDocument/2006/relationships/image" Target="../media/image151.png"/><Relationship Id="rId4" Type="http://schemas.openxmlformats.org/officeDocument/2006/relationships/image" Target="../media/image150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3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4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4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4.png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9.png"/><Relationship Id="rId4" Type="http://schemas.openxmlformats.org/officeDocument/2006/relationships/image" Target="../media/image128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png"/><Relationship Id="rId7" Type="http://schemas.openxmlformats.org/officeDocument/2006/relationships/image" Target="../media/image160.png"/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9.png"/><Relationship Id="rId5" Type="http://schemas.openxmlformats.org/officeDocument/2006/relationships/image" Target="../media/image158.png"/><Relationship Id="rId4" Type="http://schemas.openxmlformats.org/officeDocument/2006/relationships/image" Target="../media/image157.png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7.png"/><Relationship Id="rId3" Type="http://schemas.openxmlformats.org/officeDocument/2006/relationships/image" Target="../media/image162.png"/><Relationship Id="rId7" Type="http://schemas.openxmlformats.org/officeDocument/2006/relationships/image" Target="../media/image166.png"/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5.png"/><Relationship Id="rId5" Type="http://schemas.openxmlformats.org/officeDocument/2006/relationships/image" Target="../media/image164.png"/><Relationship Id="rId4" Type="http://schemas.openxmlformats.org/officeDocument/2006/relationships/image" Target="../media/image163.png"/><Relationship Id="rId9" Type="http://schemas.openxmlformats.org/officeDocument/2006/relationships/image" Target="../media/image168.png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2.png"/><Relationship Id="rId13" Type="http://schemas.openxmlformats.org/officeDocument/2006/relationships/image" Target="../media/image177.png"/><Relationship Id="rId3" Type="http://schemas.openxmlformats.org/officeDocument/2006/relationships/image" Target="../media/image96.png"/><Relationship Id="rId7" Type="http://schemas.openxmlformats.org/officeDocument/2006/relationships/image" Target="../media/image171.png"/><Relationship Id="rId12" Type="http://schemas.openxmlformats.org/officeDocument/2006/relationships/image" Target="../media/image176.png"/><Relationship Id="rId17" Type="http://schemas.openxmlformats.org/officeDocument/2006/relationships/image" Target="../media/image181.png"/><Relationship Id="rId2" Type="http://schemas.openxmlformats.org/officeDocument/2006/relationships/image" Target="../media/image40.png"/><Relationship Id="rId16" Type="http://schemas.openxmlformats.org/officeDocument/2006/relationships/image" Target="../media/image1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0.png"/><Relationship Id="rId11" Type="http://schemas.openxmlformats.org/officeDocument/2006/relationships/image" Target="../media/image175.png"/><Relationship Id="rId5" Type="http://schemas.openxmlformats.org/officeDocument/2006/relationships/image" Target="../media/image88.png"/><Relationship Id="rId15" Type="http://schemas.openxmlformats.org/officeDocument/2006/relationships/image" Target="../media/image179.png"/><Relationship Id="rId10" Type="http://schemas.openxmlformats.org/officeDocument/2006/relationships/image" Target="../media/image174.png"/><Relationship Id="rId4" Type="http://schemas.openxmlformats.org/officeDocument/2006/relationships/image" Target="../media/image169.png"/><Relationship Id="rId9" Type="http://schemas.openxmlformats.org/officeDocument/2006/relationships/image" Target="../media/image173.png"/><Relationship Id="rId14" Type="http://schemas.openxmlformats.org/officeDocument/2006/relationships/image" Target="../media/image178.png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183.png"/><Relationship Id="rId7" Type="http://schemas.openxmlformats.org/officeDocument/2006/relationships/image" Target="../media/image123.png"/><Relationship Id="rId2" Type="http://schemas.openxmlformats.org/officeDocument/2006/relationships/image" Target="../media/image18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5.png"/><Relationship Id="rId5" Type="http://schemas.openxmlformats.org/officeDocument/2006/relationships/image" Target="../media/image154.png"/><Relationship Id="rId4" Type="http://schemas.openxmlformats.org/officeDocument/2006/relationships/image" Target="../media/image184.png"/><Relationship Id="rId9" Type="http://schemas.openxmlformats.org/officeDocument/2006/relationships/image" Target="../media/image186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7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8.png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5.png"/><Relationship Id="rId13" Type="http://schemas.openxmlformats.org/officeDocument/2006/relationships/image" Target="../media/image200.png"/><Relationship Id="rId3" Type="http://schemas.openxmlformats.org/officeDocument/2006/relationships/image" Target="../media/image190.png"/><Relationship Id="rId7" Type="http://schemas.openxmlformats.org/officeDocument/2006/relationships/image" Target="../media/image194.png"/><Relationship Id="rId12" Type="http://schemas.openxmlformats.org/officeDocument/2006/relationships/image" Target="../media/image199.png"/><Relationship Id="rId2" Type="http://schemas.openxmlformats.org/officeDocument/2006/relationships/image" Target="../media/image18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3.png"/><Relationship Id="rId11" Type="http://schemas.openxmlformats.org/officeDocument/2006/relationships/image" Target="../media/image198.png"/><Relationship Id="rId5" Type="http://schemas.openxmlformats.org/officeDocument/2006/relationships/image" Target="../media/image192.png"/><Relationship Id="rId10" Type="http://schemas.openxmlformats.org/officeDocument/2006/relationships/image" Target="../media/image197.png"/><Relationship Id="rId4" Type="http://schemas.openxmlformats.org/officeDocument/2006/relationships/image" Target="../media/image191.png"/><Relationship Id="rId9" Type="http://schemas.openxmlformats.org/officeDocument/2006/relationships/image" Target="../media/image196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2.png"/><Relationship Id="rId2" Type="http://schemas.openxmlformats.org/officeDocument/2006/relationships/image" Target="../media/image2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5.png"/><Relationship Id="rId5" Type="http://schemas.openxmlformats.org/officeDocument/2006/relationships/image" Target="../media/image204.png"/><Relationship Id="rId4" Type="http://schemas.openxmlformats.org/officeDocument/2006/relationships/image" Target="../media/image203.png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9.png"/><Relationship Id="rId13" Type="http://schemas.openxmlformats.org/officeDocument/2006/relationships/image" Target="../media/image213.png"/><Relationship Id="rId3" Type="http://schemas.openxmlformats.org/officeDocument/2006/relationships/image" Target="../media/image29.png"/><Relationship Id="rId7" Type="http://schemas.openxmlformats.org/officeDocument/2006/relationships/image" Target="../media/image208.png"/><Relationship Id="rId12" Type="http://schemas.openxmlformats.org/officeDocument/2006/relationships/image" Target="../media/image212.png"/><Relationship Id="rId2" Type="http://schemas.openxmlformats.org/officeDocument/2006/relationships/image" Target="../media/image20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7.png"/><Relationship Id="rId11" Type="http://schemas.openxmlformats.org/officeDocument/2006/relationships/image" Target="../media/image211.png"/><Relationship Id="rId5" Type="http://schemas.openxmlformats.org/officeDocument/2006/relationships/image" Target="../media/image77.png"/><Relationship Id="rId15" Type="http://schemas.openxmlformats.org/officeDocument/2006/relationships/image" Target="../media/image214.png"/><Relationship Id="rId10" Type="http://schemas.openxmlformats.org/officeDocument/2006/relationships/image" Target="../media/image106.png"/><Relationship Id="rId4" Type="http://schemas.openxmlformats.org/officeDocument/2006/relationships/image" Target="../media/image76.png"/><Relationship Id="rId9" Type="http://schemas.openxmlformats.org/officeDocument/2006/relationships/image" Target="../media/image210.png"/><Relationship Id="rId14" Type="http://schemas.openxmlformats.org/officeDocument/2006/relationships/image" Target="../media/image108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6.png"/><Relationship Id="rId7" Type="http://schemas.openxmlformats.org/officeDocument/2006/relationships/image" Target="../media/image220.png"/><Relationship Id="rId2" Type="http://schemas.openxmlformats.org/officeDocument/2006/relationships/image" Target="../media/image2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9.png"/><Relationship Id="rId5" Type="http://schemas.openxmlformats.org/officeDocument/2006/relationships/image" Target="../media/image218.png"/><Relationship Id="rId4" Type="http://schemas.openxmlformats.org/officeDocument/2006/relationships/image" Target="../media/image217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221.png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6.png"/><Relationship Id="rId13" Type="http://schemas.openxmlformats.org/officeDocument/2006/relationships/image" Target="../media/image230.png"/><Relationship Id="rId3" Type="http://schemas.openxmlformats.org/officeDocument/2006/relationships/image" Target="../media/image223.png"/><Relationship Id="rId7" Type="http://schemas.openxmlformats.org/officeDocument/2006/relationships/image" Target="../media/image176.png"/><Relationship Id="rId12" Type="http://schemas.openxmlformats.org/officeDocument/2006/relationships/image" Target="../media/image111.png"/><Relationship Id="rId2" Type="http://schemas.openxmlformats.org/officeDocument/2006/relationships/image" Target="../media/image222.png"/><Relationship Id="rId16" Type="http://schemas.openxmlformats.org/officeDocument/2006/relationships/image" Target="../media/image2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5.png"/><Relationship Id="rId11" Type="http://schemas.openxmlformats.org/officeDocument/2006/relationships/image" Target="../media/image229.png"/><Relationship Id="rId5" Type="http://schemas.openxmlformats.org/officeDocument/2006/relationships/image" Target="../media/image172.png"/><Relationship Id="rId15" Type="http://schemas.openxmlformats.org/officeDocument/2006/relationships/image" Target="../media/image207.png"/><Relationship Id="rId10" Type="http://schemas.openxmlformats.org/officeDocument/2006/relationships/image" Target="../media/image228.png"/><Relationship Id="rId4" Type="http://schemas.openxmlformats.org/officeDocument/2006/relationships/image" Target="../media/image224.png"/><Relationship Id="rId9" Type="http://schemas.openxmlformats.org/officeDocument/2006/relationships/image" Target="../media/image227.png"/><Relationship Id="rId14" Type="http://schemas.openxmlformats.org/officeDocument/2006/relationships/image" Target="../media/image77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3.png"/><Relationship Id="rId2" Type="http://schemas.openxmlformats.org/officeDocument/2006/relationships/image" Target="../media/image2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5.png"/><Relationship Id="rId4" Type="http://schemas.openxmlformats.org/officeDocument/2006/relationships/image" Target="../media/image234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7.png"/><Relationship Id="rId2" Type="http://schemas.openxmlformats.org/officeDocument/2006/relationships/image" Target="../media/image23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3.png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8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image" Target="../media/image2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3.png"/><Relationship Id="rId5" Type="http://schemas.openxmlformats.org/officeDocument/2006/relationships/image" Target="../media/image242.png"/><Relationship Id="rId4" Type="http://schemas.openxmlformats.org/officeDocument/2006/relationships/image" Target="../media/image241.png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4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6.png"/><Relationship Id="rId2" Type="http://schemas.openxmlformats.org/officeDocument/2006/relationships/image" Target="../media/image2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9.png"/><Relationship Id="rId5" Type="http://schemas.openxmlformats.org/officeDocument/2006/relationships/image" Target="../media/image248.png"/><Relationship Id="rId4" Type="http://schemas.openxmlformats.org/officeDocument/2006/relationships/image" Target="../media/image247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2.pn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1.png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7.png"/><Relationship Id="rId3" Type="http://schemas.openxmlformats.org/officeDocument/2006/relationships/image" Target="../media/image253.png"/><Relationship Id="rId7" Type="http://schemas.openxmlformats.org/officeDocument/2006/relationships/image" Target="../media/image256.png"/><Relationship Id="rId2" Type="http://schemas.openxmlformats.org/officeDocument/2006/relationships/image" Target="../media/image2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5.png"/><Relationship Id="rId5" Type="http://schemas.openxmlformats.org/officeDocument/2006/relationships/image" Target="../media/image254.png"/><Relationship Id="rId10" Type="http://schemas.openxmlformats.org/officeDocument/2006/relationships/image" Target="../media/image259.png"/><Relationship Id="rId4" Type="http://schemas.openxmlformats.org/officeDocument/2006/relationships/image" Target="../media/image164.png"/><Relationship Id="rId9" Type="http://schemas.openxmlformats.org/officeDocument/2006/relationships/image" Target="../media/image258.png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7743" y="601090"/>
            <a:ext cx="4483735" cy="713740"/>
            <a:chOff x="87743" y="601090"/>
            <a:chExt cx="4483735" cy="713740"/>
          </a:xfrm>
        </p:grpSpPr>
        <p:sp>
          <p:nvSpPr>
            <p:cNvPr id="3" name="object 3"/>
            <p:cNvSpPr/>
            <p:nvPr/>
          </p:nvSpPr>
          <p:spPr>
            <a:xfrm>
              <a:off x="87743" y="601090"/>
              <a:ext cx="4432935" cy="82550"/>
            </a:xfrm>
            <a:custGeom>
              <a:avLst/>
              <a:gdLst/>
              <a:ahLst/>
              <a:cxnLst/>
              <a:rect l="l" t="t" r="r" b="b"/>
              <a:pathLst>
                <a:path w="4432935" h="82550">
                  <a:moveTo>
                    <a:pt x="43817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432566" y="82384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3" y="14922"/>
                  </a:lnTo>
                  <a:lnTo>
                    <a:pt x="4401490" y="4008"/>
                  </a:lnTo>
                  <a:lnTo>
                    <a:pt x="4381765" y="0"/>
                  </a:lnTo>
                  <a:close/>
                </a:path>
              </a:pathLst>
            </a:custGeom>
            <a:solidFill>
              <a:srgbClr val="33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38544" y="664355"/>
              <a:ext cx="4432935" cy="650875"/>
            </a:xfrm>
            <a:custGeom>
              <a:avLst/>
              <a:gdLst/>
              <a:ahLst/>
              <a:cxnLst/>
              <a:rect l="l" t="t" r="r" b="b"/>
              <a:pathLst>
                <a:path w="4432935" h="650875">
                  <a:moveTo>
                    <a:pt x="4432566" y="0"/>
                  </a:moveTo>
                  <a:lnTo>
                    <a:pt x="0" y="0"/>
                  </a:lnTo>
                  <a:lnTo>
                    <a:pt x="0" y="650349"/>
                  </a:lnTo>
                  <a:lnTo>
                    <a:pt x="4432566" y="650349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7743" y="645518"/>
              <a:ext cx="4432935" cy="618490"/>
            </a:xfrm>
            <a:custGeom>
              <a:avLst/>
              <a:gdLst/>
              <a:ahLst/>
              <a:cxnLst/>
              <a:rect l="l" t="t" r="r" b="b"/>
              <a:pathLst>
                <a:path w="4432935" h="618490">
                  <a:moveTo>
                    <a:pt x="4432566" y="0"/>
                  </a:moveTo>
                  <a:lnTo>
                    <a:pt x="0" y="0"/>
                  </a:lnTo>
                  <a:lnTo>
                    <a:pt x="0" y="567585"/>
                  </a:lnTo>
                  <a:lnTo>
                    <a:pt x="4008" y="587310"/>
                  </a:lnTo>
                  <a:lnTo>
                    <a:pt x="14922" y="603463"/>
                  </a:lnTo>
                  <a:lnTo>
                    <a:pt x="31075" y="614377"/>
                  </a:lnTo>
                  <a:lnTo>
                    <a:pt x="50800" y="618385"/>
                  </a:lnTo>
                  <a:lnTo>
                    <a:pt x="4381765" y="618385"/>
                  </a:lnTo>
                  <a:lnTo>
                    <a:pt x="4401490" y="614377"/>
                  </a:lnTo>
                  <a:lnTo>
                    <a:pt x="4417643" y="603463"/>
                  </a:lnTo>
                  <a:lnTo>
                    <a:pt x="4428558" y="587310"/>
                  </a:lnTo>
                  <a:lnTo>
                    <a:pt x="4432566" y="567585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33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38544" y="664355"/>
            <a:ext cx="4432935" cy="65087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R="93980" algn="ctr">
              <a:lnSpc>
                <a:spcPct val="100000"/>
              </a:lnSpc>
              <a:spcBef>
                <a:spcPts val="475"/>
              </a:spcBef>
            </a:pP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WORMS</a:t>
            </a:r>
            <a:endParaRPr sz="1200">
              <a:latin typeface="Arial"/>
              <a:cs typeface="Arial"/>
            </a:endParaRPr>
          </a:p>
          <a:p>
            <a:pPr marR="93345" algn="ctr">
              <a:lnSpc>
                <a:spcPct val="100000"/>
              </a:lnSpc>
              <a:spcBef>
                <a:spcPts val="345"/>
              </a:spcBef>
            </a:pPr>
            <a:r>
              <a:rPr sz="1100" b="1" spc="60" dirty="0">
                <a:solidFill>
                  <a:srgbClr val="FFFFFF"/>
                </a:solidFill>
                <a:latin typeface="Arial"/>
                <a:cs typeface="Arial"/>
              </a:rPr>
              <a:t>UNIT</a:t>
            </a:r>
            <a:r>
              <a:rPr sz="1100" b="1" spc="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FFFFFF"/>
                </a:solidFill>
                <a:latin typeface="Arial"/>
                <a:cs typeface="Arial"/>
              </a:rPr>
              <a:t>II:</a:t>
            </a:r>
            <a:r>
              <a:rPr sz="1100" b="1" spc="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Arial"/>
                <a:cs typeface="Arial"/>
              </a:rPr>
              <a:t>Malware</a:t>
            </a:r>
            <a:r>
              <a:rPr sz="1100" b="1" spc="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b="1" spc="-2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1100" b="1" spc="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Arial"/>
                <a:cs typeface="Arial"/>
              </a:rPr>
              <a:t>Vulnerability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0" name="object 10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4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  <a:t>1</a:t>
            </a:fld>
            <a:r>
              <a:rPr spc="35" dirty="0"/>
              <a:t> </a:t>
            </a:r>
            <a:r>
              <a:rPr spc="150" dirty="0"/>
              <a:t>/</a:t>
            </a:r>
            <a:r>
              <a:rPr spc="35" dirty="0"/>
              <a:t> </a:t>
            </a:r>
            <a:r>
              <a:rPr spc="-25" dirty="0"/>
              <a:t>93</a:t>
            </a: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Table</a:t>
            </a:r>
            <a:r>
              <a:rPr dirty="0"/>
              <a:t> of</a:t>
            </a:r>
            <a:r>
              <a:rPr spc="5" dirty="0"/>
              <a:t> </a:t>
            </a:r>
            <a:r>
              <a:rPr spc="-35" dirty="0"/>
              <a:t>Contents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103" y="726757"/>
            <a:ext cx="160096" cy="16009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3392" y="950556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73392" y="1122629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73392" y="1294701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73392" y="1466773"/>
            <a:ext cx="65265" cy="6526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73392" y="1638858"/>
            <a:ext cx="65265" cy="6526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20166" y="1784184"/>
            <a:ext cx="65265" cy="6526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20166" y="1923364"/>
            <a:ext cx="65265" cy="6526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20166" y="2062543"/>
            <a:ext cx="65265" cy="65265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20166" y="2201722"/>
            <a:ext cx="65265" cy="65265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20166" y="2340902"/>
            <a:ext cx="65265" cy="65265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20166" y="2480081"/>
            <a:ext cx="65265" cy="65265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420166" y="2619260"/>
            <a:ext cx="65265" cy="65265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83565" y="698663"/>
            <a:ext cx="2784475" cy="202183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baseline="6944" dirty="0">
                <a:solidFill>
                  <a:srgbClr val="EAF4F9"/>
                </a:solidFill>
                <a:latin typeface="Arial MT"/>
                <a:cs typeface="Arial MT"/>
              </a:rPr>
              <a:t>1</a:t>
            </a:r>
            <a:r>
              <a:rPr sz="1200" spc="307" baseline="6944" dirty="0">
                <a:solidFill>
                  <a:srgbClr val="EAF4F9"/>
                </a:solidFill>
                <a:latin typeface="Arial MT"/>
                <a:cs typeface="Arial MT"/>
              </a:rPr>
              <a:t>  </a:t>
            </a:r>
            <a:r>
              <a:rPr sz="1100" spc="-20" dirty="0">
                <a:solidFill>
                  <a:srgbClr val="3399CC"/>
                </a:solidFill>
                <a:latin typeface="Tahoma"/>
                <a:cs typeface="Tahoma"/>
                <a:hlinkClick r:id="rId15" action="ppaction://hlinksldjump"/>
              </a:rPr>
              <a:t>Worms</a:t>
            </a:r>
            <a:endParaRPr sz="1100">
              <a:latin typeface="Tahoma"/>
              <a:cs typeface="Tahoma"/>
            </a:endParaRPr>
          </a:p>
          <a:p>
            <a:pPr marL="316230">
              <a:lnSpc>
                <a:spcPct val="100000"/>
              </a:lnSpc>
              <a:spcBef>
                <a:spcPts val="35"/>
              </a:spcBef>
            </a:pPr>
            <a:r>
              <a:rPr sz="1100" spc="-10" dirty="0">
                <a:solidFill>
                  <a:srgbClr val="191933"/>
                </a:solidFill>
                <a:latin typeface="Tahoma"/>
                <a:cs typeface="Tahoma"/>
                <a:hlinkClick r:id="rId15" action="ppaction://hlinksldjump"/>
              </a:rPr>
              <a:t>Introduction</a:t>
            </a:r>
            <a:endParaRPr sz="1100">
              <a:latin typeface="Tahoma"/>
              <a:cs typeface="Tahoma"/>
            </a:endParaRPr>
          </a:p>
          <a:p>
            <a:pPr marL="316230" marR="875665">
              <a:lnSpc>
                <a:spcPct val="102600"/>
              </a:lnSpc>
            </a:pPr>
            <a:r>
              <a:rPr sz="1100" spc="-10" dirty="0">
                <a:solidFill>
                  <a:srgbClr val="191933"/>
                </a:solidFill>
                <a:latin typeface="Tahoma"/>
                <a:cs typeface="Tahoma"/>
                <a:hlinkClick r:id="rId16" action="ppaction://hlinksldjump"/>
              </a:rPr>
              <a:t>Worm’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  <a:hlinkClick r:id="rId16" action="ppaction://hlinksldjump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  <a:hlinkClick r:id="rId16" action="ppaction://hlinksldjump"/>
              </a:rPr>
              <a:t>Characteristics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  <a:hlinkClick r:id="rId17" action="ppaction://hlinksldjump"/>
              </a:rPr>
              <a:t>Worm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  <a:hlinkClick r:id="rId17" action="ppaction://hlinksldjump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  <a:hlinkClick r:id="rId17" action="ppaction://hlinksldjump"/>
              </a:rPr>
              <a:t>Propagation 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  <a:hlinkClick r:id="rId17" action="ppaction://hlinksldjump"/>
              </a:rPr>
              <a:t>Process</a:t>
            </a:r>
            <a:endParaRPr sz="1100">
              <a:latin typeface="Tahoma"/>
              <a:cs typeface="Tahoma"/>
            </a:endParaRPr>
          </a:p>
          <a:p>
            <a:pPr marL="316230" marR="5080">
              <a:lnSpc>
                <a:spcPct val="102699"/>
              </a:lnSpc>
            </a:pPr>
            <a:r>
              <a:rPr sz="1100" spc="-30" dirty="0">
                <a:solidFill>
                  <a:srgbClr val="191933"/>
                </a:solidFill>
                <a:latin typeface="Tahoma"/>
                <a:cs typeface="Tahoma"/>
                <a:hlinkClick r:id="rId18" action="ppaction://hlinksldjump"/>
              </a:rPr>
              <a:t>Prevention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  <a:hlinkClick r:id="rId18" action="ppaction://hlinksldjump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  <a:hlinkClick r:id="rId18" action="ppaction://hlinksldjump"/>
              </a:rPr>
              <a:t>and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  <a:hlinkClick r:id="rId18" action="ppaction://hlinksldjump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  <a:hlinkClick r:id="rId18" action="ppaction://hlinksldjump"/>
              </a:rPr>
              <a:t>Protection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  <a:hlinkClick r:id="rId18" action="ppaction://hlinksldjump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  <a:hlinkClick r:id="rId18" action="ppaction://hlinksldjump"/>
              </a:rPr>
              <a:t>Against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  <a:hlinkClick r:id="rId18" action="ppaction://hlinksldjump"/>
              </a:rPr>
              <a:t> Worms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  <a:hlinkClick r:id="rId19" action="ppaction://hlinksldjump"/>
              </a:rPr>
              <a:t>Detection 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  <a:hlinkClick r:id="rId19" action="ppaction://hlinksldjump"/>
              </a:rPr>
              <a:t>and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  <a:hlinkClick r:id="rId19" action="ppaction://hlinksldjump"/>
              </a:rPr>
              <a:t> 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  <a:hlinkClick r:id="rId19" action="ppaction://hlinksldjump"/>
              </a:rPr>
              <a:t>Prevention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  <a:hlinkClick r:id="rId19" action="ppaction://hlinksldjump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  <a:hlinkClick r:id="rId19" action="ppaction://hlinksldjump"/>
              </a:rPr>
              <a:t>Algorithms</a:t>
            </a:r>
            <a:endParaRPr sz="1100">
              <a:latin typeface="Tahoma"/>
              <a:cs typeface="Tahoma"/>
            </a:endParaRPr>
          </a:p>
          <a:p>
            <a:pPr marL="439420">
              <a:lnSpc>
                <a:spcPts val="1055"/>
              </a:lnSpc>
            </a:pPr>
            <a:r>
              <a:rPr sz="900" spc="-35" dirty="0">
                <a:solidFill>
                  <a:srgbClr val="191933"/>
                </a:solidFill>
                <a:latin typeface="Arial MT"/>
                <a:cs typeface="Arial MT"/>
                <a:hlinkClick r:id="rId20" action="ppaction://hlinksldjump"/>
              </a:rPr>
              <a:t>Signature-</a:t>
            </a:r>
            <a:r>
              <a:rPr sz="900" spc="-20" dirty="0">
                <a:solidFill>
                  <a:srgbClr val="191933"/>
                </a:solidFill>
                <a:latin typeface="Arial MT"/>
                <a:cs typeface="Arial MT"/>
                <a:hlinkClick r:id="rId20" action="ppaction://hlinksldjump"/>
              </a:rPr>
              <a:t>Based</a:t>
            </a:r>
            <a:r>
              <a:rPr sz="900" spc="35" dirty="0">
                <a:solidFill>
                  <a:srgbClr val="191933"/>
                </a:solidFill>
                <a:latin typeface="Arial MT"/>
                <a:cs typeface="Arial MT"/>
                <a:hlinkClick r:id="rId20" action="ppaction://hlinksldjump"/>
              </a:rPr>
              <a:t> </a:t>
            </a:r>
            <a:r>
              <a:rPr sz="900" spc="-20" dirty="0">
                <a:solidFill>
                  <a:srgbClr val="191933"/>
                </a:solidFill>
                <a:latin typeface="Arial MT"/>
                <a:cs typeface="Arial MT"/>
                <a:hlinkClick r:id="rId20" action="ppaction://hlinksldjump"/>
              </a:rPr>
              <a:t>Prevention</a:t>
            </a:r>
            <a:r>
              <a:rPr sz="900" spc="40" dirty="0">
                <a:solidFill>
                  <a:srgbClr val="191933"/>
                </a:solidFill>
                <a:latin typeface="Arial MT"/>
                <a:cs typeface="Arial MT"/>
                <a:hlinkClick r:id="rId20" action="ppaction://hlinksldjump"/>
              </a:rPr>
              <a:t> </a:t>
            </a:r>
            <a:r>
              <a:rPr sz="900" spc="-10" dirty="0">
                <a:solidFill>
                  <a:srgbClr val="191933"/>
                </a:solidFill>
                <a:latin typeface="Arial MT"/>
                <a:cs typeface="Arial MT"/>
                <a:hlinkClick r:id="rId20" action="ppaction://hlinksldjump"/>
              </a:rPr>
              <a:t>Algorithm</a:t>
            </a:r>
            <a:endParaRPr sz="900">
              <a:latin typeface="Arial MT"/>
              <a:cs typeface="Arial MT"/>
            </a:endParaRPr>
          </a:p>
          <a:p>
            <a:pPr marL="439420" marR="743585">
              <a:lnSpc>
                <a:spcPct val="101499"/>
              </a:lnSpc>
            </a:pPr>
            <a:r>
              <a:rPr sz="900" spc="-25" dirty="0">
                <a:solidFill>
                  <a:srgbClr val="191933"/>
                </a:solidFill>
                <a:latin typeface="Arial MT"/>
                <a:cs typeface="Arial MT"/>
                <a:hlinkClick r:id="rId21" action="ppaction://hlinksldjump"/>
              </a:rPr>
              <a:t>Behavioral</a:t>
            </a:r>
            <a:r>
              <a:rPr sz="900" spc="25" dirty="0">
                <a:solidFill>
                  <a:srgbClr val="191933"/>
                </a:solidFill>
                <a:latin typeface="Arial MT"/>
                <a:cs typeface="Arial MT"/>
                <a:hlinkClick r:id="rId21" action="ppaction://hlinksldjump"/>
              </a:rPr>
              <a:t> </a:t>
            </a:r>
            <a:r>
              <a:rPr sz="900" spc="-20" dirty="0">
                <a:solidFill>
                  <a:srgbClr val="191933"/>
                </a:solidFill>
                <a:latin typeface="Arial MT"/>
                <a:cs typeface="Arial MT"/>
                <a:hlinkClick r:id="rId21" action="ppaction://hlinksldjump"/>
              </a:rPr>
              <a:t>Prevention</a:t>
            </a:r>
            <a:r>
              <a:rPr sz="900" spc="30" dirty="0">
                <a:solidFill>
                  <a:srgbClr val="191933"/>
                </a:solidFill>
                <a:latin typeface="Arial MT"/>
                <a:cs typeface="Arial MT"/>
                <a:hlinkClick r:id="rId21" action="ppaction://hlinksldjump"/>
              </a:rPr>
              <a:t> </a:t>
            </a:r>
            <a:r>
              <a:rPr sz="900" spc="-10" dirty="0">
                <a:solidFill>
                  <a:srgbClr val="191933"/>
                </a:solidFill>
                <a:latin typeface="Arial MT"/>
                <a:cs typeface="Arial MT"/>
                <a:hlinkClick r:id="rId21" action="ppaction://hlinksldjump"/>
              </a:rPr>
              <a:t>Algorithm</a:t>
            </a:r>
            <a:r>
              <a:rPr sz="900" spc="-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900" spc="-40" dirty="0">
                <a:solidFill>
                  <a:srgbClr val="191933"/>
                </a:solidFill>
                <a:latin typeface="Arial MT"/>
                <a:cs typeface="Arial MT"/>
                <a:hlinkClick r:id="rId22" action="ppaction://hlinksldjump"/>
              </a:rPr>
              <a:t>Network-</a:t>
            </a:r>
            <a:r>
              <a:rPr sz="900" spc="-20" dirty="0">
                <a:solidFill>
                  <a:srgbClr val="191933"/>
                </a:solidFill>
                <a:latin typeface="Arial MT"/>
                <a:cs typeface="Arial MT"/>
                <a:hlinkClick r:id="rId22" action="ppaction://hlinksldjump"/>
              </a:rPr>
              <a:t>Based</a:t>
            </a:r>
            <a:r>
              <a:rPr sz="900" spc="50" dirty="0">
                <a:solidFill>
                  <a:srgbClr val="191933"/>
                </a:solidFill>
                <a:latin typeface="Arial MT"/>
                <a:cs typeface="Arial MT"/>
                <a:hlinkClick r:id="rId22" action="ppaction://hlinksldjump"/>
              </a:rPr>
              <a:t> </a:t>
            </a:r>
            <a:r>
              <a:rPr sz="900" spc="-10" dirty="0">
                <a:solidFill>
                  <a:srgbClr val="191933"/>
                </a:solidFill>
                <a:latin typeface="Arial MT"/>
                <a:cs typeface="Arial MT"/>
                <a:hlinkClick r:id="rId22" action="ppaction://hlinksldjump"/>
              </a:rPr>
              <a:t>Prevention</a:t>
            </a:r>
            <a:r>
              <a:rPr sz="900" spc="-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191933"/>
                </a:solidFill>
                <a:latin typeface="Arial MT"/>
                <a:cs typeface="Arial MT"/>
                <a:hlinkClick r:id="rId23" action="ppaction://hlinksldjump"/>
              </a:rPr>
              <a:t>Patch</a:t>
            </a:r>
            <a:r>
              <a:rPr sz="900" spc="-35" dirty="0">
                <a:solidFill>
                  <a:srgbClr val="191933"/>
                </a:solidFill>
                <a:latin typeface="Arial MT"/>
                <a:cs typeface="Arial MT"/>
                <a:hlinkClick r:id="rId23" action="ppaction://hlinksldjump"/>
              </a:rPr>
              <a:t> </a:t>
            </a:r>
            <a:r>
              <a:rPr sz="900" spc="-10" dirty="0">
                <a:solidFill>
                  <a:srgbClr val="191933"/>
                </a:solidFill>
                <a:latin typeface="Arial MT"/>
                <a:cs typeface="Arial MT"/>
                <a:hlinkClick r:id="rId23" action="ppaction://hlinksldjump"/>
              </a:rPr>
              <a:t>Management</a:t>
            </a:r>
            <a:endParaRPr sz="900">
              <a:latin typeface="Arial MT"/>
              <a:cs typeface="Arial MT"/>
            </a:endParaRPr>
          </a:p>
          <a:p>
            <a:pPr marL="439420" marR="1225550">
              <a:lnSpc>
                <a:spcPct val="101499"/>
              </a:lnSpc>
            </a:pPr>
            <a:r>
              <a:rPr sz="900" spc="-55" dirty="0">
                <a:solidFill>
                  <a:srgbClr val="191933"/>
                </a:solidFill>
                <a:latin typeface="Arial MT"/>
                <a:cs typeface="Arial MT"/>
                <a:hlinkClick r:id="rId24" action="ppaction://hlinksldjump"/>
              </a:rPr>
              <a:t>Access</a:t>
            </a:r>
            <a:r>
              <a:rPr sz="900" spc="5" dirty="0">
                <a:solidFill>
                  <a:srgbClr val="191933"/>
                </a:solidFill>
                <a:latin typeface="Arial MT"/>
                <a:cs typeface="Arial MT"/>
                <a:hlinkClick r:id="rId24" action="ppaction://hlinksldjump"/>
              </a:rPr>
              <a:t> </a:t>
            </a:r>
            <a:r>
              <a:rPr sz="900" spc="-10" dirty="0">
                <a:solidFill>
                  <a:srgbClr val="191933"/>
                </a:solidFill>
                <a:latin typeface="Arial MT"/>
                <a:cs typeface="Arial MT"/>
                <a:hlinkClick r:id="rId24" action="ppaction://hlinksldjump"/>
              </a:rPr>
              <a:t>Control</a:t>
            </a:r>
            <a:r>
              <a:rPr sz="900" spc="-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191933"/>
                </a:solidFill>
                <a:latin typeface="Arial MT"/>
                <a:cs typeface="Arial MT"/>
                <a:hlinkClick r:id="rId25" action="ppaction://hlinksldjump"/>
              </a:rPr>
              <a:t>Network</a:t>
            </a:r>
            <a:r>
              <a:rPr sz="900" spc="-40" dirty="0">
                <a:solidFill>
                  <a:srgbClr val="191933"/>
                </a:solidFill>
                <a:latin typeface="Arial MT"/>
                <a:cs typeface="Arial MT"/>
                <a:hlinkClick r:id="rId25" action="ppaction://hlinksldjump"/>
              </a:rPr>
              <a:t> </a:t>
            </a:r>
            <a:r>
              <a:rPr sz="900" spc="-30" dirty="0">
                <a:solidFill>
                  <a:srgbClr val="191933"/>
                </a:solidFill>
                <a:latin typeface="Arial MT"/>
                <a:cs typeface="Arial MT"/>
                <a:hlinkClick r:id="rId25" action="ppaction://hlinksldjump"/>
              </a:rPr>
              <a:t>Segmentation</a:t>
            </a:r>
            <a:endParaRPr sz="900">
              <a:latin typeface="Arial MT"/>
              <a:cs typeface="Arial MT"/>
            </a:endParaRPr>
          </a:p>
          <a:p>
            <a:pPr marL="439420">
              <a:lnSpc>
                <a:spcPct val="100000"/>
              </a:lnSpc>
              <a:spcBef>
                <a:spcPts val="15"/>
              </a:spcBef>
            </a:pPr>
            <a:r>
              <a:rPr sz="900" spc="-20" dirty="0">
                <a:solidFill>
                  <a:srgbClr val="191933"/>
                </a:solidFill>
                <a:latin typeface="Arial MT"/>
                <a:cs typeface="Arial MT"/>
                <a:hlinkClick r:id="" action="ppaction://noaction"/>
              </a:rPr>
              <a:t>Least</a:t>
            </a:r>
            <a:r>
              <a:rPr sz="900" dirty="0">
                <a:solidFill>
                  <a:srgbClr val="191933"/>
                </a:solidFill>
                <a:latin typeface="Arial MT"/>
                <a:cs typeface="Arial MT"/>
                <a:hlinkClick r:id="" action="ppaction://noaction"/>
              </a:rPr>
              <a:t> </a:t>
            </a:r>
            <a:r>
              <a:rPr sz="900" spc="-20" dirty="0">
                <a:solidFill>
                  <a:srgbClr val="191933"/>
                </a:solidFill>
                <a:latin typeface="Arial MT"/>
                <a:cs typeface="Arial MT"/>
                <a:hlinkClick r:id="" action="ppaction://noaction"/>
              </a:rPr>
              <a:t>Privilege</a:t>
            </a:r>
            <a:r>
              <a:rPr sz="900" spc="5" dirty="0">
                <a:solidFill>
                  <a:srgbClr val="191933"/>
                </a:solidFill>
                <a:latin typeface="Arial MT"/>
                <a:cs typeface="Arial MT"/>
                <a:hlinkClick r:id="" action="ppaction://noaction"/>
              </a:rPr>
              <a:t> </a:t>
            </a:r>
            <a:r>
              <a:rPr sz="900" spc="-10" dirty="0">
                <a:solidFill>
                  <a:srgbClr val="191933"/>
                </a:solidFill>
                <a:latin typeface="Arial MT"/>
                <a:cs typeface="Arial MT"/>
                <a:hlinkClick r:id="" action="ppaction://noaction"/>
              </a:rPr>
              <a:t>Principle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17" name="object 17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3216351" y="1140507"/>
            <a:ext cx="1299277" cy="1299277"/>
          </a:xfrm>
          <a:prstGeom prst="rect">
            <a:avLst/>
          </a:prstGeom>
        </p:spPr>
      </p:pic>
      <p:grpSp>
        <p:nvGrpSpPr>
          <p:cNvPr id="18" name="object 18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9" name="object 19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4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  <a:t>2</a:t>
            </a:fld>
            <a:r>
              <a:rPr spc="35" dirty="0"/>
              <a:t> </a:t>
            </a:r>
            <a:r>
              <a:rPr spc="150" dirty="0"/>
              <a:t>/</a:t>
            </a:r>
            <a:r>
              <a:rPr spc="35" dirty="0"/>
              <a:t> </a:t>
            </a:r>
            <a:r>
              <a:rPr spc="-25" dirty="0"/>
              <a:t>93</a:t>
            </a: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1013"/>
            <a:ext cx="123761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Impact</a:t>
            </a:r>
            <a:r>
              <a:rPr spc="25" dirty="0"/>
              <a:t> </a:t>
            </a:r>
            <a:r>
              <a:rPr dirty="0"/>
              <a:t>of</a:t>
            </a:r>
            <a:r>
              <a:rPr spc="20" dirty="0"/>
              <a:t> </a:t>
            </a:r>
            <a:r>
              <a:rPr spc="-45" dirty="0"/>
              <a:t>Worms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38544" y="437321"/>
            <a:ext cx="4331335" cy="477520"/>
            <a:chOff x="138544" y="437321"/>
            <a:chExt cx="4331335" cy="477520"/>
          </a:xfrm>
        </p:grpSpPr>
        <p:sp>
          <p:nvSpPr>
            <p:cNvPr id="4" name="object 4"/>
            <p:cNvSpPr/>
            <p:nvPr/>
          </p:nvSpPr>
          <p:spPr>
            <a:xfrm>
              <a:off x="138544" y="437321"/>
              <a:ext cx="4331335" cy="477520"/>
            </a:xfrm>
            <a:custGeom>
              <a:avLst/>
              <a:gdLst/>
              <a:ahLst/>
              <a:cxnLst/>
              <a:rect l="l" t="t" r="r" b="b"/>
              <a:pathLst>
                <a:path w="4331335" h="477519">
                  <a:moveTo>
                    <a:pt x="4276964" y="0"/>
                  </a:moveTo>
                  <a:lnTo>
                    <a:pt x="54000" y="0"/>
                  </a:lnTo>
                  <a:lnTo>
                    <a:pt x="32980" y="4243"/>
                  </a:lnTo>
                  <a:lnTo>
                    <a:pt x="15816" y="15816"/>
                  </a:lnTo>
                  <a:lnTo>
                    <a:pt x="4243" y="32980"/>
                  </a:lnTo>
                  <a:lnTo>
                    <a:pt x="0" y="54000"/>
                  </a:lnTo>
                  <a:lnTo>
                    <a:pt x="0" y="422964"/>
                  </a:lnTo>
                  <a:lnTo>
                    <a:pt x="4243" y="443983"/>
                  </a:lnTo>
                  <a:lnTo>
                    <a:pt x="15816" y="461148"/>
                  </a:lnTo>
                  <a:lnTo>
                    <a:pt x="32980" y="472720"/>
                  </a:lnTo>
                  <a:lnTo>
                    <a:pt x="54000" y="476964"/>
                  </a:lnTo>
                  <a:lnTo>
                    <a:pt x="4276964" y="476964"/>
                  </a:lnTo>
                  <a:lnTo>
                    <a:pt x="4297984" y="472720"/>
                  </a:lnTo>
                  <a:lnTo>
                    <a:pt x="4315148" y="461148"/>
                  </a:lnTo>
                  <a:lnTo>
                    <a:pt x="4326721" y="443983"/>
                  </a:lnTo>
                  <a:lnTo>
                    <a:pt x="4330965" y="422964"/>
                  </a:lnTo>
                  <a:lnTo>
                    <a:pt x="4330965" y="54000"/>
                  </a:lnTo>
                  <a:lnTo>
                    <a:pt x="4326721" y="32980"/>
                  </a:lnTo>
                  <a:lnTo>
                    <a:pt x="4315148" y="15816"/>
                  </a:lnTo>
                  <a:lnTo>
                    <a:pt x="4297984" y="4243"/>
                  </a:lnTo>
                  <a:lnTo>
                    <a:pt x="4276964" y="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6544" y="612802"/>
              <a:ext cx="4295140" cy="283845"/>
            </a:xfrm>
            <a:custGeom>
              <a:avLst/>
              <a:gdLst/>
              <a:ahLst/>
              <a:cxnLst/>
              <a:rect l="l" t="t" r="r" b="b"/>
              <a:pathLst>
                <a:path w="4295140" h="283844">
                  <a:moveTo>
                    <a:pt x="4294965" y="0"/>
                  </a:moveTo>
                  <a:lnTo>
                    <a:pt x="0" y="0"/>
                  </a:lnTo>
                  <a:lnTo>
                    <a:pt x="0" y="247482"/>
                  </a:lnTo>
                  <a:lnTo>
                    <a:pt x="2829" y="261495"/>
                  </a:lnTo>
                  <a:lnTo>
                    <a:pt x="10544" y="272938"/>
                  </a:lnTo>
                  <a:lnTo>
                    <a:pt x="21987" y="280654"/>
                  </a:lnTo>
                  <a:lnTo>
                    <a:pt x="36000" y="283483"/>
                  </a:lnTo>
                  <a:lnTo>
                    <a:pt x="4258965" y="283483"/>
                  </a:lnTo>
                  <a:lnTo>
                    <a:pt x="4272978" y="280654"/>
                  </a:lnTo>
                  <a:lnTo>
                    <a:pt x="4284421" y="272938"/>
                  </a:lnTo>
                  <a:lnTo>
                    <a:pt x="4292136" y="261495"/>
                  </a:lnTo>
                  <a:lnTo>
                    <a:pt x="4294965" y="247482"/>
                  </a:lnTo>
                  <a:lnTo>
                    <a:pt x="4294965" y="0"/>
                  </a:lnTo>
                  <a:close/>
                </a:path>
              </a:pathLst>
            </a:custGeom>
            <a:solidFill>
              <a:srgbClr val="FF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23850" y="455427"/>
            <a:ext cx="68008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</a:rPr>
              <a:t>Network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</a:rPr>
              <a:t>Disruption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3850" y="684903"/>
            <a:ext cx="350329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latin typeface="Arial MT"/>
                <a:cs typeface="Arial MT"/>
              </a:rPr>
              <a:t>Worms</a:t>
            </a:r>
            <a:r>
              <a:rPr sz="600" spc="1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can</a:t>
            </a:r>
            <a:r>
              <a:rPr sz="600" spc="15" dirty="0">
                <a:latin typeface="Arial MT"/>
                <a:cs typeface="Arial MT"/>
              </a:rPr>
              <a:t> </a:t>
            </a:r>
            <a:r>
              <a:rPr sz="600" spc="-30" dirty="0">
                <a:latin typeface="Arial MT"/>
                <a:cs typeface="Arial MT"/>
              </a:rPr>
              <a:t>cause</a:t>
            </a:r>
            <a:r>
              <a:rPr sz="600" spc="15" dirty="0">
                <a:latin typeface="Arial MT"/>
                <a:cs typeface="Arial MT"/>
              </a:rPr>
              <a:t> </a:t>
            </a:r>
            <a:r>
              <a:rPr sz="600" spc="-30" dirty="0">
                <a:latin typeface="Arial MT"/>
                <a:cs typeface="Arial MT"/>
              </a:rPr>
              <a:t>severe</a:t>
            </a:r>
            <a:r>
              <a:rPr sz="600" spc="1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network</a:t>
            </a:r>
            <a:r>
              <a:rPr sz="600" spc="15" dirty="0">
                <a:latin typeface="Arial MT"/>
                <a:cs typeface="Arial MT"/>
              </a:rPr>
              <a:t> </a:t>
            </a:r>
            <a:r>
              <a:rPr sz="600" spc="-25" dirty="0">
                <a:latin typeface="Arial MT"/>
                <a:cs typeface="Arial MT"/>
              </a:rPr>
              <a:t>slowdowns</a:t>
            </a:r>
            <a:r>
              <a:rPr sz="600" spc="1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and</a:t>
            </a:r>
            <a:r>
              <a:rPr sz="600" spc="15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outages</a:t>
            </a:r>
            <a:r>
              <a:rPr sz="600" spc="1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by</a:t>
            </a:r>
            <a:r>
              <a:rPr sz="600" spc="15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generating</a:t>
            </a:r>
            <a:r>
              <a:rPr sz="600" spc="10" dirty="0">
                <a:latin typeface="Arial MT"/>
                <a:cs typeface="Arial MT"/>
              </a:rPr>
              <a:t> </a:t>
            </a:r>
            <a:r>
              <a:rPr sz="600" spc="-35" dirty="0">
                <a:latin typeface="Arial MT"/>
                <a:cs typeface="Arial MT"/>
              </a:rPr>
              <a:t>excessive</a:t>
            </a:r>
            <a:r>
              <a:rPr sz="600" spc="1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traffic</a:t>
            </a:r>
            <a:r>
              <a:rPr sz="600" spc="15" dirty="0">
                <a:latin typeface="Arial MT"/>
                <a:cs typeface="Arial MT"/>
              </a:rPr>
              <a:t> </a:t>
            </a:r>
            <a:r>
              <a:rPr sz="600" spc="-20" dirty="0">
                <a:latin typeface="Arial MT"/>
                <a:cs typeface="Arial MT"/>
              </a:rPr>
              <a:t>as</a:t>
            </a:r>
            <a:r>
              <a:rPr sz="600" spc="1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they</a:t>
            </a:r>
            <a:r>
              <a:rPr sz="600" spc="15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spread.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38544" y="958563"/>
            <a:ext cx="4331335" cy="536575"/>
            <a:chOff x="138544" y="958563"/>
            <a:chExt cx="4331335" cy="536575"/>
          </a:xfrm>
        </p:grpSpPr>
        <p:sp>
          <p:nvSpPr>
            <p:cNvPr id="9" name="object 9"/>
            <p:cNvSpPr/>
            <p:nvPr/>
          </p:nvSpPr>
          <p:spPr>
            <a:xfrm>
              <a:off x="138544" y="958563"/>
              <a:ext cx="4331335" cy="536575"/>
            </a:xfrm>
            <a:custGeom>
              <a:avLst/>
              <a:gdLst/>
              <a:ahLst/>
              <a:cxnLst/>
              <a:rect l="l" t="t" r="r" b="b"/>
              <a:pathLst>
                <a:path w="4331335" h="536575">
                  <a:moveTo>
                    <a:pt x="4276964" y="0"/>
                  </a:moveTo>
                  <a:lnTo>
                    <a:pt x="54000" y="0"/>
                  </a:lnTo>
                  <a:lnTo>
                    <a:pt x="32980" y="4243"/>
                  </a:lnTo>
                  <a:lnTo>
                    <a:pt x="15816" y="15816"/>
                  </a:lnTo>
                  <a:lnTo>
                    <a:pt x="4243" y="32980"/>
                  </a:lnTo>
                  <a:lnTo>
                    <a:pt x="0" y="54000"/>
                  </a:lnTo>
                  <a:lnTo>
                    <a:pt x="0" y="482010"/>
                  </a:lnTo>
                  <a:lnTo>
                    <a:pt x="4243" y="503030"/>
                  </a:lnTo>
                  <a:lnTo>
                    <a:pt x="15816" y="520194"/>
                  </a:lnTo>
                  <a:lnTo>
                    <a:pt x="32980" y="531767"/>
                  </a:lnTo>
                  <a:lnTo>
                    <a:pt x="54000" y="536010"/>
                  </a:lnTo>
                  <a:lnTo>
                    <a:pt x="4276964" y="536010"/>
                  </a:lnTo>
                  <a:lnTo>
                    <a:pt x="4297984" y="531767"/>
                  </a:lnTo>
                  <a:lnTo>
                    <a:pt x="4315148" y="520194"/>
                  </a:lnTo>
                  <a:lnTo>
                    <a:pt x="4326721" y="503030"/>
                  </a:lnTo>
                  <a:lnTo>
                    <a:pt x="4330965" y="482010"/>
                  </a:lnTo>
                  <a:lnTo>
                    <a:pt x="4330965" y="54000"/>
                  </a:lnTo>
                  <a:lnTo>
                    <a:pt x="4326721" y="32980"/>
                  </a:lnTo>
                  <a:lnTo>
                    <a:pt x="4315148" y="15816"/>
                  </a:lnTo>
                  <a:lnTo>
                    <a:pt x="4297984" y="4243"/>
                  </a:lnTo>
                  <a:lnTo>
                    <a:pt x="4276964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6544" y="1119283"/>
              <a:ext cx="4295140" cy="357505"/>
            </a:xfrm>
            <a:custGeom>
              <a:avLst/>
              <a:gdLst/>
              <a:ahLst/>
              <a:cxnLst/>
              <a:rect l="l" t="t" r="r" b="b"/>
              <a:pathLst>
                <a:path w="4295140" h="357505">
                  <a:moveTo>
                    <a:pt x="4294965" y="0"/>
                  </a:moveTo>
                  <a:lnTo>
                    <a:pt x="0" y="0"/>
                  </a:lnTo>
                  <a:lnTo>
                    <a:pt x="0" y="321290"/>
                  </a:lnTo>
                  <a:lnTo>
                    <a:pt x="2829" y="335303"/>
                  </a:lnTo>
                  <a:lnTo>
                    <a:pt x="10544" y="346746"/>
                  </a:lnTo>
                  <a:lnTo>
                    <a:pt x="21987" y="354461"/>
                  </a:lnTo>
                  <a:lnTo>
                    <a:pt x="36000" y="357290"/>
                  </a:lnTo>
                  <a:lnTo>
                    <a:pt x="4258965" y="357290"/>
                  </a:lnTo>
                  <a:lnTo>
                    <a:pt x="4272978" y="354461"/>
                  </a:lnTo>
                  <a:lnTo>
                    <a:pt x="4284421" y="346746"/>
                  </a:lnTo>
                  <a:lnTo>
                    <a:pt x="4292136" y="335303"/>
                  </a:lnTo>
                  <a:lnTo>
                    <a:pt x="4294965" y="321290"/>
                  </a:lnTo>
                  <a:lnTo>
                    <a:pt x="4294965" y="0"/>
                  </a:lnTo>
                  <a:close/>
                </a:path>
              </a:pathLst>
            </a:custGeom>
            <a:solidFill>
              <a:srgbClr val="E5E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23850" y="976673"/>
            <a:ext cx="72580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r>
              <a:rPr sz="6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Arial MT"/>
                <a:cs typeface="Arial MT"/>
              </a:rPr>
              <a:t>Loss</a:t>
            </a:r>
            <a:r>
              <a:rPr sz="6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6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</a:rPr>
              <a:t>Theft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23850" y="1191392"/>
            <a:ext cx="3959860" cy="20510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>
              <a:lnSpc>
                <a:spcPts val="700"/>
              </a:lnSpc>
              <a:spcBef>
                <a:spcPts val="135"/>
              </a:spcBef>
            </a:pPr>
            <a:r>
              <a:rPr sz="600" spc="-25" dirty="0">
                <a:latin typeface="Arial MT"/>
                <a:cs typeface="Arial MT"/>
              </a:rPr>
              <a:t>Some</a:t>
            </a:r>
            <a:r>
              <a:rPr sz="600" spc="10" dirty="0">
                <a:latin typeface="Arial MT"/>
                <a:cs typeface="Arial MT"/>
              </a:rPr>
              <a:t> </a:t>
            </a:r>
            <a:r>
              <a:rPr sz="600" spc="-20" dirty="0">
                <a:latin typeface="Arial MT"/>
                <a:cs typeface="Arial MT"/>
              </a:rPr>
              <a:t>worms</a:t>
            </a:r>
            <a:r>
              <a:rPr sz="600" spc="1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carry</a:t>
            </a:r>
            <a:r>
              <a:rPr sz="600" spc="15" dirty="0">
                <a:latin typeface="Arial MT"/>
                <a:cs typeface="Arial MT"/>
              </a:rPr>
              <a:t> </a:t>
            </a:r>
            <a:r>
              <a:rPr sz="600" spc="-25" dirty="0">
                <a:latin typeface="Arial MT"/>
                <a:cs typeface="Arial MT"/>
              </a:rPr>
              <a:t>payloads</a:t>
            </a:r>
            <a:r>
              <a:rPr sz="600" spc="1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that</a:t>
            </a:r>
            <a:r>
              <a:rPr sz="600" spc="15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steal</a:t>
            </a:r>
            <a:r>
              <a:rPr sz="600" spc="10" dirty="0">
                <a:latin typeface="Arial MT"/>
                <a:cs typeface="Arial MT"/>
              </a:rPr>
              <a:t> </a:t>
            </a:r>
            <a:r>
              <a:rPr sz="600" spc="-20" dirty="0">
                <a:latin typeface="Arial MT"/>
                <a:cs typeface="Arial MT"/>
              </a:rPr>
              <a:t>sensitive</a:t>
            </a:r>
            <a:r>
              <a:rPr sz="600" spc="1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information,</a:t>
            </a:r>
            <a:r>
              <a:rPr sz="600" spc="15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delete</a:t>
            </a:r>
            <a:r>
              <a:rPr sz="600" spc="1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files,</a:t>
            </a:r>
            <a:r>
              <a:rPr sz="600" spc="1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or</a:t>
            </a:r>
            <a:r>
              <a:rPr sz="600" spc="1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encrypt</a:t>
            </a:r>
            <a:r>
              <a:rPr sz="600" spc="1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data,</a:t>
            </a:r>
            <a:r>
              <a:rPr sz="600" spc="15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leading</a:t>
            </a:r>
            <a:r>
              <a:rPr sz="600" spc="1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to</a:t>
            </a:r>
            <a:r>
              <a:rPr sz="600" spc="1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data</a:t>
            </a:r>
            <a:r>
              <a:rPr sz="600" spc="15" dirty="0">
                <a:latin typeface="Arial MT"/>
                <a:cs typeface="Arial MT"/>
              </a:rPr>
              <a:t> </a:t>
            </a:r>
            <a:r>
              <a:rPr sz="600" spc="-30" dirty="0">
                <a:latin typeface="Arial MT"/>
                <a:cs typeface="Arial MT"/>
              </a:rPr>
              <a:t>breaches</a:t>
            </a:r>
            <a:r>
              <a:rPr sz="600" spc="10" dirty="0">
                <a:latin typeface="Arial MT"/>
                <a:cs typeface="Arial MT"/>
              </a:rPr>
              <a:t> </a:t>
            </a:r>
            <a:r>
              <a:rPr sz="600" spc="-25" dirty="0">
                <a:latin typeface="Arial MT"/>
                <a:cs typeface="Arial MT"/>
              </a:rPr>
              <a:t>and</a:t>
            </a:r>
            <a:r>
              <a:rPr sz="600" spc="500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loss.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38544" y="1538848"/>
            <a:ext cx="4331335" cy="551180"/>
            <a:chOff x="138544" y="1538848"/>
            <a:chExt cx="4331335" cy="551180"/>
          </a:xfrm>
        </p:grpSpPr>
        <p:sp>
          <p:nvSpPr>
            <p:cNvPr id="14" name="object 14"/>
            <p:cNvSpPr/>
            <p:nvPr/>
          </p:nvSpPr>
          <p:spPr>
            <a:xfrm>
              <a:off x="138544" y="1538848"/>
              <a:ext cx="4331335" cy="551180"/>
            </a:xfrm>
            <a:custGeom>
              <a:avLst/>
              <a:gdLst/>
              <a:ahLst/>
              <a:cxnLst/>
              <a:rect l="l" t="t" r="r" b="b"/>
              <a:pathLst>
                <a:path w="4331335" h="551180">
                  <a:moveTo>
                    <a:pt x="4276964" y="0"/>
                  </a:moveTo>
                  <a:lnTo>
                    <a:pt x="54000" y="0"/>
                  </a:lnTo>
                  <a:lnTo>
                    <a:pt x="32980" y="4243"/>
                  </a:lnTo>
                  <a:lnTo>
                    <a:pt x="15816" y="15816"/>
                  </a:lnTo>
                  <a:lnTo>
                    <a:pt x="4243" y="32980"/>
                  </a:lnTo>
                  <a:lnTo>
                    <a:pt x="0" y="54000"/>
                  </a:lnTo>
                  <a:lnTo>
                    <a:pt x="0" y="496771"/>
                  </a:lnTo>
                  <a:lnTo>
                    <a:pt x="4243" y="517791"/>
                  </a:lnTo>
                  <a:lnTo>
                    <a:pt x="15816" y="534955"/>
                  </a:lnTo>
                  <a:lnTo>
                    <a:pt x="32980" y="546528"/>
                  </a:lnTo>
                  <a:lnTo>
                    <a:pt x="54000" y="550771"/>
                  </a:lnTo>
                  <a:lnTo>
                    <a:pt x="4276964" y="550771"/>
                  </a:lnTo>
                  <a:lnTo>
                    <a:pt x="4297984" y="546528"/>
                  </a:lnTo>
                  <a:lnTo>
                    <a:pt x="4315148" y="534955"/>
                  </a:lnTo>
                  <a:lnTo>
                    <a:pt x="4326721" y="517791"/>
                  </a:lnTo>
                  <a:lnTo>
                    <a:pt x="4330965" y="496771"/>
                  </a:lnTo>
                  <a:lnTo>
                    <a:pt x="4330965" y="54000"/>
                  </a:lnTo>
                  <a:lnTo>
                    <a:pt x="4326721" y="32980"/>
                  </a:lnTo>
                  <a:lnTo>
                    <a:pt x="4315148" y="15816"/>
                  </a:lnTo>
                  <a:lnTo>
                    <a:pt x="4297984" y="4243"/>
                  </a:lnTo>
                  <a:lnTo>
                    <a:pt x="4276964" y="0"/>
                  </a:lnTo>
                  <a:close/>
                </a:path>
              </a:pathLst>
            </a:custGeom>
            <a:solidFill>
              <a:srgbClr val="00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56544" y="1714329"/>
              <a:ext cx="4295140" cy="357505"/>
            </a:xfrm>
            <a:custGeom>
              <a:avLst/>
              <a:gdLst/>
              <a:ahLst/>
              <a:cxnLst/>
              <a:rect l="l" t="t" r="r" b="b"/>
              <a:pathLst>
                <a:path w="4295140" h="357505">
                  <a:moveTo>
                    <a:pt x="4294965" y="0"/>
                  </a:moveTo>
                  <a:lnTo>
                    <a:pt x="0" y="0"/>
                  </a:lnTo>
                  <a:lnTo>
                    <a:pt x="0" y="321290"/>
                  </a:lnTo>
                  <a:lnTo>
                    <a:pt x="2829" y="335303"/>
                  </a:lnTo>
                  <a:lnTo>
                    <a:pt x="10544" y="346746"/>
                  </a:lnTo>
                  <a:lnTo>
                    <a:pt x="21987" y="354461"/>
                  </a:lnTo>
                  <a:lnTo>
                    <a:pt x="36000" y="357290"/>
                  </a:lnTo>
                  <a:lnTo>
                    <a:pt x="4258965" y="357290"/>
                  </a:lnTo>
                  <a:lnTo>
                    <a:pt x="4272978" y="354461"/>
                  </a:lnTo>
                  <a:lnTo>
                    <a:pt x="4284421" y="346746"/>
                  </a:lnTo>
                  <a:lnTo>
                    <a:pt x="4292136" y="335303"/>
                  </a:lnTo>
                  <a:lnTo>
                    <a:pt x="4294965" y="321290"/>
                  </a:lnTo>
                  <a:lnTo>
                    <a:pt x="4294965" y="0"/>
                  </a:lnTo>
                  <a:close/>
                </a:path>
              </a:pathLst>
            </a:custGeom>
            <a:solidFill>
              <a:srgbClr val="E5F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323850" y="1556961"/>
            <a:ext cx="61023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</a:rPr>
              <a:t>Economic</a:t>
            </a:r>
            <a:r>
              <a:rPr sz="6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</a:rPr>
              <a:t>Impact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23850" y="1786438"/>
            <a:ext cx="3960495" cy="20510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>
              <a:lnSpc>
                <a:spcPts val="700"/>
              </a:lnSpc>
              <a:spcBef>
                <a:spcPts val="135"/>
              </a:spcBef>
            </a:pPr>
            <a:r>
              <a:rPr sz="600" spc="-35" dirty="0">
                <a:latin typeface="Arial MT"/>
                <a:cs typeface="Arial MT"/>
              </a:rPr>
              <a:t>Businesses</a:t>
            </a:r>
            <a:r>
              <a:rPr sz="600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can</a:t>
            </a:r>
            <a:r>
              <a:rPr sz="600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suffer</a:t>
            </a:r>
            <a:r>
              <a:rPr sz="600" dirty="0">
                <a:latin typeface="Arial MT"/>
                <a:cs typeface="Arial MT"/>
              </a:rPr>
              <a:t> financial</a:t>
            </a:r>
            <a:r>
              <a:rPr sz="600" spc="5" dirty="0">
                <a:latin typeface="Arial MT"/>
                <a:cs typeface="Arial MT"/>
              </a:rPr>
              <a:t> </a:t>
            </a:r>
            <a:r>
              <a:rPr sz="600" spc="-40" dirty="0">
                <a:latin typeface="Arial MT"/>
                <a:cs typeface="Arial MT"/>
              </a:rPr>
              <a:t>losses</a:t>
            </a:r>
            <a:r>
              <a:rPr sz="600" dirty="0">
                <a:latin typeface="Arial MT"/>
                <a:cs typeface="Arial MT"/>
              </a:rPr>
              <a:t> </a:t>
            </a:r>
            <a:r>
              <a:rPr sz="600" spc="-20" dirty="0">
                <a:latin typeface="Arial MT"/>
                <a:cs typeface="Arial MT"/>
              </a:rPr>
              <a:t>due</a:t>
            </a:r>
            <a:r>
              <a:rPr sz="600" dirty="0">
                <a:latin typeface="Arial MT"/>
                <a:cs typeface="Arial MT"/>
              </a:rPr>
              <a:t> to downtime,</a:t>
            </a:r>
            <a:r>
              <a:rPr sz="600" spc="1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data </a:t>
            </a:r>
            <a:r>
              <a:rPr sz="600" spc="-20" dirty="0">
                <a:latin typeface="Arial MT"/>
                <a:cs typeface="Arial MT"/>
              </a:rPr>
              <a:t>recovery</a:t>
            </a:r>
            <a:r>
              <a:rPr sz="600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costs,</a:t>
            </a:r>
            <a:r>
              <a:rPr sz="600" spc="5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and</a:t>
            </a:r>
            <a:r>
              <a:rPr sz="600" spc="5" dirty="0">
                <a:latin typeface="Arial MT"/>
                <a:cs typeface="Arial MT"/>
              </a:rPr>
              <a:t> </a:t>
            </a:r>
            <a:r>
              <a:rPr sz="600" spc="-25" dirty="0">
                <a:latin typeface="Arial MT"/>
                <a:cs typeface="Arial MT"/>
              </a:rPr>
              <a:t>damage</a:t>
            </a:r>
            <a:r>
              <a:rPr sz="600" dirty="0">
                <a:latin typeface="Arial MT"/>
                <a:cs typeface="Arial MT"/>
              </a:rPr>
              <a:t> to reputation </a:t>
            </a:r>
            <a:r>
              <a:rPr sz="600" spc="-30" dirty="0">
                <a:latin typeface="Arial MT"/>
                <a:cs typeface="Arial MT"/>
              </a:rPr>
              <a:t>caused</a:t>
            </a:r>
            <a:r>
              <a:rPr sz="600" spc="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by </a:t>
            </a:r>
            <a:r>
              <a:rPr sz="600" spc="-20" dirty="0">
                <a:latin typeface="Arial MT"/>
                <a:cs typeface="Arial MT"/>
              </a:rPr>
              <a:t>worm</a:t>
            </a:r>
            <a:r>
              <a:rPr sz="600" spc="500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infections.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38544" y="2133901"/>
            <a:ext cx="4331335" cy="477520"/>
            <a:chOff x="138544" y="2133901"/>
            <a:chExt cx="4331335" cy="477520"/>
          </a:xfrm>
        </p:grpSpPr>
        <p:sp>
          <p:nvSpPr>
            <p:cNvPr id="19" name="object 19"/>
            <p:cNvSpPr/>
            <p:nvPr/>
          </p:nvSpPr>
          <p:spPr>
            <a:xfrm>
              <a:off x="138544" y="2133901"/>
              <a:ext cx="4331335" cy="477520"/>
            </a:xfrm>
            <a:custGeom>
              <a:avLst/>
              <a:gdLst/>
              <a:ahLst/>
              <a:cxnLst/>
              <a:rect l="l" t="t" r="r" b="b"/>
              <a:pathLst>
                <a:path w="4331335" h="477519">
                  <a:moveTo>
                    <a:pt x="4276964" y="0"/>
                  </a:moveTo>
                  <a:lnTo>
                    <a:pt x="54000" y="0"/>
                  </a:lnTo>
                  <a:lnTo>
                    <a:pt x="32980" y="4243"/>
                  </a:lnTo>
                  <a:lnTo>
                    <a:pt x="15816" y="15816"/>
                  </a:lnTo>
                  <a:lnTo>
                    <a:pt x="4243" y="32980"/>
                  </a:lnTo>
                  <a:lnTo>
                    <a:pt x="0" y="54000"/>
                  </a:lnTo>
                  <a:lnTo>
                    <a:pt x="0" y="422964"/>
                  </a:lnTo>
                  <a:lnTo>
                    <a:pt x="4243" y="443983"/>
                  </a:lnTo>
                  <a:lnTo>
                    <a:pt x="15816" y="461148"/>
                  </a:lnTo>
                  <a:lnTo>
                    <a:pt x="32980" y="472720"/>
                  </a:lnTo>
                  <a:lnTo>
                    <a:pt x="54000" y="476964"/>
                  </a:lnTo>
                  <a:lnTo>
                    <a:pt x="4276964" y="476964"/>
                  </a:lnTo>
                  <a:lnTo>
                    <a:pt x="4297984" y="472720"/>
                  </a:lnTo>
                  <a:lnTo>
                    <a:pt x="4315148" y="461148"/>
                  </a:lnTo>
                  <a:lnTo>
                    <a:pt x="4326721" y="443983"/>
                  </a:lnTo>
                  <a:lnTo>
                    <a:pt x="4330965" y="422964"/>
                  </a:lnTo>
                  <a:lnTo>
                    <a:pt x="4330965" y="54000"/>
                  </a:lnTo>
                  <a:lnTo>
                    <a:pt x="4326721" y="32980"/>
                  </a:lnTo>
                  <a:lnTo>
                    <a:pt x="4315148" y="15816"/>
                  </a:lnTo>
                  <a:lnTo>
                    <a:pt x="4297984" y="4243"/>
                  </a:lnTo>
                  <a:lnTo>
                    <a:pt x="4276964" y="0"/>
                  </a:lnTo>
                  <a:close/>
                </a:path>
              </a:pathLst>
            </a:custGeom>
            <a:solidFill>
              <a:srgbClr val="CC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56544" y="2309383"/>
              <a:ext cx="4295140" cy="283845"/>
            </a:xfrm>
            <a:custGeom>
              <a:avLst/>
              <a:gdLst/>
              <a:ahLst/>
              <a:cxnLst/>
              <a:rect l="l" t="t" r="r" b="b"/>
              <a:pathLst>
                <a:path w="4295140" h="283844">
                  <a:moveTo>
                    <a:pt x="4294965" y="0"/>
                  </a:moveTo>
                  <a:lnTo>
                    <a:pt x="0" y="0"/>
                  </a:lnTo>
                  <a:lnTo>
                    <a:pt x="0" y="247482"/>
                  </a:lnTo>
                  <a:lnTo>
                    <a:pt x="2829" y="261495"/>
                  </a:lnTo>
                  <a:lnTo>
                    <a:pt x="10544" y="272938"/>
                  </a:lnTo>
                  <a:lnTo>
                    <a:pt x="21987" y="280654"/>
                  </a:lnTo>
                  <a:lnTo>
                    <a:pt x="36000" y="283483"/>
                  </a:lnTo>
                  <a:lnTo>
                    <a:pt x="4258965" y="283483"/>
                  </a:lnTo>
                  <a:lnTo>
                    <a:pt x="4272978" y="280654"/>
                  </a:lnTo>
                  <a:lnTo>
                    <a:pt x="4284421" y="272938"/>
                  </a:lnTo>
                  <a:lnTo>
                    <a:pt x="4292136" y="261495"/>
                  </a:lnTo>
                  <a:lnTo>
                    <a:pt x="4294965" y="247482"/>
                  </a:lnTo>
                  <a:lnTo>
                    <a:pt x="4294965" y="0"/>
                  </a:lnTo>
                  <a:close/>
                </a:path>
              </a:pathLst>
            </a:custGeom>
            <a:solidFill>
              <a:srgbClr val="FFF2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323850" y="2152007"/>
            <a:ext cx="62103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</a:rPr>
              <a:t>System</a:t>
            </a:r>
            <a:r>
              <a:rPr sz="6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</a:rPr>
              <a:t>Instability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23850" y="2381483"/>
            <a:ext cx="361442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latin typeface="Arial MT"/>
                <a:cs typeface="Arial MT"/>
              </a:rPr>
              <a:t>Worms</a:t>
            </a:r>
            <a:r>
              <a:rPr sz="600" spc="1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can</a:t>
            </a:r>
            <a:r>
              <a:rPr sz="600" spc="15" dirty="0">
                <a:latin typeface="Arial MT"/>
                <a:cs typeface="Arial MT"/>
              </a:rPr>
              <a:t> </a:t>
            </a:r>
            <a:r>
              <a:rPr sz="600" spc="-20" dirty="0">
                <a:latin typeface="Arial MT"/>
                <a:cs typeface="Arial MT"/>
              </a:rPr>
              <a:t>consume</a:t>
            </a:r>
            <a:r>
              <a:rPr sz="600" spc="15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system</a:t>
            </a:r>
            <a:r>
              <a:rPr sz="600" spc="15" dirty="0">
                <a:latin typeface="Arial MT"/>
                <a:cs typeface="Arial MT"/>
              </a:rPr>
              <a:t> </a:t>
            </a:r>
            <a:r>
              <a:rPr sz="600" spc="-25" dirty="0">
                <a:latin typeface="Arial MT"/>
                <a:cs typeface="Arial MT"/>
              </a:rPr>
              <a:t>resources,</a:t>
            </a:r>
            <a:r>
              <a:rPr sz="600" spc="15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leading</a:t>
            </a:r>
            <a:r>
              <a:rPr sz="600" spc="1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to</a:t>
            </a:r>
            <a:r>
              <a:rPr sz="600" spc="15" dirty="0">
                <a:latin typeface="Arial MT"/>
                <a:cs typeface="Arial MT"/>
              </a:rPr>
              <a:t> </a:t>
            </a:r>
            <a:r>
              <a:rPr sz="600" spc="-30" dirty="0">
                <a:latin typeface="Arial MT"/>
                <a:cs typeface="Arial MT"/>
              </a:rPr>
              <a:t>crashes</a:t>
            </a:r>
            <a:r>
              <a:rPr sz="600" spc="1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and</a:t>
            </a:r>
            <a:r>
              <a:rPr sz="600" spc="15" dirty="0">
                <a:latin typeface="Arial MT"/>
                <a:cs typeface="Arial MT"/>
              </a:rPr>
              <a:t> </a:t>
            </a:r>
            <a:r>
              <a:rPr sz="600" spc="-20" dirty="0">
                <a:latin typeface="Arial MT"/>
                <a:cs typeface="Arial MT"/>
              </a:rPr>
              <a:t>reduced</a:t>
            </a:r>
            <a:r>
              <a:rPr sz="600" spc="15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performance</a:t>
            </a:r>
            <a:r>
              <a:rPr sz="600" spc="1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of</a:t>
            </a:r>
            <a:r>
              <a:rPr sz="600" spc="1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infected</a:t>
            </a:r>
            <a:r>
              <a:rPr sz="600" spc="15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computers.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38544" y="2655137"/>
            <a:ext cx="4331335" cy="559435"/>
            <a:chOff x="138544" y="2655137"/>
            <a:chExt cx="4331335" cy="559435"/>
          </a:xfrm>
        </p:grpSpPr>
        <p:sp>
          <p:nvSpPr>
            <p:cNvPr id="24" name="object 24"/>
            <p:cNvSpPr/>
            <p:nvPr/>
          </p:nvSpPr>
          <p:spPr>
            <a:xfrm>
              <a:off x="138544" y="2655137"/>
              <a:ext cx="4331335" cy="559435"/>
            </a:xfrm>
            <a:custGeom>
              <a:avLst/>
              <a:gdLst/>
              <a:ahLst/>
              <a:cxnLst/>
              <a:rect l="l" t="t" r="r" b="b"/>
              <a:pathLst>
                <a:path w="4331335" h="559435">
                  <a:moveTo>
                    <a:pt x="4276964" y="0"/>
                  </a:moveTo>
                  <a:lnTo>
                    <a:pt x="54000" y="0"/>
                  </a:lnTo>
                  <a:lnTo>
                    <a:pt x="32980" y="4243"/>
                  </a:lnTo>
                  <a:lnTo>
                    <a:pt x="15816" y="15816"/>
                  </a:lnTo>
                  <a:lnTo>
                    <a:pt x="4243" y="32980"/>
                  </a:lnTo>
                  <a:lnTo>
                    <a:pt x="0" y="54000"/>
                  </a:lnTo>
                  <a:lnTo>
                    <a:pt x="0" y="505207"/>
                  </a:lnTo>
                  <a:lnTo>
                    <a:pt x="4243" y="526226"/>
                  </a:lnTo>
                  <a:lnTo>
                    <a:pt x="15816" y="543391"/>
                  </a:lnTo>
                  <a:lnTo>
                    <a:pt x="32980" y="554964"/>
                  </a:lnTo>
                  <a:lnTo>
                    <a:pt x="54000" y="559207"/>
                  </a:lnTo>
                  <a:lnTo>
                    <a:pt x="4276964" y="559207"/>
                  </a:lnTo>
                  <a:lnTo>
                    <a:pt x="4297984" y="554964"/>
                  </a:lnTo>
                  <a:lnTo>
                    <a:pt x="4315148" y="543391"/>
                  </a:lnTo>
                  <a:lnTo>
                    <a:pt x="4326721" y="526226"/>
                  </a:lnTo>
                  <a:lnTo>
                    <a:pt x="4330965" y="505207"/>
                  </a:lnTo>
                  <a:lnTo>
                    <a:pt x="4330965" y="54000"/>
                  </a:lnTo>
                  <a:lnTo>
                    <a:pt x="4326721" y="32980"/>
                  </a:lnTo>
                  <a:lnTo>
                    <a:pt x="4315148" y="15816"/>
                  </a:lnTo>
                  <a:lnTo>
                    <a:pt x="4297984" y="4243"/>
                  </a:lnTo>
                  <a:lnTo>
                    <a:pt x="4276964" y="0"/>
                  </a:lnTo>
                  <a:close/>
                </a:path>
              </a:pathLst>
            </a:custGeom>
            <a:solidFill>
              <a:srgbClr val="9900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56544" y="2815857"/>
              <a:ext cx="4295140" cy="381000"/>
            </a:xfrm>
            <a:custGeom>
              <a:avLst/>
              <a:gdLst/>
              <a:ahLst/>
              <a:cxnLst/>
              <a:rect l="l" t="t" r="r" b="b"/>
              <a:pathLst>
                <a:path w="4295140" h="381000">
                  <a:moveTo>
                    <a:pt x="4294965" y="0"/>
                  </a:moveTo>
                  <a:lnTo>
                    <a:pt x="0" y="0"/>
                  </a:lnTo>
                  <a:lnTo>
                    <a:pt x="0" y="344487"/>
                  </a:lnTo>
                  <a:lnTo>
                    <a:pt x="2829" y="358500"/>
                  </a:lnTo>
                  <a:lnTo>
                    <a:pt x="10544" y="369943"/>
                  </a:lnTo>
                  <a:lnTo>
                    <a:pt x="21987" y="377658"/>
                  </a:lnTo>
                  <a:lnTo>
                    <a:pt x="36000" y="380487"/>
                  </a:lnTo>
                  <a:lnTo>
                    <a:pt x="4258965" y="380487"/>
                  </a:lnTo>
                  <a:lnTo>
                    <a:pt x="4272978" y="377658"/>
                  </a:lnTo>
                  <a:lnTo>
                    <a:pt x="4284421" y="369943"/>
                  </a:lnTo>
                  <a:lnTo>
                    <a:pt x="4292136" y="358500"/>
                  </a:lnTo>
                  <a:lnTo>
                    <a:pt x="4294965" y="344487"/>
                  </a:lnTo>
                  <a:lnTo>
                    <a:pt x="4294965" y="0"/>
                  </a:lnTo>
                  <a:close/>
                </a:path>
              </a:pathLst>
            </a:custGeom>
            <a:solidFill>
              <a:srgbClr val="F8E5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323850" y="2673253"/>
            <a:ext cx="74803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</a:rPr>
              <a:t>Formation</a:t>
            </a:r>
            <a:r>
              <a:rPr sz="6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600" spc="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</a:rPr>
              <a:t>Botnets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23850" y="2892188"/>
            <a:ext cx="3960495" cy="20510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>
              <a:lnSpc>
                <a:spcPts val="700"/>
              </a:lnSpc>
              <a:spcBef>
                <a:spcPts val="135"/>
              </a:spcBef>
            </a:pPr>
            <a:r>
              <a:rPr sz="600" spc="-30" dirty="0">
                <a:latin typeface="Arial MT"/>
                <a:cs typeface="Arial MT"/>
              </a:rPr>
              <a:t>Some</a:t>
            </a:r>
            <a:r>
              <a:rPr sz="600" spc="10" dirty="0">
                <a:latin typeface="Arial MT"/>
                <a:cs typeface="Arial MT"/>
              </a:rPr>
              <a:t> </a:t>
            </a:r>
            <a:r>
              <a:rPr sz="600" spc="-20" dirty="0">
                <a:latin typeface="Arial MT"/>
                <a:cs typeface="Arial MT"/>
              </a:rPr>
              <a:t>worms</a:t>
            </a:r>
            <a:r>
              <a:rPr sz="600" spc="1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turn</a:t>
            </a:r>
            <a:r>
              <a:rPr sz="600" spc="1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infected</a:t>
            </a:r>
            <a:r>
              <a:rPr sz="600" spc="10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computers</a:t>
            </a:r>
            <a:r>
              <a:rPr sz="600" spc="1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into</a:t>
            </a:r>
            <a:r>
              <a:rPr sz="600" spc="1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bots</a:t>
            </a:r>
            <a:r>
              <a:rPr sz="600" spc="10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(zombies)</a:t>
            </a:r>
            <a:r>
              <a:rPr sz="600" spc="1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that</a:t>
            </a:r>
            <a:r>
              <a:rPr sz="600" spc="10" dirty="0">
                <a:latin typeface="Arial MT"/>
                <a:cs typeface="Arial MT"/>
              </a:rPr>
              <a:t> </a:t>
            </a:r>
            <a:r>
              <a:rPr sz="600" spc="-20" dirty="0">
                <a:latin typeface="Arial MT"/>
                <a:cs typeface="Arial MT"/>
              </a:rPr>
              <a:t>can</a:t>
            </a:r>
            <a:r>
              <a:rPr sz="600" spc="10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be</a:t>
            </a:r>
            <a:r>
              <a:rPr sz="600" spc="1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controlled</a:t>
            </a:r>
            <a:r>
              <a:rPr sz="600" spc="10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remotely</a:t>
            </a:r>
            <a:r>
              <a:rPr sz="600" spc="1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by</a:t>
            </a:r>
            <a:r>
              <a:rPr sz="600" spc="10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cybercriminals</a:t>
            </a:r>
            <a:r>
              <a:rPr sz="600" spc="1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for</a:t>
            </a:r>
            <a:r>
              <a:rPr sz="600" spc="10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further</a:t>
            </a:r>
            <a:r>
              <a:rPr sz="600" spc="500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malicious</a:t>
            </a:r>
            <a:r>
              <a:rPr sz="600" spc="3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activities,</a:t>
            </a:r>
            <a:r>
              <a:rPr sz="600" spc="35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such</a:t>
            </a:r>
            <a:r>
              <a:rPr sz="600" spc="35" dirty="0">
                <a:latin typeface="Arial MT"/>
                <a:cs typeface="Arial MT"/>
              </a:rPr>
              <a:t> </a:t>
            </a:r>
            <a:r>
              <a:rPr sz="600" spc="-20" dirty="0">
                <a:latin typeface="Arial MT"/>
                <a:cs typeface="Arial MT"/>
              </a:rPr>
              <a:t>as</a:t>
            </a:r>
            <a:r>
              <a:rPr sz="600" spc="35" dirty="0">
                <a:latin typeface="Arial MT"/>
                <a:cs typeface="Arial MT"/>
              </a:rPr>
              <a:t> </a:t>
            </a:r>
            <a:r>
              <a:rPr sz="600" spc="-20" dirty="0">
                <a:latin typeface="Arial MT"/>
                <a:cs typeface="Arial MT"/>
              </a:rPr>
              <a:t>sending</a:t>
            </a:r>
            <a:r>
              <a:rPr sz="600" spc="35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spam</a:t>
            </a:r>
            <a:r>
              <a:rPr sz="600" spc="3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or</a:t>
            </a:r>
            <a:r>
              <a:rPr sz="600" spc="30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launching</a:t>
            </a:r>
            <a:r>
              <a:rPr sz="600" spc="3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distributed</a:t>
            </a:r>
            <a:r>
              <a:rPr sz="600" spc="35" dirty="0">
                <a:latin typeface="Arial MT"/>
                <a:cs typeface="Arial MT"/>
              </a:rPr>
              <a:t> </a:t>
            </a:r>
            <a:r>
              <a:rPr sz="600" spc="-20" dirty="0">
                <a:latin typeface="Arial MT"/>
                <a:cs typeface="Arial MT"/>
              </a:rPr>
              <a:t>denial-of-</a:t>
            </a:r>
            <a:r>
              <a:rPr sz="600" spc="-10" dirty="0">
                <a:latin typeface="Arial MT"/>
                <a:cs typeface="Arial MT"/>
              </a:rPr>
              <a:t>service</a:t>
            </a:r>
            <a:r>
              <a:rPr sz="600" spc="3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(DDoS)</a:t>
            </a:r>
            <a:r>
              <a:rPr sz="600" spc="35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attacks.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29" name="object 29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4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  <a:t>3</a:t>
            </a:fld>
            <a:r>
              <a:rPr spc="35" dirty="0"/>
              <a:t> </a:t>
            </a:r>
            <a:r>
              <a:rPr spc="150" dirty="0"/>
              <a:t>/</a:t>
            </a:r>
            <a:r>
              <a:rPr spc="35" dirty="0"/>
              <a:t> </a:t>
            </a:r>
            <a:r>
              <a:rPr spc="-25" dirty="0"/>
              <a:t>93</a:t>
            </a: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1013"/>
            <a:ext cx="177038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5" dirty="0"/>
              <a:t>Characteristics</a:t>
            </a:r>
            <a:r>
              <a:rPr spc="55" dirty="0"/>
              <a:t> </a:t>
            </a:r>
            <a:r>
              <a:rPr dirty="0"/>
              <a:t>of</a:t>
            </a:r>
            <a:r>
              <a:rPr spc="60" dirty="0"/>
              <a:t> </a:t>
            </a:r>
            <a:r>
              <a:rPr spc="-40" dirty="0"/>
              <a:t>Worms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453059"/>
            <a:ext cx="4432935" cy="198755"/>
          </a:xfrm>
          <a:custGeom>
            <a:avLst/>
            <a:gdLst/>
            <a:ahLst/>
            <a:cxnLst/>
            <a:rect l="l" t="t" r="r" b="b"/>
            <a:pathLst>
              <a:path w="4432935" h="198754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4432566" y="198367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2672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8544" y="481507"/>
            <a:ext cx="918844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50" dirty="0">
                <a:solidFill>
                  <a:srgbClr val="FFFFFF"/>
                </a:solidFill>
                <a:latin typeface="Tahoma"/>
                <a:cs typeface="Tahoma"/>
              </a:rPr>
              <a:t>Self-replicating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8615" y="517186"/>
            <a:ext cx="4432935" cy="434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lang="en-IN"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600" dirty="0">
              <a:latin typeface="Times New Roman"/>
              <a:cs typeface="Times New Roman"/>
            </a:endParaRPr>
          </a:p>
          <a:p>
            <a:pPr marR="119380">
              <a:lnSpc>
                <a:spcPts val="700"/>
              </a:lnSpc>
            </a:pP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Worms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0" dirty="0">
                <a:solidFill>
                  <a:srgbClr val="191933"/>
                </a:solidFill>
                <a:latin typeface="Arial MT"/>
                <a:cs typeface="Arial MT"/>
              </a:rPr>
              <a:t>have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ability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6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make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0" dirty="0">
                <a:solidFill>
                  <a:srgbClr val="191933"/>
                </a:solidFill>
                <a:latin typeface="Arial MT"/>
                <a:cs typeface="Arial MT"/>
              </a:rPr>
              <a:t>copies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0" dirty="0">
                <a:solidFill>
                  <a:srgbClr val="191933"/>
                </a:solidFill>
                <a:latin typeface="Arial MT"/>
                <a:cs typeface="Arial MT"/>
              </a:rPr>
              <a:t>themselves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without</a:t>
            </a:r>
            <a:r>
              <a:rPr sz="6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any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human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interaction.</a:t>
            </a:r>
            <a:r>
              <a:rPr sz="600" spc="9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This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allows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them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6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5" dirty="0">
                <a:solidFill>
                  <a:srgbClr val="191933"/>
                </a:solidFill>
                <a:latin typeface="Arial MT"/>
                <a:cs typeface="Arial MT"/>
              </a:rPr>
              <a:t>spread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rapidly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across</a:t>
            </a:r>
            <a:r>
              <a:rPr sz="600" spc="5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networks.</a:t>
            </a:r>
            <a:endParaRPr sz="600" dirty="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7743" y="1045997"/>
            <a:ext cx="4432935" cy="187960"/>
          </a:xfrm>
          <a:custGeom>
            <a:avLst/>
            <a:gdLst/>
            <a:ahLst/>
            <a:cxnLst/>
            <a:rect l="l" t="t" r="r" b="b"/>
            <a:pathLst>
              <a:path w="4432935" h="187959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4432566" y="187823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2672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38544" y="1074457"/>
            <a:ext cx="68262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65" dirty="0">
                <a:solidFill>
                  <a:srgbClr val="FFFFFF"/>
                </a:solidFill>
                <a:latin typeface="Tahoma"/>
                <a:cs typeface="Tahoma"/>
              </a:rPr>
              <a:t>Standalone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8544" y="1102932"/>
            <a:ext cx="4432935" cy="351155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Unlike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viruses,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worms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do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not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5" dirty="0">
                <a:solidFill>
                  <a:srgbClr val="191933"/>
                </a:solidFill>
                <a:latin typeface="Arial MT"/>
                <a:cs typeface="Arial MT"/>
              </a:rPr>
              <a:t>need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host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program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attach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0" dirty="0">
                <a:solidFill>
                  <a:srgbClr val="191933"/>
                </a:solidFill>
                <a:latin typeface="Arial MT"/>
                <a:cs typeface="Arial MT"/>
              </a:rPr>
              <a:t>themselves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to.</a:t>
            </a:r>
            <a:r>
              <a:rPr sz="600" spc="7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They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can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operate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and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propagate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independently.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7743" y="1554593"/>
            <a:ext cx="4432935" cy="198755"/>
          </a:xfrm>
          <a:custGeom>
            <a:avLst/>
            <a:gdLst/>
            <a:ahLst/>
            <a:cxnLst/>
            <a:rect l="l" t="t" r="r" b="b"/>
            <a:pathLst>
              <a:path w="4432935" h="198755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4432566" y="198367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2672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38544" y="1583041"/>
            <a:ext cx="116395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65" dirty="0">
                <a:solidFill>
                  <a:srgbClr val="FFFFFF"/>
                </a:solidFill>
                <a:latin typeface="Tahoma"/>
                <a:cs typeface="Tahoma"/>
              </a:rPr>
              <a:t>Network</a:t>
            </a:r>
            <a:r>
              <a:rPr sz="1200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65" dirty="0">
                <a:solidFill>
                  <a:srgbClr val="FFFFFF"/>
                </a:solidFill>
                <a:latin typeface="Tahoma"/>
                <a:cs typeface="Tahoma"/>
              </a:rPr>
              <a:t>Spreading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38544" y="1611528"/>
            <a:ext cx="4432935" cy="450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600">
              <a:latin typeface="Times New Roman"/>
              <a:cs typeface="Times New Roman"/>
            </a:endParaRPr>
          </a:p>
          <a:p>
            <a:pPr marR="359410">
              <a:lnSpc>
                <a:spcPts val="700"/>
              </a:lnSpc>
            </a:pP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Worms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are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5" dirty="0">
                <a:solidFill>
                  <a:srgbClr val="191933"/>
                </a:solidFill>
                <a:latin typeface="Arial MT"/>
                <a:cs typeface="Arial MT"/>
              </a:rPr>
              <a:t>designed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exploit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network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vulnerabilities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5" dirty="0">
                <a:solidFill>
                  <a:srgbClr val="191933"/>
                </a:solidFill>
                <a:latin typeface="Arial MT"/>
                <a:cs typeface="Arial MT"/>
              </a:rPr>
              <a:t>spread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other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connected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systems.</a:t>
            </a:r>
            <a:r>
              <a:rPr sz="600" spc="8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They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often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5" dirty="0">
                <a:solidFill>
                  <a:srgbClr val="191933"/>
                </a:solidFill>
                <a:latin typeface="Arial MT"/>
                <a:cs typeface="Arial MT"/>
              </a:rPr>
              <a:t>use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infected</a:t>
            </a:r>
            <a:r>
              <a:rPr sz="600" spc="5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computer’s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network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30" dirty="0">
                <a:solidFill>
                  <a:srgbClr val="191933"/>
                </a:solidFill>
                <a:latin typeface="Arial MT"/>
                <a:cs typeface="Arial MT"/>
              </a:rPr>
              <a:t>resources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find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new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targets.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7743" y="2162288"/>
            <a:ext cx="4432935" cy="198755"/>
          </a:xfrm>
          <a:custGeom>
            <a:avLst/>
            <a:gdLst/>
            <a:ahLst/>
            <a:cxnLst/>
            <a:rect l="l" t="t" r="r" b="b"/>
            <a:pathLst>
              <a:path w="4432935" h="198755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4432566" y="198367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2672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138544" y="2190749"/>
            <a:ext cx="102806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40" dirty="0">
                <a:solidFill>
                  <a:srgbClr val="FFFFFF"/>
                </a:solidFill>
                <a:latin typeface="Tahoma"/>
                <a:cs typeface="Tahoma"/>
              </a:rPr>
              <a:t>Payload</a:t>
            </a:r>
            <a:r>
              <a:rPr sz="1200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55" dirty="0">
                <a:solidFill>
                  <a:srgbClr val="FFFFFF"/>
                </a:solidFill>
                <a:latin typeface="Tahoma"/>
                <a:cs typeface="Tahoma"/>
              </a:rPr>
              <a:t>Delivery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38544" y="2219221"/>
            <a:ext cx="4432935" cy="4540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600">
              <a:latin typeface="Times New Roman"/>
              <a:cs typeface="Times New Roman"/>
            </a:endParaRPr>
          </a:p>
          <a:p>
            <a:pPr marR="137795">
              <a:lnSpc>
                <a:spcPts val="700"/>
              </a:lnSpc>
            </a:pPr>
            <a:r>
              <a:rPr sz="600" spc="-20" dirty="0">
                <a:solidFill>
                  <a:srgbClr val="191933"/>
                </a:solidFill>
                <a:latin typeface="Arial MT"/>
                <a:cs typeface="Arial MT"/>
              </a:rPr>
              <a:t>Some</a:t>
            </a:r>
            <a:r>
              <a:rPr sz="6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worms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carry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malicious</a:t>
            </a:r>
            <a:r>
              <a:rPr sz="6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payload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(additional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malware),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such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0" dirty="0">
                <a:solidFill>
                  <a:srgbClr val="191933"/>
                </a:solidFill>
                <a:latin typeface="Arial MT"/>
                <a:cs typeface="Arial MT"/>
              </a:rPr>
              <a:t>as</a:t>
            </a:r>
            <a:r>
              <a:rPr sz="6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0" dirty="0">
                <a:solidFill>
                  <a:srgbClr val="191933"/>
                </a:solidFill>
                <a:latin typeface="Arial MT"/>
                <a:cs typeface="Arial MT"/>
              </a:rPr>
              <a:t>ransomware,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0" dirty="0">
                <a:solidFill>
                  <a:srgbClr val="191933"/>
                </a:solidFill>
                <a:latin typeface="Arial MT"/>
                <a:cs typeface="Arial MT"/>
              </a:rPr>
              <a:t>keyloggers,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or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backdoors,</a:t>
            </a:r>
            <a:r>
              <a:rPr sz="6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which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can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perform</a:t>
            </a:r>
            <a:r>
              <a:rPr sz="600" spc="5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harmful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activities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on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infected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system.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87743" y="2774213"/>
            <a:ext cx="4432935" cy="198755"/>
          </a:xfrm>
          <a:custGeom>
            <a:avLst/>
            <a:gdLst/>
            <a:ahLst/>
            <a:cxnLst/>
            <a:rect l="l" t="t" r="r" b="b"/>
            <a:pathLst>
              <a:path w="4432935" h="198755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4432566" y="198367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2672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138544" y="2802660"/>
            <a:ext cx="1413510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70" dirty="0">
                <a:solidFill>
                  <a:srgbClr val="FFFFFF"/>
                </a:solidFill>
                <a:latin typeface="Tahoma"/>
                <a:cs typeface="Tahoma"/>
              </a:rPr>
              <a:t>Resource</a:t>
            </a:r>
            <a:r>
              <a:rPr sz="1200" spc="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60" dirty="0">
                <a:solidFill>
                  <a:srgbClr val="FFFFFF"/>
                </a:solidFill>
                <a:latin typeface="Tahoma"/>
                <a:cs typeface="Tahoma"/>
              </a:rPr>
              <a:t>Consumption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25844" y="2993623"/>
            <a:ext cx="4110990" cy="20510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>
              <a:lnSpc>
                <a:spcPts val="700"/>
              </a:lnSpc>
              <a:spcBef>
                <a:spcPts val="135"/>
              </a:spcBef>
            </a:pP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Worms</a:t>
            </a:r>
            <a:r>
              <a:rPr sz="6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can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0" dirty="0">
                <a:solidFill>
                  <a:srgbClr val="191933"/>
                </a:solidFill>
                <a:latin typeface="Arial MT"/>
                <a:cs typeface="Arial MT"/>
              </a:rPr>
              <a:t>consume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significant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amount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6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network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bandwidth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and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system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30" dirty="0">
                <a:solidFill>
                  <a:srgbClr val="191933"/>
                </a:solidFill>
                <a:latin typeface="Arial MT"/>
                <a:cs typeface="Arial MT"/>
              </a:rPr>
              <a:t>resources</a:t>
            </a:r>
            <a:r>
              <a:rPr sz="6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0" dirty="0">
                <a:solidFill>
                  <a:srgbClr val="191933"/>
                </a:solidFill>
                <a:latin typeface="Arial MT"/>
                <a:cs typeface="Arial MT"/>
              </a:rPr>
              <a:t>as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they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0" dirty="0">
                <a:solidFill>
                  <a:srgbClr val="191933"/>
                </a:solidFill>
                <a:latin typeface="Arial MT"/>
                <a:cs typeface="Arial MT"/>
              </a:rPr>
              <a:t>spread,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leading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network</a:t>
            </a:r>
            <a:r>
              <a:rPr sz="600" spc="5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5" dirty="0">
                <a:solidFill>
                  <a:srgbClr val="191933"/>
                </a:solidFill>
                <a:latin typeface="Arial MT"/>
                <a:cs typeface="Arial MT"/>
              </a:rPr>
              <a:t>slowdowns</a:t>
            </a:r>
            <a:r>
              <a:rPr sz="6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and</a:t>
            </a:r>
            <a:r>
              <a:rPr sz="6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system</a:t>
            </a:r>
            <a:r>
              <a:rPr sz="6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instability.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39" name="object 39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4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  <a:t>4</a:t>
            </a:fld>
            <a:r>
              <a:rPr spc="35" dirty="0"/>
              <a:t> </a:t>
            </a:r>
            <a:r>
              <a:rPr spc="150" dirty="0"/>
              <a:t>/</a:t>
            </a:r>
            <a:r>
              <a:rPr spc="35" dirty="0"/>
              <a:t> </a:t>
            </a:r>
            <a:r>
              <a:rPr spc="-25" dirty="0"/>
              <a:t>93</a:t>
            </a: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1013"/>
            <a:ext cx="140589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How</a:t>
            </a:r>
            <a:r>
              <a:rPr spc="-5" dirty="0"/>
              <a:t> </a:t>
            </a:r>
            <a:r>
              <a:rPr spc="-30" dirty="0"/>
              <a:t>Worms</a:t>
            </a:r>
            <a:r>
              <a:rPr spc="-5" dirty="0"/>
              <a:t> </a:t>
            </a:r>
            <a:r>
              <a:rPr spc="-50" dirty="0"/>
              <a:t>Spread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465289"/>
            <a:ext cx="4432935" cy="187960"/>
          </a:xfrm>
          <a:custGeom>
            <a:avLst/>
            <a:gdLst/>
            <a:ahLst/>
            <a:cxnLst/>
            <a:rect l="l" t="t" r="r" b="b"/>
            <a:pathLst>
              <a:path w="4432935" h="187959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4432566" y="187823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2672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8544" y="493737"/>
            <a:ext cx="1182370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10" dirty="0">
                <a:solidFill>
                  <a:srgbClr val="FFFFFF"/>
                </a:solidFill>
                <a:latin typeface="Tahoma"/>
                <a:cs typeface="Tahoma"/>
              </a:rPr>
              <a:t>Email</a:t>
            </a:r>
            <a:r>
              <a:rPr sz="1200" spc="-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50" dirty="0">
                <a:solidFill>
                  <a:srgbClr val="FFFFFF"/>
                </a:solidFill>
                <a:latin typeface="Tahoma"/>
                <a:cs typeface="Tahoma"/>
              </a:rPr>
              <a:t>Attachments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8544" y="674159"/>
            <a:ext cx="443293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Worms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can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5" dirty="0">
                <a:solidFill>
                  <a:srgbClr val="191933"/>
                </a:solidFill>
                <a:latin typeface="Arial MT"/>
                <a:cs typeface="Arial MT"/>
              </a:rPr>
              <a:t>spread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via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email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by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tricking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30" dirty="0">
                <a:solidFill>
                  <a:srgbClr val="191933"/>
                </a:solidFill>
                <a:latin typeface="Arial MT"/>
                <a:cs typeface="Arial MT"/>
              </a:rPr>
              <a:t>users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into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opening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malicious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attachments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or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clicking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on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harmful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links.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7743" y="1014209"/>
            <a:ext cx="4432935" cy="198755"/>
          </a:xfrm>
          <a:custGeom>
            <a:avLst/>
            <a:gdLst/>
            <a:ahLst/>
            <a:cxnLst/>
            <a:rect l="l" t="t" r="r" b="b"/>
            <a:pathLst>
              <a:path w="4432935" h="198755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4432566" y="198367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2672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38544" y="1042656"/>
            <a:ext cx="104711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65" dirty="0">
                <a:solidFill>
                  <a:srgbClr val="FFFFFF"/>
                </a:solidFill>
                <a:latin typeface="Tahoma"/>
                <a:cs typeface="Tahoma"/>
              </a:rPr>
              <a:t>Network</a:t>
            </a:r>
            <a:r>
              <a:rPr sz="1200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35" dirty="0">
                <a:solidFill>
                  <a:srgbClr val="FFFFFF"/>
                </a:solidFill>
                <a:latin typeface="Tahoma"/>
                <a:cs typeface="Tahoma"/>
              </a:rPr>
              <a:t>Exploits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8544" y="1233619"/>
            <a:ext cx="4432935" cy="20510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R="350520">
              <a:lnSpc>
                <a:spcPts val="700"/>
              </a:lnSpc>
              <a:spcBef>
                <a:spcPts val="135"/>
              </a:spcBef>
            </a:pP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Worms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often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exploit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vulnerabilities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in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network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5" dirty="0">
                <a:solidFill>
                  <a:srgbClr val="191933"/>
                </a:solidFill>
                <a:latin typeface="Arial MT"/>
                <a:cs typeface="Arial MT"/>
              </a:rPr>
              <a:t>services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or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software.</a:t>
            </a:r>
            <a:r>
              <a:rPr sz="600" spc="7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For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example,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they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may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exploit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open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ports,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unpatched</a:t>
            </a:r>
            <a:r>
              <a:rPr sz="600" spc="5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operating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0" dirty="0">
                <a:solidFill>
                  <a:srgbClr val="191933"/>
                </a:solidFill>
                <a:latin typeface="Arial MT"/>
                <a:cs typeface="Arial MT"/>
              </a:rPr>
              <a:t>systems,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or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vulnerabilities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in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network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protocols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spread.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7743" y="1662239"/>
            <a:ext cx="4432935" cy="198755"/>
          </a:xfrm>
          <a:custGeom>
            <a:avLst/>
            <a:gdLst/>
            <a:ahLst/>
            <a:cxnLst/>
            <a:rect l="l" t="t" r="r" b="b"/>
            <a:pathLst>
              <a:path w="4432935" h="198755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4432566" y="198367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2672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38544" y="1690699"/>
            <a:ext cx="73215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File</a:t>
            </a:r>
            <a:r>
              <a:rPr sz="1200" spc="-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65" dirty="0">
                <a:solidFill>
                  <a:srgbClr val="FFFFFF"/>
                </a:solidFill>
                <a:latin typeface="Tahoma"/>
                <a:cs typeface="Tahoma"/>
              </a:rPr>
              <a:t>Sharing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38544" y="1881649"/>
            <a:ext cx="443293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Worms</a:t>
            </a:r>
            <a:r>
              <a:rPr sz="6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can</a:t>
            </a:r>
            <a:r>
              <a:rPr sz="6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5" dirty="0">
                <a:solidFill>
                  <a:srgbClr val="191933"/>
                </a:solidFill>
                <a:latin typeface="Arial MT"/>
                <a:cs typeface="Arial MT"/>
              </a:rPr>
              <a:t>spread</a:t>
            </a:r>
            <a:r>
              <a:rPr sz="6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through</a:t>
            </a:r>
            <a:r>
              <a:rPr sz="6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5" dirty="0">
                <a:solidFill>
                  <a:srgbClr val="191933"/>
                </a:solidFill>
                <a:latin typeface="Arial MT"/>
                <a:cs typeface="Arial MT"/>
              </a:rPr>
              <a:t>shared</a:t>
            </a:r>
            <a:r>
              <a:rPr sz="6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network</a:t>
            </a:r>
            <a:r>
              <a:rPr sz="6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drives,</a:t>
            </a:r>
            <a:r>
              <a:rPr sz="6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USB</a:t>
            </a:r>
            <a:r>
              <a:rPr sz="6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drives,</a:t>
            </a:r>
            <a:r>
              <a:rPr sz="6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or</a:t>
            </a:r>
            <a:r>
              <a:rPr sz="6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peer-to-peer</a:t>
            </a:r>
            <a:r>
              <a:rPr sz="6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file-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sharing</a:t>
            </a:r>
            <a:r>
              <a:rPr sz="6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networks.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7743" y="2221712"/>
            <a:ext cx="4432935" cy="198755"/>
          </a:xfrm>
          <a:custGeom>
            <a:avLst/>
            <a:gdLst/>
            <a:ahLst/>
            <a:cxnLst/>
            <a:rect l="l" t="t" r="r" b="b"/>
            <a:pathLst>
              <a:path w="4432935" h="198755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4432566" y="198367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2672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138544" y="2250160"/>
            <a:ext cx="223710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60" dirty="0">
                <a:solidFill>
                  <a:srgbClr val="FFFFFF"/>
                </a:solidFill>
                <a:latin typeface="Tahoma"/>
                <a:cs typeface="Tahoma"/>
              </a:rPr>
              <a:t>Instant</a:t>
            </a:r>
            <a:r>
              <a:rPr sz="12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55" dirty="0">
                <a:solidFill>
                  <a:srgbClr val="FFFFFF"/>
                </a:solidFill>
                <a:latin typeface="Tahoma"/>
                <a:cs typeface="Tahoma"/>
              </a:rPr>
              <a:t>Messaging</a:t>
            </a:r>
            <a:r>
              <a:rPr sz="12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55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2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Tahoma"/>
                <a:cs typeface="Tahoma"/>
              </a:rPr>
              <a:t>Social</a:t>
            </a:r>
            <a:r>
              <a:rPr sz="12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Tahoma"/>
                <a:cs typeface="Tahoma"/>
              </a:rPr>
              <a:t>Media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38544" y="2441110"/>
            <a:ext cx="443293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Worms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can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5" dirty="0">
                <a:solidFill>
                  <a:srgbClr val="191933"/>
                </a:solidFill>
                <a:latin typeface="Arial MT"/>
                <a:cs typeface="Arial MT"/>
              </a:rPr>
              <a:t>use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instant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5" dirty="0">
                <a:solidFill>
                  <a:srgbClr val="191933"/>
                </a:solidFill>
                <a:latin typeface="Arial MT"/>
                <a:cs typeface="Arial MT"/>
              </a:rPr>
              <a:t>messaging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applications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or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social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media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platforms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5" dirty="0">
                <a:solidFill>
                  <a:srgbClr val="191933"/>
                </a:solidFill>
                <a:latin typeface="Arial MT"/>
                <a:cs typeface="Arial MT"/>
              </a:rPr>
              <a:t>send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malicious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links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contacts.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87743" y="2781172"/>
            <a:ext cx="4432935" cy="187960"/>
          </a:xfrm>
          <a:custGeom>
            <a:avLst/>
            <a:gdLst/>
            <a:ahLst/>
            <a:cxnLst/>
            <a:rect l="l" t="t" r="r" b="b"/>
            <a:pathLst>
              <a:path w="4432935" h="187960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4432566" y="187823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2672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138544" y="2809620"/>
            <a:ext cx="1201420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60" dirty="0">
                <a:solidFill>
                  <a:srgbClr val="FFFFFF"/>
                </a:solidFill>
                <a:latin typeface="Tahoma"/>
                <a:cs typeface="Tahoma"/>
              </a:rPr>
              <a:t>Internet</a:t>
            </a:r>
            <a:r>
              <a:rPr sz="12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70" dirty="0">
                <a:solidFill>
                  <a:srgbClr val="FFFFFF"/>
                </a:solidFill>
                <a:latin typeface="Tahoma"/>
                <a:cs typeface="Tahoma"/>
              </a:rPr>
              <a:t>Downloads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38544" y="2990029"/>
            <a:ext cx="4432935" cy="20510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R="340360">
              <a:lnSpc>
                <a:spcPts val="700"/>
              </a:lnSpc>
              <a:spcBef>
                <a:spcPts val="135"/>
              </a:spcBef>
            </a:pP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Malicious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5" dirty="0">
                <a:solidFill>
                  <a:srgbClr val="191933"/>
                </a:solidFill>
                <a:latin typeface="Arial MT"/>
                <a:cs typeface="Arial MT"/>
              </a:rPr>
              <a:t>websites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or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0" dirty="0">
                <a:solidFill>
                  <a:srgbClr val="191933"/>
                </a:solidFill>
                <a:latin typeface="Arial MT"/>
                <a:cs typeface="Arial MT"/>
              </a:rPr>
              <a:t>compromised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legitimate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5" dirty="0">
                <a:solidFill>
                  <a:srgbClr val="191933"/>
                </a:solidFill>
                <a:latin typeface="Arial MT"/>
                <a:cs typeface="Arial MT"/>
              </a:rPr>
              <a:t>websites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can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host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worm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malware,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which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infects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0" dirty="0">
                <a:solidFill>
                  <a:srgbClr val="191933"/>
                </a:solidFill>
                <a:latin typeface="Arial MT"/>
                <a:cs typeface="Arial MT"/>
              </a:rPr>
              <a:t>systems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when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30" dirty="0">
                <a:solidFill>
                  <a:srgbClr val="191933"/>
                </a:solidFill>
                <a:latin typeface="Arial MT"/>
                <a:cs typeface="Arial MT"/>
              </a:rPr>
              <a:t>users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visit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5" dirty="0">
                <a:solidFill>
                  <a:srgbClr val="191933"/>
                </a:solidFill>
                <a:latin typeface="Arial MT"/>
                <a:cs typeface="Arial MT"/>
              </a:rPr>
              <a:t>or</a:t>
            </a:r>
            <a:r>
              <a:rPr sz="600" spc="5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download content.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39" name="object 39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4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  <a:t>5</a:t>
            </a:fld>
            <a:r>
              <a:rPr spc="35" dirty="0"/>
              <a:t> </a:t>
            </a:r>
            <a:r>
              <a:rPr spc="150" dirty="0"/>
              <a:t>/</a:t>
            </a:r>
            <a:r>
              <a:rPr spc="35" dirty="0"/>
              <a:t> </a:t>
            </a:r>
            <a:r>
              <a:rPr spc="-25" dirty="0"/>
              <a:t>93</a:t>
            </a: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Notable</a:t>
            </a:r>
            <a:r>
              <a:rPr spc="-10" dirty="0"/>
              <a:t> </a:t>
            </a:r>
            <a:r>
              <a:rPr spc="-50" dirty="0"/>
              <a:t>Examples</a:t>
            </a:r>
            <a:r>
              <a:rPr spc="-5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spc="-30" dirty="0"/>
              <a:t>Worms</a:t>
            </a:r>
            <a:r>
              <a:rPr spc="-5" dirty="0"/>
              <a:t> </a:t>
            </a:r>
            <a:r>
              <a:rPr spc="90" dirty="0"/>
              <a:t>(1/2)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538682"/>
            <a:ext cx="4432935" cy="215265"/>
          </a:xfrm>
          <a:custGeom>
            <a:avLst/>
            <a:gdLst/>
            <a:ahLst/>
            <a:cxnLst/>
            <a:rect l="l" t="t" r="r" b="b"/>
            <a:pathLst>
              <a:path w="4432935" h="215265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15238"/>
                </a:lnTo>
                <a:lnTo>
                  <a:pt x="4432566" y="215238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2672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8544" y="575576"/>
            <a:ext cx="127825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25" dirty="0">
                <a:solidFill>
                  <a:srgbClr val="FFFFFF"/>
                </a:solidFill>
                <a:latin typeface="Tahoma"/>
                <a:cs typeface="Tahoma"/>
              </a:rPr>
              <a:t>Morris</a:t>
            </a:r>
            <a:r>
              <a:rPr sz="12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60" dirty="0">
                <a:solidFill>
                  <a:srgbClr val="FFFFFF"/>
                </a:solidFill>
                <a:latin typeface="Tahoma"/>
                <a:cs typeface="Tahoma"/>
              </a:rPr>
              <a:t>Worm</a:t>
            </a:r>
            <a:r>
              <a:rPr sz="12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50" dirty="0">
                <a:solidFill>
                  <a:srgbClr val="FFFFFF"/>
                </a:solidFill>
                <a:latin typeface="Tahoma"/>
                <a:cs typeface="Tahoma"/>
              </a:rPr>
              <a:t>(1988)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7743" y="767231"/>
            <a:ext cx="4483735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0800" marR="146050">
              <a:lnSpc>
                <a:spcPts val="950"/>
              </a:lnSpc>
              <a:spcBef>
                <a:spcPts val="135"/>
              </a:spcBef>
            </a:pP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One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first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worms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gain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widespread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attention,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50" dirty="0">
                <a:solidFill>
                  <a:srgbClr val="191933"/>
                </a:solidFill>
                <a:latin typeface="Arial MT"/>
                <a:cs typeface="Arial MT"/>
              </a:rPr>
              <a:t>it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exploited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vulnerabilities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in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Unix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systems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 and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5" dirty="0">
                <a:solidFill>
                  <a:srgbClr val="191933"/>
                </a:solidFill>
                <a:latin typeface="Arial MT"/>
                <a:cs typeface="Arial MT"/>
              </a:rPr>
              <a:t>caused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significant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disruption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on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early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internet.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7743" y="1217383"/>
            <a:ext cx="4432935" cy="215265"/>
          </a:xfrm>
          <a:custGeom>
            <a:avLst/>
            <a:gdLst/>
            <a:ahLst/>
            <a:cxnLst/>
            <a:rect l="l" t="t" r="r" b="b"/>
            <a:pathLst>
              <a:path w="4432935" h="215265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15238"/>
                </a:lnTo>
                <a:lnTo>
                  <a:pt x="4432566" y="215238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2672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38544" y="1254264"/>
            <a:ext cx="160845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ILOVEYOU</a:t>
            </a:r>
            <a:r>
              <a:rPr sz="1200" spc="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60" dirty="0">
                <a:solidFill>
                  <a:srgbClr val="FFFFFF"/>
                </a:solidFill>
                <a:latin typeface="Tahoma"/>
                <a:cs typeface="Tahoma"/>
              </a:rPr>
              <a:t>Worm</a:t>
            </a:r>
            <a:r>
              <a:rPr sz="1200" spc="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55" dirty="0">
                <a:solidFill>
                  <a:srgbClr val="FFFFFF"/>
                </a:solidFill>
                <a:latin typeface="Tahoma"/>
                <a:cs typeface="Tahoma"/>
              </a:rPr>
              <a:t>(2000)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7743" y="1445931"/>
            <a:ext cx="4483735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0800" marR="142875">
              <a:lnSpc>
                <a:spcPts val="950"/>
              </a:lnSpc>
              <a:spcBef>
                <a:spcPts val="135"/>
              </a:spcBef>
            </a:pP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Spread</a:t>
            </a:r>
            <a:r>
              <a:rPr sz="800" spc="7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through</a:t>
            </a:r>
            <a:r>
              <a:rPr sz="800" spc="7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email</a:t>
            </a:r>
            <a:r>
              <a:rPr sz="800" spc="7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with</a:t>
            </a:r>
            <a:r>
              <a:rPr sz="800" spc="7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800" spc="7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subject</a:t>
            </a:r>
            <a:r>
              <a:rPr sz="800" spc="7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line</a:t>
            </a:r>
            <a:r>
              <a:rPr sz="800" spc="7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”ILOVEYOU,”</a:t>
            </a:r>
            <a:r>
              <a:rPr sz="800" spc="7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tricking</a:t>
            </a:r>
            <a:r>
              <a:rPr sz="800" spc="7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users</a:t>
            </a:r>
            <a:r>
              <a:rPr sz="800" spc="7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into</a:t>
            </a:r>
            <a:r>
              <a:rPr sz="800" spc="7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opening</a:t>
            </a:r>
            <a:r>
              <a:rPr sz="800" spc="7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800" spc="7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malicious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attachment.</a:t>
            </a:r>
            <a:r>
              <a:rPr sz="800" spc="1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It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5" dirty="0">
                <a:solidFill>
                  <a:srgbClr val="191933"/>
                </a:solidFill>
                <a:latin typeface="Arial MT"/>
                <a:cs typeface="Arial MT"/>
              </a:rPr>
              <a:t>caused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widespread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damage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by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overwriting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files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and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sending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itself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contacts.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7743" y="1896084"/>
            <a:ext cx="4432935" cy="215265"/>
          </a:xfrm>
          <a:custGeom>
            <a:avLst/>
            <a:gdLst/>
            <a:ahLst/>
            <a:cxnLst/>
            <a:rect l="l" t="t" r="r" b="b"/>
            <a:pathLst>
              <a:path w="4432935" h="215264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15238"/>
                </a:lnTo>
                <a:lnTo>
                  <a:pt x="4432566" y="215238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2672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38544" y="1932964"/>
            <a:ext cx="1066800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40" dirty="0">
                <a:solidFill>
                  <a:srgbClr val="FFFFFF"/>
                </a:solidFill>
                <a:latin typeface="Tahoma"/>
                <a:cs typeface="Tahoma"/>
              </a:rPr>
              <a:t>Code</a:t>
            </a:r>
            <a:r>
              <a:rPr sz="12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45" dirty="0">
                <a:solidFill>
                  <a:srgbClr val="FFFFFF"/>
                </a:solidFill>
                <a:latin typeface="Tahoma"/>
                <a:cs typeface="Tahoma"/>
              </a:rPr>
              <a:t>Red</a:t>
            </a:r>
            <a:r>
              <a:rPr sz="12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55" dirty="0">
                <a:solidFill>
                  <a:srgbClr val="FFFFFF"/>
                </a:solidFill>
                <a:latin typeface="Tahoma"/>
                <a:cs typeface="Tahoma"/>
              </a:rPr>
              <a:t>(2001)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7743" y="2124619"/>
            <a:ext cx="4483735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0800" marR="187325">
              <a:lnSpc>
                <a:spcPts val="950"/>
              </a:lnSpc>
              <a:spcBef>
                <a:spcPts val="135"/>
              </a:spcBef>
            </a:pP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Exploited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vulnerability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in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Microsoft’s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IIS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web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server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infect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and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deface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websites,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leading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 significant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server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downtime.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7743" y="2574785"/>
            <a:ext cx="4432935" cy="215265"/>
          </a:xfrm>
          <a:custGeom>
            <a:avLst/>
            <a:gdLst/>
            <a:ahLst/>
            <a:cxnLst/>
            <a:rect l="l" t="t" r="r" b="b"/>
            <a:pathLst>
              <a:path w="4432935" h="215264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15238"/>
                </a:lnTo>
                <a:lnTo>
                  <a:pt x="4432566" y="215238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2672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138544" y="2611665"/>
            <a:ext cx="142684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60" dirty="0">
                <a:solidFill>
                  <a:srgbClr val="FFFFFF"/>
                </a:solidFill>
                <a:latin typeface="Tahoma"/>
                <a:cs typeface="Tahoma"/>
              </a:rPr>
              <a:t>Slammer</a:t>
            </a:r>
            <a:r>
              <a:rPr sz="1200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60" dirty="0">
                <a:solidFill>
                  <a:srgbClr val="FFFFFF"/>
                </a:solidFill>
                <a:latin typeface="Tahoma"/>
                <a:cs typeface="Tahoma"/>
              </a:rPr>
              <a:t>Worm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55" dirty="0">
                <a:solidFill>
                  <a:srgbClr val="FFFFFF"/>
                </a:solidFill>
                <a:latin typeface="Tahoma"/>
                <a:cs typeface="Tahoma"/>
              </a:rPr>
              <a:t>(2003)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7743" y="2803320"/>
            <a:ext cx="4483735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0800" marR="536575">
              <a:lnSpc>
                <a:spcPts val="950"/>
              </a:lnSpc>
              <a:spcBef>
                <a:spcPts val="135"/>
              </a:spcBef>
            </a:pP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Spread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rapidly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by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exploiting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vulnerability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in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Microsoft’s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SQL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Server,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causing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network congestion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 and</a:t>
            </a:r>
            <a:r>
              <a:rPr sz="8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denial</a:t>
            </a:r>
            <a:r>
              <a:rPr sz="8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8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service.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32" name="object 32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4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  <a:t>6</a:t>
            </a:fld>
            <a:r>
              <a:rPr spc="35" dirty="0"/>
              <a:t> </a:t>
            </a:r>
            <a:r>
              <a:rPr spc="150" dirty="0"/>
              <a:t>/</a:t>
            </a:r>
            <a:r>
              <a:rPr spc="35" dirty="0"/>
              <a:t> </a:t>
            </a:r>
            <a:r>
              <a:rPr spc="-25" dirty="0"/>
              <a:t>93</a:t>
            </a: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Notable</a:t>
            </a:r>
            <a:r>
              <a:rPr spc="-10" dirty="0"/>
              <a:t> </a:t>
            </a:r>
            <a:r>
              <a:rPr spc="-50" dirty="0"/>
              <a:t>Examples</a:t>
            </a:r>
            <a:r>
              <a:rPr spc="-5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spc="-30" dirty="0"/>
              <a:t>Worms</a:t>
            </a:r>
            <a:r>
              <a:rPr spc="-5" dirty="0"/>
              <a:t> </a:t>
            </a:r>
            <a:r>
              <a:rPr spc="90" dirty="0"/>
              <a:t>(2/2)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1261046"/>
            <a:ext cx="4432935" cy="215265"/>
          </a:xfrm>
          <a:custGeom>
            <a:avLst/>
            <a:gdLst/>
            <a:ahLst/>
            <a:cxnLst/>
            <a:rect l="l" t="t" r="r" b="b"/>
            <a:pathLst>
              <a:path w="4432935" h="215265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15238"/>
                </a:lnTo>
                <a:lnTo>
                  <a:pt x="4432566" y="215238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2672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8544" y="1297939"/>
            <a:ext cx="1038860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45" dirty="0">
                <a:solidFill>
                  <a:srgbClr val="FFFFFF"/>
                </a:solidFill>
                <a:latin typeface="Tahoma"/>
                <a:cs typeface="Tahoma"/>
              </a:rPr>
              <a:t>Conficker</a:t>
            </a:r>
            <a:r>
              <a:rPr sz="120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55" dirty="0">
                <a:solidFill>
                  <a:srgbClr val="FFFFFF"/>
                </a:solidFill>
                <a:latin typeface="Tahoma"/>
                <a:cs typeface="Tahoma"/>
              </a:rPr>
              <a:t>(2008)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8544" y="1478189"/>
            <a:ext cx="4432935" cy="5359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R="141605">
              <a:lnSpc>
                <a:spcPct val="102600"/>
              </a:lnSpc>
              <a:spcBef>
                <a:spcPts val="55"/>
              </a:spcBef>
            </a:pP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Exploited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Windows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vulnerabilities,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creating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a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botnet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that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affected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millions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of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computers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worldwide.</a:t>
            </a:r>
            <a:r>
              <a:rPr sz="1100" spc="5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It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had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the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capability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to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disable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security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features 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and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download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additional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malware.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1" name="object 11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4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  <a:t>7</a:t>
            </a:fld>
            <a:r>
              <a:rPr spc="35" dirty="0"/>
              <a:t> </a:t>
            </a:r>
            <a:r>
              <a:rPr spc="150" dirty="0"/>
              <a:t>/</a:t>
            </a:r>
            <a:r>
              <a:rPr spc="35" dirty="0"/>
              <a:t> </a:t>
            </a:r>
            <a:r>
              <a:rPr spc="-25" dirty="0"/>
              <a:t>93</a:t>
            </a: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1013"/>
            <a:ext cx="1932939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Worm</a:t>
            </a:r>
            <a:r>
              <a:rPr spc="-25" dirty="0"/>
              <a:t> Propagation </a:t>
            </a:r>
            <a:r>
              <a:rPr spc="-55" dirty="0"/>
              <a:t>Process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417702"/>
            <a:ext cx="4432935" cy="198755"/>
          </a:xfrm>
          <a:custGeom>
            <a:avLst/>
            <a:gdLst/>
            <a:ahLst/>
            <a:cxnLst/>
            <a:rect l="l" t="t" r="r" b="b"/>
            <a:pathLst>
              <a:path w="4432935" h="198754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4432566" y="198367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2672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8544" y="446150"/>
            <a:ext cx="128206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1.</a:t>
            </a:r>
            <a:r>
              <a:rPr sz="1200" spc="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Tahoma"/>
                <a:cs typeface="Tahoma"/>
              </a:rPr>
              <a:t>Find</a:t>
            </a:r>
            <a:r>
              <a:rPr sz="1200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60" dirty="0">
                <a:solidFill>
                  <a:srgbClr val="FFFFFF"/>
                </a:solidFill>
                <a:latin typeface="Tahoma"/>
                <a:cs typeface="Tahoma"/>
              </a:rPr>
              <a:t>New</a:t>
            </a:r>
            <a:r>
              <a:rPr sz="12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65" dirty="0">
                <a:solidFill>
                  <a:srgbClr val="FFFFFF"/>
                </a:solidFill>
                <a:latin typeface="Tahoma"/>
                <a:cs typeface="Tahoma"/>
              </a:rPr>
              <a:t>Targets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8544" y="474633"/>
            <a:ext cx="4432935" cy="38417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95"/>
              </a:spcBef>
            </a:pPr>
            <a:endParaRPr sz="800">
              <a:latin typeface="Times New Roman"/>
              <a:cs typeface="Times New Roman"/>
            </a:endParaRPr>
          </a:p>
          <a:p>
            <a:pPr marL="276860">
              <a:lnSpc>
                <a:spcPct val="100000"/>
              </a:lnSpc>
            </a:pP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IP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random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scanning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7743" y="921372"/>
            <a:ext cx="4432935" cy="198755"/>
          </a:xfrm>
          <a:custGeom>
            <a:avLst/>
            <a:gdLst/>
            <a:ahLst/>
            <a:cxnLst/>
            <a:rect l="l" t="t" r="r" b="b"/>
            <a:pathLst>
              <a:path w="4432935" h="198755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4432566" y="198367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2672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38544" y="949819"/>
            <a:ext cx="144843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2.</a:t>
            </a:r>
            <a:r>
              <a:rPr sz="1200" spc="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65" dirty="0">
                <a:solidFill>
                  <a:srgbClr val="FFFFFF"/>
                </a:solidFill>
                <a:latin typeface="Tahoma"/>
                <a:cs typeface="Tahoma"/>
              </a:rPr>
              <a:t>Compromise</a:t>
            </a:r>
            <a:r>
              <a:rPr sz="12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60" dirty="0">
                <a:solidFill>
                  <a:srgbClr val="FFFFFF"/>
                </a:solidFill>
                <a:latin typeface="Tahoma"/>
                <a:cs typeface="Tahoma"/>
              </a:rPr>
              <a:t>Targets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38544" y="978299"/>
            <a:ext cx="4432935" cy="54737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95"/>
              </a:spcBef>
            </a:pPr>
            <a:endParaRPr sz="800">
              <a:latin typeface="Times New Roman"/>
              <a:cs typeface="Times New Roman"/>
            </a:endParaRPr>
          </a:p>
          <a:p>
            <a:pPr marL="276860">
              <a:lnSpc>
                <a:spcPct val="100000"/>
              </a:lnSpc>
            </a:pP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Exploit</a:t>
            </a:r>
            <a:r>
              <a:rPr sz="800" spc="10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vulnerability</a:t>
            </a:r>
            <a:endParaRPr sz="800">
              <a:latin typeface="Arial MT"/>
              <a:cs typeface="Arial MT"/>
            </a:endParaRPr>
          </a:p>
          <a:p>
            <a:pPr marL="276860">
              <a:lnSpc>
                <a:spcPct val="100000"/>
              </a:lnSpc>
              <a:spcBef>
                <a:spcPts val="285"/>
              </a:spcBef>
            </a:pP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Trick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users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run</a:t>
            </a:r>
            <a:r>
              <a:rPr sz="800" spc="5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malicious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code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(e.g.,</a:t>
            </a:r>
            <a:r>
              <a:rPr sz="800" spc="5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Spam)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7743" y="1588820"/>
            <a:ext cx="4432935" cy="198755"/>
          </a:xfrm>
          <a:custGeom>
            <a:avLst/>
            <a:gdLst/>
            <a:ahLst/>
            <a:cxnLst/>
            <a:rect l="l" t="t" r="r" b="b"/>
            <a:pathLst>
              <a:path w="4432935" h="198755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4432566" y="198367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2672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38544" y="1617268"/>
            <a:ext cx="2368550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3.</a:t>
            </a:r>
            <a:r>
              <a:rPr sz="1200" spc="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45" dirty="0">
                <a:solidFill>
                  <a:srgbClr val="FFFFFF"/>
                </a:solidFill>
                <a:latin typeface="Tahoma"/>
                <a:cs typeface="Tahoma"/>
              </a:rPr>
              <a:t>Newly </a:t>
            </a:r>
            <a:r>
              <a:rPr sz="1200" spc="-65" dirty="0">
                <a:solidFill>
                  <a:srgbClr val="FFFFFF"/>
                </a:solidFill>
                <a:latin typeface="Tahoma"/>
                <a:cs typeface="Tahoma"/>
              </a:rPr>
              <a:t>Infected</a:t>
            </a:r>
            <a:r>
              <a:rPr sz="12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Join</a:t>
            </a:r>
            <a:r>
              <a:rPr sz="12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55" dirty="0">
                <a:solidFill>
                  <a:srgbClr val="FFFFFF"/>
                </a:solidFill>
                <a:latin typeface="Tahoma"/>
                <a:cs typeface="Tahoma"/>
              </a:rPr>
              <a:t>Infection</a:t>
            </a:r>
            <a:r>
              <a:rPr sz="1200" spc="-40" dirty="0">
                <a:solidFill>
                  <a:srgbClr val="FFFFFF"/>
                </a:solidFill>
                <a:latin typeface="Tahoma"/>
                <a:cs typeface="Tahoma"/>
              </a:rPr>
              <a:t> Army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38544" y="1645751"/>
            <a:ext cx="4432935" cy="38417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95"/>
              </a:spcBef>
            </a:pPr>
            <a:endParaRPr sz="800">
              <a:latin typeface="Times New Roman"/>
              <a:cs typeface="Times New Roman"/>
            </a:endParaRPr>
          </a:p>
          <a:p>
            <a:pPr marL="276860">
              <a:lnSpc>
                <a:spcPct val="100000"/>
              </a:lnSpc>
            </a:pP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Infected</a:t>
            </a:r>
            <a:r>
              <a:rPr sz="800" spc="5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systems</a:t>
            </a:r>
            <a:r>
              <a:rPr sz="800" spc="5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contribute</a:t>
            </a:r>
            <a:r>
              <a:rPr sz="800" spc="5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800" spc="5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further</a:t>
            </a:r>
            <a:r>
              <a:rPr sz="800" spc="5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spread</a:t>
            </a:r>
            <a:r>
              <a:rPr sz="800" spc="5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800" spc="5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800" spc="5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worm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698308" y="2236934"/>
            <a:ext cx="646430" cy="118745"/>
          </a:xfrm>
          <a:prstGeom prst="rect">
            <a:avLst/>
          </a:prstGeom>
          <a:solidFill>
            <a:srgbClr val="FFFFFF"/>
          </a:solidFill>
          <a:ln w="7114">
            <a:solidFill>
              <a:srgbClr val="000000"/>
            </a:solidFill>
          </a:ln>
        </p:spPr>
        <p:txBody>
          <a:bodyPr vert="horz" wrap="square" lIns="0" tIns="34925" rIns="0" bIns="0" rtlCol="0">
            <a:spAutoFit/>
          </a:bodyPr>
          <a:lstStyle/>
          <a:p>
            <a:pPr marL="104775">
              <a:lnSpc>
                <a:spcPct val="100000"/>
              </a:lnSpc>
              <a:spcBef>
                <a:spcPts val="275"/>
              </a:spcBef>
            </a:pPr>
            <a:r>
              <a:rPr sz="300" spc="70" dirty="0">
                <a:latin typeface="Arial MT"/>
                <a:cs typeface="Arial MT"/>
              </a:rPr>
              <a:t>Find</a:t>
            </a:r>
            <a:r>
              <a:rPr sz="300" spc="40" dirty="0">
                <a:latin typeface="Arial MT"/>
                <a:cs typeface="Arial MT"/>
              </a:rPr>
              <a:t> </a:t>
            </a:r>
            <a:r>
              <a:rPr sz="300" spc="95" dirty="0">
                <a:latin typeface="Arial MT"/>
                <a:cs typeface="Arial MT"/>
              </a:rPr>
              <a:t>New</a:t>
            </a:r>
            <a:r>
              <a:rPr sz="300" spc="35" dirty="0">
                <a:latin typeface="Arial MT"/>
                <a:cs typeface="Arial MT"/>
              </a:rPr>
              <a:t> </a:t>
            </a:r>
            <a:r>
              <a:rPr sz="300" spc="50" dirty="0">
                <a:latin typeface="Arial MT"/>
                <a:cs typeface="Arial MT"/>
              </a:rPr>
              <a:t>Targets</a:t>
            </a:r>
            <a:endParaRPr sz="30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164607" y="2529997"/>
            <a:ext cx="749300" cy="118745"/>
          </a:xfrm>
          <a:prstGeom prst="rect">
            <a:avLst/>
          </a:prstGeom>
          <a:solidFill>
            <a:srgbClr val="FFFFFF"/>
          </a:solidFill>
          <a:ln w="7080">
            <a:solidFill>
              <a:srgbClr val="000000"/>
            </a:solidFill>
          </a:ln>
        </p:spPr>
        <p:txBody>
          <a:bodyPr vert="horz" wrap="square" lIns="0" tIns="34925" rIns="0" bIns="0" rtlCol="0">
            <a:spAutoFit/>
          </a:bodyPr>
          <a:lstStyle/>
          <a:p>
            <a:pPr marL="115570">
              <a:lnSpc>
                <a:spcPct val="100000"/>
              </a:lnSpc>
              <a:spcBef>
                <a:spcPts val="275"/>
              </a:spcBef>
            </a:pPr>
            <a:r>
              <a:rPr sz="300" spc="80" dirty="0">
                <a:latin typeface="Arial MT"/>
                <a:cs typeface="Arial MT"/>
              </a:rPr>
              <a:t>Compromise</a:t>
            </a:r>
            <a:r>
              <a:rPr sz="300" spc="50" dirty="0">
                <a:latin typeface="Arial MT"/>
                <a:cs typeface="Arial MT"/>
              </a:rPr>
              <a:t> Targets</a:t>
            </a:r>
            <a:endParaRPr sz="30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71179" y="2823060"/>
            <a:ext cx="1254760" cy="118745"/>
          </a:xfrm>
          <a:prstGeom prst="rect">
            <a:avLst/>
          </a:prstGeom>
          <a:solidFill>
            <a:srgbClr val="FFFFFF"/>
          </a:solidFill>
          <a:ln w="7015">
            <a:solidFill>
              <a:srgbClr val="000000"/>
            </a:solidFill>
          </a:ln>
        </p:spPr>
        <p:txBody>
          <a:bodyPr vert="horz" wrap="square" lIns="0" tIns="34925" rIns="0" bIns="0" rtlCol="0">
            <a:spAutoFit/>
          </a:bodyPr>
          <a:lstStyle/>
          <a:p>
            <a:pPr marL="197485">
              <a:lnSpc>
                <a:spcPct val="100000"/>
              </a:lnSpc>
              <a:spcBef>
                <a:spcPts val="275"/>
              </a:spcBef>
            </a:pPr>
            <a:r>
              <a:rPr sz="300" spc="80" dirty="0">
                <a:latin typeface="Arial MT"/>
                <a:cs typeface="Arial MT"/>
              </a:rPr>
              <a:t>Newly</a:t>
            </a:r>
            <a:r>
              <a:rPr sz="300" spc="45" dirty="0">
                <a:latin typeface="Arial MT"/>
                <a:cs typeface="Arial MT"/>
              </a:rPr>
              <a:t> </a:t>
            </a:r>
            <a:r>
              <a:rPr sz="300" spc="60" dirty="0">
                <a:latin typeface="Arial MT"/>
                <a:cs typeface="Arial MT"/>
              </a:rPr>
              <a:t>Infected</a:t>
            </a:r>
            <a:r>
              <a:rPr sz="300" spc="45" dirty="0">
                <a:latin typeface="Arial MT"/>
                <a:cs typeface="Arial MT"/>
              </a:rPr>
              <a:t> </a:t>
            </a:r>
            <a:r>
              <a:rPr sz="300" spc="65" dirty="0">
                <a:latin typeface="Arial MT"/>
                <a:cs typeface="Arial MT"/>
              </a:rPr>
              <a:t>Join</a:t>
            </a:r>
            <a:r>
              <a:rPr sz="300" spc="45" dirty="0">
                <a:latin typeface="Arial MT"/>
                <a:cs typeface="Arial MT"/>
              </a:rPr>
              <a:t> </a:t>
            </a:r>
            <a:r>
              <a:rPr sz="300" spc="60" dirty="0">
                <a:latin typeface="Arial MT"/>
                <a:cs typeface="Arial MT"/>
              </a:rPr>
              <a:t>Infection</a:t>
            </a:r>
            <a:r>
              <a:rPr sz="300" spc="20" dirty="0">
                <a:latin typeface="Arial MT"/>
                <a:cs typeface="Arial MT"/>
              </a:rPr>
              <a:t> </a:t>
            </a:r>
            <a:r>
              <a:rPr sz="300" spc="60" dirty="0">
                <a:latin typeface="Arial MT"/>
                <a:cs typeface="Arial MT"/>
              </a:rPr>
              <a:t>Army</a:t>
            </a:r>
            <a:endParaRPr sz="30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143059" y="2529997"/>
            <a:ext cx="721360" cy="118745"/>
          </a:xfrm>
          <a:prstGeom prst="rect">
            <a:avLst/>
          </a:prstGeom>
          <a:solidFill>
            <a:srgbClr val="FFFFFF"/>
          </a:solidFill>
          <a:ln w="7088">
            <a:solidFill>
              <a:srgbClr val="000000"/>
            </a:solidFill>
          </a:ln>
        </p:spPr>
        <p:txBody>
          <a:bodyPr vert="horz" wrap="square" lIns="0" tIns="34925" rIns="0" bIns="0" rtlCol="0">
            <a:spAutoFit/>
          </a:bodyPr>
          <a:lstStyle/>
          <a:p>
            <a:pPr marL="110489">
              <a:lnSpc>
                <a:spcPct val="100000"/>
              </a:lnSpc>
              <a:spcBef>
                <a:spcPts val="275"/>
              </a:spcBef>
            </a:pPr>
            <a:r>
              <a:rPr sz="300" spc="60" dirty="0">
                <a:latin typeface="Arial MT"/>
                <a:cs typeface="Arial MT"/>
              </a:rPr>
              <a:t>IP</a:t>
            </a:r>
            <a:r>
              <a:rPr sz="300" spc="35" dirty="0">
                <a:latin typeface="Arial MT"/>
                <a:cs typeface="Arial MT"/>
              </a:rPr>
              <a:t> </a:t>
            </a:r>
            <a:r>
              <a:rPr sz="300" spc="80" dirty="0">
                <a:latin typeface="Arial MT"/>
                <a:cs typeface="Arial MT"/>
              </a:rPr>
              <a:t>random</a:t>
            </a:r>
            <a:r>
              <a:rPr sz="300" spc="45" dirty="0">
                <a:latin typeface="Arial MT"/>
                <a:cs typeface="Arial MT"/>
              </a:rPr>
              <a:t> </a:t>
            </a:r>
            <a:r>
              <a:rPr sz="300" spc="60" dirty="0">
                <a:latin typeface="Arial MT"/>
                <a:cs typeface="Arial MT"/>
              </a:rPr>
              <a:t>scanning</a:t>
            </a:r>
            <a:endParaRPr sz="30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159925" y="2823060"/>
            <a:ext cx="753745" cy="118745"/>
          </a:xfrm>
          <a:prstGeom prst="rect">
            <a:avLst/>
          </a:prstGeom>
          <a:solidFill>
            <a:srgbClr val="FFFFFF"/>
          </a:solidFill>
          <a:ln w="7079">
            <a:solidFill>
              <a:srgbClr val="000000"/>
            </a:solidFill>
          </a:ln>
        </p:spPr>
        <p:txBody>
          <a:bodyPr vert="horz" wrap="square" lIns="0" tIns="34925" rIns="0" bIns="0" rtlCol="0">
            <a:spAutoFit/>
          </a:bodyPr>
          <a:lstStyle/>
          <a:p>
            <a:pPr marL="135890">
              <a:lnSpc>
                <a:spcPct val="100000"/>
              </a:lnSpc>
              <a:spcBef>
                <a:spcPts val="275"/>
              </a:spcBef>
            </a:pPr>
            <a:r>
              <a:rPr sz="300" spc="60" dirty="0">
                <a:latin typeface="Arial MT"/>
                <a:cs typeface="Arial MT"/>
              </a:rPr>
              <a:t>Exploit</a:t>
            </a:r>
            <a:r>
              <a:rPr sz="300" spc="45" dirty="0">
                <a:latin typeface="Arial MT"/>
                <a:cs typeface="Arial MT"/>
              </a:rPr>
              <a:t> vulnerability</a:t>
            </a:r>
            <a:endParaRPr sz="30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147741" y="2823060"/>
            <a:ext cx="1175385" cy="118745"/>
          </a:xfrm>
          <a:prstGeom prst="rect">
            <a:avLst/>
          </a:prstGeom>
          <a:solidFill>
            <a:srgbClr val="FFFFFF"/>
          </a:solidFill>
          <a:ln w="7020">
            <a:solidFill>
              <a:srgbClr val="000000"/>
            </a:solidFill>
          </a:ln>
        </p:spPr>
        <p:txBody>
          <a:bodyPr vert="horz" wrap="square" lIns="0" tIns="34925" rIns="0" bIns="0" rtlCol="0">
            <a:spAutoFit/>
          </a:bodyPr>
          <a:lstStyle/>
          <a:p>
            <a:pPr marL="177800">
              <a:lnSpc>
                <a:spcPct val="100000"/>
              </a:lnSpc>
              <a:spcBef>
                <a:spcPts val="275"/>
              </a:spcBef>
            </a:pPr>
            <a:r>
              <a:rPr sz="300" spc="55" dirty="0">
                <a:latin typeface="Arial MT"/>
                <a:cs typeface="Arial MT"/>
              </a:rPr>
              <a:t>Trick</a:t>
            </a:r>
            <a:r>
              <a:rPr sz="300" spc="45" dirty="0">
                <a:latin typeface="Arial MT"/>
                <a:cs typeface="Arial MT"/>
              </a:rPr>
              <a:t> </a:t>
            </a:r>
            <a:r>
              <a:rPr sz="300" spc="70" dirty="0">
                <a:latin typeface="Arial MT"/>
                <a:cs typeface="Arial MT"/>
              </a:rPr>
              <a:t>users</a:t>
            </a:r>
            <a:r>
              <a:rPr sz="300" spc="45" dirty="0">
                <a:latin typeface="Arial MT"/>
                <a:cs typeface="Arial MT"/>
              </a:rPr>
              <a:t> </a:t>
            </a:r>
            <a:r>
              <a:rPr sz="300" spc="55" dirty="0">
                <a:latin typeface="Arial MT"/>
                <a:cs typeface="Arial MT"/>
              </a:rPr>
              <a:t>to</a:t>
            </a:r>
            <a:r>
              <a:rPr sz="300" spc="45" dirty="0">
                <a:latin typeface="Arial MT"/>
                <a:cs typeface="Arial MT"/>
              </a:rPr>
              <a:t> </a:t>
            </a:r>
            <a:r>
              <a:rPr sz="300" spc="70" dirty="0">
                <a:latin typeface="Arial MT"/>
                <a:cs typeface="Arial MT"/>
              </a:rPr>
              <a:t>run</a:t>
            </a:r>
            <a:r>
              <a:rPr sz="300" spc="45" dirty="0">
                <a:latin typeface="Arial MT"/>
                <a:cs typeface="Arial MT"/>
              </a:rPr>
              <a:t> </a:t>
            </a:r>
            <a:r>
              <a:rPr sz="300" spc="65" dirty="0">
                <a:latin typeface="Arial MT"/>
                <a:cs typeface="Arial MT"/>
              </a:rPr>
              <a:t>malicious</a:t>
            </a:r>
            <a:r>
              <a:rPr sz="300" spc="45" dirty="0">
                <a:latin typeface="Arial MT"/>
                <a:cs typeface="Arial MT"/>
              </a:rPr>
              <a:t> </a:t>
            </a:r>
            <a:r>
              <a:rPr sz="300" spc="55" dirty="0">
                <a:latin typeface="Arial MT"/>
                <a:cs typeface="Arial MT"/>
              </a:rPr>
              <a:t>code</a:t>
            </a:r>
            <a:endParaRPr sz="300">
              <a:latin typeface="Arial MT"/>
              <a:cs typeface="Arial M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77926" y="3116123"/>
            <a:ext cx="2041525" cy="118745"/>
          </a:xfrm>
          <a:prstGeom prst="rect">
            <a:avLst/>
          </a:prstGeom>
          <a:solidFill>
            <a:srgbClr val="FFFFFF"/>
          </a:solidFill>
          <a:ln w="6992">
            <a:solidFill>
              <a:srgbClr val="000000"/>
            </a:solidFill>
          </a:ln>
        </p:spPr>
        <p:txBody>
          <a:bodyPr vert="horz" wrap="square" lIns="0" tIns="34925" rIns="0" bIns="0" rtlCol="0">
            <a:spAutoFit/>
          </a:bodyPr>
          <a:lstStyle/>
          <a:p>
            <a:pPr marL="309880">
              <a:lnSpc>
                <a:spcPct val="100000"/>
              </a:lnSpc>
              <a:spcBef>
                <a:spcPts val="275"/>
              </a:spcBef>
            </a:pPr>
            <a:r>
              <a:rPr sz="300" spc="60" dirty="0">
                <a:latin typeface="Arial MT"/>
                <a:cs typeface="Arial MT"/>
              </a:rPr>
              <a:t>Infected</a:t>
            </a:r>
            <a:r>
              <a:rPr sz="300" spc="50" dirty="0">
                <a:latin typeface="Arial MT"/>
                <a:cs typeface="Arial MT"/>
              </a:rPr>
              <a:t> </a:t>
            </a:r>
            <a:r>
              <a:rPr sz="300" spc="70" dirty="0">
                <a:latin typeface="Arial MT"/>
                <a:cs typeface="Arial MT"/>
              </a:rPr>
              <a:t>systems</a:t>
            </a:r>
            <a:r>
              <a:rPr sz="300" spc="55" dirty="0">
                <a:latin typeface="Arial MT"/>
                <a:cs typeface="Arial MT"/>
              </a:rPr>
              <a:t> </a:t>
            </a:r>
            <a:r>
              <a:rPr sz="300" spc="60" dirty="0">
                <a:latin typeface="Arial MT"/>
                <a:cs typeface="Arial MT"/>
              </a:rPr>
              <a:t>contribute</a:t>
            </a:r>
            <a:r>
              <a:rPr sz="300" spc="50" dirty="0">
                <a:latin typeface="Arial MT"/>
                <a:cs typeface="Arial MT"/>
              </a:rPr>
              <a:t> </a:t>
            </a:r>
            <a:r>
              <a:rPr sz="300" spc="55" dirty="0">
                <a:latin typeface="Arial MT"/>
                <a:cs typeface="Arial MT"/>
              </a:rPr>
              <a:t>to further </a:t>
            </a:r>
            <a:r>
              <a:rPr sz="300" spc="75" dirty="0">
                <a:latin typeface="Arial MT"/>
                <a:cs typeface="Arial MT"/>
              </a:rPr>
              <a:t>spread</a:t>
            </a:r>
            <a:r>
              <a:rPr sz="300" spc="50" dirty="0">
                <a:latin typeface="Arial MT"/>
                <a:cs typeface="Arial MT"/>
              </a:rPr>
              <a:t> </a:t>
            </a:r>
            <a:r>
              <a:rPr sz="300" spc="55" dirty="0">
                <a:latin typeface="Arial MT"/>
                <a:cs typeface="Arial MT"/>
              </a:rPr>
              <a:t>of </a:t>
            </a:r>
            <a:r>
              <a:rPr sz="300" spc="65" dirty="0">
                <a:latin typeface="Arial MT"/>
                <a:cs typeface="Arial MT"/>
              </a:rPr>
              <a:t>the</a:t>
            </a:r>
            <a:r>
              <a:rPr sz="300" spc="55" dirty="0">
                <a:latin typeface="Arial MT"/>
                <a:cs typeface="Arial MT"/>
              </a:rPr>
              <a:t> </a:t>
            </a:r>
            <a:r>
              <a:rPr sz="300" spc="65" dirty="0">
                <a:latin typeface="Arial MT"/>
                <a:cs typeface="Arial MT"/>
              </a:rPr>
              <a:t>worm</a:t>
            </a:r>
            <a:endParaRPr sz="300">
              <a:latin typeface="Arial MT"/>
              <a:cs typeface="Arial MT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2521543" y="2355367"/>
            <a:ext cx="310515" cy="174625"/>
            <a:chOff x="2521543" y="2355367"/>
            <a:chExt cx="310515" cy="174625"/>
          </a:xfrm>
        </p:grpSpPr>
        <p:sp>
          <p:nvSpPr>
            <p:cNvPr id="36" name="object 36"/>
            <p:cNvSpPr/>
            <p:nvPr/>
          </p:nvSpPr>
          <p:spPr>
            <a:xfrm>
              <a:off x="2539977" y="2357299"/>
              <a:ext cx="290195" cy="146685"/>
            </a:xfrm>
            <a:custGeom>
              <a:avLst/>
              <a:gdLst/>
              <a:ahLst/>
              <a:cxnLst/>
              <a:rect l="l" t="t" r="r" b="b"/>
              <a:pathLst>
                <a:path w="290194" h="146685">
                  <a:moveTo>
                    <a:pt x="289884" y="0"/>
                  </a:moveTo>
                  <a:lnTo>
                    <a:pt x="212196" y="24342"/>
                  </a:lnTo>
                  <a:lnTo>
                    <a:pt x="146600" y="47530"/>
                  </a:lnTo>
                  <a:lnTo>
                    <a:pt x="93096" y="69564"/>
                  </a:lnTo>
                  <a:lnTo>
                    <a:pt x="51684" y="90442"/>
                  </a:lnTo>
                  <a:lnTo>
                    <a:pt x="5136" y="128734"/>
                  </a:lnTo>
                  <a:lnTo>
                    <a:pt x="0" y="146147"/>
                  </a:lnTo>
                </a:path>
              </a:pathLst>
            </a:custGeom>
            <a:ln w="37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523591" y="2502958"/>
              <a:ext cx="33020" cy="25400"/>
            </a:xfrm>
            <a:custGeom>
              <a:avLst/>
              <a:gdLst/>
              <a:ahLst/>
              <a:cxnLst/>
              <a:rect l="l" t="t" r="r" b="b"/>
              <a:pathLst>
                <a:path w="33019" h="25400">
                  <a:moveTo>
                    <a:pt x="17696" y="24875"/>
                  </a:moveTo>
                  <a:lnTo>
                    <a:pt x="0" y="976"/>
                  </a:lnTo>
                  <a:lnTo>
                    <a:pt x="32724" y="0"/>
                  </a:lnTo>
                  <a:lnTo>
                    <a:pt x="17696" y="248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523591" y="2502958"/>
              <a:ext cx="33020" cy="25400"/>
            </a:xfrm>
            <a:custGeom>
              <a:avLst/>
              <a:gdLst/>
              <a:ahLst/>
              <a:cxnLst/>
              <a:rect l="l" t="t" r="r" b="b"/>
              <a:pathLst>
                <a:path w="33019" h="25400">
                  <a:moveTo>
                    <a:pt x="17696" y="24875"/>
                  </a:moveTo>
                  <a:lnTo>
                    <a:pt x="0" y="976"/>
                  </a:lnTo>
                  <a:lnTo>
                    <a:pt x="32724" y="0"/>
                  </a:lnTo>
                  <a:lnTo>
                    <a:pt x="17696" y="24875"/>
                  </a:lnTo>
                  <a:close/>
                </a:path>
              </a:pathLst>
            </a:custGeom>
            <a:ln w="39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9" name="object 39"/>
          <p:cNvGrpSpPr/>
          <p:nvPr/>
        </p:nvGrpSpPr>
        <p:grpSpPr>
          <a:xfrm>
            <a:off x="1282425" y="2633162"/>
            <a:ext cx="886460" cy="189865"/>
            <a:chOff x="1282425" y="2633162"/>
            <a:chExt cx="886460" cy="189865"/>
          </a:xfrm>
        </p:grpSpPr>
        <p:sp>
          <p:nvSpPr>
            <p:cNvPr id="40" name="object 40"/>
            <p:cNvSpPr/>
            <p:nvPr/>
          </p:nvSpPr>
          <p:spPr>
            <a:xfrm>
              <a:off x="1300853" y="2634941"/>
              <a:ext cx="866140" cy="161925"/>
            </a:xfrm>
            <a:custGeom>
              <a:avLst/>
              <a:gdLst/>
              <a:ahLst/>
              <a:cxnLst/>
              <a:rect l="l" t="t" r="r" b="b"/>
              <a:pathLst>
                <a:path w="866139" h="161925">
                  <a:moveTo>
                    <a:pt x="866094" y="0"/>
                  </a:moveTo>
                  <a:lnTo>
                    <a:pt x="772534" y="11269"/>
                  </a:lnTo>
                  <a:lnTo>
                    <a:pt x="684321" y="22269"/>
                  </a:lnTo>
                  <a:lnTo>
                    <a:pt x="601454" y="32998"/>
                  </a:lnTo>
                  <a:lnTo>
                    <a:pt x="523933" y="43458"/>
                  </a:lnTo>
                  <a:lnTo>
                    <a:pt x="451759" y="53647"/>
                  </a:lnTo>
                  <a:lnTo>
                    <a:pt x="384930" y="63566"/>
                  </a:lnTo>
                  <a:lnTo>
                    <a:pt x="323448" y="73216"/>
                  </a:lnTo>
                  <a:lnTo>
                    <a:pt x="267313" y="82595"/>
                  </a:lnTo>
                  <a:lnTo>
                    <a:pt x="216523" y="91704"/>
                  </a:lnTo>
                  <a:lnTo>
                    <a:pt x="171080" y="100543"/>
                  </a:lnTo>
                  <a:lnTo>
                    <a:pt x="130983" y="109112"/>
                  </a:lnTo>
                  <a:lnTo>
                    <a:pt x="66828" y="125440"/>
                  </a:lnTo>
                  <a:lnTo>
                    <a:pt x="24058" y="140687"/>
                  </a:lnTo>
                  <a:lnTo>
                    <a:pt x="2673" y="154855"/>
                  </a:lnTo>
                  <a:lnTo>
                    <a:pt x="0" y="161533"/>
                  </a:lnTo>
                </a:path>
              </a:pathLst>
            </a:custGeom>
            <a:ln w="352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284468" y="2796475"/>
              <a:ext cx="33020" cy="24765"/>
            </a:xfrm>
            <a:custGeom>
              <a:avLst/>
              <a:gdLst/>
              <a:ahLst/>
              <a:cxnLst/>
              <a:rect l="l" t="t" r="r" b="b"/>
              <a:pathLst>
                <a:path w="33019" h="24764">
                  <a:moveTo>
                    <a:pt x="16385" y="24421"/>
                  </a:moveTo>
                  <a:lnTo>
                    <a:pt x="0" y="0"/>
                  </a:lnTo>
                  <a:lnTo>
                    <a:pt x="32771" y="0"/>
                  </a:lnTo>
                  <a:lnTo>
                    <a:pt x="16385" y="244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284468" y="2796475"/>
              <a:ext cx="33020" cy="24765"/>
            </a:xfrm>
            <a:custGeom>
              <a:avLst/>
              <a:gdLst/>
              <a:ahLst/>
              <a:cxnLst/>
              <a:rect l="l" t="t" r="r" b="b"/>
              <a:pathLst>
                <a:path w="33019" h="24764">
                  <a:moveTo>
                    <a:pt x="16385" y="24421"/>
                  </a:moveTo>
                  <a:lnTo>
                    <a:pt x="0" y="0"/>
                  </a:lnTo>
                  <a:lnTo>
                    <a:pt x="32771" y="0"/>
                  </a:lnTo>
                  <a:lnTo>
                    <a:pt x="16385" y="24421"/>
                  </a:lnTo>
                  <a:close/>
                </a:path>
              </a:pathLst>
            </a:custGeom>
            <a:ln w="39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3" name="object 43"/>
          <p:cNvGrpSpPr/>
          <p:nvPr/>
        </p:nvGrpSpPr>
        <p:grpSpPr>
          <a:xfrm>
            <a:off x="3215564" y="2355366"/>
            <a:ext cx="309245" cy="174625"/>
            <a:chOff x="3215564" y="2355366"/>
            <a:chExt cx="309245" cy="174625"/>
          </a:xfrm>
        </p:grpSpPr>
        <p:sp>
          <p:nvSpPr>
            <p:cNvPr id="44" name="object 44"/>
            <p:cNvSpPr/>
            <p:nvPr/>
          </p:nvSpPr>
          <p:spPr>
            <a:xfrm>
              <a:off x="3217497" y="2357299"/>
              <a:ext cx="288925" cy="146685"/>
            </a:xfrm>
            <a:custGeom>
              <a:avLst/>
              <a:gdLst/>
              <a:ahLst/>
              <a:cxnLst/>
              <a:rect l="l" t="t" r="r" b="b"/>
              <a:pathLst>
                <a:path w="288925" h="146685">
                  <a:moveTo>
                    <a:pt x="0" y="0"/>
                  </a:moveTo>
                  <a:lnTo>
                    <a:pt x="76510" y="24342"/>
                  </a:lnTo>
                  <a:lnTo>
                    <a:pt x="141250" y="47528"/>
                  </a:lnTo>
                  <a:lnTo>
                    <a:pt x="194219" y="69557"/>
                  </a:lnTo>
                  <a:lnTo>
                    <a:pt x="235417" y="90430"/>
                  </a:lnTo>
                  <a:lnTo>
                    <a:pt x="282500" y="128708"/>
                  </a:lnTo>
                  <a:lnTo>
                    <a:pt x="288385" y="146112"/>
                  </a:lnTo>
                </a:path>
              </a:pathLst>
            </a:custGeom>
            <a:ln w="37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489497" y="2503412"/>
              <a:ext cx="33020" cy="24765"/>
            </a:xfrm>
            <a:custGeom>
              <a:avLst/>
              <a:gdLst/>
              <a:ahLst/>
              <a:cxnLst/>
              <a:rect l="l" t="t" r="r" b="b"/>
              <a:pathLst>
                <a:path w="33020" h="24764">
                  <a:moveTo>
                    <a:pt x="16385" y="24421"/>
                  </a:moveTo>
                  <a:lnTo>
                    <a:pt x="0" y="0"/>
                  </a:lnTo>
                  <a:lnTo>
                    <a:pt x="32771" y="0"/>
                  </a:lnTo>
                  <a:lnTo>
                    <a:pt x="16385" y="244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489497" y="2503412"/>
              <a:ext cx="33020" cy="24765"/>
            </a:xfrm>
            <a:custGeom>
              <a:avLst/>
              <a:gdLst/>
              <a:ahLst/>
              <a:cxnLst/>
              <a:rect l="l" t="t" r="r" b="b"/>
              <a:pathLst>
                <a:path w="33020" h="24764">
                  <a:moveTo>
                    <a:pt x="16385" y="24421"/>
                  </a:moveTo>
                  <a:lnTo>
                    <a:pt x="0" y="0"/>
                  </a:lnTo>
                  <a:lnTo>
                    <a:pt x="32771" y="0"/>
                  </a:lnTo>
                  <a:lnTo>
                    <a:pt x="16385" y="24421"/>
                  </a:lnTo>
                  <a:close/>
                </a:path>
              </a:pathLst>
            </a:custGeom>
            <a:ln w="39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7" name="object 47"/>
          <p:cNvGrpSpPr/>
          <p:nvPr/>
        </p:nvGrpSpPr>
        <p:grpSpPr>
          <a:xfrm>
            <a:off x="2521079" y="2648021"/>
            <a:ext cx="37465" cy="175260"/>
            <a:chOff x="2521079" y="2648021"/>
            <a:chExt cx="37465" cy="175260"/>
          </a:xfrm>
        </p:grpSpPr>
        <p:sp>
          <p:nvSpPr>
            <p:cNvPr id="48" name="object 48"/>
            <p:cNvSpPr/>
            <p:nvPr/>
          </p:nvSpPr>
          <p:spPr>
            <a:xfrm>
              <a:off x="2539509" y="2650362"/>
              <a:ext cx="2540" cy="146685"/>
            </a:xfrm>
            <a:custGeom>
              <a:avLst/>
              <a:gdLst/>
              <a:ahLst/>
              <a:cxnLst/>
              <a:rect l="l" t="t" r="r" b="b"/>
              <a:pathLst>
                <a:path w="2539" h="146685">
                  <a:moveTo>
                    <a:pt x="1966" y="0"/>
                  </a:moveTo>
                  <a:lnTo>
                    <a:pt x="1843" y="9132"/>
                  </a:lnTo>
                  <a:lnTo>
                    <a:pt x="1474" y="36528"/>
                  </a:lnTo>
                  <a:lnTo>
                    <a:pt x="860" y="82188"/>
                  </a:lnTo>
                  <a:lnTo>
                    <a:pt x="0" y="146112"/>
                  </a:lnTo>
                </a:path>
              </a:pathLst>
            </a:custGeom>
            <a:ln w="4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2523123" y="2796370"/>
              <a:ext cx="33020" cy="24765"/>
            </a:xfrm>
            <a:custGeom>
              <a:avLst/>
              <a:gdLst/>
              <a:ahLst/>
              <a:cxnLst/>
              <a:rect l="l" t="t" r="r" b="b"/>
              <a:pathLst>
                <a:path w="33019" h="24764">
                  <a:moveTo>
                    <a:pt x="16057" y="24526"/>
                  </a:moveTo>
                  <a:lnTo>
                    <a:pt x="0" y="0"/>
                  </a:lnTo>
                  <a:lnTo>
                    <a:pt x="32771" y="244"/>
                  </a:lnTo>
                  <a:lnTo>
                    <a:pt x="16057" y="2452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2523123" y="2796370"/>
              <a:ext cx="33020" cy="24765"/>
            </a:xfrm>
            <a:custGeom>
              <a:avLst/>
              <a:gdLst/>
              <a:ahLst/>
              <a:cxnLst/>
              <a:rect l="l" t="t" r="r" b="b"/>
              <a:pathLst>
                <a:path w="33019" h="24764">
                  <a:moveTo>
                    <a:pt x="16057" y="24526"/>
                  </a:moveTo>
                  <a:lnTo>
                    <a:pt x="0" y="0"/>
                  </a:lnTo>
                  <a:lnTo>
                    <a:pt x="32771" y="244"/>
                  </a:lnTo>
                  <a:lnTo>
                    <a:pt x="16057" y="24526"/>
                  </a:lnTo>
                  <a:close/>
                </a:path>
              </a:pathLst>
            </a:custGeom>
            <a:ln w="39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1" name="object 51"/>
          <p:cNvGrpSpPr/>
          <p:nvPr/>
        </p:nvGrpSpPr>
        <p:grpSpPr>
          <a:xfrm>
            <a:off x="2914220" y="2635532"/>
            <a:ext cx="842644" cy="187960"/>
            <a:chOff x="2914220" y="2635532"/>
            <a:chExt cx="842644" cy="187960"/>
          </a:xfrm>
        </p:grpSpPr>
        <p:sp>
          <p:nvSpPr>
            <p:cNvPr id="52" name="object 52"/>
            <p:cNvSpPr/>
            <p:nvPr/>
          </p:nvSpPr>
          <p:spPr>
            <a:xfrm>
              <a:off x="2916002" y="2637314"/>
              <a:ext cx="822960" cy="159385"/>
            </a:xfrm>
            <a:custGeom>
              <a:avLst/>
              <a:gdLst/>
              <a:ahLst/>
              <a:cxnLst/>
              <a:rect l="l" t="t" r="r" b="b"/>
              <a:pathLst>
                <a:path w="822960" h="159385">
                  <a:moveTo>
                    <a:pt x="0" y="0"/>
                  </a:moveTo>
                  <a:lnTo>
                    <a:pt x="94079" y="11653"/>
                  </a:lnTo>
                  <a:lnTo>
                    <a:pt x="182446" y="23020"/>
                  </a:lnTo>
                  <a:lnTo>
                    <a:pt x="265100" y="34100"/>
                  </a:lnTo>
                  <a:lnTo>
                    <a:pt x="342040" y="44894"/>
                  </a:lnTo>
                  <a:lnTo>
                    <a:pt x="413267" y="55402"/>
                  </a:lnTo>
                  <a:lnTo>
                    <a:pt x="478781" y="65624"/>
                  </a:lnTo>
                  <a:lnTo>
                    <a:pt x="538582" y="75559"/>
                  </a:lnTo>
                  <a:lnTo>
                    <a:pt x="592670" y="85208"/>
                  </a:lnTo>
                  <a:lnTo>
                    <a:pt x="641045" y="94570"/>
                  </a:lnTo>
                  <a:lnTo>
                    <a:pt x="683706" y="103646"/>
                  </a:lnTo>
                  <a:lnTo>
                    <a:pt x="751890" y="120939"/>
                  </a:lnTo>
                  <a:lnTo>
                    <a:pt x="797220" y="137087"/>
                  </a:lnTo>
                  <a:lnTo>
                    <a:pt x="819698" y="152089"/>
                  </a:lnTo>
                  <a:lnTo>
                    <a:pt x="822368" y="159161"/>
                  </a:lnTo>
                </a:path>
              </a:pathLst>
            </a:custGeom>
            <a:ln w="35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721985" y="2796231"/>
              <a:ext cx="33020" cy="24765"/>
            </a:xfrm>
            <a:custGeom>
              <a:avLst/>
              <a:gdLst/>
              <a:ahLst/>
              <a:cxnLst/>
              <a:rect l="l" t="t" r="r" b="b"/>
              <a:pathLst>
                <a:path w="33020" h="24764">
                  <a:moveTo>
                    <a:pt x="15730" y="24666"/>
                  </a:moveTo>
                  <a:lnTo>
                    <a:pt x="0" y="0"/>
                  </a:lnTo>
                  <a:lnTo>
                    <a:pt x="32771" y="488"/>
                  </a:lnTo>
                  <a:lnTo>
                    <a:pt x="15730" y="2466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721985" y="2796231"/>
              <a:ext cx="33020" cy="24765"/>
            </a:xfrm>
            <a:custGeom>
              <a:avLst/>
              <a:gdLst/>
              <a:ahLst/>
              <a:cxnLst/>
              <a:rect l="l" t="t" r="r" b="b"/>
              <a:pathLst>
                <a:path w="33020" h="24764">
                  <a:moveTo>
                    <a:pt x="15730" y="24666"/>
                  </a:moveTo>
                  <a:lnTo>
                    <a:pt x="0" y="0"/>
                  </a:lnTo>
                  <a:lnTo>
                    <a:pt x="32771" y="488"/>
                  </a:lnTo>
                  <a:lnTo>
                    <a:pt x="15730" y="24666"/>
                  </a:lnTo>
                  <a:close/>
                </a:path>
              </a:pathLst>
            </a:custGeom>
            <a:ln w="39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5" name="object 55"/>
          <p:cNvGrpSpPr/>
          <p:nvPr/>
        </p:nvGrpSpPr>
        <p:grpSpPr>
          <a:xfrm>
            <a:off x="1282425" y="2943425"/>
            <a:ext cx="37465" cy="172720"/>
            <a:chOff x="1282425" y="2943425"/>
            <a:chExt cx="37465" cy="172720"/>
          </a:xfrm>
        </p:grpSpPr>
        <p:sp>
          <p:nvSpPr>
            <p:cNvPr id="56" name="object 56"/>
            <p:cNvSpPr/>
            <p:nvPr/>
          </p:nvSpPr>
          <p:spPr>
            <a:xfrm>
              <a:off x="1300853" y="2943425"/>
              <a:ext cx="0" cy="146685"/>
            </a:xfrm>
            <a:custGeom>
              <a:avLst/>
              <a:gdLst/>
              <a:ahLst/>
              <a:cxnLst/>
              <a:rect l="l" t="t" r="r" b="b"/>
              <a:pathLst>
                <a:path h="146685">
                  <a:moveTo>
                    <a:pt x="0" y="0"/>
                  </a:moveTo>
                  <a:lnTo>
                    <a:pt x="0" y="9132"/>
                  </a:lnTo>
                  <a:lnTo>
                    <a:pt x="0" y="36528"/>
                  </a:lnTo>
                  <a:lnTo>
                    <a:pt x="0" y="82188"/>
                  </a:lnTo>
                  <a:lnTo>
                    <a:pt x="0" y="146112"/>
                  </a:lnTo>
                </a:path>
              </a:pathLst>
            </a:custGeom>
            <a:ln w="4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1284468" y="3089538"/>
              <a:ext cx="33020" cy="24765"/>
            </a:xfrm>
            <a:custGeom>
              <a:avLst/>
              <a:gdLst/>
              <a:ahLst/>
              <a:cxnLst/>
              <a:rect l="l" t="t" r="r" b="b"/>
              <a:pathLst>
                <a:path w="33019" h="24764">
                  <a:moveTo>
                    <a:pt x="16385" y="24421"/>
                  </a:moveTo>
                  <a:lnTo>
                    <a:pt x="0" y="0"/>
                  </a:lnTo>
                  <a:lnTo>
                    <a:pt x="32771" y="0"/>
                  </a:lnTo>
                  <a:lnTo>
                    <a:pt x="16385" y="244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1284468" y="3089538"/>
              <a:ext cx="33020" cy="24765"/>
            </a:xfrm>
            <a:custGeom>
              <a:avLst/>
              <a:gdLst/>
              <a:ahLst/>
              <a:cxnLst/>
              <a:rect l="l" t="t" r="r" b="b"/>
              <a:pathLst>
                <a:path w="33019" h="24764">
                  <a:moveTo>
                    <a:pt x="16385" y="24421"/>
                  </a:moveTo>
                  <a:lnTo>
                    <a:pt x="0" y="0"/>
                  </a:lnTo>
                  <a:lnTo>
                    <a:pt x="32771" y="0"/>
                  </a:lnTo>
                  <a:lnTo>
                    <a:pt x="16385" y="24421"/>
                  </a:lnTo>
                  <a:close/>
                </a:path>
              </a:pathLst>
            </a:custGeom>
            <a:ln w="39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9" name="object 59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60" name="object 60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4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5" name="object 6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  <a:t>8</a:t>
            </a:fld>
            <a:r>
              <a:rPr spc="35" dirty="0"/>
              <a:t> </a:t>
            </a:r>
            <a:r>
              <a:rPr spc="150" dirty="0"/>
              <a:t>/</a:t>
            </a:r>
            <a:r>
              <a:rPr spc="35" dirty="0"/>
              <a:t> </a:t>
            </a:r>
            <a:r>
              <a:rPr spc="-25" dirty="0"/>
              <a:t>93</a:t>
            </a: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1013"/>
            <a:ext cx="123761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Impact</a:t>
            </a:r>
            <a:r>
              <a:rPr spc="25" dirty="0"/>
              <a:t> </a:t>
            </a:r>
            <a:r>
              <a:rPr dirty="0"/>
              <a:t>of</a:t>
            </a:r>
            <a:r>
              <a:rPr spc="20" dirty="0"/>
              <a:t> </a:t>
            </a:r>
            <a:r>
              <a:rPr spc="-45" dirty="0"/>
              <a:t>Worms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491438"/>
            <a:ext cx="4432935" cy="198755"/>
          </a:xfrm>
          <a:custGeom>
            <a:avLst/>
            <a:gdLst/>
            <a:ahLst/>
            <a:cxnLst/>
            <a:rect l="l" t="t" r="r" b="b"/>
            <a:pathLst>
              <a:path w="4432935" h="198754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4432566" y="198367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2672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8544" y="519886"/>
            <a:ext cx="120078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65" dirty="0">
                <a:solidFill>
                  <a:srgbClr val="FFFFFF"/>
                </a:solidFill>
                <a:latin typeface="Tahoma"/>
                <a:cs typeface="Tahoma"/>
              </a:rPr>
              <a:t>Network</a:t>
            </a:r>
            <a:r>
              <a:rPr sz="1200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40" dirty="0">
                <a:solidFill>
                  <a:srgbClr val="FFFFFF"/>
                </a:solidFill>
                <a:latin typeface="Tahoma"/>
                <a:cs typeface="Tahoma"/>
              </a:rPr>
              <a:t>Disruption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8544" y="710849"/>
            <a:ext cx="443293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Worms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can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30" dirty="0">
                <a:solidFill>
                  <a:srgbClr val="191933"/>
                </a:solidFill>
                <a:latin typeface="Arial MT"/>
                <a:cs typeface="Arial MT"/>
              </a:rPr>
              <a:t>cause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35" dirty="0">
                <a:solidFill>
                  <a:srgbClr val="191933"/>
                </a:solidFill>
                <a:latin typeface="Arial MT"/>
                <a:cs typeface="Arial MT"/>
              </a:rPr>
              <a:t>severe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network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5" dirty="0">
                <a:solidFill>
                  <a:srgbClr val="191933"/>
                </a:solidFill>
                <a:latin typeface="Arial MT"/>
                <a:cs typeface="Arial MT"/>
              </a:rPr>
              <a:t>slowdowns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and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outages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by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generating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35" dirty="0">
                <a:solidFill>
                  <a:srgbClr val="191933"/>
                </a:solidFill>
                <a:latin typeface="Arial MT"/>
                <a:cs typeface="Arial MT"/>
              </a:rPr>
              <a:t>excessive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traffic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0" dirty="0">
                <a:solidFill>
                  <a:srgbClr val="191933"/>
                </a:solidFill>
                <a:latin typeface="Arial MT"/>
                <a:cs typeface="Arial MT"/>
              </a:rPr>
              <a:t>as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they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spread.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7743" y="1050899"/>
            <a:ext cx="4432935" cy="187960"/>
          </a:xfrm>
          <a:custGeom>
            <a:avLst/>
            <a:gdLst/>
            <a:ahLst/>
            <a:cxnLst/>
            <a:rect l="l" t="t" r="r" b="b"/>
            <a:pathLst>
              <a:path w="4432935" h="187959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4432566" y="187823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2672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38544" y="1079359"/>
            <a:ext cx="128714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Data</a:t>
            </a:r>
            <a:r>
              <a:rPr sz="1200" spc="-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50" dirty="0">
                <a:solidFill>
                  <a:srgbClr val="FFFFFF"/>
                </a:solidFill>
                <a:latin typeface="Tahoma"/>
                <a:cs typeface="Tahoma"/>
              </a:rPr>
              <a:t>Loss</a:t>
            </a:r>
            <a:r>
              <a:rPr sz="120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55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2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Tahoma"/>
                <a:cs typeface="Tahoma"/>
              </a:rPr>
              <a:t>Theft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8544" y="1259769"/>
            <a:ext cx="443293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600" spc="-20" dirty="0">
                <a:solidFill>
                  <a:srgbClr val="191933"/>
                </a:solidFill>
                <a:latin typeface="Arial MT"/>
                <a:cs typeface="Arial MT"/>
              </a:rPr>
              <a:t>Some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worms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carry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0" dirty="0">
                <a:solidFill>
                  <a:srgbClr val="191933"/>
                </a:solidFill>
                <a:latin typeface="Arial MT"/>
                <a:cs typeface="Arial MT"/>
              </a:rPr>
              <a:t>payloads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that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steal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0" dirty="0">
                <a:solidFill>
                  <a:srgbClr val="191933"/>
                </a:solidFill>
                <a:latin typeface="Arial MT"/>
                <a:cs typeface="Arial MT"/>
              </a:rPr>
              <a:t>sensitive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information,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delete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files,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or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encrypt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data,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leading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data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30" dirty="0">
                <a:solidFill>
                  <a:srgbClr val="191933"/>
                </a:solidFill>
                <a:latin typeface="Arial MT"/>
                <a:cs typeface="Arial MT"/>
              </a:rPr>
              <a:t>breaches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and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loss.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7743" y="1599831"/>
            <a:ext cx="4432935" cy="198755"/>
          </a:xfrm>
          <a:custGeom>
            <a:avLst/>
            <a:gdLst/>
            <a:ahLst/>
            <a:cxnLst/>
            <a:rect l="l" t="t" r="r" b="b"/>
            <a:pathLst>
              <a:path w="4432935" h="198755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4432566" y="198367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2672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38544" y="1628279"/>
            <a:ext cx="1073150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40" dirty="0">
                <a:solidFill>
                  <a:srgbClr val="FFFFFF"/>
                </a:solidFill>
                <a:latin typeface="Tahoma"/>
                <a:cs typeface="Tahoma"/>
              </a:rPr>
              <a:t>Economic</a:t>
            </a:r>
            <a:r>
              <a:rPr sz="120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70" dirty="0">
                <a:solidFill>
                  <a:srgbClr val="FFFFFF"/>
                </a:solidFill>
                <a:latin typeface="Tahoma"/>
                <a:cs typeface="Tahoma"/>
              </a:rPr>
              <a:t>Impact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38544" y="1819229"/>
            <a:ext cx="443293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600" spc="-35" dirty="0">
                <a:solidFill>
                  <a:srgbClr val="191933"/>
                </a:solidFill>
                <a:latin typeface="Arial MT"/>
                <a:cs typeface="Arial MT"/>
              </a:rPr>
              <a:t>Businesses</a:t>
            </a:r>
            <a:r>
              <a:rPr sz="6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can</a:t>
            </a:r>
            <a:r>
              <a:rPr sz="6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suffer</a:t>
            </a:r>
            <a:r>
              <a:rPr sz="6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financial</a:t>
            </a:r>
            <a:r>
              <a:rPr sz="6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35" dirty="0">
                <a:solidFill>
                  <a:srgbClr val="191933"/>
                </a:solidFill>
                <a:latin typeface="Arial MT"/>
                <a:cs typeface="Arial MT"/>
              </a:rPr>
              <a:t>losses</a:t>
            </a:r>
            <a:r>
              <a:rPr sz="6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due</a:t>
            </a:r>
            <a:r>
              <a:rPr sz="6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6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downtime,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data</a:t>
            </a:r>
            <a:r>
              <a:rPr sz="6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0" dirty="0">
                <a:solidFill>
                  <a:srgbClr val="191933"/>
                </a:solidFill>
                <a:latin typeface="Arial MT"/>
                <a:cs typeface="Arial MT"/>
              </a:rPr>
              <a:t>recovery</a:t>
            </a:r>
            <a:r>
              <a:rPr sz="6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costs,</a:t>
            </a:r>
            <a:r>
              <a:rPr sz="6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and</a:t>
            </a:r>
            <a:r>
              <a:rPr sz="6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0" dirty="0">
                <a:solidFill>
                  <a:srgbClr val="191933"/>
                </a:solidFill>
                <a:latin typeface="Arial MT"/>
                <a:cs typeface="Arial MT"/>
              </a:rPr>
              <a:t>damage</a:t>
            </a:r>
            <a:r>
              <a:rPr sz="6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6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reputation</a:t>
            </a:r>
            <a:r>
              <a:rPr sz="6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30" dirty="0">
                <a:solidFill>
                  <a:srgbClr val="191933"/>
                </a:solidFill>
                <a:latin typeface="Arial MT"/>
                <a:cs typeface="Arial MT"/>
              </a:rPr>
              <a:t>caused</a:t>
            </a:r>
            <a:r>
              <a:rPr sz="6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by</a:t>
            </a:r>
            <a:r>
              <a:rPr sz="6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worm</a:t>
            </a:r>
            <a:r>
              <a:rPr sz="6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infections.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7743" y="2159291"/>
            <a:ext cx="4432935" cy="198755"/>
          </a:xfrm>
          <a:custGeom>
            <a:avLst/>
            <a:gdLst/>
            <a:ahLst/>
            <a:cxnLst/>
            <a:rect l="l" t="t" r="r" b="b"/>
            <a:pathLst>
              <a:path w="4432935" h="198755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4432566" y="198367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2672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138544" y="2187739"/>
            <a:ext cx="109156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65" dirty="0">
                <a:solidFill>
                  <a:srgbClr val="FFFFFF"/>
                </a:solidFill>
                <a:latin typeface="Tahoma"/>
                <a:cs typeface="Tahoma"/>
              </a:rPr>
              <a:t>System</a:t>
            </a:r>
            <a:r>
              <a:rPr sz="1200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50" dirty="0">
                <a:solidFill>
                  <a:srgbClr val="FFFFFF"/>
                </a:solidFill>
                <a:latin typeface="Tahoma"/>
                <a:cs typeface="Tahoma"/>
              </a:rPr>
              <a:t>Instability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38544" y="2378689"/>
            <a:ext cx="443293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Worms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can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0" dirty="0">
                <a:solidFill>
                  <a:srgbClr val="191933"/>
                </a:solidFill>
                <a:latin typeface="Arial MT"/>
                <a:cs typeface="Arial MT"/>
              </a:rPr>
              <a:t>consume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system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5" dirty="0">
                <a:solidFill>
                  <a:srgbClr val="191933"/>
                </a:solidFill>
                <a:latin typeface="Arial MT"/>
                <a:cs typeface="Arial MT"/>
              </a:rPr>
              <a:t>resources,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leading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30" dirty="0">
                <a:solidFill>
                  <a:srgbClr val="191933"/>
                </a:solidFill>
                <a:latin typeface="Arial MT"/>
                <a:cs typeface="Arial MT"/>
              </a:rPr>
              <a:t>crashes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and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0" dirty="0">
                <a:solidFill>
                  <a:srgbClr val="191933"/>
                </a:solidFill>
                <a:latin typeface="Arial MT"/>
                <a:cs typeface="Arial MT"/>
              </a:rPr>
              <a:t>reduced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performance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infected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computers.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87743" y="2718752"/>
            <a:ext cx="4432935" cy="187960"/>
          </a:xfrm>
          <a:custGeom>
            <a:avLst/>
            <a:gdLst/>
            <a:ahLst/>
            <a:cxnLst/>
            <a:rect l="l" t="t" r="r" b="b"/>
            <a:pathLst>
              <a:path w="4432935" h="187960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4432566" y="187823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2672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138544" y="2747200"/>
            <a:ext cx="1327150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45" dirty="0">
                <a:solidFill>
                  <a:srgbClr val="FFFFFF"/>
                </a:solidFill>
                <a:latin typeface="Tahoma"/>
                <a:cs typeface="Tahoma"/>
              </a:rPr>
              <a:t>Formation</a:t>
            </a:r>
            <a:r>
              <a:rPr sz="1200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1200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45" dirty="0">
                <a:solidFill>
                  <a:srgbClr val="FFFFFF"/>
                </a:solidFill>
                <a:latin typeface="Tahoma"/>
                <a:cs typeface="Tahoma"/>
              </a:rPr>
              <a:t>Botnets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38544" y="2931838"/>
            <a:ext cx="4432935" cy="20510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R="93980">
              <a:lnSpc>
                <a:spcPts val="700"/>
              </a:lnSpc>
              <a:spcBef>
                <a:spcPts val="135"/>
              </a:spcBef>
            </a:pPr>
            <a:r>
              <a:rPr sz="600" spc="-20" dirty="0">
                <a:solidFill>
                  <a:srgbClr val="191933"/>
                </a:solidFill>
                <a:latin typeface="Arial MT"/>
                <a:cs typeface="Arial MT"/>
              </a:rPr>
              <a:t>Some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worms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turn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infected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computers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into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bots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(zombies)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that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can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be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controlled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remotely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by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cybercriminals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for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further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malicious</a:t>
            </a:r>
            <a:r>
              <a:rPr sz="600" spc="5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activities,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such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0" dirty="0">
                <a:solidFill>
                  <a:srgbClr val="191933"/>
                </a:solidFill>
                <a:latin typeface="Arial MT"/>
                <a:cs typeface="Arial MT"/>
              </a:rPr>
              <a:t>as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0" dirty="0">
                <a:solidFill>
                  <a:srgbClr val="191933"/>
                </a:solidFill>
                <a:latin typeface="Arial MT"/>
                <a:cs typeface="Arial MT"/>
              </a:rPr>
              <a:t>sending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spam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or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launching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distributed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0" dirty="0">
                <a:solidFill>
                  <a:srgbClr val="191933"/>
                </a:solidFill>
                <a:latin typeface="Arial MT"/>
                <a:cs typeface="Arial MT"/>
              </a:rPr>
              <a:t>denial-of-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service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(DDoS)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attacks.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39" name="object 39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4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  <a:t>9</a:t>
            </a:fld>
            <a:r>
              <a:rPr spc="35" dirty="0"/>
              <a:t> </a:t>
            </a:r>
            <a:r>
              <a:rPr spc="150" dirty="0"/>
              <a:t>/</a:t>
            </a:r>
            <a:r>
              <a:rPr spc="35" dirty="0"/>
              <a:t> </a:t>
            </a:r>
            <a:r>
              <a:rPr spc="-25" dirty="0"/>
              <a:t>93</a:t>
            </a: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Prevention</a:t>
            </a:r>
            <a:r>
              <a:rPr spc="-10" dirty="0"/>
              <a:t> and Protection </a:t>
            </a:r>
            <a:r>
              <a:rPr spc="-30" dirty="0"/>
              <a:t>Against</a:t>
            </a:r>
            <a:r>
              <a:rPr spc="-10" dirty="0"/>
              <a:t> </a:t>
            </a:r>
            <a:r>
              <a:rPr spc="-30" dirty="0"/>
              <a:t>Worms</a:t>
            </a:r>
            <a:r>
              <a:rPr spc="-5" dirty="0"/>
              <a:t> </a:t>
            </a:r>
            <a:r>
              <a:rPr spc="80" dirty="0"/>
              <a:t>(1/2)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504938"/>
            <a:ext cx="4432935" cy="198755"/>
          </a:xfrm>
          <a:custGeom>
            <a:avLst/>
            <a:gdLst/>
            <a:ahLst/>
            <a:cxnLst/>
            <a:rect l="l" t="t" r="r" b="b"/>
            <a:pathLst>
              <a:path w="4432935" h="198754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4432566" y="198367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2672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8544" y="533386"/>
            <a:ext cx="1602740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65" dirty="0">
                <a:solidFill>
                  <a:srgbClr val="FFFFFF"/>
                </a:solidFill>
                <a:latin typeface="Tahoma"/>
                <a:cs typeface="Tahoma"/>
              </a:rPr>
              <a:t>Regular</a:t>
            </a:r>
            <a:r>
              <a:rPr sz="1200" spc="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70" dirty="0">
                <a:solidFill>
                  <a:srgbClr val="FFFFFF"/>
                </a:solidFill>
                <a:latin typeface="Tahoma"/>
                <a:cs typeface="Tahoma"/>
              </a:rPr>
              <a:t>Software</a:t>
            </a:r>
            <a:r>
              <a:rPr sz="1200" spc="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50" dirty="0">
                <a:solidFill>
                  <a:srgbClr val="FFFFFF"/>
                </a:solidFill>
                <a:latin typeface="Tahoma"/>
                <a:cs typeface="Tahoma"/>
              </a:rPr>
              <a:t>Updates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8544" y="561864"/>
            <a:ext cx="4432935" cy="434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600">
              <a:latin typeface="Times New Roman"/>
              <a:cs typeface="Times New Roman"/>
            </a:endParaRPr>
          </a:p>
          <a:p>
            <a:pPr marR="381000">
              <a:lnSpc>
                <a:spcPts val="700"/>
              </a:lnSpc>
            </a:pP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Keep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operating</a:t>
            </a:r>
            <a:r>
              <a:rPr sz="6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0" dirty="0">
                <a:solidFill>
                  <a:srgbClr val="191933"/>
                </a:solidFill>
                <a:latin typeface="Arial MT"/>
                <a:cs typeface="Arial MT"/>
              </a:rPr>
              <a:t>systems,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software,</a:t>
            </a:r>
            <a:r>
              <a:rPr sz="6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and</a:t>
            </a:r>
            <a:r>
              <a:rPr sz="6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applications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up</a:t>
            </a:r>
            <a:r>
              <a:rPr sz="6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date</a:t>
            </a:r>
            <a:r>
              <a:rPr sz="6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with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6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latest</a:t>
            </a:r>
            <a:r>
              <a:rPr sz="6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security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patches</a:t>
            </a:r>
            <a:r>
              <a:rPr sz="6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protect</a:t>
            </a:r>
            <a:r>
              <a:rPr sz="6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against</a:t>
            </a:r>
            <a:r>
              <a:rPr sz="6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known</a:t>
            </a:r>
            <a:r>
              <a:rPr sz="600" spc="5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vulnerabilities.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7743" y="1138211"/>
            <a:ext cx="4432935" cy="187960"/>
          </a:xfrm>
          <a:custGeom>
            <a:avLst/>
            <a:gdLst/>
            <a:ahLst/>
            <a:cxnLst/>
            <a:rect l="l" t="t" r="r" b="b"/>
            <a:pathLst>
              <a:path w="4432935" h="187959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4432566" y="187823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2672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38544" y="1166659"/>
            <a:ext cx="249618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55" dirty="0">
                <a:solidFill>
                  <a:srgbClr val="FFFFFF"/>
                </a:solidFill>
                <a:latin typeface="Tahoma"/>
                <a:cs typeface="Tahoma"/>
              </a:rPr>
              <a:t>Use</a:t>
            </a:r>
            <a:r>
              <a:rPr sz="12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Tahoma"/>
                <a:cs typeface="Tahoma"/>
              </a:rPr>
              <a:t>Antivirus</a:t>
            </a:r>
            <a:r>
              <a:rPr sz="12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55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2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50" dirty="0">
                <a:solidFill>
                  <a:srgbClr val="FFFFFF"/>
                </a:solidFill>
                <a:latin typeface="Tahoma"/>
                <a:cs typeface="Tahoma"/>
              </a:rPr>
              <a:t>Antimalware</a:t>
            </a:r>
            <a:r>
              <a:rPr sz="12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65" dirty="0">
                <a:solidFill>
                  <a:srgbClr val="FFFFFF"/>
                </a:solidFill>
                <a:latin typeface="Tahoma"/>
                <a:cs typeface="Tahoma"/>
              </a:rPr>
              <a:t>Software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8544" y="1195134"/>
            <a:ext cx="4432935" cy="351155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Install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and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regularly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update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reputable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antivirus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and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antimalware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software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detect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and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remove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worms.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7743" y="1687131"/>
            <a:ext cx="4432935" cy="187960"/>
          </a:xfrm>
          <a:custGeom>
            <a:avLst/>
            <a:gdLst/>
            <a:ahLst/>
            <a:cxnLst/>
            <a:rect l="l" t="t" r="r" b="b"/>
            <a:pathLst>
              <a:path w="4432935" h="187960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4432566" y="187823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2672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38544" y="1715579"/>
            <a:ext cx="53149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55" dirty="0">
                <a:solidFill>
                  <a:srgbClr val="FFFFFF"/>
                </a:solidFill>
                <a:latin typeface="Tahoma"/>
                <a:cs typeface="Tahoma"/>
              </a:rPr>
              <a:t>Firewalls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38544" y="1744066"/>
            <a:ext cx="4432935" cy="351155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sz="600" spc="-25" dirty="0">
                <a:solidFill>
                  <a:srgbClr val="191933"/>
                </a:solidFill>
                <a:latin typeface="Arial MT"/>
                <a:cs typeface="Arial MT"/>
              </a:rPr>
              <a:t>Use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network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and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5" dirty="0">
                <a:solidFill>
                  <a:srgbClr val="191933"/>
                </a:solidFill>
                <a:latin typeface="Arial MT"/>
                <a:cs typeface="Arial MT"/>
              </a:rPr>
              <a:t>host-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based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firewalls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block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unauthorized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35" dirty="0">
                <a:solidFill>
                  <a:srgbClr val="191933"/>
                </a:solidFill>
                <a:latin typeface="Arial MT"/>
                <a:cs typeface="Arial MT"/>
              </a:rPr>
              <a:t>access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and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monitor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5" dirty="0">
                <a:solidFill>
                  <a:srgbClr val="191933"/>
                </a:solidFill>
                <a:latin typeface="Arial MT"/>
                <a:cs typeface="Arial MT"/>
              </a:rPr>
              <a:t>suspicious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network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activity.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7743" y="2236050"/>
            <a:ext cx="4432935" cy="187960"/>
          </a:xfrm>
          <a:custGeom>
            <a:avLst/>
            <a:gdLst/>
            <a:ahLst/>
            <a:cxnLst/>
            <a:rect l="l" t="t" r="r" b="b"/>
            <a:pathLst>
              <a:path w="4432935" h="187960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4432566" y="187823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2672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138544" y="2264498"/>
            <a:ext cx="942340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50" dirty="0">
                <a:solidFill>
                  <a:srgbClr val="FFFFFF"/>
                </a:solidFill>
                <a:latin typeface="Tahoma"/>
                <a:cs typeface="Tahoma"/>
              </a:rPr>
              <a:t>User</a:t>
            </a:r>
            <a:r>
              <a:rPr sz="12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50" dirty="0">
                <a:solidFill>
                  <a:srgbClr val="FFFFFF"/>
                </a:solidFill>
                <a:latin typeface="Tahoma"/>
                <a:cs typeface="Tahoma"/>
              </a:rPr>
              <a:t>Education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38544" y="2292986"/>
            <a:ext cx="4432935" cy="351155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Educate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30" dirty="0">
                <a:solidFill>
                  <a:srgbClr val="191933"/>
                </a:solidFill>
                <a:latin typeface="Arial MT"/>
                <a:cs typeface="Arial MT"/>
              </a:rPr>
              <a:t>users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about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0" dirty="0">
                <a:solidFill>
                  <a:srgbClr val="191933"/>
                </a:solidFill>
                <a:latin typeface="Arial MT"/>
                <a:cs typeface="Arial MT"/>
              </a:rPr>
              <a:t>dangers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opening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email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attachments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or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clicking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on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links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from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unknown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or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untrusted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sources.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87743" y="2784969"/>
            <a:ext cx="4432935" cy="198755"/>
          </a:xfrm>
          <a:custGeom>
            <a:avLst/>
            <a:gdLst/>
            <a:ahLst/>
            <a:cxnLst/>
            <a:rect l="l" t="t" r="r" b="b"/>
            <a:pathLst>
              <a:path w="4432935" h="198755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4432566" y="198367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2672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138544" y="2813417"/>
            <a:ext cx="140652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65" dirty="0">
                <a:solidFill>
                  <a:srgbClr val="FFFFFF"/>
                </a:solidFill>
                <a:latin typeface="Tahoma"/>
                <a:cs typeface="Tahoma"/>
              </a:rPr>
              <a:t>Network</a:t>
            </a:r>
            <a:r>
              <a:rPr sz="1200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60" dirty="0">
                <a:solidFill>
                  <a:srgbClr val="FFFFFF"/>
                </a:solidFill>
                <a:latin typeface="Tahoma"/>
                <a:cs typeface="Tahoma"/>
              </a:rPr>
              <a:t>Segmentation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38544" y="2841903"/>
            <a:ext cx="4432935" cy="361315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85"/>
              </a:spcBef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Isolate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critical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0" dirty="0">
                <a:solidFill>
                  <a:srgbClr val="191933"/>
                </a:solidFill>
                <a:latin typeface="Arial MT"/>
                <a:cs typeface="Arial MT"/>
              </a:rPr>
              <a:t>systems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and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data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from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rest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network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minimize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5" dirty="0">
                <a:solidFill>
                  <a:srgbClr val="191933"/>
                </a:solidFill>
                <a:latin typeface="Arial MT"/>
                <a:cs typeface="Arial MT"/>
              </a:rPr>
              <a:t>spread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worms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in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30" dirty="0">
                <a:solidFill>
                  <a:srgbClr val="191933"/>
                </a:solidFill>
                <a:latin typeface="Arial MT"/>
                <a:cs typeface="Arial MT"/>
              </a:rPr>
              <a:t>case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an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infection.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39" name="object 39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4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  <a:t>10</a:t>
            </a:fld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93</a:t>
            </a: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Prevention</a:t>
            </a:r>
            <a:r>
              <a:rPr spc="-10" dirty="0"/>
              <a:t> and Protection </a:t>
            </a:r>
            <a:r>
              <a:rPr spc="-30" dirty="0"/>
              <a:t>Against</a:t>
            </a:r>
            <a:r>
              <a:rPr spc="-10" dirty="0"/>
              <a:t> </a:t>
            </a:r>
            <a:r>
              <a:rPr spc="-30" dirty="0"/>
              <a:t>Worms</a:t>
            </a:r>
            <a:r>
              <a:rPr spc="-5" dirty="0"/>
              <a:t> </a:t>
            </a:r>
            <a:r>
              <a:rPr spc="80" dirty="0"/>
              <a:t>(2/2)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1325854"/>
            <a:ext cx="4432935" cy="198755"/>
          </a:xfrm>
          <a:custGeom>
            <a:avLst/>
            <a:gdLst/>
            <a:ahLst/>
            <a:cxnLst/>
            <a:rect l="l" t="t" r="r" b="b"/>
            <a:pathLst>
              <a:path w="4432935" h="198755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4432566" y="198367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2672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8544" y="1354302"/>
            <a:ext cx="1790064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35" dirty="0">
                <a:solidFill>
                  <a:srgbClr val="FFFFFF"/>
                </a:solidFill>
                <a:latin typeface="Tahoma"/>
                <a:cs typeface="Tahoma"/>
              </a:rPr>
              <a:t>Disable</a:t>
            </a:r>
            <a:r>
              <a:rPr sz="120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75" dirty="0">
                <a:solidFill>
                  <a:srgbClr val="FFFFFF"/>
                </a:solidFill>
                <a:latin typeface="Tahoma"/>
                <a:cs typeface="Tahoma"/>
              </a:rPr>
              <a:t>Unnecessary</a:t>
            </a:r>
            <a:r>
              <a:rPr sz="120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65" dirty="0">
                <a:solidFill>
                  <a:srgbClr val="FFFFFF"/>
                </a:solidFill>
                <a:latin typeface="Tahoma"/>
                <a:cs typeface="Tahoma"/>
              </a:rPr>
              <a:t>Services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8544" y="1526119"/>
            <a:ext cx="4432935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R="470534">
              <a:lnSpc>
                <a:spcPct val="102600"/>
              </a:lnSpc>
              <a:spcBef>
                <a:spcPts val="55"/>
              </a:spcBef>
            </a:pP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Turn</a:t>
            </a:r>
            <a:r>
              <a:rPr sz="1100" spc="-6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off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services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 and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ports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that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191933"/>
                </a:solidFill>
                <a:latin typeface="Tahoma"/>
                <a:cs typeface="Tahoma"/>
              </a:rPr>
              <a:t>are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not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70" dirty="0">
                <a:solidFill>
                  <a:srgbClr val="191933"/>
                </a:solidFill>
                <a:latin typeface="Tahoma"/>
                <a:cs typeface="Tahoma"/>
              </a:rPr>
              <a:t>needed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to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191933"/>
                </a:solidFill>
                <a:latin typeface="Tahoma"/>
                <a:cs typeface="Tahoma"/>
              </a:rPr>
              <a:t>reduce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the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attack 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surface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that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70" dirty="0">
                <a:solidFill>
                  <a:srgbClr val="191933"/>
                </a:solidFill>
                <a:latin typeface="Tahoma"/>
                <a:cs typeface="Tahoma"/>
              </a:rPr>
              <a:t>worms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can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exploit.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1" name="object 11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4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  <a:t>11</a:t>
            </a:fld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93</a:t>
            </a: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Detection </a:t>
            </a:r>
            <a:r>
              <a:rPr spc="-10" dirty="0"/>
              <a:t>and</a:t>
            </a:r>
            <a:r>
              <a:rPr spc="-5" dirty="0"/>
              <a:t> </a:t>
            </a:r>
            <a:r>
              <a:rPr spc="-25" dirty="0"/>
              <a:t>Prevention</a:t>
            </a:r>
            <a:r>
              <a:rPr dirty="0"/>
              <a:t> </a:t>
            </a:r>
            <a:r>
              <a:rPr spc="-45" dirty="0"/>
              <a:t>Algorithms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911" y="1190726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4911" y="1400759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4911" y="1610791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34911" y="1820824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34911" y="2030857"/>
            <a:ext cx="65265" cy="6526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34911" y="2240889"/>
            <a:ext cx="65265" cy="6526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79667" y="853476"/>
            <a:ext cx="1900555" cy="1496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9560" marR="5080" indent="-277495">
              <a:lnSpc>
                <a:spcPct val="125299"/>
              </a:lnSpc>
              <a:spcBef>
                <a:spcPts val="100"/>
              </a:spcBef>
            </a:pPr>
            <a:r>
              <a:rPr sz="1100" b="1" spc="-10" dirty="0">
                <a:solidFill>
                  <a:srgbClr val="191933"/>
                </a:solidFill>
                <a:latin typeface="Arial"/>
                <a:cs typeface="Arial"/>
              </a:rPr>
              <a:t>Detection</a:t>
            </a:r>
            <a:r>
              <a:rPr sz="1100" b="1" spc="2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191933"/>
                </a:solidFill>
                <a:latin typeface="Arial"/>
                <a:cs typeface="Arial"/>
              </a:rPr>
              <a:t>Algorithms 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Signature-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Based</a:t>
            </a:r>
            <a:r>
              <a:rPr sz="1100" spc="4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Detection 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Heuristic-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Based</a:t>
            </a:r>
            <a:r>
              <a:rPr sz="1100" spc="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Detection 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Behavioral-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Based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Detection 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Anomaly-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Based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 Detection Sandboxing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335"/>
              </a:spcBef>
            </a:pP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Static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Code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Analysis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492730" y="1190726"/>
            <a:ext cx="65265" cy="6526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492730" y="1400759"/>
            <a:ext cx="65265" cy="65265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492730" y="1610791"/>
            <a:ext cx="65265" cy="65265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492730" y="1820824"/>
            <a:ext cx="65265" cy="65265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492730" y="2030857"/>
            <a:ext cx="65265" cy="65265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2492730" y="2240889"/>
            <a:ext cx="65265" cy="65265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492730" y="2450922"/>
            <a:ext cx="65265" cy="65265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2337485" y="853476"/>
            <a:ext cx="1907539" cy="17062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9560" marR="5080" indent="-277495">
              <a:lnSpc>
                <a:spcPct val="125299"/>
              </a:lnSpc>
              <a:spcBef>
                <a:spcPts val="100"/>
              </a:spcBef>
            </a:pPr>
            <a:r>
              <a:rPr sz="1100" b="1" spc="-30" dirty="0">
                <a:solidFill>
                  <a:srgbClr val="191933"/>
                </a:solidFill>
                <a:latin typeface="Arial"/>
                <a:cs typeface="Arial"/>
              </a:rPr>
              <a:t>Prevention</a:t>
            </a:r>
            <a:r>
              <a:rPr sz="1100" b="1" spc="4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191933"/>
                </a:solidFill>
                <a:latin typeface="Arial"/>
                <a:cs typeface="Arial"/>
              </a:rPr>
              <a:t>Algorithms 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Signature-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Based</a:t>
            </a:r>
            <a:r>
              <a:rPr sz="1100" spc="4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Prevention 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Behavioral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Prevention </a:t>
            </a:r>
            <a:r>
              <a:rPr sz="1100" spc="-55" dirty="0">
                <a:solidFill>
                  <a:srgbClr val="191933"/>
                </a:solidFill>
                <a:latin typeface="Tahoma"/>
                <a:cs typeface="Tahoma"/>
              </a:rPr>
              <a:t>Network-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Based</a:t>
            </a:r>
            <a:r>
              <a:rPr sz="1100" spc="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Prevention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Patch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Management</a:t>
            </a:r>
            <a:endParaRPr sz="1100">
              <a:latin typeface="Tahoma"/>
              <a:cs typeface="Tahoma"/>
            </a:endParaRPr>
          </a:p>
          <a:p>
            <a:pPr marL="289560" marR="294005">
              <a:lnSpc>
                <a:spcPct val="125299"/>
              </a:lnSpc>
            </a:pP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Access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Control 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Network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Segmentation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335"/>
              </a:spcBef>
            </a:pP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Least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Privilege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Principle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9" name="object 19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4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  <a:t>12</a:t>
            </a:fld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93</a:t>
            </a: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0" dirty="0"/>
              <a:t>Signature-</a:t>
            </a:r>
            <a:r>
              <a:rPr spc="-25" dirty="0"/>
              <a:t>Based</a:t>
            </a:r>
            <a:r>
              <a:rPr spc="50" dirty="0"/>
              <a:t> </a:t>
            </a:r>
            <a:r>
              <a:rPr spc="-25" dirty="0"/>
              <a:t>Prevention</a:t>
            </a:r>
            <a:r>
              <a:rPr spc="50" dirty="0"/>
              <a:t> </a:t>
            </a:r>
            <a:r>
              <a:rPr spc="-25" dirty="0"/>
              <a:t>Algorithm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537756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798677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00444" y="325856"/>
            <a:ext cx="4306570" cy="694055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70"/>
              </a:spcBef>
            </a:pPr>
            <a:r>
              <a:rPr sz="800" b="1" spc="-25" dirty="0">
                <a:solidFill>
                  <a:srgbClr val="191933"/>
                </a:solidFill>
                <a:latin typeface="Arial"/>
                <a:cs typeface="Arial"/>
              </a:rPr>
              <a:t>Signature</a:t>
            </a: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191933"/>
                </a:solidFill>
                <a:latin typeface="Arial"/>
                <a:cs typeface="Arial"/>
              </a:rPr>
              <a:t>Database</a:t>
            </a: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191933"/>
                </a:solidFill>
                <a:latin typeface="Arial"/>
                <a:cs typeface="Arial"/>
              </a:rPr>
              <a:t>Creation:</a:t>
            </a:r>
            <a:endParaRPr sz="800">
              <a:latin typeface="Arial"/>
              <a:cs typeface="Arial"/>
            </a:endParaRPr>
          </a:p>
          <a:p>
            <a:pPr marL="314960" marR="30480">
              <a:lnSpc>
                <a:spcPts val="950"/>
              </a:lnSpc>
              <a:spcBef>
                <a:spcPts val="210"/>
              </a:spcBef>
            </a:pPr>
            <a:r>
              <a:rPr sz="800" b="1" spc="-25" dirty="0">
                <a:solidFill>
                  <a:srgbClr val="191933"/>
                </a:solidFill>
                <a:latin typeface="Arial"/>
                <a:cs typeface="Arial"/>
              </a:rPr>
              <a:t>Signature</a:t>
            </a:r>
            <a:r>
              <a:rPr sz="800" b="1" spc="4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191933"/>
                </a:solidFill>
                <a:latin typeface="Arial"/>
                <a:cs typeface="Arial"/>
              </a:rPr>
              <a:t>Definition:</a:t>
            </a:r>
            <a:r>
              <a:rPr sz="800" b="1" spc="11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Each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signature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represents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specific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pattern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malicious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activity.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These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patterns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could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be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45" dirty="0">
                <a:solidFill>
                  <a:srgbClr val="191933"/>
                </a:solidFill>
                <a:latin typeface="Arial MT"/>
                <a:cs typeface="Arial MT"/>
              </a:rPr>
              <a:t>sequences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bytes,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45" dirty="0">
                <a:solidFill>
                  <a:srgbClr val="191933"/>
                </a:solidFill>
                <a:latin typeface="Arial MT"/>
                <a:cs typeface="Arial MT"/>
              </a:rPr>
              <a:t>hashes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files,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or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known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exploit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40" dirty="0">
                <a:solidFill>
                  <a:srgbClr val="191933"/>
                </a:solidFill>
                <a:latin typeface="Arial MT"/>
                <a:cs typeface="Arial MT"/>
              </a:rPr>
              <a:t>sequences.</a:t>
            </a:r>
            <a:endParaRPr sz="800">
              <a:latin typeface="Arial MT"/>
              <a:cs typeface="Arial MT"/>
            </a:endParaRPr>
          </a:p>
          <a:p>
            <a:pPr marL="314960" marR="200660">
              <a:lnSpc>
                <a:spcPts val="950"/>
              </a:lnSpc>
              <a:spcBef>
                <a:spcPts val="155"/>
              </a:spcBef>
            </a:pP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Mathematical</a:t>
            </a:r>
            <a:r>
              <a:rPr sz="800" b="1" spc="6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30" dirty="0">
                <a:solidFill>
                  <a:srgbClr val="191933"/>
                </a:solidFill>
                <a:latin typeface="Arial"/>
                <a:cs typeface="Arial"/>
              </a:rPr>
              <a:t>Representation:</a:t>
            </a:r>
            <a:r>
              <a:rPr sz="800" b="1" spc="14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Let</a:t>
            </a:r>
            <a:r>
              <a:rPr sz="800" spc="5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i="1" spc="150" dirty="0">
                <a:solidFill>
                  <a:srgbClr val="191933"/>
                </a:solidFill>
                <a:latin typeface="Calibri"/>
                <a:cs typeface="Calibri"/>
              </a:rPr>
              <a:t>S</a:t>
            </a:r>
            <a:r>
              <a:rPr sz="800" i="1" spc="8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spc="254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800" spc="4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i="1" spc="70" dirty="0">
                <a:solidFill>
                  <a:srgbClr val="191933"/>
                </a:solidFill>
                <a:latin typeface="Georgia"/>
                <a:cs typeface="Georgia"/>
              </a:rPr>
              <a:t>{</a:t>
            </a:r>
            <a:r>
              <a:rPr sz="800" i="1" spc="70" dirty="0">
                <a:solidFill>
                  <a:srgbClr val="191933"/>
                </a:solidFill>
                <a:latin typeface="Calibri"/>
                <a:cs typeface="Calibri"/>
              </a:rPr>
              <a:t>s</a:t>
            </a:r>
            <a:r>
              <a:rPr sz="900" spc="104" baseline="-9259" dirty="0">
                <a:solidFill>
                  <a:srgbClr val="191933"/>
                </a:solidFill>
                <a:latin typeface="Calibri"/>
                <a:cs typeface="Calibri"/>
              </a:rPr>
              <a:t>1</a:t>
            </a:r>
            <a:r>
              <a:rPr sz="800" i="1" spc="70" dirty="0">
                <a:solidFill>
                  <a:srgbClr val="191933"/>
                </a:solidFill>
                <a:latin typeface="Calibri"/>
                <a:cs typeface="Calibri"/>
              </a:rPr>
              <a:t>,</a:t>
            </a:r>
            <a:r>
              <a:rPr sz="800" i="1" spc="-4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i="1" spc="70" dirty="0">
                <a:solidFill>
                  <a:srgbClr val="191933"/>
                </a:solidFill>
                <a:latin typeface="Calibri"/>
                <a:cs typeface="Calibri"/>
              </a:rPr>
              <a:t>s</a:t>
            </a:r>
            <a:r>
              <a:rPr sz="900" spc="104" baseline="-9259" dirty="0">
                <a:solidFill>
                  <a:srgbClr val="191933"/>
                </a:solidFill>
                <a:latin typeface="Calibri"/>
                <a:cs typeface="Calibri"/>
              </a:rPr>
              <a:t>2</a:t>
            </a:r>
            <a:r>
              <a:rPr sz="800" i="1" spc="70" dirty="0">
                <a:solidFill>
                  <a:srgbClr val="191933"/>
                </a:solidFill>
                <a:latin typeface="Calibri"/>
                <a:cs typeface="Calibri"/>
              </a:rPr>
              <a:t>,</a:t>
            </a:r>
            <a:r>
              <a:rPr sz="800" i="1" spc="-4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i="1" dirty="0">
                <a:solidFill>
                  <a:srgbClr val="191933"/>
                </a:solidFill>
                <a:latin typeface="Calibri"/>
                <a:cs typeface="Calibri"/>
              </a:rPr>
              <a:t>.</a:t>
            </a:r>
            <a:r>
              <a:rPr sz="800" i="1" spc="-4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i="1" dirty="0">
                <a:solidFill>
                  <a:srgbClr val="191933"/>
                </a:solidFill>
                <a:latin typeface="Calibri"/>
                <a:cs typeface="Calibri"/>
              </a:rPr>
              <a:t>.</a:t>
            </a:r>
            <a:r>
              <a:rPr sz="800" i="1" spc="-4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i="1" dirty="0">
                <a:solidFill>
                  <a:srgbClr val="191933"/>
                </a:solidFill>
                <a:latin typeface="Calibri"/>
                <a:cs typeface="Calibri"/>
              </a:rPr>
              <a:t>.</a:t>
            </a:r>
            <a:r>
              <a:rPr sz="800" i="1" spc="-4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i="1" dirty="0">
                <a:solidFill>
                  <a:srgbClr val="191933"/>
                </a:solidFill>
                <a:latin typeface="Calibri"/>
                <a:cs typeface="Calibri"/>
              </a:rPr>
              <a:t>,</a:t>
            </a:r>
            <a:r>
              <a:rPr sz="800" i="1" spc="-4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i="1" spc="110" dirty="0">
                <a:solidFill>
                  <a:srgbClr val="191933"/>
                </a:solidFill>
                <a:latin typeface="Calibri"/>
                <a:cs typeface="Calibri"/>
              </a:rPr>
              <a:t>s</a:t>
            </a:r>
            <a:r>
              <a:rPr sz="900" i="1" spc="165" baseline="-9259" dirty="0">
                <a:solidFill>
                  <a:srgbClr val="191933"/>
                </a:solidFill>
                <a:latin typeface="Calibri"/>
                <a:cs typeface="Calibri"/>
              </a:rPr>
              <a:t>n</a:t>
            </a:r>
            <a:r>
              <a:rPr sz="800" i="1" spc="110" dirty="0">
                <a:solidFill>
                  <a:srgbClr val="191933"/>
                </a:solidFill>
                <a:latin typeface="Georgia"/>
                <a:cs typeface="Georgia"/>
              </a:rPr>
              <a:t>}</a:t>
            </a:r>
            <a:r>
              <a:rPr sz="800" i="1" spc="80" dirty="0">
                <a:solidFill>
                  <a:srgbClr val="191933"/>
                </a:solidFill>
                <a:latin typeface="Georgia"/>
                <a:cs typeface="Georgia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be</a:t>
            </a:r>
            <a:r>
              <a:rPr sz="8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8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set</a:t>
            </a:r>
            <a:r>
              <a:rPr sz="8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8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all</a:t>
            </a:r>
            <a:r>
              <a:rPr sz="8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signatures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where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each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i="1" spc="100" dirty="0">
                <a:solidFill>
                  <a:srgbClr val="191933"/>
                </a:solidFill>
                <a:latin typeface="Calibri"/>
                <a:cs typeface="Calibri"/>
              </a:rPr>
              <a:t>s</a:t>
            </a:r>
            <a:r>
              <a:rPr sz="900" i="1" spc="150" baseline="-9259" dirty="0">
                <a:solidFill>
                  <a:srgbClr val="191933"/>
                </a:solidFill>
                <a:latin typeface="Calibri"/>
                <a:cs typeface="Calibri"/>
              </a:rPr>
              <a:t>i</a:t>
            </a:r>
            <a:r>
              <a:rPr sz="900" i="1" spc="232" baseline="-9259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is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signature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defined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in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specific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format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(e.g.,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byte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sequences).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7" name="object 7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4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195587" y="3351784"/>
            <a:ext cx="28130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</a:rPr>
              <a:t>13</a:t>
            </a:r>
            <a:r>
              <a:rPr sz="6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00" spc="150" dirty="0">
                <a:solidFill>
                  <a:srgbClr val="FFFFFF"/>
                </a:solidFill>
                <a:latin typeface="Arial MT"/>
                <a:cs typeface="Arial MT"/>
              </a:rPr>
              <a:t>/</a:t>
            </a:r>
            <a:r>
              <a:rPr sz="6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Arial MT"/>
                <a:cs typeface="Arial MT"/>
              </a:rPr>
              <a:t>93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0" dirty="0"/>
              <a:t>Signature-</a:t>
            </a:r>
            <a:r>
              <a:rPr spc="-25" dirty="0"/>
              <a:t>Based</a:t>
            </a:r>
            <a:r>
              <a:rPr spc="50" dirty="0"/>
              <a:t> </a:t>
            </a:r>
            <a:r>
              <a:rPr spc="-25" dirty="0"/>
              <a:t>Prevention</a:t>
            </a:r>
            <a:r>
              <a:rPr spc="50" dirty="0"/>
              <a:t> </a:t>
            </a:r>
            <a:r>
              <a:rPr spc="-25" dirty="0"/>
              <a:t>Algorithm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537756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798677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206106"/>
            <a:ext cx="65265" cy="6526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00444" y="325856"/>
            <a:ext cx="4306570" cy="1101725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70"/>
              </a:spcBef>
            </a:pPr>
            <a:r>
              <a:rPr sz="800" b="1" spc="-25" dirty="0">
                <a:solidFill>
                  <a:srgbClr val="191933"/>
                </a:solidFill>
                <a:latin typeface="Arial"/>
                <a:cs typeface="Arial"/>
              </a:rPr>
              <a:t>Signature</a:t>
            </a: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191933"/>
                </a:solidFill>
                <a:latin typeface="Arial"/>
                <a:cs typeface="Arial"/>
              </a:rPr>
              <a:t>Database</a:t>
            </a: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191933"/>
                </a:solidFill>
                <a:latin typeface="Arial"/>
                <a:cs typeface="Arial"/>
              </a:rPr>
              <a:t>Creation:</a:t>
            </a:r>
            <a:endParaRPr sz="800">
              <a:latin typeface="Arial"/>
              <a:cs typeface="Arial"/>
            </a:endParaRPr>
          </a:p>
          <a:p>
            <a:pPr marL="314960" marR="30480">
              <a:lnSpc>
                <a:spcPts val="950"/>
              </a:lnSpc>
              <a:spcBef>
                <a:spcPts val="210"/>
              </a:spcBef>
            </a:pPr>
            <a:r>
              <a:rPr sz="800" b="1" spc="-25" dirty="0">
                <a:solidFill>
                  <a:srgbClr val="191933"/>
                </a:solidFill>
                <a:latin typeface="Arial"/>
                <a:cs typeface="Arial"/>
              </a:rPr>
              <a:t>Signature</a:t>
            </a:r>
            <a:r>
              <a:rPr sz="800" b="1" spc="4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191933"/>
                </a:solidFill>
                <a:latin typeface="Arial"/>
                <a:cs typeface="Arial"/>
              </a:rPr>
              <a:t>Definition:</a:t>
            </a:r>
            <a:r>
              <a:rPr sz="800" b="1" spc="11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Each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signature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represents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specific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pattern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malicious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activity.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These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patterns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could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be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45" dirty="0">
                <a:solidFill>
                  <a:srgbClr val="191933"/>
                </a:solidFill>
                <a:latin typeface="Arial MT"/>
                <a:cs typeface="Arial MT"/>
              </a:rPr>
              <a:t>sequences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bytes,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45" dirty="0">
                <a:solidFill>
                  <a:srgbClr val="191933"/>
                </a:solidFill>
                <a:latin typeface="Arial MT"/>
                <a:cs typeface="Arial MT"/>
              </a:rPr>
              <a:t>hashes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files,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or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known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exploit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40" dirty="0">
                <a:solidFill>
                  <a:srgbClr val="191933"/>
                </a:solidFill>
                <a:latin typeface="Arial MT"/>
                <a:cs typeface="Arial MT"/>
              </a:rPr>
              <a:t>sequences.</a:t>
            </a:r>
            <a:endParaRPr sz="800">
              <a:latin typeface="Arial MT"/>
              <a:cs typeface="Arial MT"/>
            </a:endParaRPr>
          </a:p>
          <a:p>
            <a:pPr marL="314960" marR="200660">
              <a:lnSpc>
                <a:spcPts val="950"/>
              </a:lnSpc>
              <a:spcBef>
                <a:spcPts val="155"/>
              </a:spcBef>
            </a:pP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Mathematical</a:t>
            </a:r>
            <a:r>
              <a:rPr sz="800" b="1" spc="6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30" dirty="0">
                <a:solidFill>
                  <a:srgbClr val="191933"/>
                </a:solidFill>
                <a:latin typeface="Arial"/>
                <a:cs typeface="Arial"/>
              </a:rPr>
              <a:t>Representation:</a:t>
            </a:r>
            <a:r>
              <a:rPr sz="800" b="1" spc="14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Let</a:t>
            </a:r>
            <a:r>
              <a:rPr sz="800" spc="5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i="1" spc="150" dirty="0">
                <a:solidFill>
                  <a:srgbClr val="191933"/>
                </a:solidFill>
                <a:latin typeface="Calibri"/>
                <a:cs typeface="Calibri"/>
              </a:rPr>
              <a:t>S</a:t>
            </a:r>
            <a:r>
              <a:rPr sz="800" i="1" spc="8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spc="254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800" spc="4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i="1" spc="70" dirty="0">
                <a:solidFill>
                  <a:srgbClr val="191933"/>
                </a:solidFill>
                <a:latin typeface="Georgia"/>
                <a:cs typeface="Georgia"/>
              </a:rPr>
              <a:t>{</a:t>
            </a:r>
            <a:r>
              <a:rPr sz="800" i="1" spc="70" dirty="0">
                <a:solidFill>
                  <a:srgbClr val="191933"/>
                </a:solidFill>
                <a:latin typeface="Calibri"/>
                <a:cs typeface="Calibri"/>
              </a:rPr>
              <a:t>s</a:t>
            </a:r>
            <a:r>
              <a:rPr sz="900" spc="104" baseline="-9259" dirty="0">
                <a:solidFill>
                  <a:srgbClr val="191933"/>
                </a:solidFill>
                <a:latin typeface="Calibri"/>
                <a:cs typeface="Calibri"/>
              </a:rPr>
              <a:t>1</a:t>
            </a:r>
            <a:r>
              <a:rPr sz="800" i="1" spc="70" dirty="0">
                <a:solidFill>
                  <a:srgbClr val="191933"/>
                </a:solidFill>
                <a:latin typeface="Calibri"/>
                <a:cs typeface="Calibri"/>
              </a:rPr>
              <a:t>,</a:t>
            </a:r>
            <a:r>
              <a:rPr sz="800" i="1" spc="-4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i="1" spc="70" dirty="0">
                <a:solidFill>
                  <a:srgbClr val="191933"/>
                </a:solidFill>
                <a:latin typeface="Calibri"/>
                <a:cs typeface="Calibri"/>
              </a:rPr>
              <a:t>s</a:t>
            </a:r>
            <a:r>
              <a:rPr sz="900" spc="104" baseline="-9259" dirty="0">
                <a:solidFill>
                  <a:srgbClr val="191933"/>
                </a:solidFill>
                <a:latin typeface="Calibri"/>
                <a:cs typeface="Calibri"/>
              </a:rPr>
              <a:t>2</a:t>
            </a:r>
            <a:r>
              <a:rPr sz="800" i="1" spc="70" dirty="0">
                <a:solidFill>
                  <a:srgbClr val="191933"/>
                </a:solidFill>
                <a:latin typeface="Calibri"/>
                <a:cs typeface="Calibri"/>
              </a:rPr>
              <a:t>,</a:t>
            </a:r>
            <a:r>
              <a:rPr sz="800" i="1" spc="-4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i="1" dirty="0">
                <a:solidFill>
                  <a:srgbClr val="191933"/>
                </a:solidFill>
                <a:latin typeface="Calibri"/>
                <a:cs typeface="Calibri"/>
              </a:rPr>
              <a:t>.</a:t>
            </a:r>
            <a:r>
              <a:rPr sz="800" i="1" spc="-4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i="1" dirty="0">
                <a:solidFill>
                  <a:srgbClr val="191933"/>
                </a:solidFill>
                <a:latin typeface="Calibri"/>
                <a:cs typeface="Calibri"/>
              </a:rPr>
              <a:t>.</a:t>
            </a:r>
            <a:r>
              <a:rPr sz="800" i="1" spc="-4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i="1" dirty="0">
                <a:solidFill>
                  <a:srgbClr val="191933"/>
                </a:solidFill>
                <a:latin typeface="Calibri"/>
                <a:cs typeface="Calibri"/>
              </a:rPr>
              <a:t>.</a:t>
            </a:r>
            <a:r>
              <a:rPr sz="800" i="1" spc="-4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i="1" dirty="0">
                <a:solidFill>
                  <a:srgbClr val="191933"/>
                </a:solidFill>
                <a:latin typeface="Calibri"/>
                <a:cs typeface="Calibri"/>
              </a:rPr>
              <a:t>,</a:t>
            </a:r>
            <a:r>
              <a:rPr sz="800" i="1" spc="-4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i="1" spc="110" dirty="0">
                <a:solidFill>
                  <a:srgbClr val="191933"/>
                </a:solidFill>
                <a:latin typeface="Calibri"/>
                <a:cs typeface="Calibri"/>
              </a:rPr>
              <a:t>s</a:t>
            </a:r>
            <a:r>
              <a:rPr sz="900" i="1" spc="165" baseline="-9259" dirty="0">
                <a:solidFill>
                  <a:srgbClr val="191933"/>
                </a:solidFill>
                <a:latin typeface="Calibri"/>
                <a:cs typeface="Calibri"/>
              </a:rPr>
              <a:t>n</a:t>
            </a:r>
            <a:r>
              <a:rPr sz="800" i="1" spc="110" dirty="0">
                <a:solidFill>
                  <a:srgbClr val="191933"/>
                </a:solidFill>
                <a:latin typeface="Georgia"/>
                <a:cs typeface="Georgia"/>
              </a:rPr>
              <a:t>}</a:t>
            </a:r>
            <a:r>
              <a:rPr sz="800" i="1" spc="80" dirty="0">
                <a:solidFill>
                  <a:srgbClr val="191933"/>
                </a:solidFill>
                <a:latin typeface="Georgia"/>
                <a:cs typeface="Georgia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be</a:t>
            </a:r>
            <a:r>
              <a:rPr sz="8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8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set</a:t>
            </a:r>
            <a:r>
              <a:rPr sz="8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8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all</a:t>
            </a:r>
            <a:r>
              <a:rPr sz="8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signatures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where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each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i="1" spc="100" dirty="0">
                <a:solidFill>
                  <a:srgbClr val="191933"/>
                </a:solidFill>
                <a:latin typeface="Calibri"/>
                <a:cs typeface="Calibri"/>
              </a:rPr>
              <a:t>s</a:t>
            </a:r>
            <a:r>
              <a:rPr sz="900" i="1" spc="150" baseline="-9259" dirty="0">
                <a:solidFill>
                  <a:srgbClr val="191933"/>
                </a:solidFill>
                <a:latin typeface="Calibri"/>
                <a:cs typeface="Calibri"/>
              </a:rPr>
              <a:t>i</a:t>
            </a:r>
            <a:r>
              <a:rPr sz="900" i="1" spc="232" baseline="-9259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is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signature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defined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in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specific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format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(e.g.,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byte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sequences).</a:t>
            </a:r>
            <a:endParaRPr sz="80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140"/>
              </a:spcBef>
            </a:pP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Data</a:t>
            </a:r>
            <a:r>
              <a:rPr sz="800" b="1" spc="12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191933"/>
                </a:solidFill>
                <a:latin typeface="Arial"/>
                <a:cs typeface="Arial"/>
              </a:rPr>
              <a:t>Collection:</a:t>
            </a:r>
            <a:endParaRPr sz="800">
              <a:latin typeface="Arial"/>
              <a:cs typeface="Arial"/>
            </a:endParaRPr>
          </a:p>
          <a:p>
            <a:pPr marL="314960" marR="48895">
              <a:lnSpc>
                <a:spcPts val="950"/>
              </a:lnSpc>
              <a:spcBef>
                <a:spcPts val="209"/>
              </a:spcBef>
            </a:pPr>
            <a:r>
              <a:rPr sz="800" b="1" spc="-25" dirty="0">
                <a:solidFill>
                  <a:srgbClr val="191933"/>
                </a:solidFill>
                <a:latin typeface="Arial"/>
                <a:cs typeface="Arial"/>
              </a:rPr>
              <a:t>Incoming</a:t>
            </a:r>
            <a:r>
              <a:rPr sz="800" b="1" spc="4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Data:</a:t>
            </a:r>
            <a:r>
              <a:rPr sz="800" b="1" spc="12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Let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i="1" spc="200" dirty="0">
                <a:solidFill>
                  <a:srgbClr val="191933"/>
                </a:solidFill>
                <a:latin typeface="Calibri"/>
                <a:cs typeface="Calibri"/>
              </a:rPr>
              <a:t>D</a:t>
            </a:r>
            <a:r>
              <a:rPr sz="800" i="1" spc="8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represent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incoming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data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stream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which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40" dirty="0">
                <a:solidFill>
                  <a:srgbClr val="191933"/>
                </a:solidFill>
                <a:latin typeface="Arial MT"/>
                <a:cs typeface="Arial MT"/>
              </a:rPr>
              <a:t>needs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be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analyzed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for</a:t>
            </a:r>
            <a:r>
              <a:rPr sz="8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threats.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8" name="object 8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4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195587" y="3351784"/>
            <a:ext cx="28130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</a:rPr>
              <a:t>13</a:t>
            </a:r>
            <a:r>
              <a:rPr sz="6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00" spc="150" dirty="0">
                <a:solidFill>
                  <a:srgbClr val="FFFFFF"/>
                </a:solidFill>
                <a:latin typeface="Arial MT"/>
                <a:cs typeface="Arial MT"/>
              </a:rPr>
              <a:t>/</a:t>
            </a:r>
            <a:r>
              <a:rPr sz="6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Arial MT"/>
                <a:cs typeface="Arial MT"/>
              </a:rPr>
              <a:t>93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0" dirty="0"/>
              <a:t>Signature-</a:t>
            </a:r>
            <a:r>
              <a:rPr spc="-25" dirty="0"/>
              <a:t>Based</a:t>
            </a:r>
            <a:r>
              <a:rPr spc="50" dirty="0"/>
              <a:t> </a:t>
            </a:r>
            <a:r>
              <a:rPr spc="-25" dirty="0"/>
              <a:t>Prevention</a:t>
            </a:r>
            <a:r>
              <a:rPr spc="50" dirty="0"/>
              <a:t> </a:t>
            </a:r>
            <a:r>
              <a:rPr spc="-25" dirty="0"/>
              <a:t>Algorithm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537756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798677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206106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613547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1874456"/>
            <a:ext cx="65265" cy="6526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1089" y="2135378"/>
            <a:ext cx="65265" cy="6526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1089" y="2516479"/>
            <a:ext cx="65265" cy="65265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00444" y="325856"/>
            <a:ext cx="4407535" cy="2411730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70"/>
              </a:spcBef>
            </a:pPr>
            <a:r>
              <a:rPr sz="800" b="1" spc="-25" dirty="0">
                <a:solidFill>
                  <a:srgbClr val="191933"/>
                </a:solidFill>
                <a:latin typeface="Arial"/>
                <a:cs typeface="Arial"/>
              </a:rPr>
              <a:t>Signature</a:t>
            </a: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191933"/>
                </a:solidFill>
                <a:latin typeface="Arial"/>
                <a:cs typeface="Arial"/>
              </a:rPr>
              <a:t>Database</a:t>
            </a: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191933"/>
                </a:solidFill>
                <a:latin typeface="Arial"/>
                <a:cs typeface="Arial"/>
              </a:rPr>
              <a:t>Creation:</a:t>
            </a:r>
            <a:endParaRPr sz="800">
              <a:latin typeface="Arial"/>
              <a:cs typeface="Arial"/>
            </a:endParaRPr>
          </a:p>
          <a:p>
            <a:pPr marL="314960" marR="130810">
              <a:lnSpc>
                <a:spcPts val="950"/>
              </a:lnSpc>
              <a:spcBef>
                <a:spcPts val="210"/>
              </a:spcBef>
            </a:pPr>
            <a:r>
              <a:rPr sz="800" b="1" spc="-25" dirty="0">
                <a:solidFill>
                  <a:srgbClr val="191933"/>
                </a:solidFill>
                <a:latin typeface="Arial"/>
                <a:cs typeface="Arial"/>
              </a:rPr>
              <a:t>Signature</a:t>
            </a:r>
            <a:r>
              <a:rPr sz="800" b="1" spc="4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191933"/>
                </a:solidFill>
                <a:latin typeface="Arial"/>
                <a:cs typeface="Arial"/>
              </a:rPr>
              <a:t>Definition:</a:t>
            </a:r>
            <a:r>
              <a:rPr sz="800" b="1" spc="11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Each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signature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represents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specific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pattern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malicious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activity.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These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patterns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could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be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45" dirty="0">
                <a:solidFill>
                  <a:srgbClr val="191933"/>
                </a:solidFill>
                <a:latin typeface="Arial MT"/>
                <a:cs typeface="Arial MT"/>
              </a:rPr>
              <a:t>sequences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bytes,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45" dirty="0">
                <a:solidFill>
                  <a:srgbClr val="191933"/>
                </a:solidFill>
                <a:latin typeface="Arial MT"/>
                <a:cs typeface="Arial MT"/>
              </a:rPr>
              <a:t>hashes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files,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or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known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exploit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40" dirty="0">
                <a:solidFill>
                  <a:srgbClr val="191933"/>
                </a:solidFill>
                <a:latin typeface="Arial MT"/>
                <a:cs typeface="Arial MT"/>
              </a:rPr>
              <a:t>sequences.</a:t>
            </a:r>
            <a:endParaRPr sz="800">
              <a:latin typeface="Arial MT"/>
              <a:cs typeface="Arial MT"/>
            </a:endParaRPr>
          </a:p>
          <a:p>
            <a:pPr marL="314960" marR="301625">
              <a:lnSpc>
                <a:spcPts val="950"/>
              </a:lnSpc>
              <a:spcBef>
                <a:spcPts val="155"/>
              </a:spcBef>
            </a:pP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Mathematical</a:t>
            </a:r>
            <a:r>
              <a:rPr sz="800" b="1" spc="6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30" dirty="0">
                <a:solidFill>
                  <a:srgbClr val="191933"/>
                </a:solidFill>
                <a:latin typeface="Arial"/>
                <a:cs typeface="Arial"/>
              </a:rPr>
              <a:t>Representation:</a:t>
            </a:r>
            <a:r>
              <a:rPr sz="800" b="1" spc="14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Let</a:t>
            </a:r>
            <a:r>
              <a:rPr sz="800" spc="5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i="1" spc="150" dirty="0">
                <a:solidFill>
                  <a:srgbClr val="191933"/>
                </a:solidFill>
                <a:latin typeface="Calibri"/>
                <a:cs typeface="Calibri"/>
              </a:rPr>
              <a:t>S</a:t>
            </a:r>
            <a:r>
              <a:rPr sz="800" i="1" spc="8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spc="254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800" spc="4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i="1" spc="70" dirty="0">
                <a:solidFill>
                  <a:srgbClr val="191933"/>
                </a:solidFill>
                <a:latin typeface="Georgia"/>
                <a:cs typeface="Georgia"/>
              </a:rPr>
              <a:t>{</a:t>
            </a:r>
            <a:r>
              <a:rPr sz="800" i="1" spc="70" dirty="0">
                <a:solidFill>
                  <a:srgbClr val="191933"/>
                </a:solidFill>
                <a:latin typeface="Calibri"/>
                <a:cs typeface="Calibri"/>
              </a:rPr>
              <a:t>s</a:t>
            </a:r>
            <a:r>
              <a:rPr sz="900" spc="104" baseline="-9259" dirty="0">
                <a:solidFill>
                  <a:srgbClr val="191933"/>
                </a:solidFill>
                <a:latin typeface="Calibri"/>
                <a:cs typeface="Calibri"/>
              </a:rPr>
              <a:t>1</a:t>
            </a:r>
            <a:r>
              <a:rPr sz="800" i="1" spc="70" dirty="0">
                <a:solidFill>
                  <a:srgbClr val="191933"/>
                </a:solidFill>
                <a:latin typeface="Calibri"/>
                <a:cs typeface="Calibri"/>
              </a:rPr>
              <a:t>,</a:t>
            </a:r>
            <a:r>
              <a:rPr sz="800" i="1" spc="-4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i="1" spc="70" dirty="0">
                <a:solidFill>
                  <a:srgbClr val="191933"/>
                </a:solidFill>
                <a:latin typeface="Calibri"/>
                <a:cs typeface="Calibri"/>
              </a:rPr>
              <a:t>s</a:t>
            </a:r>
            <a:r>
              <a:rPr sz="900" spc="104" baseline="-9259" dirty="0">
                <a:solidFill>
                  <a:srgbClr val="191933"/>
                </a:solidFill>
                <a:latin typeface="Calibri"/>
                <a:cs typeface="Calibri"/>
              </a:rPr>
              <a:t>2</a:t>
            </a:r>
            <a:r>
              <a:rPr sz="800" i="1" spc="70" dirty="0">
                <a:solidFill>
                  <a:srgbClr val="191933"/>
                </a:solidFill>
                <a:latin typeface="Calibri"/>
                <a:cs typeface="Calibri"/>
              </a:rPr>
              <a:t>,</a:t>
            </a:r>
            <a:r>
              <a:rPr sz="800" i="1" spc="-4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i="1" dirty="0">
                <a:solidFill>
                  <a:srgbClr val="191933"/>
                </a:solidFill>
                <a:latin typeface="Calibri"/>
                <a:cs typeface="Calibri"/>
              </a:rPr>
              <a:t>.</a:t>
            </a:r>
            <a:r>
              <a:rPr sz="800" i="1" spc="-4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i="1" dirty="0">
                <a:solidFill>
                  <a:srgbClr val="191933"/>
                </a:solidFill>
                <a:latin typeface="Calibri"/>
                <a:cs typeface="Calibri"/>
              </a:rPr>
              <a:t>.</a:t>
            </a:r>
            <a:r>
              <a:rPr sz="800" i="1" spc="-4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i="1" dirty="0">
                <a:solidFill>
                  <a:srgbClr val="191933"/>
                </a:solidFill>
                <a:latin typeface="Calibri"/>
                <a:cs typeface="Calibri"/>
              </a:rPr>
              <a:t>.</a:t>
            </a:r>
            <a:r>
              <a:rPr sz="800" i="1" spc="-4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i="1" dirty="0">
                <a:solidFill>
                  <a:srgbClr val="191933"/>
                </a:solidFill>
                <a:latin typeface="Calibri"/>
                <a:cs typeface="Calibri"/>
              </a:rPr>
              <a:t>,</a:t>
            </a:r>
            <a:r>
              <a:rPr sz="800" i="1" spc="-4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i="1" spc="110" dirty="0">
                <a:solidFill>
                  <a:srgbClr val="191933"/>
                </a:solidFill>
                <a:latin typeface="Calibri"/>
                <a:cs typeface="Calibri"/>
              </a:rPr>
              <a:t>s</a:t>
            </a:r>
            <a:r>
              <a:rPr sz="900" i="1" spc="165" baseline="-9259" dirty="0">
                <a:solidFill>
                  <a:srgbClr val="191933"/>
                </a:solidFill>
                <a:latin typeface="Calibri"/>
                <a:cs typeface="Calibri"/>
              </a:rPr>
              <a:t>n</a:t>
            </a:r>
            <a:r>
              <a:rPr sz="800" i="1" spc="110" dirty="0">
                <a:solidFill>
                  <a:srgbClr val="191933"/>
                </a:solidFill>
                <a:latin typeface="Georgia"/>
                <a:cs typeface="Georgia"/>
              </a:rPr>
              <a:t>}</a:t>
            </a:r>
            <a:r>
              <a:rPr sz="800" i="1" spc="80" dirty="0">
                <a:solidFill>
                  <a:srgbClr val="191933"/>
                </a:solidFill>
                <a:latin typeface="Georgia"/>
                <a:cs typeface="Georgia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be</a:t>
            </a:r>
            <a:r>
              <a:rPr sz="8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8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set</a:t>
            </a:r>
            <a:r>
              <a:rPr sz="8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8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all</a:t>
            </a:r>
            <a:r>
              <a:rPr sz="8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signatures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where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each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i="1" spc="100" dirty="0">
                <a:solidFill>
                  <a:srgbClr val="191933"/>
                </a:solidFill>
                <a:latin typeface="Calibri"/>
                <a:cs typeface="Calibri"/>
              </a:rPr>
              <a:t>s</a:t>
            </a:r>
            <a:r>
              <a:rPr sz="900" i="1" spc="150" baseline="-9259" dirty="0">
                <a:solidFill>
                  <a:srgbClr val="191933"/>
                </a:solidFill>
                <a:latin typeface="Calibri"/>
                <a:cs typeface="Calibri"/>
              </a:rPr>
              <a:t>i</a:t>
            </a:r>
            <a:r>
              <a:rPr sz="900" i="1" spc="232" baseline="-9259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is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signature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defined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in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specific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format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(e.g.,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byte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sequences).</a:t>
            </a:r>
            <a:endParaRPr sz="80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140"/>
              </a:spcBef>
            </a:pP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Data</a:t>
            </a:r>
            <a:r>
              <a:rPr sz="800" b="1" spc="12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191933"/>
                </a:solidFill>
                <a:latin typeface="Arial"/>
                <a:cs typeface="Arial"/>
              </a:rPr>
              <a:t>Collection:</a:t>
            </a:r>
            <a:endParaRPr sz="800">
              <a:latin typeface="Arial"/>
              <a:cs typeface="Arial"/>
            </a:endParaRPr>
          </a:p>
          <a:p>
            <a:pPr marL="314960" marR="149860">
              <a:lnSpc>
                <a:spcPts val="950"/>
              </a:lnSpc>
              <a:spcBef>
                <a:spcPts val="209"/>
              </a:spcBef>
            </a:pPr>
            <a:r>
              <a:rPr sz="800" b="1" spc="-25" dirty="0">
                <a:solidFill>
                  <a:srgbClr val="191933"/>
                </a:solidFill>
                <a:latin typeface="Arial"/>
                <a:cs typeface="Arial"/>
              </a:rPr>
              <a:t>Incoming</a:t>
            </a:r>
            <a:r>
              <a:rPr sz="800" b="1" spc="4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Data:</a:t>
            </a:r>
            <a:r>
              <a:rPr sz="800" b="1" spc="12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Let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i="1" spc="200" dirty="0">
                <a:solidFill>
                  <a:srgbClr val="191933"/>
                </a:solidFill>
                <a:latin typeface="Calibri"/>
                <a:cs typeface="Calibri"/>
              </a:rPr>
              <a:t>D</a:t>
            </a:r>
            <a:r>
              <a:rPr sz="800" i="1" spc="8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represent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incoming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data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stream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which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40" dirty="0">
                <a:solidFill>
                  <a:srgbClr val="191933"/>
                </a:solidFill>
                <a:latin typeface="Arial MT"/>
                <a:cs typeface="Arial MT"/>
              </a:rPr>
              <a:t>needs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be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analyzed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for</a:t>
            </a:r>
            <a:r>
              <a:rPr sz="8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threats.</a:t>
            </a:r>
            <a:endParaRPr sz="80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Pattern</a:t>
            </a:r>
            <a:r>
              <a:rPr sz="800" b="1" spc="4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191933"/>
                </a:solidFill>
                <a:latin typeface="Arial"/>
                <a:cs typeface="Arial"/>
              </a:rPr>
              <a:t>Matching:</a:t>
            </a:r>
            <a:endParaRPr sz="800">
              <a:latin typeface="Arial"/>
              <a:cs typeface="Arial"/>
            </a:endParaRPr>
          </a:p>
          <a:p>
            <a:pPr marL="314960" marR="281305">
              <a:lnSpc>
                <a:spcPts val="950"/>
              </a:lnSpc>
              <a:spcBef>
                <a:spcPts val="210"/>
              </a:spcBef>
            </a:pP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Matching</a:t>
            </a:r>
            <a:r>
              <a:rPr sz="800" b="1" spc="3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40" dirty="0">
                <a:solidFill>
                  <a:srgbClr val="191933"/>
                </a:solidFill>
                <a:latin typeface="Arial"/>
                <a:cs typeface="Arial"/>
              </a:rPr>
              <a:t>Process:</a:t>
            </a:r>
            <a:r>
              <a:rPr sz="800" b="1" spc="114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For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each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signature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i="1" spc="100" dirty="0">
                <a:solidFill>
                  <a:srgbClr val="191933"/>
                </a:solidFill>
                <a:latin typeface="Calibri"/>
                <a:cs typeface="Calibri"/>
              </a:rPr>
              <a:t>s</a:t>
            </a:r>
            <a:r>
              <a:rPr sz="900" i="1" spc="150" baseline="-9259" dirty="0">
                <a:solidFill>
                  <a:srgbClr val="191933"/>
                </a:solidFill>
                <a:latin typeface="Calibri"/>
                <a:cs typeface="Calibri"/>
              </a:rPr>
              <a:t>i</a:t>
            </a:r>
            <a:r>
              <a:rPr sz="900" i="1" spc="232" baseline="-9259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in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signature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database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i="1" spc="100" dirty="0">
                <a:solidFill>
                  <a:srgbClr val="191933"/>
                </a:solidFill>
                <a:latin typeface="Calibri"/>
                <a:cs typeface="Calibri"/>
              </a:rPr>
              <a:t>S</a:t>
            </a:r>
            <a:r>
              <a:rPr sz="800" spc="100" dirty="0">
                <a:solidFill>
                  <a:srgbClr val="191933"/>
                </a:solidFill>
                <a:latin typeface="Arial MT"/>
                <a:cs typeface="Arial MT"/>
              </a:rPr>
              <a:t>,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algorithm </a:t>
            </a: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checks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if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i="1" spc="100" dirty="0">
                <a:solidFill>
                  <a:srgbClr val="191933"/>
                </a:solidFill>
                <a:latin typeface="Calibri"/>
                <a:cs typeface="Calibri"/>
              </a:rPr>
              <a:t>s</a:t>
            </a:r>
            <a:r>
              <a:rPr sz="900" i="1" spc="150" baseline="-9259" dirty="0">
                <a:solidFill>
                  <a:srgbClr val="191933"/>
                </a:solidFill>
                <a:latin typeface="Calibri"/>
                <a:cs typeface="Calibri"/>
              </a:rPr>
              <a:t>i</a:t>
            </a:r>
            <a:r>
              <a:rPr sz="900" i="1" spc="254" baseline="-9259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exists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in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incoming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data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i="1" spc="90" dirty="0">
                <a:solidFill>
                  <a:srgbClr val="191933"/>
                </a:solidFill>
                <a:latin typeface="Calibri"/>
                <a:cs typeface="Calibri"/>
              </a:rPr>
              <a:t>D</a:t>
            </a:r>
            <a:r>
              <a:rPr sz="800" spc="90" dirty="0">
                <a:solidFill>
                  <a:srgbClr val="191933"/>
                </a:solidFill>
                <a:latin typeface="Arial MT"/>
                <a:cs typeface="Arial MT"/>
              </a:rPr>
              <a:t>.</a:t>
            </a:r>
            <a:endParaRPr sz="800">
              <a:latin typeface="Arial MT"/>
              <a:cs typeface="Arial MT"/>
            </a:endParaRPr>
          </a:p>
          <a:p>
            <a:pPr marL="314960" marR="332105">
              <a:lnSpc>
                <a:spcPts val="950"/>
              </a:lnSpc>
              <a:spcBef>
                <a:spcPts val="155"/>
              </a:spcBef>
            </a:pP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Mathematical</a:t>
            </a:r>
            <a:r>
              <a:rPr sz="800" b="1" spc="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191933"/>
                </a:solidFill>
                <a:latin typeface="Arial"/>
                <a:cs typeface="Arial"/>
              </a:rPr>
              <a:t>Operation:</a:t>
            </a:r>
            <a:r>
              <a:rPr sz="800" b="1" spc="7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This can</a:t>
            </a:r>
            <a:r>
              <a:rPr sz="8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be </a:t>
            </a: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represented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as</a:t>
            </a:r>
            <a:r>
              <a:rPr sz="8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 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search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 operation</a:t>
            </a:r>
            <a:r>
              <a:rPr sz="8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where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 algorithm</a:t>
            </a:r>
            <a:r>
              <a:rPr sz="8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45" dirty="0">
                <a:solidFill>
                  <a:srgbClr val="191933"/>
                </a:solidFill>
                <a:latin typeface="Arial MT"/>
                <a:cs typeface="Arial MT"/>
              </a:rPr>
              <a:t>searches</a:t>
            </a:r>
            <a:r>
              <a:rPr sz="800" spc="6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for</a:t>
            </a:r>
            <a:r>
              <a:rPr sz="800" spc="6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occurrences</a:t>
            </a:r>
            <a:r>
              <a:rPr sz="800" spc="6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800" spc="6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i="1" spc="100" dirty="0">
                <a:solidFill>
                  <a:srgbClr val="191933"/>
                </a:solidFill>
                <a:latin typeface="Calibri"/>
                <a:cs typeface="Calibri"/>
              </a:rPr>
              <a:t>s</a:t>
            </a:r>
            <a:r>
              <a:rPr sz="900" i="1" spc="150" baseline="-9259" dirty="0">
                <a:solidFill>
                  <a:srgbClr val="191933"/>
                </a:solidFill>
                <a:latin typeface="Calibri"/>
                <a:cs typeface="Calibri"/>
              </a:rPr>
              <a:t>i</a:t>
            </a:r>
            <a:r>
              <a:rPr sz="900" i="1" spc="292" baseline="-9259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in</a:t>
            </a:r>
            <a:r>
              <a:rPr sz="800" spc="6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i="1" spc="90" dirty="0">
                <a:solidFill>
                  <a:srgbClr val="191933"/>
                </a:solidFill>
                <a:latin typeface="Calibri"/>
                <a:cs typeface="Calibri"/>
              </a:rPr>
              <a:t>D</a:t>
            </a:r>
            <a:r>
              <a:rPr sz="800" spc="90" dirty="0">
                <a:solidFill>
                  <a:srgbClr val="191933"/>
                </a:solidFill>
                <a:latin typeface="Arial MT"/>
                <a:cs typeface="Arial MT"/>
              </a:rPr>
              <a:t>.</a:t>
            </a:r>
            <a:endParaRPr sz="800">
              <a:latin typeface="Arial MT"/>
              <a:cs typeface="Arial MT"/>
            </a:endParaRPr>
          </a:p>
          <a:p>
            <a:pPr marL="314960" marR="30480">
              <a:lnSpc>
                <a:spcPts val="950"/>
              </a:lnSpc>
              <a:spcBef>
                <a:spcPts val="155"/>
              </a:spcBef>
            </a:pPr>
            <a:r>
              <a:rPr sz="800" b="1" spc="-10" dirty="0">
                <a:solidFill>
                  <a:srgbClr val="191933"/>
                </a:solidFill>
                <a:latin typeface="Arial"/>
                <a:cs typeface="Arial"/>
              </a:rPr>
              <a:t>Naive</a:t>
            </a:r>
            <a:r>
              <a:rPr sz="800" b="1" spc="4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30" dirty="0">
                <a:solidFill>
                  <a:srgbClr val="191933"/>
                </a:solidFill>
                <a:latin typeface="Arial"/>
                <a:cs typeface="Arial"/>
              </a:rPr>
              <a:t>Search:</a:t>
            </a:r>
            <a:r>
              <a:rPr sz="800" b="1" spc="12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For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each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i="1" spc="85" dirty="0">
                <a:solidFill>
                  <a:srgbClr val="191933"/>
                </a:solidFill>
                <a:latin typeface="Calibri"/>
                <a:cs typeface="Calibri"/>
              </a:rPr>
              <a:t>s</a:t>
            </a:r>
            <a:r>
              <a:rPr sz="900" i="1" spc="127" baseline="-9259" dirty="0">
                <a:solidFill>
                  <a:srgbClr val="191933"/>
                </a:solidFill>
                <a:latin typeface="Calibri"/>
                <a:cs typeface="Calibri"/>
              </a:rPr>
              <a:t>i</a:t>
            </a:r>
            <a:r>
              <a:rPr sz="800" spc="85" dirty="0">
                <a:solidFill>
                  <a:srgbClr val="191933"/>
                </a:solidFill>
                <a:latin typeface="Arial MT"/>
                <a:cs typeface="Arial MT"/>
              </a:rPr>
              <a:t>,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scan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through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i="1" spc="200" dirty="0">
                <a:solidFill>
                  <a:srgbClr val="191933"/>
                </a:solidFill>
                <a:latin typeface="Calibri"/>
                <a:cs typeface="Calibri"/>
              </a:rPr>
              <a:t>D</a:t>
            </a:r>
            <a:r>
              <a:rPr sz="800" i="1" spc="9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find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if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i="1" spc="100" dirty="0">
                <a:solidFill>
                  <a:srgbClr val="191933"/>
                </a:solidFill>
                <a:latin typeface="Calibri"/>
                <a:cs typeface="Calibri"/>
              </a:rPr>
              <a:t>s</a:t>
            </a:r>
            <a:r>
              <a:rPr sz="900" i="1" spc="150" baseline="-9259" dirty="0">
                <a:solidFill>
                  <a:srgbClr val="191933"/>
                </a:solidFill>
                <a:latin typeface="Calibri"/>
                <a:cs typeface="Calibri"/>
              </a:rPr>
              <a:t>i</a:t>
            </a:r>
            <a:r>
              <a:rPr sz="900" i="1" spc="247" baseline="-9259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is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substring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i="1" spc="114" dirty="0">
                <a:solidFill>
                  <a:srgbClr val="191933"/>
                </a:solidFill>
                <a:latin typeface="Calibri"/>
                <a:cs typeface="Calibri"/>
              </a:rPr>
              <a:t>D</a:t>
            </a:r>
            <a:r>
              <a:rPr sz="800" spc="114" dirty="0">
                <a:solidFill>
                  <a:srgbClr val="191933"/>
                </a:solidFill>
                <a:latin typeface="Arial MT"/>
                <a:cs typeface="Arial MT"/>
              </a:rPr>
              <a:t>.</a:t>
            </a:r>
            <a:r>
              <a:rPr sz="800" spc="1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This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is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5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 basic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form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pattern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matching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with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time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complexity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i="1" spc="110" dirty="0">
                <a:solidFill>
                  <a:srgbClr val="191933"/>
                </a:solidFill>
                <a:latin typeface="Calibri"/>
                <a:cs typeface="Calibri"/>
              </a:rPr>
              <a:t>O</a:t>
            </a:r>
            <a:r>
              <a:rPr sz="800" spc="110" dirty="0">
                <a:solidFill>
                  <a:srgbClr val="191933"/>
                </a:solidFill>
                <a:latin typeface="Calibri"/>
                <a:cs typeface="Calibri"/>
              </a:rPr>
              <a:t>(</a:t>
            </a:r>
            <a:r>
              <a:rPr sz="800" i="1" spc="110" dirty="0">
                <a:solidFill>
                  <a:srgbClr val="191933"/>
                </a:solidFill>
                <a:latin typeface="Calibri"/>
                <a:cs typeface="Calibri"/>
              </a:rPr>
              <a:t>m</a:t>
            </a:r>
            <a:r>
              <a:rPr sz="800" i="1" spc="-2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i="1" dirty="0">
                <a:solidFill>
                  <a:srgbClr val="191933"/>
                </a:solidFill>
                <a:latin typeface="Georgia"/>
                <a:cs typeface="Georgia"/>
              </a:rPr>
              <a:t>·</a:t>
            </a:r>
            <a:r>
              <a:rPr sz="800" i="1" spc="-35" dirty="0">
                <a:solidFill>
                  <a:srgbClr val="191933"/>
                </a:solidFill>
                <a:latin typeface="Georgia"/>
                <a:cs typeface="Georgia"/>
              </a:rPr>
              <a:t> </a:t>
            </a:r>
            <a:r>
              <a:rPr sz="800" i="1" spc="65" dirty="0">
                <a:solidFill>
                  <a:srgbClr val="191933"/>
                </a:solidFill>
                <a:latin typeface="Calibri"/>
                <a:cs typeface="Calibri"/>
              </a:rPr>
              <a:t>n</a:t>
            </a:r>
            <a:r>
              <a:rPr sz="800" spc="65" dirty="0">
                <a:solidFill>
                  <a:srgbClr val="191933"/>
                </a:solidFill>
                <a:latin typeface="Calibri"/>
                <a:cs typeface="Calibri"/>
              </a:rPr>
              <a:t>)</a:t>
            </a:r>
            <a:r>
              <a:rPr sz="800" spc="65" dirty="0">
                <a:solidFill>
                  <a:srgbClr val="191933"/>
                </a:solidFill>
                <a:latin typeface="Arial MT"/>
                <a:cs typeface="Arial MT"/>
              </a:rPr>
              <a:t>,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where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i="1" spc="105" dirty="0">
                <a:solidFill>
                  <a:srgbClr val="191933"/>
                </a:solidFill>
                <a:latin typeface="Calibri"/>
                <a:cs typeface="Calibri"/>
              </a:rPr>
              <a:t>m</a:t>
            </a:r>
            <a:r>
              <a:rPr sz="800" i="1" spc="7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is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length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i="1" spc="200" dirty="0">
                <a:solidFill>
                  <a:srgbClr val="191933"/>
                </a:solidFill>
                <a:latin typeface="Calibri"/>
                <a:cs typeface="Calibri"/>
              </a:rPr>
              <a:t>D</a:t>
            </a:r>
            <a:r>
              <a:rPr sz="800" i="1" spc="9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and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i="1" spc="95" dirty="0">
                <a:solidFill>
                  <a:srgbClr val="191933"/>
                </a:solidFill>
                <a:latin typeface="Calibri"/>
                <a:cs typeface="Calibri"/>
              </a:rPr>
              <a:t>n</a:t>
            </a:r>
            <a:r>
              <a:rPr sz="800" i="1" spc="7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is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length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i="1" spc="60" dirty="0">
                <a:solidFill>
                  <a:srgbClr val="191933"/>
                </a:solidFill>
                <a:latin typeface="Calibri"/>
                <a:cs typeface="Calibri"/>
              </a:rPr>
              <a:t>s</a:t>
            </a:r>
            <a:r>
              <a:rPr sz="900" i="1" spc="89" baseline="-9259" dirty="0">
                <a:solidFill>
                  <a:srgbClr val="191933"/>
                </a:solidFill>
                <a:latin typeface="Calibri"/>
                <a:cs typeface="Calibri"/>
              </a:rPr>
              <a:t>i</a:t>
            </a:r>
            <a:r>
              <a:rPr sz="800" spc="60" dirty="0">
                <a:solidFill>
                  <a:srgbClr val="191933"/>
                </a:solidFill>
                <a:latin typeface="Arial MT"/>
                <a:cs typeface="Arial MT"/>
              </a:rPr>
              <a:t>.</a:t>
            </a:r>
            <a:endParaRPr sz="800">
              <a:latin typeface="Arial MT"/>
              <a:cs typeface="Arial MT"/>
            </a:endParaRPr>
          </a:p>
          <a:p>
            <a:pPr marL="314960" marR="31115">
              <a:lnSpc>
                <a:spcPts val="950"/>
              </a:lnSpc>
              <a:spcBef>
                <a:spcPts val="150"/>
              </a:spcBef>
            </a:pPr>
            <a:r>
              <a:rPr sz="800" b="1" spc="-10" dirty="0">
                <a:solidFill>
                  <a:srgbClr val="191933"/>
                </a:solidFill>
                <a:latin typeface="Arial"/>
                <a:cs typeface="Arial"/>
              </a:rPr>
              <a:t>Optimized</a:t>
            </a:r>
            <a:r>
              <a:rPr sz="800" b="1" spc="4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30" dirty="0">
                <a:solidFill>
                  <a:srgbClr val="191933"/>
                </a:solidFill>
                <a:latin typeface="Arial"/>
                <a:cs typeface="Arial"/>
              </a:rPr>
              <a:t>Search:</a:t>
            </a:r>
            <a:r>
              <a:rPr sz="800" b="1" spc="12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Using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algorithms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like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Knuth-Morris-Pratt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or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Boyer-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Moore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can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improve 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search</a:t>
            </a:r>
            <a:r>
              <a:rPr sz="800" spc="5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efficiency,</a:t>
            </a:r>
            <a:r>
              <a:rPr sz="800" spc="5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potentially</a:t>
            </a:r>
            <a:r>
              <a:rPr sz="8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reducing</a:t>
            </a:r>
            <a:r>
              <a:rPr sz="800" spc="5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time</a:t>
            </a:r>
            <a:r>
              <a:rPr sz="8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complexity</a:t>
            </a:r>
            <a:r>
              <a:rPr sz="800" spc="5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i="1" spc="110" dirty="0">
                <a:solidFill>
                  <a:srgbClr val="191933"/>
                </a:solidFill>
                <a:latin typeface="Calibri"/>
                <a:cs typeface="Calibri"/>
              </a:rPr>
              <a:t>O</a:t>
            </a:r>
            <a:r>
              <a:rPr sz="800" spc="110" dirty="0">
                <a:solidFill>
                  <a:srgbClr val="191933"/>
                </a:solidFill>
                <a:latin typeface="Calibri"/>
                <a:cs typeface="Calibri"/>
              </a:rPr>
              <a:t>(</a:t>
            </a:r>
            <a:r>
              <a:rPr sz="800" i="1" spc="110" dirty="0">
                <a:solidFill>
                  <a:srgbClr val="191933"/>
                </a:solidFill>
                <a:latin typeface="Calibri"/>
                <a:cs typeface="Calibri"/>
              </a:rPr>
              <a:t>m</a:t>
            </a:r>
            <a:r>
              <a:rPr sz="800" i="1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spc="254" dirty="0">
                <a:solidFill>
                  <a:srgbClr val="191933"/>
                </a:solidFill>
                <a:latin typeface="Calibri"/>
                <a:cs typeface="Calibri"/>
              </a:rPr>
              <a:t>+</a:t>
            </a:r>
            <a:r>
              <a:rPr sz="80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i="1" spc="90" dirty="0">
                <a:solidFill>
                  <a:srgbClr val="191933"/>
                </a:solidFill>
                <a:latin typeface="Calibri"/>
                <a:cs typeface="Calibri"/>
              </a:rPr>
              <a:t>n</a:t>
            </a:r>
            <a:r>
              <a:rPr sz="800" spc="90" dirty="0">
                <a:solidFill>
                  <a:srgbClr val="191933"/>
                </a:solidFill>
                <a:latin typeface="Calibri"/>
                <a:cs typeface="Calibri"/>
              </a:rPr>
              <a:t>)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in</a:t>
            </a:r>
            <a:r>
              <a:rPr sz="800" spc="5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practice.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2" name="object 12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4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195587" y="3351784"/>
            <a:ext cx="28130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</a:rPr>
              <a:t>13</a:t>
            </a:r>
            <a:r>
              <a:rPr sz="6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00" spc="150" dirty="0">
                <a:solidFill>
                  <a:srgbClr val="FFFFFF"/>
                </a:solidFill>
                <a:latin typeface="Arial MT"/>
                <a:cs typeface="Arial MT"/>
              </a:rPr>
              <a:t>/</a:t>
            </a:r>
            <a:r>
              <a:rPr sz="6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Arial MT"/>
                <a:cs typeface="Arial MT"/>
              </a:rPr>
              <a:t>93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0" dirty="0"/>
              <a:t>Signature-</a:t>
            </a:r>
            <a:r>
              <a:rPr spc="-25" dirty="0"/>
              <a:t>Based</a:t>
            </a:r>
            <a:r>
              <a:rPr spc="50" dirty="0"/>
              <a:t> </a:t>
            </a:r>
            <a:r>
              <a:rPr spc="-25" dirty="0"/>
              <a:t>Prevention</a:t>
            </a:r>
            <a:r>
              <a:rPr spc="50" dirty="0"/>
              <a:t> </a:t>
            </a:r>
            <a:r>
              <a:rPr spc="-25" dirty="0"/>
              <a:t>Algorithm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537756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798677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206106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613547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1874456"/>
            <a:ext cx="65265" cy="6526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1089" y="2135378"/>
            <a:ext cx="65265" cy="6526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1089" y="2516479"/>
            <a:ext cx="65265" cy="6526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81089" y="2923921"/>
            <a:ext cx="65265" cy="6526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81089" y="3064637"/>
            <a:ext cx="65265" cy="65265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00444" y="325856"/>
            <a:ext cx="4407535" cy="2959735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70"/>
              </a:spcBef>
            </a:pPr>
            <a:r>
              <a:rPr sz="800" b="1" spc="-25" dirty="0">
                <a:solidFill>
                  <a:srgbClr val="191933"/>
                </a:solidFill>
                <a:latin typeface="Arial"/>
                <a:cs typeface="Arial"/>
              </a:rPr>
              <a:t>Signature</a:t>
            </a: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191933"/>
                </a:solidFill>
                <a:latin typeface="Arial"/>
                <a:cs typeface="Arial"/>
              </a:rPr>
              <a:t>Database</a:t>
            </a: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191933"/>
                </a:solidFill>
                <a:latin typeface="Arial"/>
                <a:cs typeface="Arial"/>
              </a:rPr>
              <a:t>Creation:</a:t>
            </a:r>
            <a:endParaRPr sz="800">
              <a:latin typeface="Arial"/>
              <a:cs typeface="Arial"/>
            </a:endParaRPr>
          </a:p>
          <a:p>
            <a:pPr marL="314960" marR="130810">
              <a:lnSpc>
                <a:spcPts val="950"/>
              </a:lnSpc>
              <a:spcBef>
                <a:spcPts val="210"/>
              </a:spcBef>
            </a:pPr>
            <a:r>
              <a:rPr sz="800" b="1" spc="-25" dirty="0">
                <a:solidFill>
                  <a:srgbClr val="191933"/>
                </a:solidFill>
                <a:latin typeface="Arial"/>
                <a:cs typeface="Arial"/>
              </a:rPr>
              <a:t>Signature</a:t>
            </a:r>
            <a:r>
              <a:rPr sz="800" b="1" spc="4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191933"/>
                </a:solidFill>
                <a:latin typeface="Arial"/>
                <a:cs typeface="Arial"/>
              </a:rPr>
              <a:t>Definition:</a:t>
            </a:r>
            <a:r>
              <a:rPr sz="800" b="1" spc="11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Each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signature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represents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specific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pattern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malicious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activity.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These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patterns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could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be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45" dirty="0">
                <a:solidFill>
                  <a:srgbClr val="191933"/>
                </a:solidFill>
                <a:latin typeface="Arial MT"/>
                <a:cs typeface="Arial MT"/>
              </a:rPr>
              <a:t>sequences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bytes,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45" dirty="0">
                <a:solidFill>
                  <a:srgbClr val="191933"/>
                </a:solidFill>
                <a:latin typeface="Arial MT"/>
                <a:cs typeface="Arial MT"/>
              </a:rPr>
              <a:t>hashes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files,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or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known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exploit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40" dirty="0">
                <a:solidFill>
                  <a:srgbClr val="191933"/>
                </a:solidFill>
                <a:latin typeface="Arial MT"/>
                <a:cs typeface="Arial MT"/>
              </a:rPr>
              <a:t>sequences.</a:t>
            </a:r>
            <a:endParaRPr sz="800">
              <a:latin typeface="Arial MT"/>
              <a:cs typeface="Arial MT"/>
            </a:endParaRPr>
          </a:p>
          <a:p>
            <a:pPr marL="314960" marR="301625">
              <a:lnSpc>
                <a:spcPts val="950"/>
              </a:lnSpc>
              <a:spcBef>
                <a:spcPts val="155"/>
              </a:spcBef>
            </a:pP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Mathematical</a:t>
            </a:r>
            <a:r>
              <a:rPr sz="800" b="1" spc="6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30" dirty="0">
                <a:solidFill>
                  <a:srgbClr val="191933"/>
                </a:solidFill>
                <a:latin typeface="Arial"/>
                <a:cs typeface="Arial"/>
              </a:rPr>
              <a:t>Representation:</a:t>
            </a:r>
            <a:r>
              <a:rPr sz="800" b="1" spc="14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Let</a:t>
            </a:r>
            <a:r>
              <a:rPr sz="800" spc="5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i="1" spc="150" dirty="0">
                <a:solidFill>
                  <a:srgbClr val="191933"/>
                </a:solidFill>
                <a:latin typeface="Calibri"/>
                <a:cs typeface="Calibri"/>
              </a:rPr>
              <a:t>S</a:t>
            </a:r>
            <a:r>
              <a:rPr sz="800" i="1" spc="8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spc="254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800" spc="4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i="1" spc="70" dirty="0">
                <a:solidFill>
                  <a:srgbClr val="191933"/>
                </a:solidFill>
                <a:latin typeface="Georgia"/>
                <a:cs typeface="Georgia"/>
              </a:rPr>
              <a:t>{</a:t>
            </a:r>
            <a:r>
              <a:rPr sz="800" i="1" spc="70" dirty="0">
                <a:solidFill>
                  <a:srgbClr val="191933"/>
                </a:solidFill>
                <a:latin typeface="Calibri"/>
                <a:cs typeface="Calibri"/>
              </a:rPr>
              <a:t>s</a:t>
            </a:r>
            <a:r>
              <a:rPr sz="900" spc="104" baseline="-9259" dirty="0">
                <a:solidFill>
                  <a:srgbClr val="191933"/>
                </a:solidFill>
                <a:latin typeface="Calibri"/>
                <a:cs typeface="Calibri"/>
              </a:rPr>
              <a:t>1</a:t>
            </a:r>
            <a:r>
              <a:rPr sz="800" i="1" spc="70" dirty="0">
                <a:solidFill>
                  <a:srgbClr val="191933"/>
                </a:solidFill>
                <a:latin typeface="Calibri"/>
                <a:cs typeface="Calibri"/>
              </a:rPr>
              <a:t>,</a:t>
            </a:r>
            <a:r>
              <a:rPr sz="800" i="1" spc="-4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i="1" spc="70" dirty="0">
                <a:solidFill>
                  <a:srgbClr val="191933"/>
                </a:solidFill>
                <a:latin typeface="Calibri"/>
                <a:cs typeface="Calibri"/>
              </a:rPr>
              <a:t>s</a:t>
            </a:r>
            <a:r>
              <a:rPr sz="900" spc="104" baseline="-9259" dirty="0">
                <a:solidFill>
                  <a:srgbClr val="191933"/>
                </a:solidFill>
                <a:latin typeface="Calibri"/>
                <a:cs typeface="Calibri"/>
              </a:rPr>
              <a:t>2</a:t>
            </a:r>
            <a:r>
              <a:rPr sz="800" i="1" spc="70" dirty="0">
                <a:solidFill>
                  <a:srgbClr val="191933"/>
                </a:solidFill>
                <a:latin typeface="Calibri"/>
                <a:cs typeface="Calibri"/>
              </a:rPr>
              <a:t>,</a:t>
            </a:r>
            <a:r>
              <a:rPr sz="800" i="1" spc="-4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i="1" dirty="0">
                <a:solidFill>
                  <a:srgbClr val="191933"/>
                </a:solidFill>
                <a:latin typeface="Calibri"/>
                <a:cs typeface="Calibri"/>
              </a:rPr>
              <a:t>.</a:t>
            </a:r>
            <a:r>
              <a:rPr sz="800" i="1" spc="-4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i="1" dirty="0">
                <a:solidFill>
                  <a:srgbClr val="191933"/>
                </a:solidFill>
                <a:latin typeface="Calibri"/>
                <a:cs typeface="Calibri"/>
              </a:rPr>
              <a:t>.</a:t>
            </a:r>
            <a:r>
              <a:rPr sz="800" i="1" spc="-4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i="1" dirty="0">
                <a:solidFill>
                  <a:srgbClr val="191933"/>
                </a:solidFill>
                <a:latin typeface="Calibri"/>
                <a:cs typeface="Calibri"/>
              </a:rPr>
              <a:t>.</a:t>
            </a:r>
            <a:r>
              <a:rPr sz="800" i="1" spc="-4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i="1" dirty="0">
                <a:solidFill>
                  <a:srgbClr val="191933"/>
                </a:solidFill>
                <a:latin typeface="Calibri"/>
                <a:cs typeface="Calibri"/>
              </a:rPr>
              <a:t>,</a:t>
            </a:r>
            <a:r>
              <a:rPr sz="800" i="1" spc="-4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i="1" spc="110" dirty="0">
                <a:solidFill>
                  <a:srgbClr val="191933"/>
                </a:solidFill>
                <a:latin typeface="Calibri"/>
                <a:cs typeface="Calibri"/>
              </a:rPr>
              <a:t>s</a:t>
            </a:r>
            <a:r>
              <a:rPr sz="900" i="1" spc="165" baseline="-9259" dirty="0">
                <a:solidFill>
                  <a:srgbClr val="191933"/>
                </a:solidFill>
                <a:latin typeface="Calibri"/>
                <a:cs typeface="Calibri"/>
              </a:rPr>
              <a:t>n</a:t>
            </a:r>
            <a:r>
              <a:rPr sz="800" i="1" spc="110" dirty="0">
                <a:solidFill>
                  <a:srgbClr val="191933"/>
                </a:solidFill>
                <a:latin typeface="Georgia"/>
                <a:cs typeface="Georgia"/>
              </a:rPr>
              <a:t>}</a:t>
            </a:r>
            <a:r>
              <a:rPr sz="800" i="1" spc="80" dirty="0">
                <a:solidFill>
                  <a:srgbClr val="191933"/>
                </a:solidFill>
                <a:latin typeface="Georgia"/>
                <a:cs typeface="Georgia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be</a:t>
            </a:r>
            <a:r>
              <a:rPr sz="8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8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set</a:t>
            </a:r>
            <a:r>
              <a:rPr sz="8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8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all</a:t>
            </a:r>
            <a:r>
              <a:rPr sz="8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signatures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where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each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i="1" spc="100" dirty="0">
                <a:solidFill>
                  <a:srgbClr val="191933"/>
                </a:solidFill>
                <a:latin typeface="Calibri"/>
                <a:cs typeface="Calibri"/>
              </a:rPr>
              <a:t>s</a:t>
            </a:r>
            <a:r>
              <a:rPr sz="900" i="1" spc="150" baseline="-9259" dirty="0">
                <a:solidFill>
                  <a:srgbClr val="191933"/>
                </a:solidFill>
                <a:latin typeface="Calibri"/>
                <a:cs typeface="Calibri"/>
              </a:rPr>
              <a:t>i</a:t>
            </a:r>
            <a:r>
              <a:rPr sz="900" i="1" spc="232" baseline="-9259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is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signature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defined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in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specific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format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(e.g.,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byte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sequences).</a:t>
            </a:r>
            <a:endParaRPr sz="80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140"/>
              </a:spcBef>
            </a:pP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Data</a:t>
            </a:r>
            <a:r>
              <a:rPr sz="800" b="1" spc="12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191933"/>
                </a:solidFill>
                <a:latin typeface="Arial"/>
                <a:cs typeface="Arial"/>
              </a:rPr>
              <a:t>Collection:</a:t>
            </a:r>
            <a:endParaRPr sz="800">
              <a:latin typeface="Arial"/>
              <a:cs typeface="Arial"/>
            </a:endParaRPr>
          </a:p>
          <a:p>
            <a:pPr marL="314960" marR="149860">
              <a:lnSpc>
                <a:spcPts val="950"/>
              </a:lnSpc>
              <a:spcBef>
                <a:spcPts val="209"/>
              </a:spcBef>
            </a:pPr>
            <a:r>
              <a:rPr sz="800" b="1" spc="-25" dirty="0">
                <a:solidFill>
                  <a:srgbClr val="191933"/>
                </a:solidFill>
                <a:latin typeface="Arial"/>
                <a:cs typeface="Arial"/>
              </a:rPr>
              <a:t>Incoming</a:t>
            </a:r>
            <a:r>
              <a:rPr sz="800" b="1" spc="4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Data:</a:t>
            </a:r>
            <a:r>
              <a:rPr sz="800" b="1" spc="12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Let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i="1" spc="200" dirty="0">
                <a:solidFill>
                  <a:srgbClr val="191933"/>
                </a:solidFill>
                <a:latin typeface="Calibri"/>
                <a:cs typeface="Calibri"/>
              </a:rPr>
              <a:t>D</a:t>
            </a:r>
            <a:r>
              <a:rPr sz="800" i="1" spc="8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represent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incoming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data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stream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which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40" dirty="0">
                <a:solidFill>
                  <a:srgbClr val="191933"/>
                </a:solidFill>
                <a:latin typeface="Arial MT"/>
                <a:cs typeface="Arial MT"/>
              </a:rPr>
              <a:t>needs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be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analyzed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for</a:t>
            </a:r>
            <a:r>
              <a:rPr sz="8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threats.</a:t>
            </a:r>
            <a:endParaRPr sz="80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Pattern</a:t>
            </a:r>
            <a:r>
              <a:rPr sz="800" b="1" spc="4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191933"/>
                </a:solidFill>
                <a:latin typeface="Arial"/>
                <a:cs typeface="Arial"/>
              </a:rPr>
              <a:t>Matching:</a:t>
            </a:r>
            <a:endParaRPr sz="800">
              <a:latin typeface="Arial"/>
              <a:cs typeface="Arial"/>
            </a:endParaRPr>
          </a:p>
          <a:p>
            <a:pPr marL="314960" marR="281305">
              <a:lnSpc>
                <a:spcPts val="950"/>
              </a:lnSpc>
              <a:spcBef>
                <a:spcPts val="210"/>
              </a:spcBef>
            </a:pP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Matching</a:t>
            </a:r>
            <a:r>
              <a:rPr sz="800" b="1" spc="3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40" dirty="0">
                <a:solidFill>
                  <a:srgbClr val="191933"/>
                </a:solidFill>
                <a:latin typeface="Arial"/>
                <a:cs typeface="Arial"/>
              </a:rPr>
              <a:t>Process:</a:t>
            </a:r>
            <a:r>
              <a:rPr sz="800" b="1" spc="114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For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each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signature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i="1" spc="100" dirty="0">
                <a:solidFill>
                  <a:srgbClr val="191933"/>
                </a:solidFill>
                <a:latin typeface="Calibri"/>
                <a:cs typeface="Calibri"/>
              </a:rPr>
              <a:t>s</a:t>
            </a:r>
            <a:r>
              <a:rPr sz="900" i="1" spc="150" baseline="-9259" dirty="0">
                <a:solidFill>
                  <a:srgbClr val="191933"/>
                </a:solidFill>
                <a:latin typeface="Calibri"/>
                <a:cs typeface="Calibri"/>
              </a:rPr>
              <a:t>i</a:t>
            </a:r>
            <a:r>
              <a:rPr sz="900" i="1" spc="232" baseline="-9259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in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signature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database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i="1" spc="100" dirty="0">
                <a:solidFill>
                  <a:srgbClr val="191933"/>
                </a:solidFill>
                <a:latin typeface="Calibri"/>
                <a:cs typeface="Calibri"/>
              </a:rPr>
              <a:t>S</a:t>
            </a:r>
            <a:r>
              <a:rPr sz="800" spc="100" dirty="0">
                <a:solidFill>
                  <a:srgbClr val="191933"/>
                </a:solidFill>
                <a:latin typeface="Arial MT"/>
                <a:cs typeface="Arial MT"/>
              </a:rPr>
              <a:t>,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algorithm </a:t>
            </a: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checks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if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i="1" spc="100" dirty="0">
                <a:solidFill>
                  <a:srgbClr val="191933"/>
                </a:solidFill>
                <a:latin typeface="Calibri"/>
                <a:cs typeface="Calibri"/>
              </a:rPr>
              <a:t>s</a:t>
            </a:r>
            <a:r>
              <a:rPr sz="900" i="1" spc="150" baseline="-9259" dirty="0">
                <a:solidFill>
                  <a:srgbClr val="191933"/>
                </a:solidFill>
                <a:latin typeface="Calibri"/>
                <a:cs typeface="Calibri"/>
              </a:rPr>
              <a:t>i</a:t>
            </a:r>
            <a:r>
              <a:rPr sz="900" i="1" spc="254" baseline="-9259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exists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in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incoming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data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i="1" spc="90" dirty="0">
                <a:solidFill>
                  <a:srgbClr val="191933"/>
                </a:solidFill>
                <a:latin typeface="Calibri"/>
                <a:cs typeface="Calibri"/>
              </a:rPr>
              <a:t>D</a:t>
            </a:r>
            <a:r>
              <a:rPr sz="800" spc="90" dirty="0">
                <a:solidFill>
                  <a:srgbClr val="191933"/>
                </a:solidFill>
                <a:latin typeface="Arial MT"/>
                <a:cs typeface="Arial MT"/>
              </a:rPr>
              <a:t>.</a:t>
            </a:r>
            <a:endParaRPr sz="800">
              <a:latin typeface="Arial MT"/>
              <a:cs typeface="Arial MT"/>
            </a:endParaRPr>
          </a:p>
          <a:p>
            <a:pPr marL="314960" marR="332105">
              <a:lnSpc>
                <a:spcPts val="950"/>
              </a:lnSpc>
              <a:spcBef>
                <a:spcPts val="155"/>
              </a:spcBef>
            </a:pP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Mathematical</a:t>
            </a:r>
            <a:r>
              <a:rPr sz="800" b="1" spc="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191933"/>
                </a:solidFill>
                <a:latin typeface="Arial"/>
                <a:cs typeface="Arial"/>
              </a:rPr>
              <a:t>Operation:</a:t>
            </a:r>
            <a:r>
              <a:rPr sz="800" b="1" spc="7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This can</a:t>
            </a:r>
            <a:r>
              <a:rPr sz="8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be </a:t>
            </a: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represented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as</a:t>
            </a:r>
            <a:r>
              <a:rPr sz="8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 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search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 operation</a:t>
            </a:r>
            <a:r>
              <a:rPr sz="8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where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 algorithm</a:t>
            </a:r>
            <a:r>
              <a:rPr sz="8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45" dirty="0">
                <a:solidFill>
                  <a:srgbClr val="191933"/>
                </a:solidFill>
                <a:latin typeface="Arial MT"/>
                <a:cs typeface="Arial MT"/>
              </a:rPr>
              <a:t>searches</a:t>
            </a:r>
            <a:r>
              <a:rPr sz="800" spc="6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for</a:t>
            </a:r>
            <a:r>
              <a:rPr sz="800" spc="6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occurrences</a:t>
            </a:r>
            <a:r>
              <a:rPr sz="800" spc="6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800" spc="6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i="1" spc="100" dirty="0">
                <a:solidFill>
                  <a:srgbClr val="191933"/>
                </a:solidFill>
                <a:latin typeface="Calibri"/>
                <a:cs typeface="Calibri"/>
              </a:rPr>
              <a:t>s</a:t>
            </a:r>
            <a:r>
              <a:rPr sz="900" i="1" spc="150" baseline="-9259" dirty="0">
                <a:solidFill>
                  <a:srgbClr val="191933"/>
                </a:solidFill>
                <a:latin typeface="Calibri"/>
                <a:cs typeface="Calibri"/>
              </a:rPr>
              <a:t>i</a:t>
            </a:r>
            <a:r>
              <a:rPr sz="900" i="1" spc="292" baseline="-9259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in</a:t>
            </a:r>
            <a:r>
              <a:rPr sz="800" spc="6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i="1" spc="90" dirty="0">
                <a:solidFill>
                  <a:srgbClr val="191933"/>
                </a:solidFill>
                <a:latin typeface="Calibri"/>
                <a:cs typeface="Calibri"/>
              </a:rPr>
              <a:t>D</a:t>
            </a:r>
            <a:r>
              <a:rPr sz="800" spc="90" dirty="0">
                <a:solidFill>
                  <a:srgbClr val="191933"/>
                </a:solidFill>
                <a:latin typeface="Arial MT"/>
                <a:cs typeface="Arial MT"/>
              </a:rPr>
              <a:t>.</a:t>
            </a:r>
            <a:endParaRPr sz="800">
              <a:latin typeface="Arial MT"/>
              <a:cs typeface="Arial MT"/>
            </a:endParaRPr>
          </a:p>
          <a:p>
            <a:pPr marL="314960" marR="30480">
              <a:lnSpc>
                <a:spcPts val="950"/>
              </a:lnSpc>
              <a:spcBef>
                <a:spcPts val="155"/>
              </a:spcBef>
            </a:pPr>
            <a:r>
              <a:rPr sz="800" b="1" spc="-10" dirty="0">
                <a:solidFill>
                  <a:srgbClr val="191933"/>
                </a:solidFill>
                <a:latin typeface="Arial"/>
                <a:cs typeface="Arial"/>
              </a:rPr>
              <a:t>Naive</a:t>
            </a:r>
            <a:r>
              <a:rPr sz="800" b="1" spc="4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30" dirty="0">
                <a:solidFill>
                  <a:srgbClr val="191933"/>
                </a:solidFill>
                <a:latin typeface="Arial"/>
                <a:cs typeface="Arial"/>
              </a:rPr>
              <a:t>Search:</a:t>
            </a:r>
            <a:r>
              <a:rPr sz="800" b="1" spc="12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For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each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i="1" spc="85" dirty="0">
                <a:solidFill>
                  <a:srgbClr val="191933"/>
                </a:solidFill>
                <a:latin typeface="Calibri"/>
                <a:cs typeface="Calibri"/>
              </a:rPr>
              <a:t>s</a:t>
            </a:r>
            <a:r>
              <a:rPr sz="900" i="1" spc="127" baseline="-9259" dirty="0">
                <a:solidFill>
                  <a:srgbClr val="191933"/>
                </a:solidFill>
                <a:latin typeface="Calibri"/>
                <a:cs typeface="Calibri"/>
              </a:rPr>
              <a:t>i</a:t>
            </a:r>
            <a:r>
              <a:rPr sz="800" spc="85" dirty="0">
                <a:solidFill>
                  <a:srgbClr val="191933"/>
                </a:solidFill>
                <a:latin typeface="Arial MT"/>
                <a:cs typeface="Arial MT"/>
              </a:rPr>
              <a:t>,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scan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through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i="1" spc="200" dirty="0">
                <a:solidFill>
                  <a:srgbClr val="191933"/>
                </a:solidFill>
                <a:latin typeface="Calibri"/>
                <a:cs typeface="Calibri"/>
              </a:rPr>
              <a:t>D</a:t>
            </a:r>
            <a:r>
              <a:rPr sz="800" i="1" spc="9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find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if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i="1" spc="100" dirty="0">
                <a:solidFill>
                  <a:srgbClr val="191933"/>
                </a:solidFill>
                <a:latin typeface="Calibri"/>
                <a:cs typeface="Calibri"/>
              </a:rPr>
              <a:t>s</a:t>
            </a:r>
            <a:r>
              <a:rPr sz="900" i="1" spc="150" baseline="-9259" dirty="0">
                <a:solidFill>
                  <a:srgbClr val="191933"/>
                </a:solidFill>
                <a:latin typeface="Calibri"/>
                <a:cs typeface="Calibri"/>
              </a:rPr>
              <a:t>i</a:t>
            </a:r>
            <a:r>
              <a:rPr sz="900" i="1" spc="247" baseline="-9259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is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substring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i="1" spc="114" dirty="0">
                <a:solidFill>
                  <a:srgbClr val="191933"/>
                </a:solidFill>
                <a:latin typeface="Calibri"/>
                <a:cs typeface="Calibri"/>
              </a:rPr>
              <a:t>D</a:t>
            </a:r>
            <a:r>
              <a:rPr sz="800" spc="114" dirty="0">
                <a:solidFill>
                  <a:srgbClr val="191933"/>
                </a:solidFill>
                <a:latin typeface="Arial MT"/>
                <a:cs typeface="Arial MT"/>
              </a:rPr>
              <a:t>.</a:t>
            </a:r>
            <a:r>
              <a:rPr sz="800" spc="1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This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is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5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 basic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form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pattern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matching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with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time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complexity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i="1" spc="110" dirty="0">
                <a:solidFill>
                  <a:srgbClr val="191933"/>
                </a:solidFill>
                <a:latin typeface="Calibri"/>
                <a:cs typeface="Calibri"/>
              </a:rPr>
              <a:t>O</a:t>
            </a:r>
            <a:r>
              <a:rPr sz="800" spc="110" dirty="0">
                <a:solidFill>
                  <a:srgbClr val="191933"/>
                </a:solidFill>
                <a:latin typeface="Calibri"/>
                <a:cs typeface="Calibri"/>
              </a:rPr>
              <a:t>(</a:t>
            </a:r>
            <a:r>
              <a:rPr sz="800" i="1" spc="110" dirty="0">
                <a:solidFill>
                  <a:srgbClr val="191933"/>
                </a:solidFill>
                <a:latin typeface="Calibri"/>
                <a:cs typeface="Calibri"/>
              </a:rPr>
              <a:t>m</a:t>
            </a:r>
            <a:r>
              <a:rPr sz="800" i="1" spc="-2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i="1" dirty="0">
                <a:solidFill>
                  <a:srgbClr val="191933"/>
                </a:solidFill>
                <a:latin typeface="Georgia"/>
                <a:cs typeface="Georgia"/>
              </a:rPr>
              <a:t>·</a:t>
            </a:r>
            <a:r>
              <a:rPr sz="800" i="1" spc="-35" dirty="0">
                <a:solidFill>
                  <a:srgbClr val="191933"/>
                </a:solidFill>
                <a:latin typeface="Georgia"/>
                <a:cs typeface="Georgia"/>
              </a:rPr>
              <a:t> </a:t>
            </a:r>
            <a:r>
              <a:rPr sz="800" i="1" spc="65" dirty="0">
                <a:solidFill>
                  <a:srgbClr val="191933"/>
                </a:solidFill>
                <a:latin typeface="Calibri"/>
                <a:cs typeface="Calibri"/>
              </a:rPr>
              <a:t>n</a:t>
            </a:r>
            <a:r>
              <a:rPr sz="800" spc="65" dirty="0">
                <a:solidFill>
                  <a:srgbClr val="191933"/>
                </a:solidFill>
                <a:latin typeface="Calibri"/>
                <a:cs typeface="Calibri"/>
              </a:rPr>
              <a:t>)</a:t>
            </a:r>
            <a:r>
              <a:rPr sz="800" spc="65" dirty="0">
                <a:solidFill>
                  <a:srgbClr val="191933"/>
                </a:solidFill>
                <a:latin typeface="Arial MT"/>
                <a:cs typeface="Arial MT"/>
              </a:rPr>
              <a:t>,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where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i="1" spc="105" dirty="0">
                <a:solidFill>
                  <a:srgbClr val="191933"/>
                </a:solidFill>
                <a:latin typeface="Calibri"/>
                <a:cs typeface="Calibri"/>
              </a:rPr>
              <a:t>m</a:t>
            </a:r>
            <a:r>
              <a:rPr sz="800" i="1" spc="7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is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length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i="1" spc="200" dirty="0">
                <a:solidFill>
                  <a:srgbClr val="191933"/>
                </a:solidFill>
                <a:latin typeface="Calibri"/>
                <a:cs typeface="Calibri"/>
              </a:rPr>
              <a:t>D</a:t>
            </a:r>
            <a:r>
              <a:rPr sz="800" i="1" spc="9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and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i="1" spc="95" dirty="0">
                <a:solidFill>
                  <a:srgbClr val="191933"/>
                </a:solidFill>
                <a:latin typeface="Calibri"/>
                <a:cs typeface="Calibri"/>
              </a:rPr>
              <a:t>n</a:t>
            </a:r>
            <a:r>
              <a:rPr sz="800" i="1" spc="7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is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length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i="1" spc="60" dirty="0">
                <a:solidFill>
                  <a:srgbClr val="191933"/>
                </a:solidFill>
                <a:latin typeface="Calibri"/>
                <a:cs typeface="Calibri"/>
              </a:rPr>
              <a:t>s</a:t>
            </a:r>
            <a:r>
              <a:rPr sz="900" i="1" spc="89" baseline="-9259" dirty="0">
                <a:solidFill>
                  <a:srgbClr val="191933"/>
                </a:solidFill>
                <a:latin typeface="Calibri"/>
                <a:cs typeface="Calibri"/>
              </a:rPr>
              <a:t>i</a:t>
            </a:r>
            <a:r>
              <a:rPr sz="800" spc="60" dirty="0">
                <a:solidFill>
                  <a:srgbClr val="191933"/>
                </a:solidFill>
                <a:latin typeface="Arial MT"/>
                <a:cs typeface="Arial MT"/>
              </a:rPr>
              <a:t>.</a:t>
            </a:r>
            <a:endParaRPr sz="800">
              <a:latin typeface="Arial MT"/>
              <a:cs typeface="Arial MT"/>
            </a:endParaRPr>
          </a:p>
          <a:p>
            <a:pPr marL="314960" marR="31115">
              <a:lnSpc>
                <a:spcPts val="950"/>
              </a:lnSpc>
              <a:spcBef>
                <a:spcPts val="150"/>
              </a:spcBef>
            </a:pPr>
            <a:r>
              <a:rPr sz="800" b="1" spc="-10" dirty="0">
                <a:solidFill>
                  <a:srgbClr val="191933"/>
                </a:solidFill>
                <a:latin typeface="Arial"/>
                <a:cs typeface="Arial"/>
              </a:rPr>
              <a:t>Optimized</a:t>
            </a:r>
            <a:r>
              <a:rPr sz="800" b="1" spc="4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30" dirty="0">
                <a:solidFill>
                  <a:srgbClr val="191933"/>
                </a:solidFill>
                <a:latin typeface="Arial"/>
                <a:cs typeface="Arial"/>
              </a:rPr>
              <a:t>Search:</a:t>
            </a:r>
            <a:r>
              <a:rPr sz="800" b="1" spc="12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Using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algorithms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like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Knuth-Morris-Pratt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or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Boyer-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Moore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can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improve 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search</a:t>
            </a:r>
            <a:r>
              <a:rPr sz="800" spc="5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efficiency,</a:t>
            </a:r>
            <a:r>
              <a:rPr sz="800" spc="5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potentially</a:t>
            </a:r>
            <a:r>
              <a:rPr sz="8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reducing</a:t>
            </a:r>
            <a:r>
              <a:rPr sz="800" spc="5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time</a:t>
            </a:r>
            <a:r>
              <a:rPr sz="8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complexity</a:t>
            </a:r>
            <a:r>
              <a:rPr sz="800" spc="5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i="1" spc="110" dirty="0">
                <a:solidFill>
                  <a:srgbClr val="191933"/>
                </a:solidFill>
                <a:latin typeface="Calibri"/>
                <a:cs typeface="Calibri"/>
              </a:rPr>
              <a:t>O</a:t>
            </a:r>
            <a:r>
              <a:rPr sz="800" spc="110" dirty="0">
                <a:solidFill>
                  <a:srgbClr val="191933"/>
                </a:solidFill>
                <a:latin typeface="Calibri"/>
                <a:cs typeface="Calibri"/>
              </a:rPr>
              <a:t>(</a:t>
            </a:r>
            <a:r>
              <a:rPr sz="800" i="1" spc="110" dirty="0">
                <a:solidFill>
                  <a:srgbClr val="191933"/>
                </a:solidFill>
                <a:latin typeface="Calibri"/>
                <a:cs typeface="Calibri"/>
              </a:rPr>
              <a:t>m</a:t>
            </a:r>
            <a:r>
              <a:rPr sz="800" i="1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spc="254" dirty="0">
                <a:solidFill>
                  <a:srgbClr val="191933"/>
                </a:solidFill>
                <a:latin typeface="Calibri"/>
                <a:cs typeface="Calibri"/>
              </a:rPr>
              <a:t>+</a:t>
            </a:r>
            <a:r>
              <a:rPr sz="80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i="1" spc="90" dirty="0">
                <a:solidFill>
                  <a:srgbClr val="191933"/>
                </a:solidFill>
                <a:latin typeface="Calibri"/>
                <a:cs typeface="Calibri"/>
              </a:rPr>
              <a:t>n</a:t>
            </a:r>
            <a:r>
              <a:rPr sz="800" spc="90" dirty="0">
                <a:solidFill>
                  <a:srgbClr val="191933"/>
                </a:solidFill>
                <a:latin typeface="Calibri"/>
                <a:cs typeface="Calibri"/>
              </a:rPr>
              <a:t>)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in</a:t>
            </a:r>
            <a:r>
              <a:rPr sz="800" spc="5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practice.</a:t>
            </a:r>
            <a:endParaRPr sz="80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140"/>
              </a:spcBef>
            </a:pPr>
            <a:r>
              <a:rPr sz="800" b="1" spc="-10" dirty="0">
                <a:solidFill>
                  <a:srgbClr val="191933"/>
                </a:solidFill>
                <a:latin typeface="Arial"/>
                <a:cs typeface="Arial"/>
              </a:rPr>
              <a:t>Detection</a:t>
            </a:r>
            <a:r>
              <a:rPr sz="800" b="1" spc="1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191933"/>
                </a:solidFill>
                <a:latin typeface="Arial"/>
                <a:cs typeface="Arial"/>
              </a:rPr>
              <a:t>and</a:t>
            </a:r>
            <a:r>
              <a:rPr sz="800" b="1" spc="1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191933"/>
                </a:solidFill>
                <a:latin typeface="Arial"/>
                <a:cs typeface="Arial"/>
              </a:rPr>
              <a:t>Prevention:</a:t>
            </a:r>
            <a:endParaRPr sz="800">
              <a:latin typeface="Arial"/>
              <a:cs typeface="Arial"/>
            </a:endParaRPr>
          </a:p>
          <a:p>
            <a:pPr marL="314960">
              <a:lnSpc>
                <a:spcPct val="100000"/>
              </a:lnSpc>
              <a:spcBef>
                <a:spcPts val="170"/>
              </a:spcBef>
            </a:pP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Detection:</a:t>
            </a:r>
            <a:r>
              <a:rPr sz="800" b="1" spc="114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If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signature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i="1" spc="100" dirty="0">
                <a:solidFill>
                  <a:srgbClr val="191933"/>
                </a:solidFill>
                <a:latin typeface="Calibri"/>
                <a:cs typeface="Calibri"/>
              </a:rPr>
              <a:t>s</a:t>
            </a:r>
            <a:r>
              <a:rPr sz="900" i="1" spc="150" baseline="-9259" dirty="0">
                <a:solidFill>
                  <a:srgbClr val="191933"/>
                </a:solidFill>
                <a:latin typeface="Calibri"/>
                <a:cs typeface="Calibri"/>
              </a:rPr>
              <a:t>i</a:t>
            </a:r>
            <a:r>
              <a:rPr sz="900" i="1" spc="240" baseline="-9259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is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found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in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i="1" spc="114" dirty="0">
                <a:solidFill>
                  <a:srgbClr val="191933"/>
                </a:solidFill>
                <a:latin typeface="Calibri"/>
                <a:cs typeface="Calibri"/>
              </a:rPr>
              <a:t>D</a:t>
            </a:r>
            <a:r>
              <a:rPr sz="800" spc="114" dirty="0">
                <a:solidFill>
                  <a:srgbClr val="191933"/>
                </a:solidFill>
                <a:latin typeface="Arial MT"/>
                <a:cs typeface="Arial MT"/>
              </a:rPr>
              <a:t>,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match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is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detected.</a:t>
            </a:r>
            <a:endParaRPr sz="800">
              <a:latin typeface="Arial MT"/>
              <a:cs typeface="Arial MT"/>
            </a:endParaRPr>
          </a:p>
          <a:p>
            <a:pPr marL="314960" marR="46355">
              <a:lnSpc>
                <a:spcPts val="950"/>
              </a:lnSpc>
              <a:spcBef>
                <a:spcPts val="185"/>
              </a:spcBef>
            </a:pPr>
            <a:r>
              <a:rPr sz="800" b="1" spc="-20" dirty="0">
                <a:solidFill>
                  <a:srgbClr val="191933"/>
                </a:solidFill>
                <a:latin typeface="Arial"/>
                <a:cs typeface="Arial"/>
              </a:rPr>
              <a:t>Prevention</a:t>
            </a:r>
            <a:r>
              <a:rPr sz="800" b="1" spc="1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25" dirty="0">
                <a:solidFill>
                  <a:srgbClr val="191933"/>
                </a:solidFill>
                <a:latin typeface="Arial"/>
                <a:cs typeface="Arial"/>
              </a:rPr>
              <a:t>Actions:</a:t>
            </a:r>
            <a:r>
              <a:rPr sz="800" b="1" spc="8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Based</a:t>
            </a:r>
            <a:r>
              <a:rPr sz="8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on</a:t>
            </a:r>
            <a:r>
              <a:rPr sz="8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8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detected</a:t>
            </a:r>
            <a:r>
              <a:rPr sz="8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signatures,</a:t>
            </a:r>
            <a:r>
              <a:rPr sz="8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predefined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actions</a:t>
            </a:r>
            <a:r>
              <a:rPr sz="8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are</a:t>
            </a:r>
            <a:r>
              <a:rPr sz="8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taken,</a:t>
            </a:r>
            <a:r>
              <a:rPr sz="8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such as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blocking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data,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alerting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user,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or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logging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event.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4" name="object 14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4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4195587" y="3351784"/>
            <a:ext cx="28130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</a:rPr>
              <a:t>13</a:t>
            </a:r>
            <a:r>
              <a:rPr sz="6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00" spc="150" dirty="0">
                <a:solidFill>
                  <a:srgbClr val="FFFFFF"/>
                </a:solidFill>
                <a:latin typeface="Arial MT"/>
                <a:cs typeface="Arial MT"/>
              </a:rPr>
              <a:t>/</a:t>
            </a:r>
            <a:r>
              <a:rPr sz="6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Arial MT"/>
                <a:cs typeface="Arial MT"/>
              </a:rPr>
              <a:t>93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Example:</a:t>
            </a:r>
            <a:r>
              <a:rPr spc="150" dirty="0"/>
              <a:t> </a:t>
            </a:r>
            <a:r>
              <a:rPr dirty="0"/>
              <a:t>Byte</a:t>
            </a:r>
            <a:r>
              <a:rPr spc="25" dirty="0"/>
              <a:t> </a:t>
            </a:r>
            <a:r>
              <a:rPr spc="-55" dirty="0"/>
              <a:t>Sequence</a:t>
            </a:r>
            <a:r>
              <a:rPr spc="25" dirty="0"/>
              <a:t> </a:t>
            </a:r>
            <a:r>
              <a:rPr spc="-10" dirty="0"/>
              <a:t>Matching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933970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092136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00444" y="451966"/>
            <a:ext cx="4362450" cy="74104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 marR="30480">
              <a:lnSpc>
                <a:spcPct val="92800"/>
              </a:lnSpc>
              <a:spcBef>
                <a:spcPts val="185"/>
              </a:spcBef>
            </a:pPr>
            <a:r>
              <a:rPr sz="1100" b="1" spc="-35" dirty="0">
                <a:solidFill>
                  <a:srgbClr val="191933"/>
                </a:solidFill>
                <a:latin typeface="Arial"/>
                <a:cs typeface="Arial"/>
              </a:rPr>
              <a:t>Example</a:t>
            </a:r>
            <a:r>
              <a:rPr sz="1100" b="1" spc="2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-45" dirty="0">
                <a:solidFill>
                  <a:srgbClr val="191933"/>
                </a:solidFill>
                <a:latin typeface="Arial"/>
                <a:cs typeface="Arial"/>
              </a:rPr>
              <a:t>Scenario:</a:t>
            </a:r>
            <a:r>
              <a:rPr sz="1100" b="1" spc="9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Let’s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consider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simple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example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where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i="1" spc="200" dirty="0">
                <a:solidFill>
                  <a:srgbClr val="191933"/>
                </a:solidFill>
                <a:latin typeface="Calibri"/>
                <a:cs typeface="Calibri"/>
              </a:rPr>
              <a:t>D</a:t>
            </a:r>
            <a:r>
              <a:rPr sz="800" i="1" spc="6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is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byte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stream,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and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each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signature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i="1" spc="100" dirty="0">
                <a:solidFill>
                  <a:srgbClr val="191933"/>
                </a:solidFill>
                <a:latin typeface="Calibri"/>
                <a:cs typeface="Calibri"/>
              </a:rPr>
              <a:t>s</a:t>
            </a:r>
            <a:r>
              <a:rPr sz="900" i="1" spc="150" baseline="-9259" dirty="0">
                <a:solidFill>
                  <a:srgbClr val="191933"/>
                </a:solidFill>
                <a:latin typeface="Calibri"/>
                <a:cs typeface="Calibri"/>
              </a:rPr>
              <a:t>i</a:t>
            </a:r>
            <a:r>
              <a:rPr sz="900" i="1" spc="247" baseline="-9259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is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45" dirty="0">
                <a:solidFill>
                  <a:srgbClr val="191933"/>
                </a:solidFill>
                <a:latin typeface="Arial MT"/>
                <a:cs typeface="Arial MT"/>
              </a:rPr>
              <a:t>sequence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bytes.</a:t>
            </a:r>
            <a:endParaRPr sz="800">
              <a:latin typeface="Arial MT"/>
              <a:cs typeface="Arial MT"/>
            </a:endParaRPr>
          </a:p>
          <a:p>
            <a:pPr marL="38100">
              <a:lnSpc>
                <a:spcPts val="944"/>
              </a:lnSpc>
            </a:pPr>
            <a:r>
              <a:rPr sz="800" b="1" spc="-25" dirty="0">
                <a:solidFill>
                  <a:srgbClr val="191933"/>
                </a:solidFill>
                <a:latin typeface="Arial"/>
                <a:cs typeface="Arial"/>
              </a:rPr>
              <a:t>Signature</a:t>
            </a: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191933"/>
                </a:solidFill>
                <a:latin typeface="Arial"/>
                <a:cs typeface="Arial"/>
              </a:rPr>
              <a:t>Database</a:t>
            </a: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191933"/>
                </a:solidFill>
                <a:latin typeface="Arial"/>
                <a:cs typeface="Arial"/>
              </a:rPr>
              <a:t>Example:</a:t>
            </a:r>
            <a:endParaRPr sz="800">
              <a:latin typeface="Arial"/>
              <a:cs typeface="Arial"/>
            </a:endParaRPr>
          </a:p>
          <a:p>
            <a:pPr marL="314960">
              <a:lnSpc>
                <a:spcPct val="100000"/>
              </a:lnSpc>
              <a:spcBef>
                <a:spcPts val="285"/>
              </a:spcBef>
            </a:pPr>
            <a:r>
              <a:rPr sz="800" i="1" spc="70" dirty="0">
                <a:solidFill>
                  <a:srgbClr val="191933"/>
                </a:solidFill>
                <a:latin typeface="Calibri"/>
                <a:cs typeface="Calibri"/>
              </a:rPr>
              <a:t>s</a:t>
            </a:r>
            <a:r>
              <a:rPr sz="900" spc="104" baseline="-9259" dirty="0">
                <a:solidFill>
                  <a:srgbClr val="191933"/>
                </a:solidFill>
                <a:latin typeface="Calibri"/>
                <a:cs typeface="Calibri"/>
              </a:rPr>
              <a:t>1</a:t>
            </a:r>
            <a:r>
              <a:rPr sz="900" spc="300" baseline="-9259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spc="254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800" spc="9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933"/>
                </a:solidFill>
                <a:latin typeface="Trebuchet MS"/>
                <a:cs typeface="Trebuchet MS"/>
              </a:rPr>
              <a:t>0x90,</a:t>
            </a:r>
            <a:r>
              <a:rPr sz="800" spc="254" dirty="0">
                <a:solidFill>
                  <a:srgbClr val="191933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191933"/>
                </a:solidFill>
                <a:latin typeface="Trebuchet MS"/>
                <a:cs typeface="Trebuchet MS"/>
              </a:rPr>
              <a:t>0x90,</a:t>
            </a:r>
            <a:r>
              <a:rPr sz="800" spc="254" dirty="0">
                <a:solidFill>
                  <a:srgbClr val="191933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191933"/>
                </a:solidFill>
                <a:latin typeface="Trebuchet MS"/>
                <a:cs typeface="Trebuchet MS"/>
              </a:rPr>
              <a:t>0x90</a:t>
            </a:r>
            <a:r>
              <a:rPr sz="800" spc="95" dirty="0">
                <a:solidFill>
                  <a:srgbClr val="191933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(NOP</a:t>
            </a:r>
            <a:r>
              <a:rPr sz="800" spc="1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sled)</a:t>
            </a:r>
            <a:endParaRPr sz="800">
              <a:latin typeface="Arial MT"/>
              <a:cs typeface="Arial MT"/>
            </a:endParaRPr>
          </a:p>
          <a:p>
            <a:pPr marL="314960">
              <a:lnSpc>
                <a:spcPct val="100000"/>
              </a:lnSpc>
              <a:spcBef>
                <a:spcPts val="285"/>
              </a:spcBef>
            </a:pPr>
            <a:r>
              <a:rPr sz="800" i="1" spc="70" dirty="0">
                <a:solidFill>
                  <a:srgbClr val="191933"/>
                </a:solidFill>
                <a:latin typeface="Calibri"/>
                <a:cs typeface="Calibri"/>
              </a:rPr>
              <a:t>s</a:t>
            </a:r>
            <a:r>
              <a:rPr sz="900" spc="104" baseline="-9259" dirty="0">
                <a:solidFill>
                  <a:srgbClr val="191933"/>
                </a:solidFill>
                <a:latin typeface="Calibri"/>
                <a:cs typeface="Calibri"/>
              </a:rPr>
              <a:t>2</a:t>
            </a:r>
            <a:r>
              <a:rPr sz="900" spc="247" baseline="-9259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spc="254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800" spc="6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933"/>
                </a:solidFill>
                <a:latin typeface="Trebuchet MS"/>
                <a:cs typeface="Trebuchet MS"/>
              </a:rPr>
              <a:t>0xDE,</a:t>
            </a:r>
            <a:r>
              <a:rPr sz="800" spc="210" dirty="0">
                <a:solidFill>
                  <a:srgbClr val="191933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191933"/>
                </a:solidFill>
                <a:latin typeface="Trebuchet MS"/>
                <a:cs typeface="Trebuchet MS"/>
              </a:rPr>
              <a:t>0xAD,</a:t>
            </a:r>
            <a:r>
              <a:rPr sz="800" spc="204" dirty="0">
                <a:solidFill>
                  <a:srgbClr val="191933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191933"/>
                </a:solidFill>
                <a:latin typeface="Trebuchet MS"/>
                <a:cs typeface="Trebuchet MS"/>
              </a:rPr>
              <a:t>0xBE,</a:t>
            </a:r>
            <a:r>
              <a:rPr sz="800" spc="210" dirty="0">
                <a:solidFill>
                  <a:srgbClr val="191933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191933"/>
                </a:solidFill>
                <a:latin typeface="Trebuchet MS"/>
                <a:cs typeface="Trebuchet MS"/>
              </a:rPr>
              <a:t>0xEF</a:t>
            </a:r>
            <a:r>
              <a:rPr sz="800" spc="60" dirty="0">
                <a:solidFill>
                  <a:srgbClr val="191933"/>
                </a:solidFill>
                <a:latin typeface="Trebuchet MS"/>
                <a:cs typeface="Trebuchet MS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(Example</a:t>
            </a:r>
            <a:r>
              <a:rPr sz="800" spc="8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signature)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7" name="object 7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4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195587" y="3351784"/>
            <a:ext cx="28130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</a:rPr>
              <a:t>14</a:t>
            </a:r>
            <a:r>
              <a:rPr sz="6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00" spc="150" dirty="0">
                <a:solidFill>
                  <a:srgbClr val="FFFFFF"/>
                </a:solidFill>
                <a:latin typeface="Arial MT"/>
                <a:cs typeface="Arial MT"/>
              </a:rPr>
              <a:t>/</a:t>
            </a:r>
            <a:r>
              <a:rPr sz="6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Arial MT"/>
                <a:cs typeface="Arial MT"/>
              </a:rPr>
              <a:t>93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Example:</a:t>
            </a:r>
            <a:r>
              <a:rPr spc="150" dirty="0"/>
              <a:t> </a:t>
            </a:r>
            <a:r>
              <a:rPr dirty="0"/>
              <a:t>Byte</a:t>
            </a:r>
            <a:r>
              <a:rPr spc="25" dirty="0"/>
              <a:t> </a:t>
            </a:r>
            <a:r>
              <a:rPr spc="-55" dirty="0"/>
              <a:t>Sequence</a:t>
            </a:r>
            <a:r>
              <a:rPr spc="25" dirty="0"/>
              <a:t> </a:t>
            </a:r>
            <a:r>
              <a:rPr spc="-10" dirty="0"/>
              <a:t>Matching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933970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092136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408442"/>
            <a:ext cx="65265" cy="6526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00444" y="451966"/>
            <a:ext cx="4362450" cy="105727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 marR="30480">
              <a:lnSpc>
                <a:spcPct val="92800"/>
              </a:lnSpc>
              <a:spcBef>
                <a:spcPts val="185"/>
              </a:spcBef>
            </a:pPr>
            <a:r>
              <a:rPr sz="1100" b="1" spc="-35" dirty="0">
                <a:solidFill>
                  <a:srgbClr val="191933"/>
                </a:solidFill>
                <a:latin typeface="Arial"/>
                <a:cs typeface="Arial"/>
              </a:rPr>
              <a:t>Example</a:t>
            </a:r>
            <a:r>
              <a:rPr sz="1100" b="1" spc="2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-45" dirty="0">
                <a:solidFill>
                  <a:srgbClr val="191933"/>
                </a:solidFill>
                <a:latin typeface="Arial"/>
                <a:cs typeface="Arial"/>
              </a:rPr>
              <a:t>Scenario:</a:t>
            </a:r>
            <a:r>
              <a:rPr sz="1100" b="1" spc="9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Let’s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consider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simple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example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where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i="1" spc="200" dirty="0">
                <a:solidFill>
                  <a:srgbClr val="191933"/>
                </a:solidFill>
                <a:latin typeface="Calibri"/>
                <a:cs typeface="Calibri"/>
              </a:rPr>
              <a:t>D</a:t>
            </a:r>
            <a:r>
              <a:rPr sz="800" i="1" spc="6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is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byte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stream,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and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each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signature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i="1" spc="100" dirty="0">
                <a:solidFill>
                  <a:srgbClr val="191933"/>
                </a:solidFill>
                <a:latin typeface="Calibri"/>
                <a:cs typeface="Calibri"/>
              </a:rPr>
              <a:t>s</a:t>
            </a:r>
            <a:r>
              <a:rPr sz="900" i="1" spc="150" baseline="-9259" dirty="0">
                <a:solidFill>
                  <a:srgbClr val="191933"/>
                </a:solidFill>
                <a:latin typeface="Calibri"/>
                <a:cs typeface="Calibri"/>
              </a:rPr>
              <a:t>i</a:t>
            </a:r>
            <a:r>
              <a:rPr sz="900" i="1" spc="247" baseline="-9259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is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45" dirty="0">
                <a:solidFill>
                  <a:srgbClr val="191933"/>
                </a:solidFill>
                <a:latin typeface="Arial MT"/>
                <a:cs typeface="Arial MT"/>
              </a:rPr>
              <a:t>sequence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bytes.</a:t>
            </a:r>
            <a:endParaRPr sz="800">
              <a:latin typeface="Arial MT"/>
              <a:cs typeface="Arial MT"/>
            </a:endParaRPr>
          </a:p>
          <a:p>
            <a:pPr marL="38100">
              <a:lnSpc>
                <a:spcPts val="944"/>
              </a:lnSpc>
            </a:pPr>
            <a:r>
              <a:rPr sz="800" b="1" spc="-25" dirty="0">
                <a:solidFill>
                  <a:srgbClr val="191933"/>
                </a:solidFill>
                <a:latin typeface="Arial"/>
                <a:cs typeface="Arial"/>
              </a:rPr>
              <a:t>Signature</a:t>
            </a: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191933"/>
                </a:solidFill>
                <a:latin typeface="Arial"/>
                <a:cs typeface="Arial"/>
              </a:rPr>
              <a:t>Database</a:t>
            </a: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191933"/>
                </a:solidFill>
                <a:latin typeface="Arial"/>
                <a:cs typeface="Arial"/>
              </a:rPr>
              <a:t>Example:</a:t>
            </a:r>
            <a:endParaRPr sz="800">
              <a:latin typeface="Arial"/>
              <a:cs typeface="Arial"/>
            </a:endParaRPr>
          </a:p>
          <a:p>
            <a:pPr marL="314960">
              <a:lnSpc>
                <a:spcPct val="100000"/>
              </a:lnSpc>
              <a:spcBef>
                <a:spcPts val="285"/>
              </a:spcBef>
            </a:pPr>
            <a:r>
              <a:rPr sz="800" i="1" spc="70" dirty="0">
                <a:solidFill>
                  <a:srgbClr val="191933"/>
                </a:solidFill>
                <a:latin typeface="Calibri"/>
                <a:cs typeface="Calibri"/>
              </a:rPr>
              <a:t>s</a:t>
            </a:r>
            <a:r>
              <a:rPr sz="900" spc="104" baseline="-9259" dirty="0">
                <a:solidFill>
                  <a:srgbClr val="191933"/>
                </a:solidFill>
                <a:latin typeface="Calibri"/>
                <a:cs typeface="Calibri"/>
              </a:rPr>
              <a:t>1</a:t>
            </a:r>
            <a:r>
              <a:rPr sz="900" spc="300" baseline="-9259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spc="254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800" spc="9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933"/>
                </a:solidFill>
                <a:latin typeface="Trebuchet MS"/>
                <a:cs typeface="Trebuchet MS"/>
              </a:rPr>
              <a:t>0x90,</a:t>
            </a:r>
            <a:r>
              <a:rPr sz="800" spc="254" dirty="0">
                <a:solidFill>
                  <a:srgbClr val="191933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191933"/>
                </a:solidFill>
                <a:latin typeface="Trebuchet MS"/>
                <a:cs typeface="Trebuchet MS"/>
              </a:rPr>
              <a:t>0x90,</a:t>
            </a:r>
            <a:r>
              <a:rPr sz="800" spc="254" dirty="0">
                <a:solidFill>
                  <a:srgbClr val="191933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191933"/>
                </a:solidFill>
                <a:latin typeface="Trebuchet MS"/>
                <a:cs typeface="Trebuchet MS"/>
              </a:rPr>
              <a:t>0x90</a:t>
            </a:r>
            <a:r>
              <a:rPr sz="800" spc="95" dirty="0">
                <a:solidFill>
                  <a:srgbClr val="191933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(NOP</a:t>
            </a:r>
            <a:r>
              <a:rPr sz="800" spc="1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sled)</a:t>
            </a:r>
            <a:endParaRPr sz="800">
              <a:latin typeface="Arial MT"/>
              <a:cs typeface="Arial MT"/>
            </a:endParaRPr>
          </a:p>
          <a:p>
            <a:pPr marL="314960">
              <a:lnSpc>
                <a:spcPct val="100000"/>
              </a:lnSpc>
              <a:spcBef>
                <a:spcPts val="285"/>
              </a:spcBef>
            </a:pPr>
            <a:r>
              <a:rPr sz="800" i="1" spc="70" dirty="0">
                <a:solidFill>
                  <a:srgbClr val="191933"/>
                </a:solidFill>
                <a:latin typeface="Calibri"/>
                <a:cs typeface="Calibri"/>
              </a:rPr>
              <a:t>s</a:t>
            </a:r>
            <a:r>
              <a:rPr sz="900" spc="104" baseline="-9259" dirty="0">
                <a:solidFill>
                  <a:srgbClr val="191933"/>
                </a:solidFill>
                <a:latin typeface="Calibri"/>
                <a:cs typeface="Calibri"/>
              </a:rPr>
              <a:t>2</a:t>
            </a:r>
            <a:r>
              <a:rPr sz="900" spc="247" baseline="-9259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spc="254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800" spc="6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933"/>
                </a:solidFill>
                <a:latin typeface="Trebuchet MS"/>
                <a:cs typeface="Trebuchet MS"/>
              </a:rPr>
              <a:t>0xDE,</a:t>
            </a:r>
            <a:r>
              <a:rPr sz="800" spc="210" dirty="0">
                <a:solidFill>
                  <a:srgbClr val="191933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191933"/>
                </a:solidFill>
                <a:latin typeface="Trebuchet MS"/>
                <a:cs typeface="Trebuchet MS"/>
              </a:rPr>
              <a:t>0xAD,</a:t>
            </a:r>
            <a:r>
              <a:rPr sz="800" spc="204" dirty="0">
                <a:solidFill>
                  <a:srgbClr val="191933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191933"/>
                </a:solidFill>
                <a:latin typeface="Trebuchet MS"/>
                <a:cs typeface="Trebuchet MS"/>
              </a:rPr>
              <a:t>0xBE,</a:t>
            </a:r>
            <a:r>
              <a:rPr sz="800" spc="210" dirty="0">
                <a:solidFill>
                  <a:srgbClr val="191933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191933"/>
                </a:solidFill>
                <a:latin typeface="Trebuchet MS"/>
                <a:cs typeface="Trebuchet MS"/>
              </a:rPr>
              <a:t>0xEF</a:t>
            </a:r>
            <a:r>
              <a:rPr sz="800" spc="60" dirty="0">
                <a:solidFill>
                  <a:srgbClr val="191933"/>
                </a:solidFill>
                <a:latin typeface="Trebuchet MS"/>
                <a:cs typeface="Trebuchet MS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(Example</a:t>
            </a:r>
            <a:r>
              <a:rPr sz="800" spc="8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signature)</a:t>
            </a:r>
            <a:endParaRPr sz="80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285"/>
              </a:spcBef>
            </a:pP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Data</a:t>
            </a:r>
            <a:r>
              <a:rPr sz="800" b="1" spc="10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to</a:t>
            </a:r>
            <a:r>
              <a:rPr sz="800" b="1" spc="9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191933"/>
                </a:solidFill>
                <a:latin typeface="Arial"/>
                <a:cs typeface="Arial"/>
              </a:rPr>
              <a:t>Scan:</a:t>
            </a:r>
            <a:endParaRPr sz="800">
              <a:latin typeface="Arial"/>
              <a:cs typeface="Arial"/>
            </a:endParaRPr>
          </a:p>
          <a:p>
            <a:pPr marL="314960">
              <a:lnSpc>
                <a:spcPct val="100000"/>
              </a:lnSpc>
              <a:spcBef>
                <a:spcPts val="285"/>
              </a:spcBef>
            </a:pPr>
            <a:r>
              <a:rPr sz="800" i="1" spc="200" dirty="0">
                <a:solidFill>
                  <a:srgbClr val="191933"/>
                </a:solidFill>
                <a:latin typeface="Calibri"/>
                <a:cs typeface="Calibri"/>
              </a:rPr>
              <a:t>D</a:t>
            </a:r>
            <a:r>
              <a:rPr sz="800" i="1" spc="13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spc="254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800" spc="11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933"/>
                </a:solidFill>
                <a:latin typeface="Trebuchet MS"/>
                <a:cs typeface="Trebuchet MS"/>
              </a:rPr>
              <a:t>0x00,</a:t>
            </a:r>
            <a:r>
              <a:rPr sz="800" spc="280" dirty="0">
                <a:solidFill>
                  <a:srgbClr val="191933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191933"/>
                </a:solidFill>
                <a:latin typeface="Trebuchet MS"/>
                <a:cs typeface="Trebuchet MS"/>
              </a:rPr>
              <a:t>0x00,</a:t>
            </a:r>
            <a:r>
              <a:rPr sz="800" spc="280" dirty="0">
                <a:solidFill>
                  <a:srgbClr val="191933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191933"/>
                </a:solidFill>
                <a:latin typeface="Trebuchet MS"/>
                <a:cs typeface="Trebuchet MS"/>
              </a:rPr>
              <a:t>0x90,</a:t>
            </a:r>
            <a:r>
              <a:rPr sz="800" spc="285" dirty="0">
                <a:solidFill>
                  <a:srgbClr val="191933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191933"/>
                </a:solidFill>
                <a:latin typeface="Trebuchet MS"/>
                <a:cs typeface="Trebuchet MS"/>
              </a:rPr>
              <a:t>0x90,</a:t>
            </a:r>
            <a:r>
              <a:rPr sz="800" spc="280" dirty="0">
                <a:solidFill>
                  <a:srgbClr val="191933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191933"/>
                </a:solidFill>
                <a:latin typeface="Trebuchet MS"/>
                <a:cs typeface="Trebuchet MS"/>
              </a:rPr>
              <a:t>0x90,</a:t>
            </a:r>
            <a:r>
              <a:rPr sz="800" spc="280" dirty="0">
                <a:solidFill>
                  <a:srgbClr val="191933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191933"/>
                </a:solidFill>
                <a:latin typeface="Trebuchet MS"/>
                <a:cs typeface="Trebuchet MS"/>
              </a:rPr>
              <a:t>0xAB,</a:t>
            </a:r>
            <a:r>
              <a:rPr sz="800" spc="280" dirty="0">
                <a:solidFill>
                  <a:srgbClr val="191933"/>
                </a:solidFill>
                <a:latin typeface="Trebuchet MS"/>
                <a:cs typeface="Trebuchet MS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Trebuchet MS"/>
                <a:cs typeface="Trebuchet MS"/>
              </a:rPr>
              <a:t>0xCD</a:t>
            </a:r>
            <a:endParaRPr sz="800"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8" name="object 8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4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195587" y="3351784"/>
            <a:ext cx="28130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</a:rPr>
              <a:t>14</a:t>
            </a:r>
            <a:r>
              <a:rPr sz="6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00" spc="150" dirty="0">
                <a:solidFill>
                  <a:srgbClr val="FFFFFF"/>
                </a:solidFill>
                <a:latin typeface="Arial MT"/>
                <a:cs typeface="Arial MT"/>
              </a:rPr>
              <a:t>/</a:t>
            </a:r>
            <a:r>
              <a:rPr sz="6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Arial MT"/>
                <a:cs typeface="Arial MT"/>
              </a:rPr>
              <a:t>93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Example:</a:t>
            </a:r>
            <a:r>
              <a:rPr spc="150" dirty="0"/>
              <a:t> </a:t>
            </a:r>
            <a:r>
              <a:rPr dirty="0"/>
              <a:t>Byte</a:t>
            </a:r>
            <a:r>
              <a:rPr spc="25" dirty="0"/>
              <a:t> </a:t>
            </a:r>
            <a:r>
              <a:rPr spc="-55" dirty="0"/>
              <a:t>Sequence</a:t>
            </a:r>
            <a:r>
              <a:rPr spc="25" dirty="0"/>
              <a:t> </a:t>
            </a:r>
            <a:r>
              <a:rPr spc="-10" dirty="0"/>
              <a:t>Matching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933970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092136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408442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724761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1882914"/>
            <a:ext cx="65265" cy="6526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00444" y="451966"/>
            <a:ext cx="4362450" cy="153225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 marR="30480">
              <a:lnSpc>
                <a:spcPct val="92800"/>
              </a:lnSpc>
              <a:spcBef>
                <a:spcPts val="185"/>
              </a:spcBef>
            </a:pPr>
            <a:r>
              <a:rPr sz="1100" b="1" spc="-35" dirty="0">
                <a:solidFill>
                  <a:srgbClr val="191933"/>
                </a:solidFill>
                <a:latin typeface="Arial"/>
                <a:cs typeface="Arial"/>
              </a:rPr>
              <a:t>Example</a:t>
            </a:r>
            <a:r>
              <a:rPr sz="1100" b="1" spc="2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-45" dirty="0">
                <a:solidFill>
                  <a:srgbClr val="191933"/>
                </a:solidFill>
                <a:latin typeface="Arial"/>
                <a:cs typeface="Arial"/>
              </a:rPr>
              <a:t>Scenario:</a:t>
            </a:r>
            <a:r>
              <a:rPr sz="1100" b="1" spc="9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Let’s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consider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simple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example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where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i="1" spc="200" dirty="0">
                <a:solidFill>
                  <a:srgbClr val="191933"/>
                </a:solidFill>
                <a:latin typeface="Calibri"/>
                <a:cs typeface="Calibri"/>
              </a:rPr>
              <a:t>D</a:t>
            </a:r>
            <a:r>
              <a:rPr sz="800" i="1" spc="6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is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byte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stream,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and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each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signature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i="1" spc="100" dirty="0">
                <a:solidFill>
                  <a:srgbClr val="191933"/>
                </a:solidFill>
                <a:latin typeface="Calibri"/>
                <a:cs typeface="Calibri"/>
              </a:rPr>
              <a:t>s</a:t>
            </a:r>
            <a:r>
              <a:rPr sz="900" i="1" spc="150" baseline="-9259" dirty="0">
                <a:solidFill>
                  <a:srgbClr val="191933"/>
                </a:solidFill>
                <a:latin typeface="Calibri"/>
                <a:cs typeface="Calibri"/>
              </a:rPr>
              <a:t>i</a:t>
            </a:r>
            <a:r>
              <a:rPr sz="900" i="1" spc="247" baseline="-9259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is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45" dirty="0">
                <a:solidFill>
                  <a:srgbClr val="191933"/>
                </a:solidFill>
                <a:latin typeface="Arial MT"/>
                <a:cs typeface="Arial MT"/>
              </a:rPr>
              <a:t>sequence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bytes.</a:t>
            </a:r>
            <a:endParaRPr sz="800">
              <a:latin typeface="Arial MT"/>
              <a:cs typeface="Arial MT"/>
            </a:endParaRPr>
          </a:p>
          <a:p>
            <a:pPr marL="38100">
              <a:lnSpc>
                <a:spcPts val="944"/>
              </a:lnSpc>
            </a:pPr>
            <a:r>
              <a:rPr sz="800" b="1" spc="-25" dirty="0">
                <a:solidFill>
                  <a:srgbClr val="191933"/>
                </a:solidFill>
                <a:latin typeface="Arial"/>
                <a:cs typeface="Arial"/>
              </a:rPr>
              <a:t>Signature</a:t>
            </a: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191933"/>
                </a:solidFill>
                <a:latin typeface="Arial"/>
                <a:cs typeface="Arial"/>
              </a:rPr>
              <a:t>Database</a:t>
            </a: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191933"/>
                </a:solidFill>
                <a:latin typeface="Arial"/>
                <a:cs typeface="Arial"/>
              </a:rPr>
              <a:t>Example:</a:t>
            </a:r>
            <a:endParaRPr sz="800">
              <a:latin typeface="Arial"/>
              <a:cs typeface="Arial"/>
            </a:endParaRPr>
          </a:p>
          <a:p>
            <a:pPr marL="314960">
              <a:lnSpc>
                <a:spcPct val="100000"/>
              </a:lnSpc>
              <a:spcBef>
                <a:spcPts val="285"/>
              </a:spcBef>
            </a:pPr>
            <a:r>
              <a:rPr sz="800" i="1" spc="70" dirty="0">
                <a:solidFill>
                  <a:srgbClr val="191933"/>
                </a:solidFill>
                <a:latin typeface="Calibri"/>
                <a:cs typeface="Calibri"/>
              </a:rPr>
              <a:t>s</a:t>
            </a:r>
            <a:r>
              <a:rPr sz="900" spc="104" baseline="-9259" dirty="0">
                <a:solidFill>
                  <a:srgbClr val="191933"/>
                </a:solidFill>
                <a:latin typeface="Calibri"/>
                <a:cs typeface="Calibri"/>
              </a:rPr>
              <a:t>1</a:t>
            </a:r>
            <a:r>
              <a:rPr sz="900" spc="300" baseline="-9259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spc="254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800" spc="9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933"/>
                </a:solidFill>
                <a:latin typeface="Trebuchet MS"/>
                <a:cs typeface="Trebuchet MS"/>
              </a:rPr>
              <a:t>0x90,</a:t>
            </a:r>
            <a:r>
              <a:rPr sz="800" spc="254" dirty="0">
                <a:solidFill>
                  <a:srgbClr val="191933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191933"/>
                </a:solidFill>
                <a:latin typeface="Trebuchet MS"/>
                <a:cs typeface="Trebuchet MS"/>
              </a:rPr>
              <a:t>0x90,</a:t>
            </a:r>
            <a:r>
              <a:rPr sz="800" spc="254" dirty="0">
                <a:solidFill>
                  <a:srgbClr val="191933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191933"/>
                </a:solidFill>
                <a:latin typeface="Trebuchet MS"/>
                <a:cs typeface="Trebuchet MS"/>
              </a:rPr>
              <a:t>0x90</a:t>
            </a:r>
            <a:r>
              <a:rPr sz="800" spc="95" dirty="0">
                <a:solidFill>
                  <a:srgbClr val="191933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(NOP</a:t>
            </a:r>
            <a:r>
              <a:rPr sz="800" spc="1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sled)</a:t>
            </a:r>
            <a:endParaRPr sz="800">
              <a:latin typeface="Arial MT"/>
              <a:cs typeface="Arial MT"/>
            </a:endParaRPr>
          </a:p>
          <a:p>
            <a:pPr marL="314960">
              <a:lnSpc>
                <a:spcPct val="100000"/>
              </a:lnSpc>
              <a:spcBef>
                <a:spcPts val="285"/>
              </a:spcBef>
            </a:pPr>
            <a:r>
              <a:rPr sz="800" i="1" spc="70" dirty="0">
                <a:solidFill>
                  <a:srgbClr val="191933"/>
                </a:solidFill>
                <a:latin typeface="Calibri"/>
                <a:cs typeface="Calibri"/>
              </a:rPr>
              <a:t>s</a:t>
            </a:r>
            <a:r>
              <a:rPr sz="900" spc="104" baseline="-9259" dirty="0">
                <a:solidFill>
                  <a:srgbClr val="191933"/>
                </a:solidFill>
                <a:latin typeface="Calibri"/>
                <a:cs typeface="Calibri"/>
              </a:rPr>
              <a:t>2</a:t>
            </a:r>
            <a:r>
              <a:rPr sz="900" spc="247" baseline="-9259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spc="254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800" spc="6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933"/>
                </a:solidFill>
                <a:latin typeface="Trebuchet MS"/>
                <a:cs typeface="Trebuchet MS"/>
              </a:rPr>
              <a:t>0xDE,</a:t>
            </a:r>
            <a:r>
              <a:rPr sz="800" spc="210" dirty="0">
                <a:solidFill>
                  <a:srgbClr val="191933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191933"/>
                </a:solidFill>
                <a:latin typeface="Trebuchet MS"/>
                <a:cs typeface="Trebuchet MS"/>
              </a:rPr>
              <a:t>0xAD,</a:t>
            </a:r>
            <a:r>
              <a:rPr sz="800" spc="204" dirty="0">
                <a:solidFill>
                  <a:srgbClr val="191933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191933"/>
                </a:solidFill>
                <a:latin typeface="Trebuchet MS"/>
                <a:cs typeface="Trebuchet MS"/>
              </a:rPr>
              <a:t>0xBE,</a:t>
            </a:r>
            <a:r>
              <a:rPr sz="800" spc="210" dirty="0">
                <a:solidFill>
                  <a:srgbClr val="191933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191933"/>
                </a:solidFill>
                <a:latin typeface="Trebuchet MS"/>
                <a:cs typeface="Trebuchet MS"/>
              </a:rPr>
              <a:t>0xEF</a:t>
            </a:r>
            <a:r>
              <a:rPr sz="800" spc="60" dirty="0">
                <a:solidFill>
                  <a:srgbClr val="191933"/>
                </a:solidFill>
                <a:latin typeface="Trebuchet MS"/>
                <a:cs typeface="Trebuchet MS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(Example</a:t>
            </a:r>
            <a:r>
              <a:rPr sz="800" spc="8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signature)</a:t>
            </a:r>
            <a:endParaRPr sz="80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285"/>
              </a:spcBef>
            </a:pP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Data</a:t>
            </a:r>
            <a:r>
              <a:rPr sz="800" b="1" spc="10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to</a:t>
            </a:r>
            <a:r>
              <a:rPr sz="800" b="1" spc="9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191933"/>
                </a:solidFill>
                <a:latin typeface="Arial"/>
                <a:cs typeface="Arial"/>
              </a:rPr>
              <a:t>Scan:</a:t>
            </a:r>
            <a:endParaRPr sz="800">
              <a:latin typeface="Arial"/>
              <a:cs typeface="Arial"/>
            </a:endParaRPr>
          </a:p>
          <a:p>
            <a:pPr marL="314960">
              <a:lnSpc>
                <a:spcPct val="100000"/>
              </a:lnSpc>
              <a:spcBef>
                <a:spcPts val="285"/>
              </a:spcBef>
            </a:pPr>
            <a:r>
              <a:rPr sz="800" i="1" spc="200" dirty="0">
                <a:solidFill>
                  <a:srgbClr val="191933"/>
                </a:solidFill>
                <a:latin typeface="Calibri"/>
                <a:cs typeface="Calibri"/>
              </a:rPr>
              <a:t>D</a:t>
            </a:r>
            <a:r>
              <a:rPr sz="800" i="1" spc="13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spc="254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800" spc="11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933"/>
                </a:solidFill>
                <a:latin typeface="Trebuchet MS"/>
                <a:cs typeface="Trebuchet MS"/>
              </a:rPr>
              <a:t>0x00,</a:t>
            </a:r>
            <a:r>
              <a:rPr sz="800" spc="280" dirty="0">
                <a:solidFill>
                  <a:srgbClr val="191933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191933"/>
                </a:solidFill>
                <a:latin typeface="Trebuchet MS"/>
                <a:cs typeface="Trebuchet MS"/>
              </a:rPr>
              <a:t>0x00,</a:t>
            </a:r>
            <a:r>
              <a:rPr sz="800" spc="280" dirty="0">
                <a:solidFill>
                  <a:srgbClr val="191933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191933"/>
                </a:solidFill>
                <a:latin typeface="Trebuchet MS"/>
                <a:cs typeface="Trebuchet MS"/>
              </a:rPr>
              <a:t>0x90,</a:t>
            </a:r>
            <a:r>
              <a:rPr sz="800" spc="285" dirty="0">
                <a:solidFill>
                  <a:srgbClr val="191933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191933"/>
                </a:solidFill>
                <a:latin typeface="Trebuchet MS"/>
                <a:cs typeface="Trebuchet MS"/>
              </a:rPr>
              <a:t>0x90,</a:t>
            </a:r>
            <a:r>
              <a:rPr sz="800" spc="280" dirty="0">
                <a:solidFill>
                  <a:srgbClr val="191933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191933"/>
                </a:solidFill>
                <a:latin typeface="Trebuchet MS"/>
                <a:cs typeface="Trebuchet MS"/>
              </a:rPr>
              <a:t>0x90,</a:t>
            </a:r>
            <a:r>
              <a:rPr sz="800" spc="280" dirty="0">
                <a:solidFill>
                  <a:srgbClr val="191933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191933"/>
                </a:solidFill>
                <a:latin typeface="Trebuchet MS"/>
                <a:cs typeface="Trebuchet MS"/>
              </a:rPr>
              <a:t>0xAB,</a:t>
            </a:r>
            <a:r>
              <a:rPr sz="800" spc="280" dirty="0">
                <a:solidFill>
                  <a:srgbClr val="191933"/>
                </a:solidFill>
                <a:latin typeface="Trebuchet MS"/>
                <a:cs typeface="Trebuchet MS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Trebuchet MS"/>
                <a:cs typeface="Trebuchet MS"/>
              </a:rPr>
              <a:t>0xCD</a:t>
            </a:r>
            <a:endParaRPr sz="800">
              <a:latin typeface="Trebuchet MS"/>
              <a:cs typeface="Trebuchet MS"/>
            </a:endParaRPr>
          </a:p>
          <a:p>
            <a:pPr marL="38100">
              <a:lnSpc>
                <a:spcPct val="100000"/>
              </a:lnSpc>
              <a:spcBef>
                <a:spcPts val="285"/>
              </a:spcBef>
            </a:pP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Matching</a:t>
            </a:r>
            <a:r>
              <a:rPr sz="800" b="1" spc="-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191933"/>
                </a:solidFill>
                <a:latin typeface="Arial"/>
                <a:cs typeface="Arial"/>
              </a:rPr>
              <a:t>Process:</a:t>
            </a:r>
            <a:endParaRPr sz="800">
              <a:latin typeface="Arial"/>
              <a:cs typeface="Arial"/>
            </a:endParaRPr>
          </a:p>
          <a:p>
            <a:pPr marL="314960">
              <a:lnSpc>
                <a:spcPct val="100000"/>
              </a:lnSpc>
              <a:spcBef>
                <a:spcPts val="285"/>
              </a:spcBef>
            </a:pPr>
            <a:r>
              <a:rPr sz="800" b="1" spc="-10" dirty="0">
                <a:solidFill>
                  <a:srgbClr val="191933"/>
                </a:solidFill>
                <a:latin typeface="Arial"/>
                <a:cs typeface="Arial"/>
              </a:rPr>
              <a:t>For</a:t>
            </a:r>
            <a:r>
              <a:rPr sz="800" b="1" spc="7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i="1" spc="55" dirty="0">
                <a:solidFill>
                  <a:srgbClr val="191933"/>
                </a:solidFill>
                <a:latin typeface="Calibri"/>
                <a:cs typeface="Calibri"/>
              </a:rPr>
              <a:t>s</a:t>
            </a:r>
            <a:r>
              <a:rPr sz="900" spc="82" baseline="-9259" dirty="0">
                <a:solidFill>
                  <a:srgbClr val="191933"/>
                </a:solidFill>
                <a:latin typeface="Calibri"/>
                <a:cs typeface="Calibri"/>
              </a:rPr>
              <a:t>1</a:t>
            </a:r>
            <a:r>
              <a:rPr sz="800" b="1" spc="55" dirty="0">
                <a:solidFill>
                  <a:srgbClr val="191933"/>
                </a:solidFill>
                <a:latin typeface="Arial"/>
                <a:cs typeface="Arial"/>
              </a:rPr>
              <a:t>:</a:t>
            </a:r>
            <a:r>
              <a:rPr sz="800" b="1" spc="16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Scan</a:t>
            </a:r>
            <a:r>
              <a:rPr sz="8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i="1" spc="200" dirty="0">
                <a:solidFill>
                  <a:srgbClr val="191933"/>
                </a:solidFill>
                <a:latin typeface="Calibri"/>
                <a:cs typeface="Calibri"/>
              </a:rPr>
              <a:t>D</a:t>
            </a:r>
            <a:r>
              <a:rPr sz="800" i="1" spc="12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for</a:t>
            </a:r>
            <a:r>
              <a:rPr sz="800" spc="6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800" spc="6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byte</a:t>
            </a:r>
            <a:r>
              <a:rPr sz="800" spc="6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45" dirty="0">
                <a:solidFill>
                  <a:srgbClr val="191933"/>
                </a:solidFill>
                <a:latin typeface="Arial MT"/>
                <a:cs typeface="Arial MT"/>
              </a:rPr>
              <a:t>sequence</a:t>
            </a:r>
            <a:r>
              <a:rPr sz="800" spc="6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Trebuchet MS"/>
                <a:cs typeface="Trebuchet MS"/>
              </a:rPr>
              <a:t>0x90,</a:t>
            </a:r>
            <a:r>
              <a:rPr sz="800" spc="180" dirty="0">
                <a:solidFill>
                  <a:srgbClr val="191933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191933"/>
                </a:solidFill>
                <a:latin typeface="Trebuchet MS"/>
                <a:cs typeface="Trebuchet MS"/>
              </a:rPr>
              <a:t>0x90,</a:t>
            </a:r>
            <a:r>
              <a:rPr sz="800" spc="180" dirty="0">
                <a:solidFill>
                  <a:srgbClr val="191933"/>
                </a:solidFill>
                <a:latin typeface="Trebuchet MS"/>
                <a:cs typeface="Trebuchet MS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Trebuchet MS"/>
                <a:cs typeface="Trebuchet MS"/>
              </a:rPr>
              <a:t>0x90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.</a:t>
            </a:r>
            <a:endParaRPr sz="800">
              <a:latin typeface="Arial MT"/>
              <a:cs typeface="Arial MT"/>
            </a:endParaRPr>
          </a:p>
          <a:p>
            <a:pPr marL="314960">
              <a:lnSpc>
                <a:spcPct val="100000"/>
              </a:lnSpc>
              <a:spcBef>
                <a:spcPts val="285"/>
              </a:spcBef>
            </a:pPr>
            <a:r>
              <a:rPr sz="800" b="1" spc="-10" dirty="0">
                <a:solidFill>
                  <a:srgbClr val="191933"/>
                </a:solidFill>
                <a:latin typeface="Arial"/>
                <a:cs typeface="Arial"/>
              </a:rPr>
              <a:t>For</a:t>
            </a:r>
            <a:r>
              <a:rPr sz="800" b="1" spc="6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i="1" spc="55" dirty="0">
                <a:solidFill>
                  <a:srgbClr val="191933"/>
                </a:solidFill>
                <a:latin typeface="Calibri"/>
                <a:cs typeface="Calibri"/>
              </a:rPr>
              <a:t>s</a:t>
            </a:r>
            <a:r>
              <a:rPr sz="900" spc="82" baseline="-9259" dirty="0">
                <a:solidFill>
                  <a:srgbClr val="191933"/>
                </a:solidFill>
                <a:latin typeface="Calibri"/>
                <a:cs typeface="Calibri"/>
              </a:rPr>
              <a:t>2</a:t>
            </a:r>
            <a:r>
              <a:rPr sz="800" b="1" spc="55" dirty="0">
                <a:solidFill>
                  <a:srgbClr val="191933"/>
                </a:solidFill>
                <a:latin typeface="Arial"/>
                <a:cs typeface="Arial"/>
              </a:rPr>
              <a:t>:</a:t>
            </a:r>
            <a:r>
              <a:rPr sz="800" b="1" spc="15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Scan</a:t>
            </a:r>
            <a:r>
              <a:rPr sz="800" spc="5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i="1" spc="200" dirty="0">
                <a:solidFill>
                  <a:srgbClr val="191933"/>
                </a:solidFill>
                <a:latin typeface="Calibri"/>
                <a:cs typeface="Calibri"/>
              </a:rPr>
              <a:t>D</a:t>
            </a:r>
            <a:r>
              <a:rPr sz="800" i="1" spc="11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for</a:t>
            </a:r>
            <a:r>
              <a:rPr sz="8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8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byte</a:t>
            </a:r>
            <a:r>
              <a:rPr sz="8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45" dirty="0">
                <a:solidFill>
                  <a:srgbClr val="191933"/>
                </a:solidFill>
                <a:latin typeface="Arial MT"/>
                <a:cs typeface="Arial MT"/>
              </a:rPr>
              <a:t>sequence</a:t>
            </a:r>
            <a:r>
              <a:rPr sz="8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Trebuchet MS"/>
                <a:cs typeface="Trebuchet MS"/>
              </a:rPr>
              <a:t>0xDE,</a:t>
            </a:r>
            <a:r>
              <a:rPr sz="800" spc="170" dirty="0">
                <a:solidFill>
                  <a:srgbClr val="191933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191933"/>
                </a:solidFill>
                <a:latin typeface="Trebuchet MS"/>
                <a:cs typeface="Trebuchet MS"/>
              </a:rPr>
              <a:t>0xAD,</a:t>
            </a:r>
            <a:r>
              <a:rPr sz="800" spc="165" dirty="0">
                <a:solidFill>
                  <a:srgbClr val="191933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191933"/>
                </a:solidFill>
                <a:latin typeface="Trebuchet MS"/>
                <a:cs typeface="Trebuchet MS"/>
              </a:rPr>
              <a:t>0xBE,</a:t>
            </a:r>
            <a:r>
              <a:rPr sz="800" spc="170" dirty="0">
                <a:solidFill>
                  <a:srgbClr val="191933"/>
                </a:solidFill>
                <a:latin typeface="Trebuchet MS"/>
                <a:cs typeface="Trebuchet MS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Trebuchet MS"/>
                <a:cs typeface="Trebuchet MS"/>
              </a:rPr>
              <a:t>0xEF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.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0" name="object 10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4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195587" y="3351784"/>
            <a:ext cx="28130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</a:rPr>
              <a:t>14</a:t>
            </a:r>
            <a:r>
              <a:rPr sz="6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00" spc="150" dirty="0">
                <a:solidFill>
                  <a:srgbClr val="FFFFFF"/>
                </a:solidFill>
                <a:latin typeface="Arial MT"/>
                <a:cs typeface="Arial MT"/>
              </a:rPr>
              <a:t>/</a:t>
            </a:r>
            <a:r>
              <a:rPr sz="6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Arial MT"/>
                <a:cs typeface="Arial MT"/>
              </a:rPr>
              <a:t>93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Example:</a:t>
            </a:r>
            <a:r>
              <a:rPr spc="150" dirty="0"/>
              <a:t> </a:t>
            </a:r>
            <a:r>
              <a:rPr dirty="0"/>
              <a:t>Byte</a:t>
            </a:r>
            <a:r>
              <a:rPr spc="25" dirty="0"/>
              <a:t> </a:t>
            </a:r>
            <a:r>
              <a:rPr spc="-55" dirty="0"/>
              <a:t>Sequence</a:t>
            </a:r>
            <a:r>
              <a:rPr spc="25" dirty="0"/>
              <a:t> </a:t>
            </a:r>
            <a:r>
              <a:rPr spc="-10" dirty="0"/>
              <a:t>Matching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933970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092136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408442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724761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1882914"/>
            <a:ext cx="65265" cy="6526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1089" y="2199233"/>
            <a:ext cx="65265" cy="6526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1089" y="2357386"/>
            <a:ext cx="65265" cy="65265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00444" y="451966"/>
            <a:ext cx="4362450" cy="200660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 marR="30480">
              <a:lnSpc>
                <a:spcPct val="92800"/>
              </a:lnSpc>
              <a:spcBef>
                <a:spcPts val="185"/>
              </a:spcBef>
            </a:pPr>
            <a:r>
              <a:rPr sz="1100" b="1" spc="-35" dirty="0">
                <a:solidFill>
                  <a:srgbClr val="191933"/>
                </a:solidFill>
                <a:latin typeface="Arial"/>
                <a:cs typeface="Arial"/>
              </a:rPr>
              <a:t>Example</a:t>
            </a:r>
            <a:r>
              <a:rPr sz="1100" b="1" spc="2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-45" dirty="0">
                <a:solidFill>
                  <a:srgbClr val="191933"/>
                </a:solidFill>
                <a:latin typeface="Arial"/>
                <a:cs typeface="Arial"/>
              </a:rPr>
              <a:t>Scenario:</a:t>
            </a:r>
            <a:r>
              <a:rPr sz="1100" b="1" spc="9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Let’s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consider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simple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example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where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i="1" spc="200" dirty="0">
                <a:solidFill>
                  <a:srgbClr val="191933"/>
                </a:solidFill>
                <a:latin typeface="Calibri"/>
                <a:cs typeface="Calibri"/>
              </a:rPr>
              <a:t>D</a:t>
            </a:r>
            <a:r>
              <a:rPr sz="800" i="1" spc="6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is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byte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stream,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and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each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signature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i="1" spc="100" dirty="0">
                <a:solidFill>
                  <a:srgbClr val="191933"/>
                </a:solidFill>
                <a:latin typeface="Calibri"/>
                <a:cs typeface="Calibri"/>
              </a:rPr>
              <a:t>s</a:t>
            </a:r>
            <a:r>
              <a:rPr sz="900" i="1" spc="150" baseline="-9259" dirty="0">
                <a:solidFill>
                  <a:srgbClr val="191933"/>
                </a:solidFill>
                <a:latin typeface="Calibri"/>
                <a:cs typeface="Calibri"/>
              </a:rPr>
              <a:t>i</a:t>
            </a:r>
            <a:r>
              <a:rPr sz="900" i="1" spc="247" baseline="-9259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is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45" dirty="0">
                <a:solidFill>
                  <a:srgbClr val="191933"/>
                </a:solidFill>
                <a:latin typeface="Arial MT"/>
                <a:cs typeface="Arial MT"/>
              </a:rPr>
              <a:t>sequence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bytes.</a:t>
            </a:r>
            <a:endParaRPr sz="800">
              <a:latin typeface="Arial MT"/>
              <a:cs typeface="Arial MT"/>
            </a:endParaRPr>
          </a:p>
          <a:p>
            <a:pPr marL="38100">
              <a:lnSpc>
                <a:spcPts val="944"/>
              </a:lnSpc>
            </a:pPr>
            <a:r>
              <a:rPr sz="800" b="1" spc="-25" dirty="0">
                <a:solidFill>
                  <a:srgbClr val="191933"/>
                </a:solidFill>
                <a:latin typeface="Arial"/>
                <a:cs typeface="Arial"/>
              </a:rPr>
              <a:t>Signature</a:t>
            </a: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191933"/>
                </a:solidFill>
                <a:latin typeface="Arial"/>
                <a:cs typeface="Arial"/>
              </a:rPr>
              <a:t>Database</a:t>
            </a: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191933"/>
                </a:solidFill>
                <a:latin typeface="Arial"/>
                <a:cs typeface="Arial"/>
              </a:rPr>
              <a:t>Example:</a:t>
            </a:r>
            <a:endParaRPr sz="800">
              <a:latin typeface="Arial"/>
              <a:cs typeface="Arial"/>
            </a:endParaRPr>
          </a:p>
          <a:p>
            <a:pPr marL="314960">
              <a:lnSpc>
                <a:spcPct val="100000"/>
              </a:lnSpc>
              <a:spcBef>
                <a:spcPts val="285"/>
              </a:spcBef>
            </a:pPr>
            <a:r>
              <a:rPr sz="800" i="1" spc="70" dirty="0">
                <a:solidFill>
                  <a:srgbClr val="191933"/>
                </a:solidFill>
                <a:latin typeface="Calibri"/>
                <a:cs typeface="Calibri"/>
              </a:rPr>
              <a:t>s</a:t>
            </a:r>
            <a:r>
              <a:rPr sz="900" spc="104" baseline="-9259" dirty="0">
                <a:solidFill>
                  <a:srgbClr val="191933"/>
                </a:solidFill>
                <a:latin typeface="Calibri"/>
                <a:cs typeface="Calibri"/>
              </a:rPr>
              <a:t>1</a:t>
            </a:r>
            <a:r>
              <a:rPr sz="900" spc="300" baseline="-9259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spc="254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800" spc="9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933"/>
                </a:solidFill>
                <a:latin typeface="Trebuchet MS"/>
                <a:cs typeface="Trebuchet MS"/>
              </a:rPr>
              <a:t>0x90,</a:t>
            </a:r>
            <a:r>
              <a:rPr sz="800" spc="254" dirty="0">
                <a:solidFill>
                  <a:srgbClr val="191933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191933"/>
                </a:solidFill>
                <a:latin typeface="Trebuchet MS"/>
                <a:cs typeface="Trebuchet MS"/>
              </a:rPr>
              <a:t>0x90,</a:t>
            </a:r>
            <a:r>
              <a:rPr sz="800" spc="254" dirty="0">
                <a:solidFill>
                  <a:srgbClr val="191933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191933"/>
                </a:solidFill>
                <a:latin typeface="Trebuchet MS"/>
                <a:cs typeface="Trebuchet MS"/>
              </a:rPr>
              <a:t>0x90</a:t>
            </a:r>
            <a:r>
              <a:rPr sz="800" spc="95" dirty="0">
                <a:solidFill>
                  <a:srgbClr val="191933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(NOP</a:t>
            </a:r>
            <a:r>
              <a:rPr sz="800" spc="1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sled)</a:t>
            </a:r>
            <a:endParaRPr sz="800">
              <a:latin typeface="Arial MT"/>
              <a:cs typeface="Arial MT"/>
            </a:endParaRPr>
          </a:p>
          <a:p>
            <a:pPr marL="314960">
              <a:lnSpc>
                <a:spcPct val="100000"/>
              </a:lnSpc>
              <a:spcBef>
                <a:spcPts val="285"/>
              </a:spcBef>
            </a:pPr>
            <a:r>
              <a:rPr sz="800" i="1" spc="70" dirty="0">
                <a:solidFill>
                  <a:srgbClr val="191933"/>
                </a:solidFill>
                <a:latin typeface="Calibri"/>
                <a:cs typeface="Calibri"/>
              </a:rPr>
              <a:t>s</a:t>
            </a:r>
            <a:r>
              <a:rPr sz="900" spc="104" baseline="-9259" dirty="0">
                <a:solidFill>
                  <a:srgbClr val="191933"/>
                </a:solidFill>
                <a:latin typeface="Calibri"/>
                <a:cs typeface="Calibri"/>
              </a:rPr>
              <a:t>2</a:t>
            </a:r>
            <a:r>
              <a:rPr sz="900" spc="247" baseline="-9259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spc="254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800" spc="6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933"/>
                </a:solidFill>
                <a:latin typeface="Trebuchet MS"/>
                <a:cs typeface="Trebuchet MS"/>
              </a:rPr>
              <a:t>0xDE,</a:t>
            </a:r>
            <a:r>
              <a:rPr sz="800" spc="210" dirty="0">
                <a:solidFill>
                  <a:srgbClr val="191933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191933"/>
                </a:solidFill>
                <a:latin typeface="Trebuchet MS"/>
                <a:cs typeface="Trebuchet MS"/>
              </a:rPr>
              <a:t>0xAD,</a:t>
            </a:r>
            <a:r>
              <a:rPr sz="800" spc="204" dirty="0">
                <a:solidFill>
                  <a:srgbClr val="191933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191933"/>
                </a:solidFill>
                <a:latin typeface="Trebuchet MS"/>
                <a:cs typeface="Trebuchet MS"/>
              </a:rPr>
              <a:t>0xBE,</a:t>
            </a:r>
            <a:r>
              <a:rPr sz="800" spc="210" dirty="0">
                <a:solidFill>
                  <a:srgbClr val="191933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191933"/>
                </a:solidFill>
                <a:latin typeface="Trebuchet MS"/>
                <a:cs typeface="Trebuchet MS"/>
              </a:rPr>
              <a:t>0xEF</a:t>
            </a:r>
            <a:r>
              <a:rPr sz="800" spc="60" dirty="0">
                <a:solidFill>
                  <a:srgbClr val="191933"/>
                </a:solidFill>
                <a:latin typeface="Trebuchet MS"/>
                <a:cs typeface="Trebuchet MS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(Example</a:t>
            </a:r>
            <a:r>
              <a:rPr sz="800" spc="8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signature)</a:t>
            </a:r>
            <a:endParaRPr sz="80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285"/>
              </a:spcBef>
            </a:pP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Data</a:t>
            </a:r>
            <a:r>
              <a:rPr sz="800" b="1" spc="10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to</a:t>
            </a:r>
            <a:r>
              <a:rPr sz="800" b="1" spc="9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191933"/>
                </a:solidFill>
                <a:latin typeface="Arial"/>
                <a:cs typeface="Arial"/>
              </a:rPr>
              <a:t>Scan:</a:t>
            </a:r>
            <a:endParaRPr sz="800">
              <a:latin typeface="Arial"/>
              <a:cs typeface="Arial"/>
            </a:endParaRPr>
          </a:p>
          <a:p>
            <a:pPr marL="314960">
              <a:lnSpc>
                <a:spcPct val="100000"/>
              </a:lnSpc>
              <a:spcBef>
                <a:spcPts val="285"/>
              </a:spcBef>
            </a:pPr>
            <a:r>
              <a:rPr sz="800" i="1" spc="200" dirty="0">
                <a:solidFill>
                  <a:srgbClr val="191933"/>
                </a:solidFill>
                <a:latin typeface="Calibri"/>
                <a:cs typeface="Calibri"/>
              </a:rPr>
              <a:t>D</a:t>
            </a:r>
            <a:r>
              <a:rPr sz="800" i="1" spc="13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spc="254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800" spc="11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933"/>
                </a:solidFill>
                <a:latin typeface="Trebuchet MS"/>
                <a:cs typeface="Trebuchet MS"/>
              </a:rPr>
              <a:t>0x00,</a:t>
            </a:r>
            <a:r>
              <a:rPr sz="800" spc="280" dirty="0">
                <a:solidFill>
                  <a:srgbClr val="191933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191933"/>
                </a:solidFill>
                <a:latin typeface="Trebuchet MS"/>
                <a:cs typeface="Trebuchet MS"/>
              </a:rPr>
              <a:t>0x00,</a:t>
            </a:r>
            <a:r>
              <a:rPr sz="800" spc="280" dirty="0">
                <a:solidFill>
                  <a:srgbClr val="191933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191933"/>
                </a:solidFill>
                <a:latin typeface="Trebuchet MS"/>
                <a:cs typeface="Trebuchet MS"/>
              </a:rPr>
              <a:t>0x90,</a:t>
            </a:r>
            <a:r>
              <a:rPr sz="800" spc="285" dirty="0">
                <a:solidFill>
                  <a:srgbClr val="191933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191933"/>
                </a:solidFill>
                <a:latin typeface="Trebuchet MS"/>
                <a:cs typeface="Trebuchet MS"/>
              </a:rPr>
              <a:t>0x90,</a:t>
            </a:r>
            <a:r>
              <a:rPr sz="800" spc="280" dirty="0">
                <a:solidFill>
                  <a:srgbClr val="191933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191933"/>
                </a:solidFill>
                <a:latin typeface="Trebuchet MS"/>
                <a:cs typeface="Trebuchet MS"/>
              </a:rPr>
              <a:t>0x90,</a:t>
            </a:r>
            <a:r>
              <a:rPr sz="800" spc="280" dirty="0">
                <a:solidFill>
                  <a:srgbClr val="191933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191933"/>
                </a:solidFill>
                <a:latin typeface="Trebuchet MS"/>
                <a:cs typeface="Trebuchet MS"/>
              </a:rPr>
              <a:t>0xAB,</a:t>
            </a:r>
            <a:r>
              <a:rPr sz="800" spc="280" dirty="0">
                <a:solidFill>
                  <a:srgbClr val="191933"/>
                </a:solidFill>
                <a:latin typeface="Trebuchet MS"/>
                <a:cs typeface="Trebuchet MS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Trebuchet MS"/>
                <a:cs typeface="Trebuchet MS"/>
              </a:rPr>
              <a:t>0xCD</a:t>
            </a:r>
            <a:endParaRPr sz="800">
              <a:latin typeface="Trebuchet MS"/>
              <a:cs typeface="Trebuchet MS"/>
            </a:endParaRPr>
          </a:p>
          <a:p>
            <a:pPr marL="38100">
              <a:lnSpc>
                <a:spcPct val="100000"/>
              </a:lnSpc>
              <a:spcBef>
                <a:spcPts val="285"/>
              </a:spcBef>
            </a:pP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Matching</a:t>
            </a:r>
            <a:r>
              <a:rPr sz="800" b="1" spc="-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191933"/>
                </a:solidFill>
                <a:latin typeface="Arial"/>
                <a:cs typeface="Arial"/>
              </a:rPr>
              <a:t>Process:</a:t>
            </a:r>
            <a:endParaRPr sz="800">
              <a:latin typeface="Arial"/>
              <a:cs typeface="Arial"/>
            </a:endParaRPr>
          </a:p>
          <a:p>
            <a:pPr marL="314960">
              <a:lnSpc>
                <a:spcPct val="100000"/>
              </a:lnSpc>
              <a:spcBef>
                <a:spcPts val="285"/>
              </a:spcBef>
            </a:pPr>
            <a:r>
              <a:rPr sz="800" b="1" spc="-10" dirty="0">
                <a:solidFill>
                  <a:srgbClr val="191933"/>
                </a:solidFill>
                <a:latin typeface="Arial"/>
                <a:cs typeface="Arial"/>
              </a:rPr>
              <a:t>For</a:t>
            </a:r>
            <a:r>
              <a:rPr sz="800" b="1" spc="7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i="1" spc="55" dirty="0">
                <a:solidFill>
                  <a:srgbClr val="191933"/>
                </a:solidFill>
                <a:latin typeface="Calibri"/>
                <a:cs typeface="Calibri"/>
              </a:rPr>
              <a:t>s</a:t>
            </a:r>
            <a:r>
              <a:rPr sz="900" spc="82" baseline="-9259" dirty="0">
                <a:solidFill>
                  <a:srgbClr val="191933"/>
                </a:solidFill>
                <a:latin typeface="Calibri"/>
                <a:cs typeface="Calibri"/>
              </a:rPr>
              <a:t>1</a:t>
            </a:r>
            <a:r>
              <a:rPr sz="800" b="1" spc="55" dirty="0">
                <a:solidFill>
                  <a:srgbClr val="191933"/>
                </a:solidFill>
                <a:latin typeface="Arial"/>
                <a:cs typeface="Arial"/>
              </a:rPr>
              <a:t>:</a:t>
            </a:r>
            <a:r>
              <a:rPr sz="800" b="1" spc="16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Scan</a:t>
            </a:r>
            <a:r>
              <a:rPr sz="8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i="1" spc="200" dirty="0">
                <a:solidFill>
                  <a:srgbClr val="191933"/>
                </a:solidFill>
                <a:latin typeface="Calibri"/>
                <a:cs typeface="Calibri"/>
              </a:rPr>
              <a:t>D</a:t>
            </a:r>
            <a:r>
              <a:rPr sz="800" i="1" spc="12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for</a:t>
            </a:r>
            <a:r>
              <a:rPr sz="800" spc="6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800" spc="6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byte</a:t>
            </a:r>
            <a:r>
              <a:rPr sz="800" spc="6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45" dirty="0">
                <a:solidFill>
                  <a:srgbClr val="191933"/>
                </a:solidFill>
                <a:latin typeface="Arial MT"/>
                <a:cs typeface="Arial MT"/>
              </a:rPr>
              <a:t>sequence</a:t>
            </a:r>
            <a:r>
              <a:rPr sz="800" spc="6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Trebuchet MS"/>
                <a:cs typeface="Trebuchet MS"/>
              </a:rPr>
              <a:t>0x90,</a:t>
            </a:r>
            <a:r>
              <a:rPr sz="800" spc="180" dirty="0">
                <a:solidFill>
                  <a:srgbClr val="191933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191933"/>
                </a:solidFill>
                <a:latin typeface="Trebuchet MS"/>
                <a:cs typeface="Trebuchet MS"/>
              </a:rPr>
              <a:t>0x90,</a:t>
            </a:r>
            <a:r>
              <a:rPr sz="800" spc="180" dirty="0">
                <a:solidFill>
                  <a:srgbClr val="191933"/>
                </a:solidFill>
                <a:latin typeface="Trebuchet MS"/>
                <a:cs typeface="Trebuchet MS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Trebuchet MS"/>
                <a:cs typeface="Trebuchet MS"/>
              </a:rPr>
              <a:t>0x90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.</a:t>
            </a:r>
            <a:endParaRPr sz="800">
              <a:latin typeface="Arial MT"/>
              <a:cs typeface="Arial MT"/>
            </a:endParaRPr>
          </a:p>
          <a:p>
            <a:pPr marL="314960">
              <a:lnSpc>
                <a:spcPct val="100000"/>
              </a:lnSpc>
              <a:spcBef>
                <a:spcPts val="285"/>
              </a:spcBef>
            </a:pPr>
            <a:r>
              <a:rPr sz="800" b="1" spc="-10" dirty="0">
                <a:solidFill>
                  <a:srgbClr val="191933"/>
                </a:solidFill>
                <a:latin typeface="Arial"/>
                <a:cs typeface="Arial"/>
              </a:rPr>
              <a:t>For</a:t>
            </a:r>
            <a:r>
              <a:rPr sz="800" b="1" spc="6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i="1" spc="55" dirty="0">
                <a:solidFill>
                  <a:srgbClr val="191933"/>
                </a:solidFill>
                <a:latin typeface="Calibri"/>
                <a:cs typeface="Calibri"/>
              </a:rPr>
              <a:t>s</a:t>
            </a:r>
            <a:r>
              <a:rPr sz="900" spc="82" baseline="-9259" dirty="0">
                <a:solidFill>
                  <a:srgbClr val="191933"/>
                </a:solidFill>
                <a:latin typeface="Calibri"/>
                <a:cs typeface="Calibri"/>
              </a:rPr>
              <a:t>2</a:t>
            </a:r>
            <a:r>
              <a:rPr sz="800" b="1" spc="55" dirty="0">
                <a:solidFill>
                  <a:srgbClr val="191933"/>
                </a:solidFill>
                <a:latin typeface="Arial"/>
                <a:cs typeface="Arial"/>
              </a:rPr>
              <a:t>:</a:t>
            </a:r>
            <a:r>
              <a:rPr sz="800" b="1" spc="15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Scan</a:t>
            </a:r>
            <a:r>
              <a:rPr sz="800" spc="5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i="1" spc="200" dirty="0">
                <a:solidFill>
                  <a:srgbClr val="191933"/>
                </a:solidFill>
                <a:latin typeface="Calibri"/>
                <a:cs typeface="Calibri"/>
              </a:rPr>
              <a:t>D</a:t>
            </a:r>
            <a:r>
              <a:rPr sz="800" i="1" spc="11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for</a:t>
            </a:r>
            <a:r>
              <a:rPr sz="8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8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byte</a:t>
            </a:r>
            <a:r>
              <a:rPr sz="8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45" dirty="0">
                <a:solidFill>
                  <a:srgbClr val="191933"/>
                </a:solidFill>
                <a:latin typeface="Arial MT"/>
                <a:cs typeface="Arial MT"/>
              </a:rPr>
              <a:t>sequence</a:t>
            </a:r>
            <a:r>
              <a:rPr sz="8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Trebuchet MS"/>
                <a:cs typeface="Trebuchet MS"/>
              </a:rPr>
              <a:t>0xDE,</a:t>
            </a:r>
            <a:r>
              <a:rPr sz="800" spc="170" dirty="0">
                <a:solidFill>
                  <a:srgbClr val="191933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191933"/>
                </a:solidFill>
                <a:latin typeface="Trebuchet MS"/>
                <a:cs typeface="Trebuchet MS"/>
              </a:rPr>
              <a:t>0xAD,</a:t>
            </a:r>
            <a:r>
              <a:rPr sz="800" spc="165" dirty="0">
                <a:solidFill>
                  <a:srgbClr val="191933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191933"/>
                </a:solidFill>
                <a:latin typeface="Trebuchet MS"/>
                <a:cs typeface="Trebuchet MS"/>
              </a:rPr>
              <a:t>0xBE,</a:t>
            </a:r>
            <a:r>
              <a:rPr sz="800" spc="170" dirty="0">
                <a:solidFill>
                  <a:srgbClr val="191933"/>
                </a:solidFill>
                <a:latin typeface="Trebuchet MS"/>
                <a:cs typeface="Trebuchet MS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Trebuchet MS"/>
                <a:cs typeface="Trebuchet MS"/>
              </a:rPr>
              <a:t>0xEF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.</a:t>
            </a:r>
            <a:endParaRPr sz="80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285"/>
              </a:spcBef>
            </a:pPr>
            <a:r>
              <a:rPr sz="800" b="1" spc="-10" dirty="0">
                <a:solidFill>
                  <a:srgbClr val="191933"/>
                </a:solidFill>
                <a:latin typeface="Arial"/>
                <a:cs typeface="Arial"/>
              </a:rPr>
              <a:t>Result:</a:t>
            </a:r>
            <a:endParaRPr sz="800">
              <a:latin typeface="Arial"/>
              <a:cs typeface="Arial"/>
            </a:endParaRPr>
          </a:p>
          <a:p>
            <a:pPr marL="314960">
              <a:lnSpc>
                <a:spcPct val="100000"/>
              </a:lnSpc>
              <a:spcBef>
                <a:spcPts val="285"/>
              </a:spcBef>
            </a:pPr>
            <a:r>
              <a:rPr sz="800" i="1" spc="70" dirty="0">
                <a:solidFill>
                  <a:srgbClr val="191933"/>
                </a:solidFill>
                <a:latin typeface="Calibri"/>
                <a:cs typeface="Calibri"/>
              </a:rPr>
              <a:t>s</a:t>
            </a:r>
            <a:r>
              <a:rPr sz="900" spc="104" baseline="-9259" dirty="0">
                <a:solidFill>
                  <a:srgbClr val="191933"/>
                </a:solidFill>
                <a:latin typeface="Calibri"/>
                <a:cs typeface="Calibri"/>
              </a:rPr>
              <a:t>1</a:t>
            </a:r>
            <a:r>
              <a:rPr sz="900" spc="240" baseline="-9259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is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found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at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position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2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in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i="1" spc="114" dirty="0">
                <a:solidFill>
                  <a:srgbClr val="191933"/>
                </a:solidFill>
                <a:latin typeface="Calibri"/>
                <a:cs typeface="Calibri"/>
              </a:rPr>
              <a:t>D</a:t>
            </a:r>
            <a:r>
              <a:rPr sz="800" spc="114" dirty="0">
                <a:solidFill>
                  <a:srgbClr val="191933"/>
                </a:solidFill>
                <a:latin typeface="Arial MT"/>
                <a:cs typeface="Arial MT"/>
              </a:rPr>
              <a:t>,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so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match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is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detected,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and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appropriate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action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is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taken.</a:t>
            </a:r>
            <a:endParaRPr sz="800">
              <a:latin typeface="Arial MT"/>
              <a:cs typeface="Arial MT"/>
            </a:endParaRPr>
          </a:p>
          <a:p>
            <a:pPr marL="314960">
              <a:lnSpc>
                <a:spcPct val="100000"/>
              </a:lnSpc>
              <a:spcBef>
                <a:spcPts val="290"/>
              </a:spcBef>
            </a:pPr>
            <a:r>
              <a:rPr sz="800" i="1" spc="70" dirty="0">
                <a:solidFill>
                  <a:srgbClr val="191933"/>
                </a:solidFill>
                <a:latin typeface="Calibri"/>
                <a:cs typeface="Calibri"/>
              </a:rPr>
              <a:t>s</a:t>
            </a:r>
            <a:r>
              <a:rPr sz="900" spc="104" baseline="-9259" dirty="0">
                <a:solidFill>
                  <a:srgbClr val="191933"/>
                </a:solidFill>
                <a:latin typeface="Calibri"/>
                <a:cs typeface="Calibri"/>
              </a:rPr>
              <a:t>2</a:t>
            </a:r>
            <a:r>
              <a:rPr sz="900" spc="240" baseline="-9259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is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not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found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in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i="1" spc="114" dirty="0">
                <a:solidFill>
                  <a:srgbClr val="191933"/>
                </a:solidFill>
                <a:latin typeface="Calibri"/>
                <a:cs typeface="Calibri"/>
              </a:rPr>
              <a:t>D</a:t>
            </a:r>
            <a:r>
              <a:rPr sz="800" spc="114" dirty="0">
                <a:solidFill>
                  <a:srgbClr val="191933"/>
                </a:solidFill>
                <a:latin typeface="Arial MT"/>
                <a:cs typeface="Arial MT"/>
              </a:rPr>
              <a:t>,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so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no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action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is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taken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for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i="1" spc="40" dirty="0">
                <a:solidFill>
                  <a:srgbClr val="191933"/>
                </a:solidFill>
                <a:latin typeface="Calibri"/>
                <a:cs typeface="Calibri"/>
              </a:rPr>
              <a:t>s</a:t>
            </a:r>
            <a:r>
              <a:rPr sz="900" spc="60" baseline="-9259" dirty="0">
                <a:solidFill>
                  <a:srgbClr val="191933"/>
                </a:solidFill>
                <a:latin typeface="Calibri"/>
                <a:cs typeface="Calibri"/>
              </a:rPr>
              <a:t>2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.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2" name="object 12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4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195587" y="3351784"/>
            <a:ext cx="28130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</a:rPr>
              <a:t>14</a:t>
            </a:r>
            <a:r>
              <a:rPr sz="6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00" spc="150" dirty="0">
                <a:solidFill>
                  <a:srgbClr val="FFFFFF"/>
                </a:solidFill>
                <a:latin typeface="Arial MT"/>
                <a:cs typeface="Arial MT"/>
              </a:rPr>
              <a:t>/</a:t>
            </a:r>
            <a:r>
              <a:rPr sz="6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Arial MT"/>
                <a:cs typeface="Arial MT"/>
              </a:rPr>
              <a:t>93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Example:</a:t>
            </a:r>
            <a:r>
              <a:rPr spc="150" dirty="0"/>
              <a:t> </a:t>
            </a:r>
            <a:r>
              <a:rPr dirty="0"/>
              <a:t>Byte</a:t>
            </a:r>
            <a:r>
              <a:rPr spc="25" dirty="0"/>
              <a:t> </a:t>
            </a:r>
            <a:r>
              <a:rPr spc="-55" dirty="0"/>
              <a:t>Sequence</a:t>
            </a:r>
            <a:r>
              <a:rPr spc="25" dirty="0"/>
              <a:t> </a:t>
            </a:r>
            <a:r>
              <a:rPr spc="-10" dirty="0"/>
              <a:t>Matching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933970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092136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408442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724761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1882914"/>
            <a:ext cx="65265" cy="6526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1089" y="2199233"/>
            <a:ext cx="65265" cy="6526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1089" y="2357386"/>
            <a:ext cx="65265" cy="65265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00444" y="451966"/>
            <a:ext cx="4362450" cy="264541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 marR="30480">
              <a:lnSpc>
                <a:spcPct val="92800"/>
              </a:lnSpc>
              <a:spcBef>
                <a:spcPts val="185"/>
              </a:spcBef>
            </a:pPr>
            <a:r>
              <a:rPr sz="1100" b="1" spc="-35" dirty="0">
                <a:solidFill>
                  <a:srgbClr val="191933"/>
                </a:solidFill>
                <a:latin typeface="Arial"/>
                <a:cs typeface="Arial"/>
              </a:rPr>
              <a:t>Example</a:t>
            </a:r>
            <a:r>
              <a:rPr sz="1100" b="1" spc="2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-45" dirty="0">
                <a:solidFill>
                  <a:srgbClr val="191933"/>
                </a:solidFill>
                <a:latin typeface="Arial"/>
                <a:cs typeface="Arial"/>
              </a:rPr>
              <a:t>Scenario:</a:t>
            </a:r>
            <a:r>
              <a:rPr sz="1100" b="1" spc="9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Let’s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consider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simple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example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where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i="1" spc="200" dirty="0">
                <a:solidFill>
                  <a:srgbClr val="191933"/>
                </a:solidFill>
                <a:latin typeface="Calibri"/>
                <a:cs typeface="Calibri"/>
              </a:rPr>
              <a:t>D</a:t>
            </a:r>
            <a:r>
              <a:rPr sz="800" i="1" spc="6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is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byte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stream,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and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each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signature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i="1" spc="100" dirty="0">
                <a:solidFill>
                  <a:srgbClr val="191933"/>
                </a:solidFill>
                <a:latin typeface="Calibri"/>
                <a:cs typeface="Calibri"/>
              </a:rPr>
              <a:t>s</a:t>
            </a:r>
            <a:r>
              <a:rPr sz="900" i="1" spc="150" baseline="-9259" dirty="0">
                <a:solidFill>
                  <a:srgbClr val="191933"/>
                </a:solidFill>
                <a:latin typeface="Calibri"/>
                <a:cs typeface="Calibri"/>
              </a:rPr>
              <a:t>i</a:t>
            </a:r>
            <a:r>
              <a:rPr sz="900" i="1" spc="247" baseline="-9259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is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45" dirty="0">
                <a:solidFill>
                  <a:srgbClr val="191933"/>
                </a:solidFill>
                <a:latin typeface="Arial MT"/>
                <a:cs typeface="Arial MT"/>
              </a:rPr>
              <a:t>sequence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bytes.</a:t>
            </a:r>
            <a:endParaRPr sz="800">
              <a:latin typeface="Arial MT"/>
              <a:cs typeface="Arial MT"/>
            </a:endParaRPr>
          </a:p>
          <a:p>
            <a:pPr marL="38100">
              <a:lnSpc>
                <a:spcPts val="944"/>
              </a:lnSpc>
            </a:pPr>
            <a:r>
              <a:rPr sz="800" b="1" spc="-25" dirty="0">
                <a:solidFill>
                  <a:srgbClr val="191933"/>
                </a:solidFill>
                <a:latin typeface="Arial"/>
                <a:cs typeface="Arial"/>
              </a:rPr>
              <a:t>Signature</a:t>
            </a: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191933"/>
                </a:solidFill>
                <a:latin typeface="Arial"/>
                <a:cs typeface="Arial"/>
              </a:rPr>
              <a:t>Database</a:t>
            </a: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191933"/>
                </a:solidFill>
                <a:latin typeface="Arial"/>
                <a:cs typeface="Arial"/>
              </a:rPr>
              <a:t>Example:</a:t>
            </a:r>
            <a:endParaRPr sz="800">
              <a:latin typeface="Arial"/>
              <a:cs typeface="Arial"/>
            </a:endParaRPr>
          </a:p>
          <a:p>
            <a:pPr marL="314960">
              <a:lnSpc>
                <a:spcPct val="100000"/>
              </a:lnSpc>
              <a:spcBef>
                <a:spcPts val="285"/>
              </a:spcBef>
            </a:pPr>
            <a:r>
              <a:rPr sz="800" i="1" spc="70" dirty="0">
                <a:solidFill>
                  <a:srgbClr val="191933"/>
                </a:solidFill>
                <a:latin typeface="Calibri"/>
                <a:cs typeface="Calibri"/>
              </a:rPr>
              <a:t>s</a:t>
            </a:r>
            <a:r>
              <a:rPr sz="900" spc="104" baseline="-9259" dirty="0">
                <a:solidFill>
                  <a:srgbClr val="191933"/>
                </a:solidFill>
                <a:latin typeface="Calibri"/>
                <a:cs typeface="Calibri"/>
              </a:rPr>
              <a:t>1</a:t>
            </a:r>
            <a:r>
              <a:rPr sz="900" spc="300" baseline="-9259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spc="254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800" spc="9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933"/>
                </a:solidFill>
                <a:latin typeface="Trebuchet MS"/>
                <a:cs typeface="Trebuchet MS"/>
              </a:rPr>
              <a:t>0x90,</a:t>
            </a:r>
            <a:r>
              <a:rPr sz="800" spc="254" dirty="0">
                <a:solidFill>
                  <a:srgbClr val="191933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191933"/>
                </a:solidFill>
                <a:latin typeface="Trebuchet MS"/>
                <a:cs typeface="Trebuchet MS"/>
              </a:rPr>
              <a:t>0x90,</a:t>
            </a:r>
            <a:r>
              <a:rPr sz="800" spc="254" dirty="0">
                <a:solidFill>
                  <a:srgbClr val="191933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191933"/>
                </a:solidFill>
                <a:latin typeface="Trebuchet MS"/>
                <a:cs typeface="Trebuchet MS"/>
              </a:rPr>
              <a:t>0x90</a:t>
            </a:r>
            <a:r>
              <a:rPr sz="800" spc="95" dirty="0">
                <a:solidFill>
                  <a:srgbClr val="191933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(NOP</a:t>
            </a:r>
            <a:r>
              <a:rPr sz="800" spc="1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sled)</a:t>
            </a:r>
            <a:endParaRPr sz="800">
              <a:latin typeface="Arial MT"/>
              <a:cs typeface="Arial MT"/>
            </a:endParaRPr>
          </a:p>
          <a:p>
            <a:pPr marL="314960">
              <a:lnSpc>
                <a:spcPct val="100000"/>
              </a:lnSpc>
              <a:spcBef>
                <a:spcPts val="285"/>
              </a:spcBef>
            </a:pPr>
            <a:r>
              <a:rPr sz="800" i="1" spc="70" dirty="0">
                <a:solidFill>
                  <a:srgbClr val="191933"/>
                </a:solidFill>
                <a:latin typeface="Calibri"/>
                <a:cs typeface="Calibri"/>
              </a:rPr>
              <a:t>s</a:t>
            </a:r>
            <a:r>
              <a:rPr sz="900" spc="104" baseline="-9259" dirty="0">
                <a:solidFill>
                  <a:srgbClr val="191933"/>
                </a:solidFill>
                <a:latin typeface="Calibri"/>
                <a:cs typeface="Calibri"/>
              </a:rPr>
              <a:t>2</a:t>
            </a:r>
            <a:r>
              <a:rPr sz="900" spc="247" baseline="-9259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spc="254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800" spc="6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933"/>
                </a:solidFill>
                <a:latin typeface="Trebuchet MS"/>
                <a:cs typeface="Trebuchet MS"/>
              </a:rPr>
              <a:t>0xDE,</a:t>
            </a:r>
            <a:r>
              <a:rPr sz="800" spc="210" dirty="0">
                <a:solidFill>
                  <a:srgbClr val="191933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191933"/>
                </a:solidFill>
                <a:latin typeface="Trebuchet MS"/>
                <a:cs typeface="Trebuchet MS"/>
              </a:rPr>
              <a:t>0xAD,</a:t>
            </a:r>
            <a:r>
              <a:rPr sz="800" spc="204" dirty="0">
                <a:solidFill>
                  <a:srgbClr val="191933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191933"/>
                </a:solidFill>
                <a:latin typeface="Trebuchet MS"/>
                <a:cs typeface="Trebuchet MS"/>
              </a:rPr>
              <a:t>0xBE,</a:t>
            </a:r>
            <a:r>
              <a:rPr sz="800" spc="210" dirty="0">
                <a:solidFill>
                  <a:srgbClr val="191933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191933"/>
                </a:solidFill>
                <a:latin typeface="Trebuchet MS"/>
                <a:cs typeface="Trebuchet MS"/>
              </a:rPr>
              <a:t>0xEF</a:t>
            </a:r>
            <a:r>
              <a:rPr sz="800" spc="60" dirty="0">
                <a:solidFill>
                  <a:srgbClr val="191933"/>
                </a:solidFill>
                <a:latin typeface="Trebuchet MS"/>
                <a:cs typeface="Trebuchet MS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(Example</a:t>
            </a:r>
            <a:r>
              <a:rPr sz="800" spc="8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signature)</a:t>
            </a:r>
            <a:endParaRPr sz="80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285"/>
              </a:spcBef>
            </a:pP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Data</a:t>
            </a:r>
            <a:r>
              <a:rPr sz="800" b="1" spc="10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to</a:t>
            </a:r>
            <a:r>
              <a:rPr sz="800" b="1" spc="9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191933"/>
                </a:solidFill>
                <a:latin typeface="Arial"/>
                <a:cs typeface="Arial"/>
              </a:rPr>
              <a:t>Scan:</a:t>
            </a:r>
            <a:endParaRPr sz="800">
              <a:latin typeface="Arial"/>
              <a:cs typeface="Arial"/>
            </a:endParaRPr>
          </a:p>
          <a:p>
            <a:pPr marL="314960">
              <a:lnSpc>
                <a:spcPct val="100000"/>
              </a:lnSpc>
              <a:spcBef>
                <a:spcPts val="285"/>
              </a:spcBef>
            </a:pPr>
            <a:r>
              <a:rPr sz="800" i="1" spc="200" dirty="0">
                <a:solidFill>
                  <a:srgbClr val="191933"/>
                </a:solidFill>
                <a:latin typeface="Calibri"/>
                <a:cs typeface="Calibri"/>
              </a:rPr>
              <a:t>D</a:t>
            </a:r>
            <a:r>
              <a:rPr sz="800" i="1" spc="13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spc="254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800" spc="11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933"/>
                </a:solidFill>
                <a:latin typeface="Trebuchet MS"/>
                <a:cs typeface="Trebuchet MS"/>
              </a:rPr>
              <a:t>0x00,</a:t>
            </a:r>
            <a:r>
              <a:rPr sz="800" spc="280" dirty="0">
                <a:solidFill>
                  <a:srgbClr val="191933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191933"/>
                </a:solidFill>
                <a:latin typeface="Trebuchet MS"/>
                <a:cs typeface="Trebuchet MS"/>
              </a:rPr>
              <a:t>0x00,</a:t>
            </a:r>
            <a:r>
              <a:rPr sz="800" spc="280" dirty="0">
                <a:solidFill>
                  <a:srgbClr val="191933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191933"/>
                </a:solidFill>
                <a:latin typeface="Trebuchet MS"/>
                <a:cs typeface="Trebuchet MS"/>
              </a:rPr>
              <a:t>0x90,</a:t>
            </a:r>
            <a:r>
              <a:rPr sz="800" spc="285" dirty="0">
                <a:solidFill>
                  <a:srgbClr val="191933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191933"/>
                </a:solidFill>
                <a:latin typeface="Trebuchet MS"/>
                <a:cs typeface="Trebuchet MS"/>
              </a:rPr>
              <a:t>0x90,</a:t>
            </a:r>
            <a:r>
              <a:rPr sz="800" spc="280" dirty="0">
                <a:solidFill>
                  <a:srgbClr val="191933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191933"/>
                </a:solidFill>
                <a:latin typeface="Trebuchet MS"/>
                <a:cs typeface="Trebuchet MS"/>
              </a:rPr>
              <a:t>0x90,</a:t>
            </a:r>
            <a:r>
              <a:rPr sz="800" spc="280" dirty="0">
                <a:solidFill>
                  <a:srgbClr val="191933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191933"/>
                </a:solidFill>
                <a:latin typeface="Trebuchet MS"/>
                <a:cs typeface="Trebuchet MS"/>
              </a:rPr>
              <a:t>0xAB,</a:t>
            </a:r>
            <a:r>
              <a:rPr sz="800" spc="280" dirty="0">
                <a:solidFill>
                  <a:srgbClr val="191933"/>
                </a:solidFill>
                <a:latin typeface="Trebuchet MS"/>
                <a:cs typeface="Trebuchet MS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Trebuchet MS"/>
                <a:cs typeface="Trebuchet MS"/>
              </a:rPr>
              <a:t>0xCD</a:t>
            </a:r>
            <a:endParaRPr sz="800">
              <a:latin typeface="Trebuchet MS"/>
              <a:cs typeface="Trebuchet MS"/>
            </a:endParaRPr>
          </a:p>
          <a:p>
            <a:pPr marL="38100">
              <a:lnSpc>
                <a:spcPct val="100000"/>
              </a:lnSpc>
              <a:spcBef>
                <a:spcPts val="285"/>
              </a:spcBef>
            </a:pP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Matching</a:t>
            </a:r>
            <a:r>
              <a:rPr sz="800" b="1" spc="-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191933"/>
                </a:solidFill>
                <a:latin typeface="Arial"/>
                <a:cs typeface="Arial"/>
              </a:rPr>
              <a:t>Process:</a:t>
            </a:r>
            <a:endParaRPr sz="800">
              <a:latin typeface="Arial"/>
              <a:cs typeface="Arial"/>
            </a:endParaRPr>
          </a:p>
          <a:p>
            <a:pPr marL="314960">
              <a:lnSpc>
                <a:spcPct val="100000"/>
              </a:lnSpc>
              <a:spcBef>
                <a:spcPts val="285"/>
              </a:spcBef>
            </a:pPr>
            <a:r>
              <a:rPr sz="800" b="1" spc="-10" dirty="0">
                <a:solidFill>
                  <a:srgbClr val="191933"/>
                </a:solidFill>
                <a:latin typeface="Arial"/>
                <a:cs typeface="Arial"/>
              </a:rPr>
              <a:t>For</a:t>
            </a:r>
            <a:r>
              <a:rPr sz="800" b="1" spc="7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i="1" spc="55" dirty="0">
                <a:solidFill>
                  <a:srgbClr val="191933"/>
                </a:solidFill>
                <a:latin typeface="Calibri"/>
                <a:cs typeface="Calibri"/>
              </a:rPr>
              <a:t>s</a:t>
            </a:r>
            <a:r>
              <a:rPr sz="900" spc="82" baseline="-9259" dirty="0">
                <a:solidFill>
                  <a:srgbClr val="191933"/>
                </a:solidFill>
                <a:latin typeface="Calibri"/>
                <a:cs typeface="Calibri"/>
              </a:rPr>
              <a:t>1</a:t>
            </a:r>
            <a:r>
              <a:rPr sz="800" b="1" spc="55" dirty="0">
                <a:solidFill>
                  <a:srgbClr val="191933"/>
                </a:solidFill>
                <a:latin typeface="Arial"/>
                <a:cs typeface="Arial"/>
              </a:rPr>
              <a:t>:</a:t>
            </a:r>
            <a:r>
              <a:rPr sz="800" b="1" spc="16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Scan</a:t>
            </a:r>
            <a:r>
              <a:rPr sz="8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i="1" spc="200" dirty="0">
                <a:solidFill>
                  <a:srgbClr val="191933"/>
                </a:solidFill>
                <a:latin typeface="Calibri"/>
                <a:cs typeface="Calibri"/>
              </a:rPr>
              <a:t>D</a:t>
            </a:r>
            <a:r>
              <a:rPr sz="800" i="1" spc="12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for</a:t>
            </a:r>
            <a:r>
              <a:rPr sz="800" spc="6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800" spc="6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byte</a:t>
            </a:r>
            <a:r>
              <a:rPr sz="800" spc="6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45" dirty="0">
                <a:solidFill>
                  <a:srgbClr val="191933"/>
                </a:solidFill>
                <a:latin typeface="Arial MT"/>
                <a:cs typeface="Arial MT"/>
              </a:rPr>
              <a:t>sequence</a:t>
            </a:r>
            <a:r>
              <a:rPr sz="800" spc="6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Trebuchet MS"/>
                <a:cs typeface="Trebuchet MS"/>
              </a:rPr>
              <a:t>0x90,</a:t>
            </a:r>
            <a:r>
              <a:rPr sz="800" spc="180" dirty="0">
                <a:solidFill>
                  <a:srgbClr val="191933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191933"/>
                </a:solidFill>
                <a:latin typeface="Trebuchet MS"/>
                <a:cs typeface="Trebuchet MS"/>
              </a:rPr>
              <a:t>0x90,</a:t>
            </a:r>
            <a:r>
              <a:rPr sz="800" spc="180" dirty="0">
                <a:solidFill>
                  <a:srgbClr val="191933"/>
                </a:solidFill>
                <a:latin typeface="Trebuchet MS"/>
                <a:cs typeface="Trebuchet MS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Trebuchet MS"/>
                <a:cs typeface="Trebuchet MS"/>
              </a:rPr>
              <a:t>0x90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.</a:t>
            </a:r>
            <a:endParaRPr sz="800">
              <a:latin typeface="Arial MT"/>
              <a:cs typeface="Arial MT"/>
            </a:endParaRPr>
          </a:p>
          <a:p>
            <a:pPr marL="314960">
              <a:lnSpc>
                <a:spcPct val="100000"/>
              </a:lnSpc>
              <a:spcBef>
                <a:spcPts val="285"/>
              </a:spcBef>
            </a:pPr>
            <a:r>
              <a:rPr sz="800" b="1" spc="-10" dirty="0">
                <a:solidFill>
                  <a:srgbClr val="191933"/>
                </a:solidFill>
                <a:latin typeface="Arial"/>
                <a:cs typeface="Arial"/>
              </a:rPr>
              <a:t>For</a:t>
            </a:r>
            <a:r>
              <a:rPr sz="800" b="1" spc="6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i="1" spc="55" dirty="0">
                <a:solidFill>
                  <a:srgbClr val="191933"/>
                </a:solidFill>
                <a:latin typeface="Calibri"/>
                <a:cs typeface="Calibri"/>
              </a:rPr>
              <a:t>s</a:t>
            </a:r>
            <a:r>
              <a:rPr sz="900" spc="82" baseline="-9259" dirty="0">
                <a:solidFill>
                  <a:srgbClr val="191933"/>
                </a:solidFill>
                <a:latin typeface="Calibri"/>
                <a:cs typeface="Calibri"/>
              </a:rPr>
              <a:t>2</a:t>
            </a:r>
            <a:r>
              <a:rPr sz="800" b="1" spc="55" dirty="0">
                <a:solidFill>
                  <a:srgbClr val="191933"/>
                </a:solidFill>
                <a:latin typeface="Arial"/>
                <a:cs typeface="Arial"/>
              </a:rPr>
              <a:t>:</a:t>
            </a:r>
            <a:r>
              <a:rPr sz="800" b="1" spc="15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Scan</a:t>
            </a:r>
            <a:r>
              <a:rPr sz="800" spc="5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i="1" spc="200" dirty="0">
                <a:solidFill>
                  <a:srgbClr val="191933"/>
                </a:solidFill>
                <a:latin typeface="Calibri"/>
                <a:cs typeface="Calibri"/>
              </a:rPr>
              <a:t>D</a:t>
            </a:r>
            <a:r>
              <a:rPr sz="800" i="1" spc="11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for</a:t>
            </a:r>
            <a:r>
              <a:rPr sz="8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8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byte</a:t>
            </a:r>
            <a:r>
              <a:rPr sz="8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45" dirty="0">
                <a:solidFill>
                  <a:srgbClr val="191933"/>
                </a:solidFill>
                <a:latin typeface="Arial MT"/>
                <a:cs typeface="Arial MT"/>
              </a:rPr>
              <a:t>sequence</a:t>
            </a:r>
            <a:r>
              <a:rPr sz="8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Trebuchet MS"/>
                <a:cs typeface="Trebuchet MS"/>
              </a:rPr>
              <a:t>0xDE,</a:t>
            </a:r>
            <a:r>
              <a:rPr sz="800" spc="170" dirty="0">
                <a:solidFill>
                  <a:srgbClr val="191933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191933"/>
                </a:solidFill>
                <a:latin typeface="Trebuchet MS"/>
                <a:cs typeface="Trebuchet MS"/>
              </a:rPr>
              <a:t>0xAD,</a:t>
            </a:r>
            <a:r>
              <a:rPr sz="800" spc="165" dirty="0">
                <a:solidFill>
                  <a:srgbClr val="191933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191933"/>
                </a:solidFill>
                <a:latin typeface="Trebuchet MS"/>
                <a:cs typeface="Trebuchet MS"/>
              </a:rPr>
              <a:t>0xBE,</a:t>
            </a:r>
            <a:r>
              <a:rPr sz="800" spc="170" dirty="0">
                <a:solidFill>
                  <a:srgbClr val="191933"/>
                </a:solidFill>
                <a:latin typeface="Trebuchet MS"/>
                <a:cs typeface="Trebuchet MS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Trebuchet MS"/>
                <a:cs typeface="Trebuchet MS"/>
              </a:rPr>
              <a:t>0xEF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.</a:t>
            </a:r>
            <a:endParaRPr sz="80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285"/>
              </a:spcBef>
            </a:pPr>
            <a:r>
              <a:rPr sz="800" b="1" spc="-10" dirty="0">
                <a:solidFill>
                  <a:srgbClr val="191933"/>
                </a:solidFill>
                <a:latin typeface="Arial"/>
                <a:cs typeface="Arial"/>
              </a:rPr>
              <a:t>Result:</a:t>
            </a:r>
            <a:endParaRPr sz="800">
              <a:latin typeface="Arial"/>
              <a:cs typeface="Arial"/>
            </a:endParaRPr>
          </a:p>
          <a:p>
            <a:pPr marL="314960">
              <a:lnSpc>
                <a:spcPct val="100000"/>
              </a:lnSpc>
              <a:spcBef>
                <a:spcPts val="285"/>
              </a:spcBef>
            </a:pPr>
            <a:r>
              <a:rPr sz="800" i="1" spc="70" dirty="0">
                <a:solidFill>
                  <a:srgbClr val="191933"/>
                </a:solidFill>
                <a:latin typeface="Calibri"/>
                <a:cs typeface="Calibri"/>
              </a:rPr>
              <a:t>s</a:t>
            </a:r>
            <a:r>
              <a:rPr sz="900" spc="104" baseline="-9259" dirty="0">
                <a:solidFill>
                  <a:srgbClr val="191933"/>
                </a:solidFill>
                <a:latin typeface="Calibri"/>
                <a:cs typeface="Calibri"/>
              </a:rPr>
              <a:t>1</a:t>
            </a:r>
            <a:r>
              <a:rPr sz="900" spc="240" baseline="-9259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is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found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at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position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2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in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i="1" spc="114" dirty="0">
                <a:solidFill>
                  <a:srgbClr val="191933"/>
                </a:solidFill>
                <a:latin typeface="Calibri"/>
                <a:cs typeface="Calibri"/>
              </a:rPr>
              <a:t>D</a:t>
            </a:r>
            <a:r>
              <a:rPr sz="800" spc="114" dirty="0">
                <a:solidFill>
                  <a:srgbClr val="191933"/>
                </a:solidFill>
                <a:latin typeface="Arial MT"/>
                <a:cs typeface="Arial MT"/>
              </a:rPr>
              <a:t>,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so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match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is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detected,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and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appropriate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action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is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taken.</a:t>
            </a:r>
            <a:endParaRPr sz="800">
              <a:latin typeface="Arial MT"/>
              <a:cs typeface="Arial MT"/>
            </a:endParaRPr>
          </a:p>
          <a:p>
            <a:pPr marL="314960">
              <a:lnSpc>
                <a:spcPct val="100000"/>
              </a:lnSpc>
              <a:spcBef>
                <a:spcPts val="290"/>
              </a:spcBef>
            </a:pPr>
            <a:r>
              <a:rPr sz="800" i="1" spc="70" dirty="0">
                <a:solidFill>
                  <a:srgbClr val="191933"/>
                </a:solidFill>
                <a:latin typeface="Calibri"/>
                <a:cs typeface="Calibri"/>
              </a:rPr>
              <a:t>s</a:t>
            </a:r>
            <a:r>
              <a:rPr sz="900" spc="104" baseline="-9259" dirty="0">
                <a:solidFill>
                  <a:srgbClr val="191933"/>
                </a:solidFill>
                <a:latin typeface="Calibri"/>
                <a:cs typeface="Calibri"/>
              </a:rPr>
              <a:t>2</a:t>
            </a:r>
            <a:r>
              <a:rPr sz="900" spc="240" baseline="-9259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is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not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found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in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i="1" spc="114" dirty="0">
                <a:solidFill>
                  <a:srgbClr val="191933"/>
                </a:solidFill>
                <a:latin typeface="Calibri"/>
                <a:cs typeface="Calibri"/>
              </a:rPr>
              <a:t>D</a:t>
            </a:r>
            <a:r>
              <a:rPr sz="800" spc="114" dirty="0">
                <a:solidFill>
                  <a:srgbClr val="191933"/>
                </a:solidFill>
                <a:latin typeface="Arial MT"/>
                <a:cs typeface="Arial MT"/>
              </a:rPr>
              <a:t>,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so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no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action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is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taken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for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i="1" spc="40" dirty="0">
                <a:solidFill>
                  <a:srgbClr val="191933"/>
                </a:solidFill>
                <a:latin typeface="Calibri"/>
                <a:cs typeface="Calibri"/>
              </a:rPr>
              <a:t>s</a:t>
            </a:r>
            <a:r>
              <a:rPr sz="900" spc="60" baseline="-9259" dirty="0">
                <a:solidFill>
                  <a:srgbClr val="191933"/>
                </a:solidFill>
                <a:latin typeface="Calibri"/>
                <a:cs typeface="Calibri"/>
              </a:rPr>
              <a:t>2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.</a:t>
            </a:r>
            <a:endParaRPr sz="800">
              <a:latin typeface="Arial MT"/>
              <a:cs typeface="Arial MT"/>
            </a:endParaRPr>
          </a:p>
          <a:p>
            <a:pPr marL="38100" marR="64769">
              <a:lnSpc>
                <a:spcPts val="950"/>
              </a:lnSpc>
              <a:spcBef>
                <a:spcPts val="325"/>
              </a:spcBef>
            </a:pPr>
            <a:r>
              <a:rPr sz="800" b="1" dirty="0">
                <a:solidFill>
                  <a:srgbClr val="FF0000"/>
                </a:solidFill>
                <a:latin typeface="Arial"/>
                <a:cs typeface="Arial"/>
              </a:rPr>
              <a:t>Note:</a:t>
            </a:r>
            <a:r>
              <a:rPr sz="800" b="1" spc="15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FF0000"/>
                </a:solidFill>
                <a:latin typeface="Arial MT"/>
                <a:cs typeface="Arial MT"/>
              </a:rPr>
              <a:t>A</a:t>
            </a:r>
            <a:r>
              <a:rPr sz="800" spc="6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0000"/>
                </a:solidFill>
                <a:latin typeface="Arial MT"/>
                <a:cs typeface="Arial MT"/>
              </a:rPr>
              <a:t>NOP</a:t>
            </a:r>
            <a:r>
              <a:rPr sz="800" spc="6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FF0000"/>
                </a:solidFill>
                <a:latin typeface="Arial MT"/>
                <a:cs typeface="Arial MT"/>
              </a:rPr>
              <a:t>sled</a:t>
            </a:r>
            <a:r>
              <a:rPr sz="800" spc="6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0000"/>
                </a:solidFill>
                <a:latin typeface="Arial MT"/>
                <a:cs typeface="Arial MT"/>
              </a:rPr>
              <a:t>is</a:t>
            </a:r>
            <a:r>
              <a:rPr sz="800" spc="6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0000"/>
                </a:solidFill>
                <a:latin typeface="Arial MT"/>
                <a:cs typeface="Arial MT"/>
              </a:rPr>
              <a:t>a</a:t>
            </a:r>
            <a:r>
              <a:rPr sz="800" spc="6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800" spc="-45" dirty="0">
                <a:solidFill>
                  <a:srgbClr val="FF0000"/>
                </a:solidFill>
                <a:latin typeface="Arial MT"/>
                <a:cs typeface="Arial MT"/>
              </a:rPr>
              <a:t>sequence</a:t>
            </a:r>
            <a:r>
              <a:rPr sz="800" spc="6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0000"/>
                </a:solidFill>
                <a:latin typeface="Arial MT"/>
                <a:cs typeface="Arial MT"/>
              </a:rPr>
              <a:t>of</a:t>
            </a:r>
            <a:r>
              <a:rPr sz="800" spc="6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800" spc="50" dirty="0">
                <a:solidFill>
                  <a:srgbClr val="FF0000"/>
                </a:solidFill>
                <a:latin typeface="Arial MT"/>
                <a:cs typeface="Arial MT"/>
              </a:rPr>
              <a:t>”No</a:t>
            </a:r>
            <a:r>
              <a:rPr sz="800" spc="6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0000"/>
                </a:solidFill>
                <a:latin typeface="Arial MT"/>
                <a:cs typeface="Arial MT"/>
              </a:rPr>
              <a:t>Operation”</a:t>
            </a:r>
            <a:r>
              <a:rPr sz="800" spc="6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0000"/>
                </a:solidFill>
                <a:latin typeface="Arial MT"/>
                <a:cs typeface="Arial MT"/>
              </a:rPr>
              <a:t>(NOP)</a:t>
            </a:r>
            <a:r>
              <a:rPr sz="800" spc="6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0000"/>
                </a:solidFill>
                <a:latin typeface="Arial MT"/>
                <a:cs typeface="Arial MT"/>
              </a:rPr>
              <a:t>instructions</a:t>
            </a:r>
            <a:r>
              <a:rPr sz="800" spc="6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FF0000"/>
                </a:solidFill>
                <a:latin typeface="Arial MT"/>
                <a:cs typeface="Arial MT"/>
              </a:rPr>
              <a:t>placed</a:t>
            </a:r>
            <a:r>
              <a:rPr sz="800" spc="6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0000"/>
                </a:solidFill>
                <a:latin typeface="Arial MT"/>
                <a:cs typeface="Arial MT"/>
              </a:rPr>
              <a:t>in</a:t>
            </a:r>
            <a:r>
              <a:rPr sz="800" spc="6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0000"/>
                </a:solidFill>
                <a:latin typeface="Arial MT"/>
                <a:cs typeface="Arial MT"/>
              </a:rPr>
              <a:t>the</a:t>
            </a:r>
            <a:r>
              <a:rPr sz="800" spc="6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FF0000"/>
                </a:solidFill>
                <a:latin typeface="Arial MT"/>
                <a:cs typeface="Arial MT"/>
              </a:rPr>
              <a:t>memory </a:t>
            </a:r>
            <a:r>
              <a:rPr sz="800" spc="-25" dirty="0">
                <a:solidFill>
                  <a:srgbClr val="FF0000"/>
                </a:solidFill>
                <a:latin typeface="Arial MT"/>
                <a:cs typeface="Arial MT"/>
              </a:rPr>
              <a:t>area</a:t>
            </a:r>
            <a:r>
              <a:rPr sz="800" spc="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FF0000"/>
                </a:solidFill>
                <a:latin typeface="Arial MT"/>
                <a:cs typeface="Arial MT"/>
              </a:rPr>
              <a:t>where</a:t>
            </a:r>
            <a:r>
              <a:rPr sz="800" spc="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0000"/>
                </a:solidFill>
                <a:latin typeface="Arial MT"/>
                <a:cs typeface="Arial MT"/>
              </a:rPr>
              <a:t>an</a:t>
            </a:r>
            <a:r>
              <a:rPr sz="800" spc="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0000"/>
                </a:solidFill>
                <a:latin typeface="Arial MT"/>
                <a:cs typeface="Arial MT"/>
              </a:rPr>
              <a:t>attacker</a:t>
            </a:r>
            <a:r>
              <a:rPr sz="800" spc="3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FF0000"/>
                </a:solidFill>
                <a:latin typeface="Arial MT"/>
                <a:cs typeface="Arial MT"/>
              </a:rPr>
              <a:t>intends</a:t>
            </a:r>
            <a:r>
              <a:rPr sz="800" spc="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0000"/>
                </a:solidFill>
                <a:latin typeface="Arial MT"/>
                <a:cs typeface="Arial MT"/>
              </a:rPr>
              <a:t>to</a:t>
            </a:r>
            <a:r>
              <a:rPr sz="800" spc="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FF0000"/>
                </a:solidFill>
                <a:latin typeface="Arial MT"/>
                <a:cs typeface="Arial MT"/>
              </a:rPr>
              <a:t>execute</a:t>
            </a:r>
            <a:r>
              <a:rPr sz="800" spc="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FF0000"/>
                </a:solidFill>
                <a:latin typeface="Arial MT"/>
                <a:cs typeface="Arial MT"/>
              </a:rPr>
              <a:t>malicious</a:t>
            </a:r>
            <a:r>
              <a:rPr sz="800" spc="3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0000"/>
                </a:solidFill>
                <a:latin typeface="Arial MT"/>
                <a:cs typeface="Arial MT"/>
              </a:rPr>
              <a:t>code.</a:t>
            </a:r>
            <a:r>
              <a:rPr sz="800" spc="1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0000"/>
                </a:solidFill>
                <a:latin typeface="Arial MT"/>
                <a:cs typeface="Arial MT"/>
              </a:rPr>
              <a:t>Its</a:t>
            </a:r>
            <a:r>
              <a:rPr sz="800" spc="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FF0000"/>
                </a:solidFill>
                <a:latin typeface="Arial MT"/>
                <a:cs typeface="Arial MT"/>
              </a:rPr>
              <a:t>purpose</a:t>
            </a:r>
            <a:r>
              <a:rPr sz="800" spc="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0000"/>
                </a:solidFill>
                <a:latin typeface="Arial MT"/>
                <a:cs typeface="Arial MT"/>
              </a:rPr>
              <a:t>is</a:t>
            </a:r>
            <a:r>
              <a:rPr sz="800" spc="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0000"/>
                </a:solidFill>
                <a:latin typeface="Arial MT"/>
                <a:cs typeface="Arial MT"/>
              </a:rPr>
              <a:t>to</a:t>
            </a:r>
            <a:r>
              <a:rPr sz="800" spc="3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FF0000"/>
                </a:solidFill>
                <a:latin typeface="Arial MT"/>
                <a:cs typeface="Arial MT"/>
              </a:rPr>
              <a:t>create</a:t>
            </a:r>
            <a:r>
              <a:rPr sz="800" spc="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0000"/>
                </a:solidFill>
                <a:latin typeface="Arial MT"/>
                <a:cs typeface="Arial MT"/>
              </a:rPr>
              <a:t>a</a:t>
            </a:r>
            <a:r>
              <a:rPr sz="800" spc="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FF0000"/>
                </a:solidFill>
                <a:latin typeface="Arial MT"/>
                <a:cs typeface="Arial MT"/>
              </a:rPr>
              <a:t>large, contiguous</a:t>
            </a:r>
            <a:r>
              <a:rPr sz="800" spc="3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0000"/>
                </a:solidFill>
                <a:latin typeface="Arial MT"/>
                <a:cs typeface="Arial MT"/>
              </a:rPr>
              <a:t>region</a:t>
            </a:r>
            <a:r>
              <a:rPr sz="800" spc="3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0000"/>
                </a:solidFill>
                <a:latin typeface="Arial MT"/>
                <a:cs typeface="Arial MT"/>
              </a:rPr>
              <a:t>of</a:t>
            </a:r>
            <a:r>
              <a:rPr sz="800" spc="4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FF0000"/>
                </a:solidFill>
                <a:latin typeface="Arial MT"/>
                <a:cs typeface="Arial MT"/>
              </a:rPr>
              <a:t>memory</a:t>
            </a:r>
            <a:r>
              <a:rPr sz="800" spc="3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0000"/>
                </a:solidFill>
                <a:latin typeface="Arial MT"/>
                <a:cs typeface="Arial MT"/>
              </a:rPr>
              <a:t>that</a:t>
            </a:r>
            <a:r>
              <a:rPr sz="800" spc="3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FF0000"/>
                </a:solidFill>
                <a:latin typeface="Arial MT"/>
                <a:cs typeface="Arial MT"/>
              </a:rPr>
              <a:t>does</a:t>
            </a:r>
            <a:r>
              <a:rPr sz="800" spc="4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0000"/>
                </a:solidFill>
                <a:latin typeface="Arial MT"/>
                <a:cs typeface="Arial MT"/>
              </a:rPr>
              <a:t>nothing</a:t>
            </a:r>
            <a:r>
              <a:rPr sz="800" spc="3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0000"/>
                </a:solidFill>
                <a:latin typeface="Arial MT"/>
                <a:cs typeface="Arial MT"/>
              </a:rPr>
              <a:t>(i.e.,</a:t>
            </a:r>
            <a:r>
              <a:rPr sz="800" spc="4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800" spc="50" dirty="0">
                <a:solidFill>
                  <a:srgbClr val="FF0000"/>
                </a:solidFill>
                <a:latin typeface="Arial MT"/>
                <a:cs typeface="Arial MT"/>
              </a:rPr>
              <a:t>it</a:t>
            </a:r>
            <a:r>
              <a:rPr sz="800" spc="3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FF0000"/>
                </a:solidFill>
                <a:latin typeface="Arial MT"/>
                <a:cs typeface="Arial MT"/>
              </a:rPr>
              <a:t>executes</a:t>
            </a:r>
            <a:r>
              <a:rPr sz="800" spc="3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0000"/>
                </a:solidFill>
                <a:latin typeface="Arial MT"/>
                <a:cs typeface="Arial MT"/>
              </a:rPr>
              <a:t>no</a:t>
            </a:r>
            <a:r>
              <a:rPr sz="800" spc="4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0000"/>
                </a:solidFill>
                <a:latin typeface="Arial MT"/>
                <a:cs typeface="Arial MT"/>
              </a:rPr>
              <a:t>operations),</a:t>
            </a:r>
            <a:r>
              <a:rPr sz="800" spc="3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0000"/>
                </a:solidFill>
                <a:latin typeface="Arial MT"/>
                <a:cs typeface="Arial MT"/>
              </a:rPr>
              <a:t>allowing</a:t>
            </a:r>
            <a:r>
              <a:rPr sz="800" spc="3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FF0000"/>
                </a:solidFill>
                <a:latin typeface="Arial MT"/>
                <a:cs typeface="Arial MT"/>
              </a:rPr>
              <a:t>the</a:t>
            </a:r>
            <a:r>
              <a:rPr sz="800" dirty="0">
                <a:solidFill>
                  <a:srgbClr val="FF0000"/>
                </a:solidFill>
                <a:latin typeface="Arial MT"/>
                <a:cs typeface="Arial MT"/>
              </a:rPr>
              <a:t> attacker</a:t>
            </a:r>
            <a:r>
              <a:rPr sz="800" spc="4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0000"/>
                </a:solidFill>
                <a:latin typeface="Arial MT"/>
                <a:cs typeface="Arial MT"/>
              </a:rPr>
              <a:t>to</a:t>
            </a:r>
            <a:r>
              <a:rPr sz="800" spc="4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0000"/>
                </a:solidFill>
                <a:latin typeface="Arial MT"/>
                <a:cs typeface="Arial MT"/>
              </a:rPr>
              <a:t>direct</a:t>
            </a:r>
            <a:r>
              <a:rPr sz="800" spc="4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0000"/>
                </a:solidFill>
                <a:latin typeface="Arial MT"/>
                <a:cs typeface="Arial MT"/>
              </a:rPr>
              <a:t>the</a:t>
            </a:r>
            <a:r>
              <a:rPr sz="800" spc="5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FF0000"/>
                </a:solidFill>
                <a:latin typeface="Arial MT"/>
                <a:cs typeface="Arial MT"/>
              </a:rPr>
              <a:t>execution</a:t>
            </a:r>
            <a:r>
              <a:rPr sz="800" spc="4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0000"/>
                </a:solidFill>
                <a:latin typeface="Arial MT"/>
                <a:cs typeface="Arial MT"/>
              </a:rPr>
              <a:t>flow</a:t>
            </a:r>
            <a:r>
              <a:rPr sz="800" spc="4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0000"/>
                </a:solidFill>
                <a:latin typeface="Arial MT"/>
                <a:cs typeface="Arial MT"/>
              </a:rPr>
              <a:t>to</a:t>
            </a:r>
            <a:r>
              <a:rPr sz="800" spc="5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0000"/>
                </a:solidFill>
                <a:latin typeface="Arial MT"/>
                <a:cs typeface="Arial MT"/>
              </a:rPr>
              <a:t>any</a:t>
            </a:r>
            <a:r>
              <a:rPr sz="800" spc="4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0000"/>
                </a:solidFill>
                <a:latin typeface="Arial MT"/>
                <a:cs typeface="Arial MT"/>
              </a:rPr>
              <a:t>part</a:t>
            </a:r>
            <a:r>
              <a:rPr sz="800" spc="4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0000"/>
                </a:solidFill>
                <a:latin typeface="Arial MT"/>
                <a:cs typeface="Arial MT"/>
              </a:rPr>
              <a:t>of</a:t>
            </a:r>
            <a:r>
              <a:rPr sz="800" spc="4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0000"/>
                </a:solidFill>
                <a:latin typeface="Arial MT"/>
                <a:cs typeface="Arial MT"/>
              </a:rPr>
              <a:t>this</a:t>
            </a:r>
            <a:r>
              <a:rPr sz="800" spc="5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0000"/>
                </a:solidFill>
                <a:latin typeface="Arial MT"/>
                <a:cs typeface="Arial MT"/>
              </a:rPr>
              <a:t>region</a:t>
            </a:r>
            <a:r>
              <a:rPr sz="800" spc="4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0000"/>
                </a:solidFill>
                <a:latin typeface="Arial MT"/>
                <a:cs typeface="Arial MT"/>
              </a:rPr>
              <a:t>and</a:t>
            </a:r>
            <a:r>
              <a:rPr sz="800" spc="4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0000"/>
                </a:solidFill>
                <a:latin typeface="Arial MT"/>
                <a:cs typeface="Arial MT"/>
              </a:rPr>
              <a:t>still</a:t>
            </a:r>
            <a:r>
              <a:rPr sz="800" spc="4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FF0000"/>
                </a:solidFill>
                <a:latin typeface="Arial MT"/>
                <a:cs typeface="Arial MT"/>
              </a:rPr>
              <a:t>eventually</a:t>
            </a:r>
            <a:r>
              <a:rPr sz="800" spc="5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FF0000"/>
                </a:solidFill>
                <a:latin typeface="Arial MT"/>
                <a:cs typeface="Arial MT"/>
              </a:rPr>
              <a:t>reach</a:t>
            </a:r>
            <a:r>
              <a:rPr sz="800" spc="4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FF0000"/>
                </a:solidFill>
                <a:latin typeface="Arial MT"/>
                <a:cs typeface="Arial MT"/>
              </a:rPr>
              <a:t>the</a:t>
            </a:r>
            <a:r>
              <a:rPr sz="800" spc="-10" dirty="0">
                <a:solidFill>
                  <a:srgbClr val="FF0000"/>
                </a:solidFill>
                <a:latin typeface="Arial MT"/>
                <a:cs typeface="Arial MT"/>
              </a:rPr>
              <a:t> malicious</a:t>
            </a:r>
            <a:r>
              <a:rPr sz="800" spc="4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FF0000"/>
                </a:solidFill>
                <a:latin typeface="Arial MT"/>
                <a:cs typeface="Arial MT"/>
              </a:rPr>
              <a:t>payload.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2" name="object 12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4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195587" y="3351784"/>
            <a:ext cx="28130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</a:rPr>
              <a:t>14</a:t>
            </a:r>
            <a:r>
              <a:rPr sz="6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00" spc="150" dirty="0">
                <a:solidFill>
                  <a:srgbClr val="FFFFFF"/>
                </a:solidFill>
                <a:latin typeface="Arial MT"/>
                <a:cs typeface="Arial MT"/>
              </a:rPr>
              <a:t>/</a:t>
            </a:r>
            <a:r>
              <a:rPr sz="6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Arial MT"/>
                <a:cs typeface="Arial MT"/>
              </a:rPr>
              <a:t>93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Limitations</a:t>
            </a:r>
            <a:r>
              <a:rPr spc="10" dirty="0"/>
              <a:t> </a:t>
            </a:r>
            <a:r>
              <a:rPr spc="-10" dirty="0"/>
              <a:t>and</a:t>
            </a:r>
            <a:r>
              <a:rPr spc="15" dirty="0"/>
              <a:t> </a:t>
            </a:r>
            <a:r>
              <a:rPr dirty="0"/>
              <a:t>Mathematical</a:t>
            </a:r>
            <a:r>
              <a:rPr spc="15" dirty="0"/>
              <a:t> </a:t>
            </a:r>
            <a:r>
              <a:rPr spc="-60" dirty="0"/>
              <a:t>Extensions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648220"/>
            <a:ext cx="4432935" cy="198755"/>
          </a:xfrm>
          <a:custGeom>
            <a:avLst/>
            <a:gdLst/>
            <a:ahLst/>
            <a:cxnLst/>
            <a:rect l="l" t="t" r="r" b="b"/>
            <a:pathLst>
              <a:path w="4432935" h="198755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4432566" y="198367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2672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8544" y="676668"/>
            <a:ext cx="2390140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55" dirty="0">
                <a:solidFill>
                  <a:srgbClr val="FFFFFF"/>
                </a:solidFill>
                <a:latin typeface="Tahoma"/>
                <a:cs typeface="Tahoma"/>
              </a:rPr>
              <a:t>Signature-</a:t>
            </a:r>
            <a:r>
              <a:rPr sz="1200" spc="-45" dirty="0">
                <a:solidFill>
                  <a:srgbClr val="FFFFFF"/>
                </a:solidFill>
                <a:latin typeface="Tahoma"/>
                <a:cs typeface="Tahoma"/>
              </a:rPr>
              <a:t>Based</a:t>
            </a:r>
            <a:r>
              <a:rPr sz="120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35" dirty="0">
                <a:solidFill>
                  <a:srgbClr val="FFFFFF"/>
                </a:solidFill>
                <a:latin typeface="Tahoma"/>
                <a:cs typeface="Tahoma"/>
              </a:rPr>
              <a:t>Detection</a:t>
            </a:r>
            <a:r>
              <a:rPr sz="1200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35" dirty="0">
                <a:solidFill>
                  <a:srgbClr val="FFFFFF"/>
                </a:solidFill>
                <a:latin typeface="Tahoma"/>
                <a:cs typeface="Tahoma"/>
              </a:rPr>
              <a:t>Limitations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7743" y="1895576"/>
            <a:ext cx="4432935" cy="187960"/>
          </a:xfrm>
          <a:custGeom>
            <a:avLst/>
            <a:gdLst/>
            <a:ahLst/>
            <a:cxnLst/>
            <a:rect l="l" t="t" r="r" b="b"/>
            <a:pathLst>
              <a:path w="4432935" h="187960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4432566" y="187823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2672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38544" y="1924024"/>
            <a:ext cx="1250950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25" dirty="0">
                <a:solidFill>
                  <a:srgbClr val="FFFFFF"/>
                </a:solidFill>
                <a:latin typeface="Tahoma"/>
                <a:cs typeface="Tahoma"/>
              </a:rPr>
              <a:t>Probabilistic</a:t>
            </a:r>
            <a:r>
              <a:rPr sz="1200" spc="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50" dirty="0">
                <a:solidFill>
                  <a:srgbClr val="FFFFFF"/>
                </a:solidFill>
                <a:latin typeface="Tahoma"/>
                <a:cs typeface="Tahoma"/>
              </a:rPr>
              <a:t>Models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8679" y="416695"/>
            <a:ext cx="4483735" cy="20104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sz="1000" b="1" spc="-10" dirty="0">
                <a:solidFill>
                  <a:srgbClr val="191933"/>
                </a:solidFill>
                <a:latin typeface="Arial"/>
                <a:cs typeface="Arial"/>
              </a:rPr>
              <a:t>Limitations</a:t>
            </a:r>
            <a:endParaRPr sz="1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 dirty="0">
              <a:latin typeface="Arial"/>
              <a:cs typeface="Arial"/>
            </a:endParaRPr>
          </a:p>
          <a:p>
            <a:pPr marL="327660" marR="134620">
              <a:lnSpc>
                <a:spcPct val="100000"/>
              </a:lnSpc>
            </a:pPr>
            <a:r>
              <a:rPr sz="1000" dirty="0">
                <a:solidFill>
                  <a:srgbClr val="191933"/>
                </a:solidFill>
                <a:latin typeface="Tahoma"/>
                <a:cs typeface="Tahoma"/>
              </a:rPr>
              <a:t>This</a:t>
            </a:r>
            <a:r>
              <a:rPr sz="10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40" dirty="0">
                <a:solidFill>
                  <a:srgbClr val="191933"/>
                </a:solidFill>
                <a:latin typeface="Tahoma"/>
                <a:cs typeface="Tahoma"/>
              </a:rPr>
              <a:t>approach</a:t>
            </a: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20" dirty="0">
                <a:solidFill>
                  <a:srgbClr val="191933"/>
                </a:solidFill>
                <a:latin typeface="Tahoma"/>
                <a:cs typeface="Tahoma"/>
              </a:rPr>
              <a:t>only</a:t>
            </a:r>
            <a:r>
              <a:rPr sz="1000" spc="-30" dirty="0">
                <a:solidFill>
                  <a:srgbClr val="191933"/>
                </a:solidFill>
                <a:latin typeface="Tahoma"/>
                <a:cs typeface="Tahoma"/>
              </a:rPr>
              <a:t> detects</a:t>
            </a: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50" dirty="0">
                <a:solidFill>
                  <a:srgbClr val="191933"/>
                </a:solidFill>
                <a:latin typeface="Tahoma"/>
                <a:cs typeface="Tahoma"/>
              </a:rPr>
              <a:t>known</a:t>
            </a: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20" dirty="0">
                <a:solidFill>
                  <a:srgbClr val="191933"/>
                </a:solidFill>
                <a:latin typeface="Tahoma"/>
                <a:cs typeface="Tahoma"/>
              </a:rPr>
              <a:t>threats.</a:t>
            </a:r>
            <a:r>
              <a:rPr sz="1000" spc="7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191933"/>
                </a:solidFill>
                <a:latin typeface="Tahoma"/>
                <a:cs typeface="Tahoma"/>
              </a:rPr>
              <a:t>It</a:t>
            </a:r>
            <a:r>
              <a:rPr sz="10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cannot</a:t>
            </a:r>
            <a:r>
              <a:rPr sz="10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20" dirty="0">
                <a:solidFill>
                  <a:srgbClr val="191933"/>
                </a:solidFill>
                <a:latin typeface="Tahoma"/>
                <a:cs typeface="Tahoma"/>
              </a:rPr>
              <a:t>identify</a:t>
            </a:r>
            <a:r>
              <a:rPr sz="10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45" dirty="0">
                <a:solidFill>
                  <a:srgbClr val="191933"/>
                </a:solidFill>
                <a:latin typeface="Tahoma"/>
                <a:cs typeface="Tahoma"/>
              </a:rPr>
              <a:t>new,</a:t>
            </a: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30" dirty="0">
                <a:solidFill>
                  <a:srgbClr val="191933"/>
                </a:solidFill>
                <a:latin typeface="Tahoma"/>
                <a:cs typeface="Tahoma"/>
              </a:rPr>
              <a:t>unknown threats</a:t>
            </a: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191933"/>
                </a:solidFill>
                <a:latin typeface="Tahoma"/>
                <a:cs typeface="Tahoma"/>
              </a:rPr>
              <a:t>that</a:t>
            </a:r>
            <a:r>
              <a:rPr sz="10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191933"/>
                </a:solidFill>
                <a:latin typeface="Tahoma"/>
                <a:cs typeface="Tahoma"/>
              </a:rPr>
              <a:t>do</a:t>
            </a: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191933"/>
                </a:solidFill>
                <a:latin typeface="Tahoma"/>
                <a:cs typeface="Tahoma"/>
              </a:rPr>
              <a:t>not</a:t>
            </a: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50" dirty="0">
                <a:solidFill>
                  <a:srgbClr val="191933"/>
                </a:solidFill>
                <a:latin typeface="Tahoma"/>
                <a:cs typeface="Tahoma"/>
              </a:rPr>
              <a:t>have</a:t>
            </a:r>
            <a:r>
              <a:rPr sz="10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45" dirty="0">
                <a:solidFill>
                  <a:srgbClr val="191933"/>
                </a:solidFill>
                <a:latin typeface="Tahoma"/>
                <a:cs typeface="Tahoma"/>
              </a:rPr>
              <a:t>corresponding</a:t>
            </a: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191933"/>
                </a:solidFill>
                <a:latin typeface="Tahoma"/>
                <a:cs typeface="Tahoma"/>
              </a:rPr>
              <a:t>signatures.</a:t>
            </a:r>
            <a:endParaRPr sz="1000" dirty="0">
              <a:latin typeface="Tahoma"/>
              <a:cs typeface="Tahoma"/>
            </a:endParaRPr>
          </a:p>
          <a:p>
            <a:pPr marL="327660" marR="320675">
              <a:lnSpc>
                <a:spcPct val="100000"/>
              </a:lnSpc>
              <a:spcBef>
                <a:spcPts val="590"/>
              </a:spcBef>
            </a:pPr>
            <a:r>
              <a:rPr sz="1000" dirty="0">
                <a:solidFill>
                  <a:srgbClr val="191933"/>
                </a:solidFill>
                <a:latin typeface="Tahoma"/>
                <a:cs typeface="Tahoma"/>
              </a:rPr>
              <a:t>The</a:t>
            </a:r>
            <a:r>
              <a:rPr sz="10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30" dirty="0">
                <a:solidFill>
                  <a:srgbClr val="191933"/>
                </a:solidFill>
                <a:latin typeface="Tahoma"/>
                <a:cs typeface="Tahoma"/>
              </a:rPr>
              <a:t>efficiency </a:t>
            </a:r>
            <a:r>
              <a:rPr sz="1000" dirty="0">
                <a:solidFill>
                  <a:srgbClr val="191933"/>
                </a:solidFill>
                <a:latin typeface="Tahoma"/>
                <a:cs typeface="Tahoma"/>
              </a:rPr>
              <a:t>of</a:t>
            </a:r>
            <a:r>
              <a:rPr sz="10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20" dirty="0">
                <a:solidFill>
                  <a:srgbClr val="191933"/>
                </a:solidFill>
                <a:latin typeface="Tahoma"/>
                <a:cs typeface="Tahoma"/>
              </a:rPr>
              <a:t>the</a:t>
            </a:r>
            <a:r>
              <a:rPr sz="1000" spc="-30" dirty="0">
                <a:solidFill>
                  <a:srgbClr val="191933"/>
                </a:solidFill>
                <a:latin typeface="Tahoma"/>
                <a:cs typeface="Tahoma"/>
              </a:rPr>
              <a:t> matching </a:t>
            </a:r>
            <a:r>
              <a:rPr sz="1000" spc="-45" dirty="0">
                <a:solidFill>
                  <a:srgbClr val="191933"/>
                </a:solidFill>
                <a:latin typeface="Tahoma"/>
                <a:cs typeface="Tahoma"/>
              </a:rPr>
              <a:t>process</a:t>
            </a:r>
            <a:r>
              <a:rPr sz="10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20" dirty="0">
                <a:solidFill>
                  <a:srgbClr val="191933"/>
                </a:solidFill>
                <a:latin typeface="Tahoma"/>
                <a:cs typeface="Tahoma"/>
              </a:rPr>
              <a:t>can</a:t>
            </a: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40" dirty="0">
                <a:solidFill>
                  <a:srgbClr val="191933"/>
                </a:solidFill>
                <a:latin typeface="Tahoma"/>
                <a:cs typeface="Tahoma"/>
              </a:rPr>
              <a:t>vary</a:t>
            </a:r>
            <a:r>
              <a:rPr sz="10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55" dirty="0">
                <a:solidFill>
                  <a:srgbClr val="191933"/>
                </a:solidFill>
                <a:latin typeface="Tahoma"/>
                <a:cs typeface="Tahoma"/>
              </a:rPr>
              <a:t>based</a:t>
            </a: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191933"/>
                </a:solidFill>
                <a:latin typeface="Tahoma"/>
                <a:cs typeface="Tahoma"/>
              </a:rPr>
              <a:t>on</a:t>
            </a: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20" dirty="0">
                <a:solidFill>
                  <a:srgbClr val="191933"/>
                </a:solidFill>
                <a:latin typeface="Tahoma"/>
                <a:cs typeface="Tahoma"/>
              </a:rPr>
              <a:t>the</a:t>
            </a:r>
            <a:r>
              <a:rPr sz="10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size</a:t>
            </a:r>
            <a:r>
              <a:rPr sz="10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191933"/>
                </a:solidFill>
                <a:latin typeface="Tahoma"/>
                <a:cs typeface="Tahoma"/>
              </a:rPr>
              <a:t>of</a:t>
            </a: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 the </a:t>
            </a:r>
            <a:r>
              <a:rPr sz="1000" spc="-40" dirty="0">
                <a:solidFill>
                  <a:srgbClr val="191933"/>
                </a:solidFill>
                <a:latin typeface="Tahoma"/>
                <a:cs typeface="Tahoma"/>
              </a:rPr>
              <a:t>database </a:t>
            </a: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and</a:t>
            </a:r>
            <a:r>
              <a:rPr sz="10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191933"/>
                </a:solidFill>
                <a:latin typeface="Tahoma"/>
                <a:cs typeface="Tahoma"/>
              </a:rPr>
              <a:t>the</a:t>
            </a:r>
            <a:r>
              <a:rPr sz="10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30" dirty="0">
                <a:solidFill>
                  <a:srgbClr val="191933"/>
                </a:solidFill>
                <a:latin typeface="Tahoma"/>
                <a:cs typeface="Tahoma"/>
              </a:rPr>
              <a:t>complexity</a:t>
            </a:r>
            <a:r>
              <a:rPr sz="1000" spc="-4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191933"/>
                </a:solidFill>
                <a:latin typeface="Tahoma"/>
                <a:cs typeface="Tahoma"/>
              </a:rPr>
              <a:t>of</a:t>
            </a:r>
            <a:r>
              <a:rPr sz="10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20" dirty="0">
                <a:solidFill>
                  <a:srgbClr val="191933"/>
                </a:solidFill>
                <a:latin typeface="Tahoma"/>
                <a:cs typeface="Tahoma"/>
              </a:rPr>
              <a:t>the</a:t>
            </a:r>
            <a:r>
              <a:rPr sz="1000" spc="-4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191933"/>
                </a:solidFill>
                <a:latin typeface="Tahoma"/>
                <a:cs typeface="Tahoma"/>
              </a:rPr>
              <a:t>signatures.</a:t>
            </a:r>
            <a:endParaRPr sz="1000" dirty="0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  <a:spcBef>
                <a:spcPts val="930"/>
              </a:spcBef>
            </a:pPr>
            <a:r>
              <a:rPr sz="1000" b="1" dirty="0">
                <a:solidFill>
                  <a:srgbClr val="191933"/>
                </a:solidFill>
                <a:latin typeface="Arial"/>
                <a:cs typeface="Arial"/>
              </a:rPr>
              <a:t>Mathematical</a:t>
            </a:r>
            <a:r>
              <a:rPr sz="1000" b="1" spc="2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191933"/>
                </a:solidFill>
                <a:latin typeface="Arial"/>
                <a:cs typeface="Arial"/>
              </a:rPr>
              <a:t>Extensions</a:t>
            </a:r>
            <a:endParaRPr sz="1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65"/>
              </a:spcBef>
            </a:pPr>
            <a:endParaRPr sz="1000" dirty="0">
              <a:latin typeface="Arial"/>
              <a:cs typeface="Arial"/>
            </a:endParaRPr>
          </a:p>
          <a:p>
            <a:pPr marL="50800" marR="181610">
              <a:lnSpc>
                <a:spcPct val="100000"/>
              </a:lnSpc>
              <a:spcBef>
                <a:spcPts val="5"/>
              </a:spcBef>
            </a:pPr>
            <a:r>
              <a:rPr sz="1000" spc="-35" dirty="0">
                <a:solidFill>
                  <a:srgbClr val="191933"/>
                </a:solidFill>
                <a:latin typeface="Tahoma"/>
                <a:cs typeface="Tahoma"/>
              </a:rPr>
              <a:t>Some</a:t>
            </a:r>
            <a:r>
              <a:rPr sz="10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55" dirty="0">
                <a:solidFill>
                  <a:srgbClr val="191933"/>
                </a:solidFill>
                <a:latin typeface="Tahoma"/>
                <a:cs typeface="Tahoma"/>
              </a:rPr>
              <a:t>systems</a:t>
            </a:r>
            <a:r>
              <a:rPr sz="1000" spc="-1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55" dirty="0">
                <a:solidFill>
                  <a:srgbClr val="191933"/>
                </a:solidFill>
                <a:latin typeface="Tahoma"/>
                <a:cs typeface="Tahoma"/>
              </a:rPr>
              <a:t>use</a:t>
            </a:r>
            <a:r>
              <a:rPr sz="1000" spc="-1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probabilistic</a:t>
            </a:r>
            <a:r>
              <a:rPr sz="1000" spc="-1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35" dirty="0">
                <a:solidFill>
                  <a:srgbClr val="191933"/>
                </a:solidFill>
                <a:latin typeface="Tahoma"/>
                <a:cs typeface="Tahoma"/>
              </a:rPr>
              <a:t>models</a:t>
            </a:r>
            <a:r>
              <a:rPr sz="1000" spc="-10" dirty="0">
                <a:solidFill>
                  <a:srgbClr val="191933"/>
                </a:solidFill>
                <a:latin typeface="Tahoma"/>
                <a:cs typeface="Tahoma"/>
              </a:rPr>
              <a:t> or</a:t>
            </a:r>
            <a:r>
              <a:rPr sz="1000" spc="-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40" dirty="0">
                <a:solidFill>
                  <a:srgbClr val="191933"/>
                </a:solidFill>
                <a:latin typeface="Tahoma"/>
                <a:cs typeface="Tahoma"/>
              </a:rPr>
              <a:t>machine</a:t>
            </a:r>
            <a:r>
              <a:rPr sz="1000" spc="-1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40" dirty="0">
                <a:solidFill>
                  <a:srgbClr val="191933"/>
                </a:solidFill>
                <a:latin typeface="Tahoma"/>
                <a:cs typeface="Tahoma"/>
              </a:rPr>
              <a:t>learning</a:t>
            </a:r>
            <a:r>
              <a:rPr sz="1000" spc="-1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191933"/>
                </a:solidFill>
                <a:latin typeface="Tahoma"/>
                <a:cs typeface="Tahoma"/>
              </a:rPr>
              <a:t>to</a:t>
            </a:r>
            <a:r>
              <a:rPr sz="1000" spc="-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40" dirty="0">
                <a:solidFill>
                  <a:srgbClr val="191933"/>
                </a:solidFill>
                <a:latin typeface="Tahoma"/>
                <a:cs typeface="Tahoma"/>
              </a:rPr>
              <a:t>improve</a:t>
            </a:r>
            <a:r>
              <a:rPr sz="10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191933"/>
                </a:solidFill>
                <a:latin typeface="Tahoma"/>
                <a:cs typeface="Tahoma"/>
              </a:rPr>
              <a:t>detection </a:t>
            </a:r>
            <a:r>
              <a:rPr sz="1000" spc="-30" dirty="0">
                <a:solidFill>
                  <a:srgbClr val="191933"/>
                </a:solidFill>
                <a:latin typeface="Tahoma"/>
                <a:cs typeface="Tahoma"/>
              </a:rPr>
              <a:t>accuracy</a:t>
            </a: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 and</a:t>
            </a:r>
            <a:r>
              <a:rPr sz="10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50" dirty="0">
                <a:solidFill>
                  <a:srgbClr val="191933"/>
                </a:solidFill>
                <a:latin typeface="Tahoma"/>
                <a:cs typeface="Tahoma"/>
              </a:rPr>
              <a:t>reduce</a:t>
            </a: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30" dirty="0">
                <a:solidFill>
                  <a:srgbClr val="191933"/>
                </a:solidFill>
                <a:latin typeface="Tahoma"/>
                <a:cs typeface="Tahoma"/>
              </a:rPr>
              <a:t>false</a:t>
            </a: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191933"/>
                </a:solidFill>
                <a:latin typeface="Tahoma"/>
                <a:cs typeface="Tahoma"/>
              </a:rPr>
              <a:t>positives.</a:t>
            </a:r>
            <a:endParaRPr sz="1000" dirty="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7743" y="2600985"/>
            <a:ext cx="4432935" cy="198755"/>
          </a:xfrm>
          <a:custGeom>
            <a:avLst/>
            <a:gdLst/>
            <a:ahLst/>
            <a:cxnLst/>
            <a:rect l="l" t="t" r="r" b="b"/>
            <a:pathLst>
              <a:path w="4432935" h="198755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4432566" y="198367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2672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38544" y="2629432"/>
            <a:ext cx="1358900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65" dirty="0">
                <a:solidFill>
                  <a:srgbClr val="FFFFFF"/>
                </a:solidFill>
                <a:latin typeface="Tahoma"/>
                <a:cs typeface="Tahoma"/>
              </a:rPr>
              <a:t>Hash-</a:t>
            </a:r>
            <a:r>
              <a:rPr sz="1200" spc="-45" dirty="0">
                <a:solidFill>
                  <a:srgbClr val="FFFFFF"/>
                </a:solidFill>
                <a:latin typeface="Tahoma"/>
                <a:cs typeface="Tahoma"/>
              </a:rPr>
              <a:t>Based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35" dirty="0">
                <a:solidFill>
                  <a:srgbClr val="FFFFFF"/>
                </a:solidFill>
                <a:latin typeface="Tahoma"/>
                <a:cs typeface="Tahoma"/>
              </a:rPr>
              <a:t>Matching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25844" y="2804927"/>
            <a:ext cx="434594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solidFill>
                  <a:srgbClr val="191933"/>
                </a:solidFill>
                <a:latin typeface="Tahoma"/>
                <a:cs typeface="Tahoma"/>
              </a:rPr>
              <a:t>Using</a:t>
            </a:r>
            <a:r>
              <a:rPr sz="10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50" dirty="0">
                <a:solidFill>
                  <a:srgbClr val="191933"/>
                </a:solidFill>
                <a:latin typeface="Tahoma"/>
                <a:cs typeface="Tahoma"/>
              </a:rPr>
              <a:t>hash</a:t>
            </a:r>
            <a:r>
              <a:rPr sz="10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30" dirty="0">
                <a:solidFill>
                  <a:srgbClr val="191933"/>
                </a:solidFill>
                <a:latin typeface="Tahoma"/>
                <a:cs typeface="Tahoma"/>
              </a:rPr>
              <a:t>functions</a:t>
            </a: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191933"/>
                </a:solidFill>
                <a:latin typeface="Tahoma"/>
                <a:cs typeface="Tahoma"/>
              </a:rPr>
              <a:t>to</a:t>
            </a: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50" dirty="0">
                <a:solidFill>
                  <a:srgbClr val="191933"/>
                </a:solidFill>
                <a:latin typeface="Tahoma"/>
                <a:cs typeface="Tahoma"/>
              </a:rPr>
              <a:t>represent</a:t>
            </a:r>
            <a:r>
              <a:rPr sz="10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40" dirty="0">
                <a:solidFill>
                  <a:srgbClr val="191933"/>
                </a:solidFill>
                <a:latin typeface="Tahoma"/>
                <a:cs typeface="Tahoma"/>
              </a:rPr>
              <a:t>signatures</a:t>
            </a: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 and</a:t>
            </a:r>
            <a:r>
              <a:rPr sz="10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55" dirty="0">
                <a:solidFill>
                  <a:srgbClr val="191933"/>
                </a:solidFill>
                <a:latin typeface="Tahoma"/>
                <a:cs typeface="Tahoma"/>
              </a:rPr>
              <a:t>hashes</a:t>
            </a:r>
            <a:r>
              <a:rPr sz="10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191933"/>
                </a:solidFill>
                <a:latin typeface="Tahoma"/>
                <a:cs typeface="Tahoma"/>
              </a:rPr>
              <a:t>of</a:t>
            </a:r>
            <a:r>
              <a:rPr sz="10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191933"/>
                </a:solidFill>
                <a:latin typeface="Tahoma"/>
                <a:cs typeface="Tahoma"/>
              </a:rPr>
              <a:t>data</a:t>
            </a: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20" dirty="0">
                <a:solidFill>
                  <a:srgbClr val="191933"/>
                </a:solidFill>
                <a:latin typeface="Tahoma"/>
                <a:cs typeface="Tahoma"/>
              </a:rPr>
              <a:t>can </a:t>
            </a:r>
            <a:r>
              <a:rPr sz="1000" spc="-55" dirty="0">
                <a:solidFill>
                  <a:srgbClr val="191933"/>
                </a:solidFill>
                <a:latin typeface="Tahoma"/>
                <a:cs typeface="Tahoma"/>
              </a:rPr>
              <a:t>speed</a:t>
            </a:r>
            <a:r>
              <a:rPr sz="10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191933"/>
                </a:solidFill>
                <a:latin typeface="Tahoma"/>
                <a:cs typeface="Tahoma"/>
              </a:rPr>
              <a:t>up</a:t>
            </a: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 the matching</a:t>
            </a:r>
            <a:r>
              <a:rPr sz="10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191933"/>
                </a:solidFill>
                <a:latin typeface="Tahoma"/>
                <a:cs typeface="Tahoma"/>
              </a:rPr>
              <a:t>process.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26" name="object 26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4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15</a:t>
            </a:r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93</a:t>
            </a:r>
          </a:p>
        </p:txBody>
      </p:sp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Behavioral</a:t>
            </a:r>
            <a:r>
              <a:rPr spc="20" dirty="0"/>
              <a:t> </a:t>
            </a:r>
            <a:r>
              <a:rPr spc="-25" dirty="0"/>
              <a:t>Prevention</a:t>
            </a:r>
            <a:r>
              <a:rPr spc="25" dirty="0"/>
              <a:t> </a:t>
            </a:r>
            <a:r>
              <a:rPr spc="-30" dirty="0"/>
              <a:t>Algorithm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362571"/>
            <a:ext cx="4336415" cy="88011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b="1" spc="-40" dirty="0">
                <a:solidFill>
                  <a:srgbClr val="191933"/>
                </a:solidFill>
                <a:latin typeface="Arial"/>
                <a:cs typeface="Arial"/>
              </a:rPr>
              <a:t>Behavioral</a:t>
            </a:r>
            <a:r>
              <a:rPr sz="1100" b="1" spc="4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-30" dirty="0">
                <a:solidFill>
                  <a:srgbClr val="191933"/>
                </a:solidFill>
                <a:latin typeface="Arial"/>
                <a:cs typeface="Arial"/>
              </a:rPr>
              <a:t>Prevention</a:t>
            </a:r>
            <a:r>
              <a:rPr sz="1100" b="1" spc="2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in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cybersecurity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is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a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technique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191933"/>
                </a:solidFill>
                <a:latin typeface="Tahoma"/>
                <a:cs typeface="Tahoma"/>
              </a:rPr>
              <a:t>used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0000"/>
                </a:solidFill>
                <a:latin typeface="Tahoma"/>
                <a:cs typeface="Tahoma"/>
              </a:rPr>
              <a:t>to</a:t>
            </a:r>
            <a:r>
              <a:rPr sz="1100" spc="-2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FF0000"/>
                </a:solidFill>
                <a:latin typeface="Tahoma"/>
                <a:cs typeface="Tahoma"/>
              </a:rPr>
              <a:t>detect</a:t>
            </a:r>
            <a:r>
              <a:rPr sz="1100" spc="-2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FF0000"/>
                </a:solidFill>
                <a:latin typeface="Tahoma"/>
                <a:cs typeface="Tahoma"/>
              </a:rPr>
              <a:t>and </a:t>
            </a:r>
            <a:r>
              <a:rPr sz="1100" spc="-45" dirty="0">
                <a:solidFill>
                  <a:srgbClr val="FF0000"/>
                </a:solidFill>
                <a:latin typeface="Tahoma"/>
                <a:cs typeface="Tahoma"/>
              </a:rPr>
              <a:t>prevent </a:t>
            </a:r>
            <a:r>
              <a:rPr sz="1100" spc="-25" dirty="0">
                <a:solidFill>
                  <a:srgbClr val="FF0000"/>
                </a:solidFill>
                <a:latin typeface="Tahoma"/>
                <a:cs typeface="Tahoma"/>
              </a:rPr>
              <a:t>threats</a:t>
            </a:r>
            <a:r>
              <a:rPr sz="1100" spc="-3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FF0000"/>
                </a:solidFill>
                <a:latin typeface="Tahoma"/>
                <a:cs typeface="Tahoma"/>
              </a:rPr>
              <a:t>based</a:t>
            </a:r>
            <a:r>
              <a:rPr sz="1100" spc="-3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FF0000"/>
                </a:solidFill>
                <a:latin typeface="Tahoma"/>
                <a:cs typeface="Tahoma"/>
              </a:rPr>
              <a:t>on</a:t>
            </a:r>
            <a:r>
              <a:rPr sz="1100" spc="-3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FF0000"/>
                </a:solidFill>
                <a:latin typeface="Tahoma"/>
                <a:cs typeface="Tahoma"/>
              </a:rPr>
              <a:t>the</a:t>
            </a:r>
            <a:r>
              <a:rPr sz="1100" spc="-3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FF0000"/>
                </a:solidFill>
                <a:latin typeface="Tahoma"/>
                <a:cs typeface="Tahoma"/>
              </a:rPr>
              <a:t>behavior</a:t>
            </a:r>
            <a:r>
              <a:rPr sz="1100" spc="-3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0000"/>
                </a:solidFill>
                <a:latin typeface="Tahoma"/>
                <a:cs typeface="Tahoma"/>
              </a:rPr>
              <a:t>of</a:t>
            </a:r>
            <a:r>
              <a:rPr sz="1100" spc="-3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FF0000"/>
                </a:solidFill>
                <a:latin typeface="Tahoma"/>
                <a:cs typeface="Tahoma"/>
              </a:rPr>
              <a:t>programs</a:t>
            </a:r>
            <a:r>
              <a:rPr sz="1100" spc="-3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FF0000"/>
                </a:solidFill>
                <a:latin typeface="Tahoma"/>
                <a:cs typeface="Tahoma"/>
              </a:rPr>
              <a:t>or</a:t>
            </a:r>
            <a:r>
              <a:rPr sz="1100" spc="-3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FF0000"/>
                </a:solidFill>
                <a:latin typeface="Tahoma"/>
                <a:cs typeface="Tahoma"/>
              </a:rPr>
              <a:t>processes,</a:t>
            </a:r>
            <a:r>
              <a:rPr sz="1100" spc="-3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FF0000"/>
                </a:solidFill>
                <a:latin typeface="Tahoma"/>
                <a:cs typeface="Tahoma"/>
              </a:rPr>
              <a:t>rather than</a:t>
            </a:r>
            <a:r>
              <a:rPr sz="1100" spc="-4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FF0000"/>
                </a:solidFill>
                <a:latin typeface="Tahoma"/>
                <a:cs typeface="Tahoma"/>
              </a:rPr>
              <a:t>relying</a:t>
            </a:r>
            <a:r>
              <a:rPr sz="1100" spc="-4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FF0000"/>
                </a:solidFill>
                <a:latin typeface="Tahoma"/>
                <a:cs typeface="Tahoma"/>
              </a:rPr>
              <a:t>on</a:t>
            </a:r>
            <a:r>
              <a:rPr sz="1100" spc="-4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FF0000"/>
                </a:solidFill>
                <a:latin typeface="Tahoma"/>
                <a:cs typeface="Tahoma"/>
              </a:rPr>
              <a:t>known</a:t>
            </a:r>
            <a:r>
              <a:rPr sz="1100" spc="-4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FF0000"/>
                </a:solidFill>
                <a:latin typeface="Tahoma"/>
                <a:cs typeface="Tahoma"/>
              </a:rPr>
              <a:t>signatures.</a:t>
            </a:r>
            <a:r>
              <a:rPr sz="1100" spc="6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This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approach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aims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0000"/>
                </a:solidFill>
                <a:latin typeface="Tahoma"/>
                <a:cs typeface="Tahoma"/>
              </a:rPr>
              <a:t>to</a:t>
            </a:r>
            <a:r>
              <a:rPr sz="1100" spc="-4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FF0000"/>
                </a:solidFill>
                <a:latin typeface="Tahoma"/>
                <a:cs typeface="Tahoma"/>
              </a:rPr>
              <a:t>identify</a:t>
            </a:r>
            <a:r>
              <a:rPr sz="1100" spc="-4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FF0000"/>
                </a:solidFill>
                <a:latin typeface="Tahoma"/>
                <a:cs typeface="Tahoma"/>
              </a:rPr>
              <a:t>and </a:t>
            </a:r>
            <a:r>
              <a:rPr sz="1100" spc="-10" dirty="0">
                <a:solidFill>
                  <a:srgbClr val="FF0000"/>
                </a:solidFill>
                <a:latin typeface="Tahoma"/>
                <a:cs typeface="Tahoma"/>
              </a:rPr>
              <a:t>block</a:t>
            </a:r>
            <a:r>
              <a:rPr sz="1100" spc="-3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FF0000"/>
                </a:solidFill>
                <a:latin typeface="Tahoma"/>
                <a:cs typeface="Tahoma"/>
              </a:rPr>
              <a:t>malicious</a:t>
            </a:r>
            <a:r>
              <a:rPr sz="1100" spc="-4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FF0000"/>
                </a:solidFill>
                <a:latin typeface="Tahoma"/>
                <a:cs typeface="Tahoma"/>
              </a:rPr>
              <a:t>activities</a:t>
            </a:r>
            <a:r>
              <a:rPr sz="1100" spc="-4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FF0000"/>
                </a:solidFill>
                <a:latin typeface="Tahoma"/>
                <a:cs typeface="Tahoma"/>
              </a:rPr>
              <a:t>by</a:t>
            </a:r>
            <a:r>
              <a:rPr sz="1100" spc="-4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FF0000"/>
                </a:solidFill>
                <a:latin typeface="Tahoma"/>
                <a:cs typeface="Tahoma"/>
              </a:rPr>
              <a:t>analyzing </a:t>
            </a:r>
            <a:r>
              <a:rPr sz="1100" spc="-35" dirty="0">
                <a:solidFill>
                  <a:srgbClr val="FF0000"/>
                </a:solidFill>
                <a:latin typeface="Tahoma"/>
                <a:cs typeface="Tahoma"/>
              </a:rPr>
              <a:t>deviations</a:t>
            </a:r>
            <a:r>
              <a:rPr sz="1100" spc="-4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FF0000"/>
                </a:solidFill>
                <a:latin typeface="Tahoma"/>
                <a:cs typeface="Tahoma"/>
              </a:rPr>
              <a:t>from</a:t>
            </a:r>
            <a:r>
              <a:rPr sz="1100" spc="-35" dirty="0">
                <a:solidFill>
                  <a:srgbClr val="FF0000"/>
                </a:solidFill>
                <a:latin typeface="Tahoma"/>
                <a:cs typeface="Tahoma"/>
              </a:rPr>
              <a:t> normal </a:t>
            </a:r>
            <a:r>
              <a:rPr sz="1100" spc="-10" dirty="0">
                <a:solidFill>
                  <a:srgbClr val="FF0000"/>
                </a:solidFill>
                <a:latin typeface="Tahoma"/>
                <a:cs typeface="Tahoma"/>
              </a:rPr>
              <a:t>behavior patterns.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5" name="object 5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4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1165250" y="1304924"/>
            <a:ext cx="2277745" cy="1917700"/>
            <a:chOff x="1165250" y="1304924"/>
            <a:chExt cx="2277745" cy="191770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65250" y="1304924"/>
              <a:ext cx="2277503" cy="170813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6274" y="3042989"/>
              <a:ext cx="179553" cy="17955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85778" y="3042989"/>
              <a:ext cx="179553" cy="17955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85282" y="3042989"/>
              <a:ext cx="379058" cy="17955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84292" y="3042989"/>
              <a:ext cx="179565" cy="17955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83808" y="3042989"/>
              <a:ext cx="179553" cy="179553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646481" y="3046314"/>
              <a:ext cx="173355" cy="173355"/>
            </a:xfrm>
            <a:custGeom>
              <a:avLst/>
              <a:gdLst/>
              <a:ahLst/>
              <a:cxnLst/>
              <a:rect l="l" t="t" r="r" b="b"/>
              <a:pathLst>
                <a:path w="173355" h="173355">
                  <a:moveTo>
                    <a:pt x="73156" y="172903"/>
                  </a:moveTo>
                  <a:lnTo>
                    <a:pt x="26602" y="172903"/>
                  </a:lnTo>
                  <a:lnTo>
                    <a:pt x="16248" y="170812"/>
                  </a:lnTo>
                  <a:lnTo>
                    <a:pt x="7792" y="165111"/>
                  </a:lnTo>
                  <a:lnTo>
                    <a:pt x="2091" y="156655"/>
                  </a:lnTo>
                  <a:lnTo>
                    <a:pt x="0" y="146303"/>
                  </a:lnTo>
                  <a:lnTo>
                    <a:pt x="0" y="26600"/>
                  </a:lnTo>
                  <a:lnTo>
                    <a:pt x="2091" y="16247"/>
                  </a:lnTo>
                  <a:lnTo>
                    <a:pt x="7792" y="7792"/>
                  </a:lnTo>
                  <a:lnTo>
                    <a:pt x="16248" y="2090"/>
                  </a:lnTo>
                  <a:lnTo>
                    <a:pt x="26602" y="0"/>
                  </a:lnTo>
                  <a:lnTo>
                    <a:pt x="146312" y="0"/>
                  </a:lnTo>
                  <a:lnTo>
                    <a:pt x="156665" y="2090"/>
                  </a:lnTo>
                  <a:lnTo>
                    <a:pt x="165121" y="7792"/>
                  </a:lnTo>
                  <a:lnTo>
                    <a:pt x="170823" y="16247"/>
                  </a:lnTo>
                  <a:lnTo>
                    <a:pt x="172914" y="26600"/>
                  </a:lnTo>
                  <a:lnTo>
                    <a:pt x="172914" y="146303"/>
                  </a:lnTo>
                  <a:lnTo>
                    <a:pt x="170823" y="156655"/>
                  </a:lnTo>
                  <a:lnTo>
                    <a:pt x="165121" y="165111"/>
                  </a:lnTo>
                  <a:lnTo>
                    <a:pt x="156665" y="170812"/>
                  </a:lnTo>
                  <a:lnTo>
                    <a:pt x="146312" y="172903"/>
                  </a:lnTo>
                  <a:lnTo>
                    <a:pt x="73156" y="172903"/>
                  </a:lnTo>
                  <a:close/>
                </a:path>
              </a:pathLst>
            </a:custGeom>
            <a:ln w="66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695695" y="3132766"/>
              <a:ext cx="74930" cy="0"/>
            </a:xfrm>
            <a:custGeom>
              <a:avLst/>
              <a:gdLst/>
              <a:ahLst/>
              <a:cxnLst/>
              <a:rect l="l" t="t" r="r" b="b"/>
              <a:pathLst>
                <a:path w="74930">
                  <a:moveTo>
                    <a:pt x="0" y="0"/>
                  </a:moveTo>
                  <a:lnTo>
                    <a:pt x="74486" y="0"/>
                  </a:lnTo>
                </a:path>
              </a:pathLst>
            </a:custGeom>
            <a:ln w="133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42672" y="3042989"/>
              <a:ext cx="179553" cy="179553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042176" y="3042989"/>
              <a:ext cx="179553" cy="179553"/>
            </a:xfrm>
            <a:prstGeom prst="rect">
              <a:avLst/>
            </a:prstGeom>
          </p:spPr>
        </p:pic>
      </p:grp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16</a:t>
            </a:r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93</a:t>
            </a:r>
          </a:p>
        </p:txBody>
      </p:sp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3069083" y="3261575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D6E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989465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EA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167268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EAF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3260445" y="3248732"/>
            <a:ext cx="203200" cy="55880"/>
            <a:chOff x="3260445" y="3248732"/>
            <a:chExt cx="203200" cy="55880"/>
          </a:xfrm>
        </p:grpSpPr>
        <p:sp>
          <p:nvSpPr>
            <p:cNvPr id="7" name="object 7"/>
            <p:cNvSpPr/>
            <p:nvPr/>
          </p:nvSpPr>
          <p:spPr>
            <a:xfrm>
              <a:off x="3323614" y="3251262"/>
              <a:ext cx="64135" cy="50800"/>
            </a:xfrm>
            <a:custGeom>
              <a:avLst/>
              <a:gdLst/>
              <a:ahLst/>
              <a:cxnLst/>
              <a:rect l="l" t="t" r="r" b="b"/>
              <a:pathLst>
                <a:path w="64135" h="50800">
                  <a:moveTo>
                    <a:pt x="0" y="50800"/>
                  </a:moveTo>
                  <a:lnTo>
                    <a:pt x="43019" y="50800"/>
                  </a:lnTo>
                  <a:lnTo>
                    <a:pt x="43019" y="20434"/>
                  </a:lnTo>
                  <a:lnTo>
                    <a:pt x="0" y="20434"/>
                  </a:lnTo>
                  <a:lnTo>
                    <a:pt x="0" y="50800"/>
                  </a:lnTo>
                  <a:close/>
                </a:path>
                <a:path w="64135" h="50800">
                  <a:moveTo>
                    <a:pt x="10491" y="20320"/>
                  </a:moveTo>
                  <a:lnTo>
                    <a:pt x="10491" y="10160"/>
                  </a:lnTo>
                  <a:lnTo>
                    <a:pt x="53672" y="10160"/>
                  </a:lnTo>
                  <a:lnTo>
                    <a:pt x="53672" y="40640"/>
                  </a:lnTo>
                  <a:lnTo>
                    <a:pt x="43512" y="40640"/>
                  </a:lnTo>
                </a:path>
                <a:path w="64135" h="50800">
                  <a:moveTo>
                    <a:pt x="20652" y="10160"/>
                  </a:moveTo>
                  <a:lnTo>
                    <a:pt x="20652" y="0"/>
                  </a:lnTo>
                  <a:lnTo>
                    <a:pt x="63832" y="0"/>
                  </a:lnTo>
                  <a:lnTo>
                    <a:pt x="63832" y="30480"/>
                  </a:lnTo>
                  <a:lnTo>
                    <a:pt x="53672" y="30480"/>
                  </a:lnTo>
                </a:path>
              </a:pathLst>
            </a:custGeom>
            <a:ln w="5060">
              <a:solidFill>
                <a:srgbClr val="ADD6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260445" y="3257613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EA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3531425" y="3247467"/>
            <a:ext cx="203200" cy="58419"/>
            <a:chOff x="3531425" y="3247467"/>
            <a:chExt cx="203200" cy="58419"/>
          </a:xfrm>
        </p:grpSpPr>
        <p:sp>
          <p:nvSpPr>
            <p:cNvPr id="10" name="object 10"/>
            <p:cNvSpPr/>
            <p:nvPr/>
          </p:nvSpPr>
          <p:spPr>
            <a:xfrm>
              <a:off x="3620326" y="3263963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>
                  <a:moveTo>
                    <a:pt x="0" y="0"/>
                  </a:moveTo>
                  <a:lnTo>
                    <a:pt x="38100" y="0"/>
                  </a:lnTo>
                </a:path>
              </a:pathLst>
            </a:custGeom>
            <a:ln w="7591">
              <a:solidFill>
                <a:srgbClr val="ADD6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531425" y="3257613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EA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607626" y="3251262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38100" y="0"/>
                  </a:lnTo>
                </a:path>
                <a:path w="50800" h="50800">
                  <a:moveTo>
                    <a:pt x="12700" y="25400"/>
                  </a:moveTo>
                  <a:lnTo>
                    <a:pt x="50800" y="25400"/>
                  </a:lnTo>
                </a:path>
                <a:path w="50800" h="50800">
                  <a:moveTo>
                    <a:pt x="0" y="38100"/>
                  </a:moveTo>
                  <a:lnTo>
                    <a:pt x="38100" y="38100"/>
                  </a:lnTo>
                </a:path>
                <a:path w="50800" h="50800">
                  <a:moveTo>
                    <a:pt x="12700" y="50800"/>
                  </a:moveTo>
                  <a:lnTo>
                    <a:pt x="50800" y="50800"/>
                  </a:lnTo>
                </a:path>
              </a:pathLst>
            </a:custGeom>
            <a:ln w="7591">
              <a:solidFill>
                <a:srgbClr val="D6EAF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3802393" y="3247467"/>
            <a:ext cx="203200" cy="58419"/>
            <a:chOff x="3802393" y="3247467"/>
            <a:chExt cx="203200" cy="58419"/>
          </a:xfrm>
        </p:grpSpPr>
        <p:sp>
          <p:nvSpPr>
            <p:cNvPr id="14" name="object 14"/>
            <p:cNvSpPr/>
            <p:nvPr/>
          </p:nvSpPr>
          <p:spPr>
            <a:xfrm>
              <a:off x="3878593" y="3251262"/>
              <a:ext cx="50800" cy="25400"/>
            </a:xfrm>
            <a:custGeom>
              <a:avLst/>
              <a:gdLst/>
              <a:ahLst/>
              <a:cxnLst/>
              <a:rect l="l" t="t" r="r" b="b"/>
              <a:pathLst>
                <a:path w="50800" h="25400">
                  <a:moveTo>
                    <a:pt x="0" y="0"/>
                  </a:moveTo>
                  <a:lnTo>
                    <a:pt x="38100" y="0"/>
                  </a:lnTo>
                </a:path>
                <a:path w="50800" h="25400">
                  <a:moveTo>
                    <a:pt x="12700" y="12700"/>
                  </a:moveTo>
                  <a:lnTo>
                    <a:pt x="50800" y="12700"/>
                  </a:lnTo>
                </a:path>
                <a:path w="50800" h="25400">
                  <a:moveTo>
                    <a:pt x="12700" y="25400"/>
                  </a:moveTo>
                  <a:lnTo>
                    <a:pt x="50800" y="25400"/>
                  </a:lnTo>
                </a:path>
              </a:pathLst>
            </a:custGeom>
            <a:ln w="7591">
              <a:solidFill>
                <a:srgbClr val="ADD6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802393" y="3257613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EA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878593" y="3289363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38100" y="0"/>
                  </a:lnTo>
                </a:path>
                <a:path w="50800" h="12700">
                  <a:moveTo>
                    <a:pt x="12700" y="12699"/>
                  </a:moveTo>
                  <a:lnTo>
                    <a:pt x="50800" y="12699"/>
                  </a:lnTo>
                </a:path>
              </a:pathLst>
            </a:custGeom>
            <a:ln w="7591">
              <a:solidFill>
                <a:srgbClr val="D6EAF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/>
          <p:nvPr/>
        </p:nvSpPr>
        <p:spPr>
          <a:xfrm>
            <a:off x="4149573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D6E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8" name="object 18"/>
          <p:cNvGrpSpPr/>
          <p:nvPr/>
        </p:nvGrpSpPr>
        <p:grpSpPr>
          <a:xfrm>
            <a:off x="4326582" y="3248732"/>
            <a:ext cx="238760" cy="57150"/>
            <a:chOff x="4326582" y="3248732"/>
            <a:chExt cx="238760" cy="57150"/>
          </a:xfrm>
        </p:grpSpPr>
        <p:sp>
          <p:nvSpPr>
            <p:cNvPr id="19" name="object 19"/>
            <p:cNvSpPr/>
            <p:nvPr/>
          </p:nvSpPr>
          <p:spPr>
            <a:xfrm>
              <a:off x="4451033" y="328174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0" y="0"/>
                  </a:moveTo>
                  <a:lnTo>
                    <a:pt x="20320" y="20320"/>
                  </a:lnTo>
                </a:path>
              </a:pathLst>
            </a:custGeom>
            <a:ln w="7591">
              <a:solidFill>
                <a:srgbClr val="ADD6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423969" y="325524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79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ADD6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329112" y="3251262"/>
              <a:ext cx="233679" cy="50800"/>
            </a:xfrm>
            <a:custGeom>
              <a:avLst/>
              <a:gdLst/>
              <a:ahLst/>
              <a:cxnLst/>
              <a:rect l="l" t="t" r="r" b="b"/>
              <a:pathLst>
                <a:path w="233679" h="50800">
                  <a:moveTo>
                    <a:pt x="40640" y="50800"/>
                  </a:moveTo>
                  <a:lnTo>
                    <a:pt x="50400" y="48796"/>
                  </a:lnTo>
                  <a:lnTo>
                    <a:pt x="58488" y="43339"/>
                  </a:lnTo>
                  <a:lnTo>
                    <a:pt x="64002" y="35262"/>
                  </a:lnTo>
                  <a:lnTo>
                    <a:pt x="66040" y="25400"/>
                  </a:lnTo>
                  <a:lnTo>
                    <a:pt x="64036" y="15537"/>
                  </a:lnTo>
                  <a:lnTo>
                    <a:pt x="58579" y="7461"/>
                  </a:lnTo>
                  <a:lnTo>
                    <a:pt x="50502" y="2004"/>
                  </a:lnTo>
                  <a:lnTo>
                    <a:pt x="40640" y="0"/>
                  </a:lnTo>
                  <a:lnTo>
                    <a:pt x="30778" y="2004"/>
                  </a:lnTo>
                  <a:lnTo>
                    <a:pt x="22701" y="7461"/>
                  </a:lnTo>
                  <a:lnTo>
                    <a:pt x="17244" y="15537"/>
                  </a:lnTo>
                  <a:lnTo>
                    <a:pt x="15240" y="25400"/>
                  </a:lnTo>
                </a:path>
                <a:path w="233679" h="50800">
                  <a:moveTo>
                    <a:pt x="30480" y="17780"/>
                  </a:moveTo>
                  <a:lnTo>
                    <a:pt x="15240" y="30480"/>
                  </a:lnTo>
                  <a:lnTo>
                    <a:pt x="0" y="17780"/>
                  </a:lnTo>
                </a:path>
                <a:path w="233679" h="50800">
                  <a:moveTo>
                    <a:pt x="193042" y="50800"/>
                  </a:moveTo>
                  <a:lnTo>
                    <a:pt x="183179" y="48796"/>
                  </a:lnTo>
                  <a:lnTo>
                    <a:pt x="175103" y="43339"/>
                  </a:lnTo>
                  <a:lnTo>
                    <a:pt x="169646" y="35262"/>
                  </a:lnTo>
                  <a:lnTo>
                    <a:pt x="167642" y="25400"/>
                  </a:lnTo>
                  <a:lnTo>
                    <a:pt x="169646" y="15537"/>
                  </a:lnTo>
                  <a:lnTo>
                    <a:pt x="175103" y="7461"/>
                  </a:lnTo>
                  <a:lnTo>
                    <a:pt x="183179" y="2004"/>
                  </a:lnTo>
                  <a:lnTo>
                    <a:pt x="193042" y="0"/>
                  </a:lnTo>
                  <a:lnTo>
                    <a:pt x="202904" y="2004"/>
                  </a:lnTo>
                  <a:lnTo>
                    <a:pt x="210981" y="7461"/>
                  </a:lnTo>
                  <a:lnTo>
                    <a:pt x="216438" y="15537"/>
                  </a:lnTo>
                  <a:lnTo>
                    <a:pt x="218442" y="25400"/>
                  </a:lnTo>
                </a:path>
                <a:path w="233679" h="50800">
                  <a:moveTo>
                    <a:pt x="233682" y="17780"/>
                  </a:moveTo>
                  <a:lnTo>
                    <a:pt x="218442" y="30480"/>
                  </a:lnTo>
                  <a:lnTo>
                    <a:pt x="203202" y="17780"/>
                  </a:lnTo>
                </a:path>
              </a:pathLst>
            </a:custGeom>
            <a:ln w="5060">
              <a:solidFill>
                <a:srgbClr val="ADD6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/>
          <p:nvPr/>
        </p:nvSpPr>
        <p:spPr>
          <a:xfrm>
            <a:off x="0" y="0"/>
            <a:ext cx="4608195" cy="484505"/>
          </a:xfrm>
          <a:custGeom>
            <a:avLst/>
            <a:gdLst/>
            <a:ahLst/>
            <a:cxnLst/>
            <a:rect l="l" t="t" r="r" b="b"/>
            <a:pathLst>
              <a:path w="4608195" h="484505">
                <a:moveTo>
                  <a:pt x="4608004" y="0"/>
                </a:moveTo>
                <a:lnTo>
                  <a:pt x="0" y="0"/>
                </a:lnTo>
                <a:lnTo>
                  <a:pt x="0" y="484238"/>
                </a:lnTo>
                <a:lnTo>
                  <a:pt x="4608004" y="484238"/>
                </a:lnTo>
                <a:lnTo>
                  <a:pt x="4608004" y="0"/>
                </a:lnTo>
                <a:close/>
              </a:path>
            </a:pathLst>
          </a:custGeom>
          <a:solidFill>
            <a:srgbClr val="33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95300" y="51013"/>
            <a:ext cx="4372610" cy="38481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390"/>
              </a:lnSpc>
              <a:spcBef>
                <a:spcPts val="180"/>
              </a:spcBef>
            </a:pPr>
            <a:r>
              <a:rPr spc="-35" dirty="0"/>
              <a:t>Behavioral</a:t>
            </a:r>
            <a:r>
              <a:rPr spc="75" dirty="0"/>
              <a:t> </a:t>
            </a:r>
            <a:r>
              <a:rPr spc="-25" dirty="0"/>
              <a:t>Prevention</a:t>
            </a:r>
            <a:r>
              <a:rPr spc="80" dirty="0"/>
              <a:t> </a:t>
            </a:r>
            <a:r>
              <a:rPr spc="-25" dirty="0"/>
              <a:t>Algorithm</a:t>
            </a:r>
            <a:r>
              <a:rPr spc="80" dirty="0"/>
              <a:t> </a:t>
            </a:r>
            <a:r>
              <a:rPr dirty="0"/>
              <a:t>(Step</a:t>
            </a:r>
            <a:r>
              <a:rPr spc="75" dirty="0"/>
              <a:t> </a:t>
            </a:r>
            <a:r>
              <a:rPr dirty="0"/>
              <a:t>1):Data</a:t>
            </a:r>
            <a:r>
              <a:rPr spc="80" dirty="0"/>
              <a:t> </a:t>
            </a:r>
            <a:r>
              <a:rPr spc="-35" dirty="0"/>
              <a:t>Collection</a:t>
            </a:r>
            <a:r>
              <a:rPr spc="80" dirty="0"/>
              <a:t> </a:t>
            </a:r>
            <a:r>
              <a:rPr spc="-50" dirty="0"/>
              <a:t>and </a:t>
            </a:r>
            <a:r>
              <a:rPr spc="-10" dirty="0"/>
              <a:t>Profiling</a:t>
            </a:r>
          </a:p>
        </p:txBody>
      </p:sp>
      <p:pic>
        <p:nvPicPr>
          <p:cNvPr id="24" name="object 2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828179"/>
            <a:ext cx="65265" cy="65265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376362"/>
            <a:ext cx="65265" cy="65265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924545"/>
            <a:ext cx="65265" cy="65265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2678760"/>
            <a:ext cx="65265" cy="65265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100444" y="500924"/>
            <a:ext cx="4361180" cy="280289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95"/>
              </a:spcBef>
            </a:pPr>
            <a:r>
              <a:rPr sz="1100" b="1" spc="-10" dirty="0">
                <a:solidFill>
                  <a:srgbClr val="191933"/>
                </a:solidFill>
                <a:latin typeface="Arial"/>
                <a:cs typeface="Arial"/>
              </a:rPr>
              <a:t>Normal</a:t>
            </a:r>
            <a:r>
              <a:rPr sz="1100" b="1" spc="-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-40" dirty="0">
                <a:solidFill>
                  <a:srgbClr val="191933"/>
                </a:solidFill>
                <a:latin typeface="Arial"/>
                <a:cs typeface="Arial"/>
              </a:rPr>
              <a:t>Behavior</a:t>
            </a:r>
            <a:r>
              <a:rPr sz="1100" b="1" spc="-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191933"/>
                </a:solidFill>
                <a:latin typeface="Arial"/>
                <a:cs typeface="Arial"/>
              </a:rPr>
              <a:t>Profiling:</a:t>
            </a:r>
            <a:endParaRPr sz="1100">
              <a:latin typeface="Arial"/>
              <a:cs typeface="Arial"/>
            </a:endParaRPr>
          </a:p>
          <a:p>
            <a:pPr marL="314960" marR="220345">
              <a:lnSpc>
                <a:spcPct val="102600"/>
              </a:lnSpc>
              <a:spcBef>
                <a:spcPts val="260"/>
              </a:spcBef>
            </a:pPr>
            <a:r>
              <a:rPr sz="1100" b="1" spc="-10" dirty="0">
                <a:solidFill>
                  <a:srgbClr val="191933"/>
                </a:solidFill>
                <a:latin typeface="Arial"/>
                <a:cs typeface="Arial"/>
              </a:rPr>
              <a:t>Definition:</a:t>
            </a:r>
            <a:r>
              <a:rPr sz="1100" b="1" spc="8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Establish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a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profile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of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normal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behavior 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for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programs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or </a:t>
            </a:r>
            <a:r>
              <a:rPr sz="1100" spc="-55" dirty="0">
                <a:solidFill>
                  <a:srgbClr val="191933"/>
                </a:solidFill>
                <a:latin typeface="Tahoma"/>
                <a:cs typeface="Tahoma"/>
              </a:rPr>
              <a:t>processes.</a:t>
            </a:r>
            <a:r>
              <a:rPr sz="1100" spc="9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This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profile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includes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typical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191933"/>
                </a:solidFill>
                <a:latin typeface="Tahoma"/>
                <a:cs typeface="Tahoma"/>
              </a:rPr>
              <a:t>resource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65" dirty="0">
                <a:solidFill>
                  <a:srgbClr val="191933"/>
                </a:solidFill>
                <a:latin typeface="Tahoma"/>
                <a:cs typeface="Tahoma"/>
              </a:rPr>
              <a:t>usage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 patterns, 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system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calls,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file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operations,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network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activity,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etc.</a:t>
            </a:r>
            <a:endParaRPr sz="1100">
              <a:latin typeface="Tahoma"/>
              <a:cs typeface="Tahoma"/>
            </a:endParaRPr>
          </a:p>
          <a:p>
            <a:pPr marL="314960" marR="30480">
              <a:lnSpc>
                <a:spcPct val="102600"/>
              </a:lnSpc>
              <a:spcBef>
                <a:spcPts val="250"/>
              </a:spcBef>
            </a:pPr>
            <a:r>
              <a:rPr sz="1100" b="1" spc="-10" dirty="0">
                <a:solidFill>
                  <a:srgbClr val="191933"/>
                </a:solidFill>
                <a:latin typeface="Arial"/>
                <a:cs typeface="Arial"/>
              </a:rPr>
              <a:t>Mathematical</a:t>
            </a:r>
            <a:r>
              <a:rPr sz="1100" b="1" spc="5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-40" dirty="0">
                <a:solidFill>
                  <a:srgbClr val="191933"/>
                </a:solidFill>
                <a:latin typeface="Arial"/>
                <a:cs typeface="Arial"/>
              </a:rPr>
              <a:t>Representation:</a:t>
            </a:r>
            <a:r>
              <a:rPr sz="1100" b="1" spc="114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Let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i="1" spc="220" dirty="0">
                <a:solidFill>
                  <a:srgbClr val="191933"/>
                </a:solidFill>
                <a:latin typeface="Calibri"/>
                <a:cs typeface="Calibri"/>
              </a:rPr>
              <a:t>B</a:t>
            </a:r>
            <a:r>
              <a:rPr sz="1100" i="1" spc="13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represent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the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normal 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behavior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profile.</a:t>
            </a:r>
            <a:r>
              <a:rPr sz="1100" spc="4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This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profile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can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be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 defined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as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a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set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of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parameters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 or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statistical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distributions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for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 various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metrics.</a:t>
            </a:r>
            <a:endParaRPr sz="1100">
              <a:latin typeface="Tahoma"/>
              <a:cs typeface="Tahoma"/>
            </a:endParaRPr>
          </a:p>
          <a:p>
            <a:pPr marL="314960" marR="128270">
              <a:lnSpc>
                <a:spcPct val="102600"/>
              </a:lnSpc>
              <a:spcBef>
                <a:spcPts val="254"/>
              </a:spcBef>
            </a:pP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For</a:t>
            </a:r>
            <a:r>
              <a:rPr sz="1100" spc="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example,</a:t>
            </a:r>
            <a:r>
              <a:rPr sz="1100" spc="1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if</a:t>
            </a:r>
            <a:r>
              <a:rPr sz="1100" spc="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analyzing</a:t>
            </a:r>
            <a:r>
              <a:rPr sz="1100" spc="1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CPU</a:t>
            </a:r>
            <a:r>
              <a:rPr sz="1100" spc="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65" dirty="0">
                <a:solidFill>
                  <a:srgbClr val="191933"/>
                </a:solidFill>
                <a:latin typeface="Tahoma"/>
                <a:cs typeface="Tahoma"/>
              </a:rPr>
              <a:t>usage,</a:t>
            </a:r>
            <a:r>
              <a:rPr sz="1100" spc="1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i="1" dirty="0">
                <a:solidFill>
                  <a:srgbClr val="191933"/>
                </a:solidFill>
                <a:latin typeface="Calibri"/>
                <a:cs typeface="Calibri"/>
              </a:rPr>
              <a:t>B</a:t>
            </a:r>
            <a:r>
              <a:rPr sz="1200" baseline="-13888" dirty="0">
                <a:solidFill>
                  <a:srgbClr val="191933"/>
                </a:solidFill>
                <a:latin typeface="Arial MT"/>
                <a:cs typeface="Arial MT"/>
              </a:rPr>
              <a:t>CPU</a:t>
            </a:r>
            <a:r>
              <a:rPr sz="1200" spc="262" baseline="-13888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might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be</a:t>
            </a:r>
            <a:r>
              <a:rPr sz="1100" spc="1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modeled</a:t>
            </a:r>
            <a:r>
              <a:rPr sz="1100" spc="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as</a:t>
            </a:r>
            <a:r>
              <a:rPr sz="1100" spc="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a 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normal</a:t>
            </a:r>
            <a:r>
              <a:rPr sz="1100" spc="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distribution</a:t>
            </a:r>
            <a:r>
              <a:rPr sz="1100" spc="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i="1" spc="155" dirty="0">
                <a:solidFill>
                  <a:srgbClr val="191933"/>
                </a:solidFill>
                <a:latin typeface="Calibri"/>
                <a:cs typeface="Calibri"/>
              </a:rPr>
              <a:t>N</a:t>
            </a:r>
            <a:r>
              <a:rPr sz="1100" i="1" spc="-12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91933"/>
                </a:solidFill>
                <a:latin typeface="Calibri"/>
                <a:cs typeface="Calibri"/>
              </a:rPr>
              <a:t>(</a:t>
            </a:r>
            <a:r>
              <a:rPr sz="1100" i="1" dirty="0">
                <a:solidFill>
                  <a:srgbClr val="191933"/>
                </a:solidFill>
                <a:latin typeface="Calibri"/>
                <a:cs typeface="Calibri"/>
              </a:rPr>
              <a:t>µ</a:t>
            </a:r>
            <a:r>
              <a:rPr sz="1200" baseline="-13888" dirty="0">
                <a:solidFill>
                  <a:srgbClr val="191933"/>
                </a:solidFill>
                <a:latin typeface="Arial MT"/>
                <a:cs typeface="Arial MT"/>
              </a:rPr>
              <a:t>CPU</a:t>
            </a:r>
            <a:r>
              <a:rPr sz="1100" i="1" dirty="0">
                <a:solidFill>
                  <a:srgbClr val="191933"/>
                </a:solidFill>
                <a:latin typeface="Calibri"/>
                <a:cs typeface="Calibri"/>
              </a:rPr>
              <a:t>,</a:t>
            </a:r>
            <a:r>
              <a:rPr sz="1100" i="1" spc="-6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191933"/>
                </a:solidFill>
                <a:latin typeface="Calibri"/>
                <a:cs typeface="Calibri"/>
              </a:rPr>
              <a:t>σ</a:t>
            </a:r>
            <a:r>
              <a:rPr sz="1200" baseline="-13888" dirty="0">
                <a:solidFill>
                  <a:srgbClr val="191933"/>
                </a:solidFill>
                <a:latin typeface="Arial MT"/>
                <a:cs typeface="Arial MT"/>
              </a:rPr>
              <a:t>CPU</a:t>
            </a:r>
            <a:r>
              <a:rPr sz="1100" dirty="0">
                <a:solidFill>
                  <a:srgbClr val="191933"/>
                </a:solidFill>
                <a:latin typeface="Calibri"/>
                <a:cs typeface="Calibri"/>
              </a:rPr>
              <a:t>)</a:t>
            </a:r>
            <a:r>
              <a:rPr sz="1100" spc="12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-60" dirty="0">
                <a:solidFill>
                  <a:srgbClr val="191933"/>
                </a:solidFill>
                <a:latin typeface="Tahoma"/>
                <a:cs typeface="Tahoma"/>
              </a:rPr>
              <a:t>where</a:t>
            </a:r>
            <a:r>
              <a:rPr sz="1100" spc="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i="1" dirty="0">
                <a:solidFill>
                  <a:srgbClr val="191933"/>
                </a:solidFill>
                <a:latin typeface="Calibri"/>
                <a:cs typeface="Calibri"/>
              </a:rPr>
              <a:t>µ</a:t>
            </a:r>
            <a:r>
              <a:rPr sz="1200" baseline="-13888" dirty="0">
                <a:solidFill>
                  <a:srgbClr val="191933"/>
                </a:solidFill>
                <a:latin typeface="Arial MT"/>
                <a:cs typeface="Arial MT"/>
              </a:rPr>
              <a:t>CPU</a:t>
            </a:r>
            <a:r>
              <a:rPr sz="1200" spc="300" baseline="-13888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is</a:t>
            </a:r>
            <a:r>
              <a:rPr sz="1100" spc="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the</a:t>
            </a:r>
            <a:r>
              <a:rPr sz="1100" spc="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191933"/>
                </a:solidFill>
                <a:latin typeface="Tahoma"/>
                <a:cs typeface="Tahoma"/>
              </a:rPr>
              <a:t>mean</a:t>
            </a:r>
            <a:r>
              <a:rPr sz="1100" spc="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CPU </a:t>
            </a:r>
            <a:r>
              <a:rPr sz="1100" spc="-65" dirty="0">
                <a:solidFill>
                  <a:srgbClr val="191933"/>
                </a:solidFill>
                <a:latin typeface="Tahoma"/>
                <a:cs typeface="Tahoma"/>
              </a:rPr>
              <a:t>usage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and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i="1" dirty="0">
                <a:solidFill>
                  <a:srgbClr val="191933"/>
                </a:solidFill>
                <a:latin typeface="Calibri"/>
                <a:cs typeface="Calibri"/>
              </a:rPr>
              <a:t>σ</a:t>
            </a:r>
            <a:r>
              <a:rPr sz="1200" baseline="-13888" dirty="0">
                <a:solidFill>
                  <a:srgbClr val="191933"/>
                </a:solidFill>
                <a:latin typeface="Arial MT"/>
                <a:cs typeface="Arial MT"/>
              </a:rPr>
              <a:t>CPU</a:t>
            </a:r>
            <a:r>
              <a:rPr sz="1200" spc="209" baseline="-13888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is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the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standard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deviation.</a:t>
            </a:r>
            <a:endParaRPr sz="110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295"/>
              </a:spcBef>
            </a:pPr>
            <a:r>
              <a:rPr sz="1100" b="1" dirty="0">
                <a:solidFill>
                  <a:srgbClr val="191933"/>
                </a:solidFill>
                <a:latin typeface="Arial"/>
                <a:cs typeface="Arial"/>
              </a:rPr>
              <a:t>Data</a:t>
            </a:r>
            <a:r>
              <a:rPr sz="1100" b="1" spc="13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191933"/>
                </a:solidFill>
                <a:latin typeface="Arial"/>
                <a:cs typeface="Arial"/>
              </a:rPr>
              <a:t>Collection:</a:t>
            </a:r>
            <a:endParaRPr sz="1100">
              <a:latin typeface="Arial"/>
              <a:cs typeface="Arial"/>
            </a:endParaRPr>
          </a:p>
          <a:p>
            <a:pPr marL="314960" marR="37465">
              <a:lnSpc>
                <a:spcPct val="102600"/>
              </a:lnSpc>
              <a:spcBef>
                <a:spcPts val="260"/>
              </a:spcBef>
            </a:pP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Collect</a:t>
            </a:r>
            <a:r>
              <a:rPr sz="1100" spc="-7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data</a:t>
            </a:r>
            <a:r>
              <a:rPr sz="1100" spc="-5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from</a:t>
            </a:r>
            <a:r>
              <a:rPr sz="1100" spc="-5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the</a:t>
            </a:r>
            <a:r>
              <a:rPr sz="1100" spc="-6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system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or</a:t>
            </a:r>
            <a:r>
              <a:rPr sz="1100" spc="-5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application</a:t>
            </a:r>
            <a:r>
              <a:rPr sz="1100" spc="-5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to</a:t>
            </a:r>
            <a:r>
              <a:rPr sz="1100" spc="-6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build</a:t>
            </a:r>
            <a:r>
              <a:rPr sz="1100" spc="-6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the</a:t>
            </a:r>
            <a:r>
              <a:rPr sz="1100" spc="-5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normal 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behavior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profile.</a:t>
            </a:r>
            <a:r>
              <a:rPr sz="1100" spc="4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This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data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can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be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191933"/>
                </a:solidFill>
                <a:latin typeface="Tahoma"/>
                <a:cs typeface="Tahoma"/>
              </a:rPr>
              <a:t>represented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as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a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vector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of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 features </a:t>
            </a:r>
            <a:r>
              <a:rPr sz="1100" i="1" spc="325" dirty="0">
                <a:solidFill>
                  <a:srgbClr val="191933"/>
                </a:solidFill>
                <a:latin typeface="Calibri"/>
                <a:cs typeface="Calibri"/>
              </a:rPr>
              <a:t>X</a:t>
            </a:r>
            <a:r>
              <a:rPr sz="1100" i="1" spc="9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295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1100" spc="4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50" dirty="0">
                <a:solidFill>
                  <a:srgbClr val="191933"/>
                </a:solidFill>
                <a:latin typeface="Calibri"/>
                <a:cs typeface="Calibri"/>
              </a:rPr>
              <a:t>[</a:t>
            </a:r>
            <a:r>
              <a:rPr sz="1100" i="1" spc="50" dirty="0">
                <a:solidFill>
                  <a:srgbClr val="191933"/>
                </a:solidFill>
                <a:latin typeface="Calibri"/>
                <a:cs typeface="Calibri"/>
              </a:rPr>
              <a:t>x</a:t>
            </a:r>
            <a:r>
              <a:rPr sz="1200" spc="75" baseline="-10416" dirty="0">
                <a:solidFill>
                  <a:srgbClr val="191933"/>
                </a:solidFill>
                <a:latin typeface="Calibri"/>
                <a:cs typeface="Calibri"/>
              </a:rPr>
              <a:t>1</a:t>
            </a:r>
            <a:r>
              <a:rPr sz="1100" i="1" spc="50" dirty="0">
                <a:solidFill>
                  <a:srgbClr val="191933"/>
                </a:solidFill>
                <a:latin typeface="Calibri"/>
                <a:cs typeface="Calibri"/>
              </a:rPr>
              <a:t>,</a:t>
            </a:r>
            <a:r>
              <a:rPr sz="1100" i="1" spc="-7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i="1" spc="80" dirty="0">
                <a:solidFill>
                  <a:srgbClr val="191933"/>
                </a:solidFill>
                <a:latin typeface="Calibri"/>
                <a:cs typeface="Calibri"/>
              </a:rPr>
              <a:t>x</a:t>
            </a:r>
            <a:r>
              <a:rPr sz="1200" spc="120" baseline="-10416" dirty="0">
                <a:solidFill>
                  <a:srgbClr val="191933"/>
                </a:solidFill>
                <a:latin typeface="Calibri"/>
                <a:cs typeface="Calibri"/>
              </a:rPr>
              <a:t>2</a:t>
            </a:r>
            <a:r>
              <a:rPr sz="1100" i="1" spc="80" dirty="0">
                <a:solidFill>
                  <a:srgbClr val="191933"/>
                </a:solidFill>
                <a:latin typeface="Calibri"/>
                <a:cs typeface="Calibri"/>
              </a:rPr>
              <a:t>,</a:t>
            </a:r>
            <a:r>
              <a:rPr sz="1100" i="1" spc="-7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191933"/>
                </a:solidFill>
                <a:latin typeface="Calibri"/>
                <a:cs typeface="Calibri"/>
              </a:rPr>
              <a:t>.</a:t>
            </a:r>
            <a:r>
              <a:rPr sz="1100" i="1" spc="-7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191933"/>
                </a:solidFill>
                <a:latin typeface="Calibri"/>
                <a:cs typeface="Calibri"/>
              </a:rPr>
              <a:t>.</a:t>
            </a:r>
            <a:r>
              <a:rPr sz="1100" i="1" spc="-7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191933"/>
                </a:solidFill>
                <a:latin typeface="Calibri"/>
                <a:cs typeface="Calibri"/>
              </a:rPr>
              <a:t>.</a:t>
            </a:r>
            <a:r>
              <a:rPr sz="1100" i="1" spc="-7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191933"/>
                </a:solidFill>
                <a:latin typeface="Calibri"/>
                <a:cs typeface="Calibri"/>
              </a:rPr>
              <a:t>,</a:t>
            </a:r>
            <a:r>
              <a:rPr sz="1100" i="1" spc="-7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i="1" spc="85" dirty="0">
                <a:solidFill>
                  <a:srgbClr val="191933"/>
                </a:solidFill>
                <a:latin typeface="Calibri"/>
                <a:cs typeface="Calibri"/>
              </a:rPr>
              <a:t>x</a:t>
            </a:r>
            <a:r>
              <a:rPr sz="1200" i="1" spc="127" baseline="-10416" dirty="0">
                <a:solidFill>
                  <a:srgbClr val="191933"/>
                </a:solidFill>
                <a:latin typeface="Calibri"/>
                <a:cs typeface="Calibri"/>
              </a:rPr>
              <a:t>n</a:t>
            </a:r>
            <a:r>
              <a:rPr sz="1100" spc="85" dirty="0">
                <a:solidFill>
                  <a:srgbClr val="191933"/>
                </a:solidFill>
                <a:latin typeface="Calibri"/>
                <a:cs typeface="Calibri"/>
              </a:rPr>
              <a:t>]</a:t>
            </a:r>
            <a:r>
              <a:rPr sz="1100" spc="10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-60" dirty="0">
                <a:solidFill>
                  <a:srgbClr val="191933"/>
                </a:solidFill>
                <a:latin typeface="Tahoma"/>
                <a:cs typeface="Tahoma"/>
              </a:rPr>
              <a:t>where</a:t>
            </a:r>
            <a:r>
              <a:rPr sz="1100" spc="1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each</a:t>
            </a:r>
            <a:r>
              <a:rPr sz="1100" spc="1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i="1" spc="120" dirty="0">
                <a:solidFill>
                  <a:srgbClr val="191933"/>
                </a:solidFill>
                <a:latin typeface="Calibri"/>
                <a:cs typeface="Calibri"/>
              </a:rPr>
              <a:t>x</a:t>
            </a:r>
            <a:r>
              <a:rPr sz="1200" i="1" spc="179" baseline="-10416" dirty="0">
                <a:solidFill>
                  <a:srgbClr val="191933"/>
                </a:solidFill>
                <a:latin typeface="Calibri"/>
                <a:cs typeface="Calibri"/>
              </a:rPr>
              <a:t>i</a:t>
            </a:r>
            <a:r>
              <a:rPr sz="1200" i="1" spc="315" baseline="-10416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-55" dirty="0">
                <a:solidFill>
                  <a:srgbClr val="191933"/>
                </a:solidFill>
                <a:latin typeface="Tahoma"/>
                <a:cs typeface="Tahoma"/>
              </a:rPr>
              <a:t>represents</a:t>
            </a:r>
            <a:r>
              <a:rPr sz="1100" spc="1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a</a:t>
            </a:r>
            <a:r>
              <a:rPr sz="1100" spc="1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specific</a:t>
            </a:r>
            <a:r>
              <a:rPr sz="1100" spc="1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behavior metric.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30" name="object 30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4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17</a:t>
            </a:r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93</a:t>
            </a:r>
          </a:p>
        </p:txBody>
      </p:sp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Behavioral</a:t>
            </a:r>
            <a:r>
              <a:rPr spc="35" dirty="0"/>
              <a:t> </a:t>
            </a:r>
            <a:r>
              <a:rPr spc="-25" dirty="0"/>
              <a:t>Prevention</a:t>
            </a:r>
            <a:r>
              <a:rPr spc="35" dirty="0"/>
              <a:t> </a:t>
            </a:r>
            <a:r>
              <a:rPr spc="-25" dirty="0"/>
              <a:t>Algorithm</a:t>
            </a:r>
            <a:r>
              <a:rPr spc="35" dirty="0"/>
              <a:t> </a:t>
            </a:r>
            <a:r>
              <a:rPr dirty="0"/>
              <a:t>(Step</a:t>
            </a:r>
            <a:r>
              <a:rPr spc="30" dirty="0"/>
              <a:t> </a:t>
            </a:r>
            <a:r>
              <a:rPr spc="-25" dirty="0"/>
              <a:t>2):Behavior</a:t>
            </a:r>
            <a:r>
              <a:rPr spc="35" dirty="0"/>
              <a:t> </a:t>
            </a:r>
            <a:r>
              <a:rPr spc="-50" dirty="0"/>
              <a:t>Analysis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568261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004773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403337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561490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1719643"/>
            <a:ext cx="65265" cy="6526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1089" y="2035962"/>
            <a:ext cx="65265" cy="65265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2221204" y="2402294"/>
            <a:ext cx="1099185" cy="0"/>
          </a:xfrm>
          <a:custGeom>
            <a:avLst/>
            <a:gdLst/>
            <a:ahLst/>
            <a:cxnLst/>
            <a:rect l="l" t="t" r="r" b="b"/>
            <a:pathLst>
              <a:path w="1099185">
                <a:moveTo>
                  <a:pt x="0" y="0"/>
                </a:moveTo>
                <a:lnTo>
                  <a:pt x="1099172" y="0"/>
                </a:lnTo>
              </a:path>
            </a:pathLst>
          </a:custGeom>
          <a:ln w="4559">
            <a:solidFill>
              <a:srgbClr val="1919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1089" y="3020529"/>
            <a:ext cx="65265" cy="65265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87744" y="327291"/>
            <a:ext cx="4432300" cy="291465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385"/>
              </a:spcBef>
            </a:pPr>
            <a:r>
              <a:rPr sz="800" b="1" spc="-10" dirty="0">
                <a:solidFill>
                  <a:srgbClr val="191933"/>
                </a:solidFill>
                <a:latin typeface="Arial"/>
                <a:cs typeface="Arial"/>
              </a:rPr>
              <a:t>Feature</a:t>
            </a:r>
            <a:r>
              <a:rPr sz="800" b="1" spc="-1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191933"/>
                </a:solidFill>
                <a:latin typeface="Arial"/>
                <a:cs typeface="Arial"/>
              </a:rPr>
              <a:t>Extraction:</a:t>
            </a:r>
            <a:endParaRPr sz="800">
              <a:latin typeface="Arial"/>
              <a:cs typeface="Arial"/>
            </a:endParaRPr>
          </a:p>
          <a:p>
            <a:pPr marL="327660">
              <a:lnSpc>
                <a:spcPts val="955"/>
              </a:lnSpc>
              <a:spcBef>
                <a:spcPts val="285"/>
              </a:spcBef>
            </a:pP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Extract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features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from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ongoing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system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activities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or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program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executions.</a:t>
            </a:r>
            <a:r>
              <a:rPr sz="800" spc="1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Let</a:t>
            </a:r>
            <a:endParaRPr sz="800">
              <a:latin typeface="Arial MT"/>
              <a:cs typeface="Arial MT"/>
            </a:endParaRPr>
          </a:p>
          <a:p>
            <a:pPr marL="327660">
              <a:lnSpc>
                <a:spcPts val="955"/>
              </a:lnSpc>
            </a:pPr>
            <a:r>
              <a:rPr sz="800" i="1" spc="180" dirty="0">
                <a:solidFill>
                  <a:srgbClr val="191933"/>
                </a:solidFill>
                <a:latin typeface="Calibri"/>
                <a:cs typeface="Calibri"/>
              </a:rPr>
              <a:t>X</a:t>
            </a:r>
            <a:r>
              <a:rPr sz="900" i="1" spc="270" baseline="-9259" dirty="0">
                <a:solidFill>
                  <a:srgbClr val="191933"/>
                </a:solidFill>
                <a:latin typeface="Calibri"/>
                <a:cs typeface="Calibri"/>
              </a:rPr>
              <a:t>t</a:t>
            </a:r>
            <a:r>
              <a:rPr sz="900" i="1" spc="217" baseline="-9259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spc="254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800" spc="5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spc="65" dirty="0">
                <a:solidFill>
                  <a:srgbClr val="191933"/>
                </a:solidFill>
                <a:latin typeface="Calibri"/>
                <a:cs typeface="Calibri"/>
              </a:rPr>
              <a:t>[</a:t>
            </a:r>
            <a:r>
              <a:rPr sz="800" i="1" spc="65" dirty="0">
                <a:solidFill>
                  <a:srgbClr val="191933"/>
                </a:solidFill>
                <a:latin typeface="Calibri"/>
                <a:cs typeface="Calibri"/>
              </a:rPr>
              <a:t>x</a:t>
            </a:r>
            <a:r>
              <a:rPr sz="900" spc="97" baseline="-9259" dirty="0">
                <a:solidFill>
                  <a:srgbClr val="191933"/>
                </a:solidFill>
                <a:latin typeface="Calibri"/>
                <a:cs typeface="Calibri"/>
              </a:rPr>
              <a:t>1</a:t>
            </a:r>
            <a:r>
              <a:rPr sz="900" i="1" spc="97" baseline="-9259" dirty="0">
                <a:solidFill>
                  <a:srgbClr val="191933"/>
                </a:solidFill>
                <a:latin typeface="Calibri"/>
                <a:cs typeface="Calibri"/>
              </a:rPr>
              <a:t>,t</a:t>
            </a:r>
            <a:r>
              <a:rPr sz="800" i="1" spc="65" dirty="0">
                <a:solidFill>
                  <a:srgbClr val="191933"/>
                </a:solidFill>
                <a:latin typeface="Calibri"/>
                <a:cs typeface="Calibri"/>
              </a:rPr>
              <a:t>,</a:t>
            </a:r>
            <a:r>
              <a:rPr sz="800" i="1" spc="-4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i="1" spc="85" dirty="0">
                <a:solidFill>
                  <a:srgbClr val="191933"/>
                </a:solidFill>
                <a:latin typeface="Calibri"/>
                <a:cs typeface="Calibri"/>
              </a:rPr>
              <a:t>x</a:t>
            </a:r>
            <a:r>
              <a:rPr sz="900" spc="127" baseline="-9259" dirty="0">
                <a:solidFill>
                  <a:srgbClr val="191933"/>
                </a:solidFill>
                <a:latin typeface="Calibri"/>
                <a:cs typeface="Calibri"/>
              </a:rPr>
              <a:t>2</a:t>
            </a:r>
            <a:r>
              <a:rPr sz="900" i="1" spc="127" baseline="-9259" dirty="0">
                <a:solidFill>
                  <a:srgbClr val="191933"/>
                </a:solidFill>
                <a:latin typeface="Calibri"/>
                <a:cs typeface="Calibri"/>
              </a:rPr>
              <a:t>,t</a:t>
            </a:r>
            <a:r>
              <a:rPr sz="800" i="1" spc="85" dirty="0">
                <a:solidFill>
                  <a:srgbClr val="191933"/>
                </a:solidFill>
                <a:latin typeface="Calibri"/>
                <a:cs typeface="Calibri"/>
              </a:rPr>
              <a:t>,</a:t>
            </a:r>
            <a:r>
              <a:rPr sz="800" i="1" spc="-3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i="1" dirty="0">
                <a:solidFill>
                  <a:srgbClr val="191933"/>
                </a:solidFill>
                <a:latin typeface="Calibri"/>
                <a:cs typeface="Calibri"/>
              </a:rPr>
              <a:t>.</a:t>
            </a:r>
            <a:r>
              <a:rPr sz="800" i="1" spc="-4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i="1" dirty="0">
                <a:solidFill>
                  <a:srgbClr val="191933"/>
                </a:solidFill>
                <a:latin typeface="Calibri"/>
                <a:cs typeface="Calibri"/>
              </a:rPr>
              <a:t>.</a:t>
            </a:r>
            <a:r>
              <a:rPr sz="800" i="1" spc="-4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i="1" dirty="0">
                <a:solidFill>
                  <a:srgbClr val="191933"/>
                </a:solidFill>
                <a:latin typeface="Calibri"/>
                <a:cs typeface="Calibri"/>
              </a:rPr>
              <a:t>.</a:t>
            </a:r>
            <a:r>
              <a:rPr sz="800" i="1" spc="-3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i="1" dirty="0">
                <a:solidFill>
                  <a:srgbClr val="191933"/>
                </a:solidFill>
                <a:latin typeface="Calibri"/>
                <a:cs typeface="Calibri"/>
              </a:rPr>
              <a:t>,</a:t>
            </a:r>
            <a:r>
              <a:rPr sz="800" i="1" spc="-4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i="1" spc="90" dirty="0">
                <a:solidFill>
                  <a:srgbClr val="191933"/>
                </a:solidFill>
                <a:latin typeface="Calibri"/>
                <a:cs typeface="Calibri"/>
              </a:rPr>
              <a:t>x</a:t>
            </a:r>
            <a:r>
              <a:rPr sz="900" i="1" spc="135" baseline="-9259" dirty="0">
                <a:solidFill>
                  <a:srgbClr val="191933"/>
                </a:solidFill>
                <a:latin typeface="Calibri"/>
                <a:cs typeface="Calibri"/>
              </a:rPr>
              <a:t>n,t</a:t>
            </a:r>
            <a:r>
              <a:rPr sz="800" spc="90" dirty="0">
                <a:solidFill>
                  <a:srgbClr val="191933"/>
                </a:solidFill>
                <a:latin typeface="Calibri"/>
                <a:cs typeface="Calibri"/>
              </a:rPr>
              <a:t>]</a:t>
            </a:r>
            <a:r>
              <a:rPr sz="800" spc="10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denote</a:t>
            </a:r>
            <a:r>
              <a:rPr sz="800" spc="6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800" spc="6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feature</a:t>
            </a:r>
            <a:r>
              <a:rPr sz="800" spc="6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vector</a:t>
            </a:r>
            <a:r>
              <a:rPr sz="800" spc="6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at</a:t>
            </a:r>
            <a:r>
              <a:rPr sz="800" spc="6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time</a:t>
            </a:r>
            <a:r>
              <a:rPr sz="800" spc="6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i="1" spc="-25" dirty="0">
                <a:solidFill>
                  <a:srgbClr val="191933"/>
                </a:solidFill>
                <a:latin typeface="Calibri"/>
                <a:cs typeface="Calibri"/>
              </a:rPr>
              <a:t>t</a:t>
            </a: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.</a:t>
            </a:r>
            <a:endParaRPr sz="800">
              <a:latin typeface="Arial MT"/>
              <a:cs typeface="Arial MT"/>
            </a:endParaRPr>
          </a:p>
          <a:p>
            <a:pPr marL="50800">
              <a:lnSpc>
                <a:spcPct val="100000"/>
              </a:lnSpc>
              <a:spcBef>
                <a:spcPts val="285"/>
              </a:spcBef>
            </a:pPr>
            <a:r>
              <a:rPr sz="800" b="1" spc="-30" dirty="0">
                <a:solidFill>
                  <a:srgbClr val="191933"/>
                </a:solidFill>
                <a:latin typeface="Arial"/>
                <a:cs typeface="Arial"/>
              </a:rPr>
              <a:t>Behavioral</a:t>
            </a:r>
            <a:r>
              <a:rPr sz="800" b="1" spc="1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191933"/>
                </a:solidFill>
                <a:latin typeface="Arial"/>
                <a:cs typeface="Arial"/>
              </a:rPr>
              <a:t>Modeling:</a:t>
            </a:r>
            <a:endParaRPr sz="800">
              <a:latin typeface="Arial"/>
              <a:cs typeface="Arial"/>
            </a:endParaRPr>
          </a:p>
          <a:p>
            <a:pPr marL="327660" marR="98425">
              <a:lnSpc>
                <a:spcPts val="950"/>
              </a:lnSpc>
              <a:spcBef>
                <a:spcPts val="325"/>
              </a:spcBef>
            </a:pPr>
            <a:r>
              <a:rPr sz="800" b="1" spc="-10" dirty="0">
                <a:solidFill>
                  <a:srgbClr val="191933"/>
                </a:solidFill>
                <a:latin typeface="Arial"/>
                <a:cs typeface="Arial"/>
              </a:rPr>
              <a:t>Statistical</a:t>
            </a:r>
            <a:r>
              <a:rPr sz="800" b="1" spc="2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40" dirty="0">
                <a:solidFill>
                  <a:srgbClr val="191933"/>
                </a:solidFill>
                <a:latin typeface="Arial"/>
                <a:cs typeface="Arial"/>
              </a:rPr>
              <a:t>Analysis:</a:t>
            </a:r>
            <a:r>
              <a:rPr sz="800" b="1" spc="9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Use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statistical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models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represent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normal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behavior.</a:t>
            </a:r>
            <a:r>
              <a:rPr sz="800" spc="1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For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 example,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multivariate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normal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distribution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can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be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used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model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normal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behavior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across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 multiple</a:t>
            </a:r>
            <a:r>
              <a:rPr sz="800" spc="114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features.</a:t>
            </a:r>
            <a:endParaRPr sz="800">
              <a:latin typeface="Arial MT"/>
              <a:cs typeface="Arial MT"/>
            </a:endParaRPr>
          </a:p>
          <a:p>
            <a:pPr marL="327660">
              <a:lnSpc>
                <a:spcPct val="100000"/>
              </a:lnSpc>
              <a:spcBef>
                <a:spcPts val="250"/>
              </a:spcBef>
            </a:pP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Mean</a:t>
            </a:r>
            <a:r>
              <a:rPr sz="800" b="1" spc="5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191933"/>
                </a:solidFill>
                <a:latin typeface="Arial"/>
                <a:cs typeface="Arial"/>
              </a:rPr>
              <a:t>Vector</a:t>
            </a:r>
            <a:r>
              <a:rPr sz="800" b="1" spc="4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50" dirty="0">
                <a:solidFill>
                  <a:srgbClr val="191933"/>
                </a:solidFill>
                <a:latin typeface="Arial"/>
                <a:cs typeface="Arial"/>
              </a:rPr>
              <a:t>(</a:t>
            </a:r>
            <a:r>
              <a:rPr sz="800" i="1" spc="50" dirty="0">
                <a:solidFill>
                  <a:srgbClr val="191933"/>
                </a:solidFill>
                <a:latin typeface="Calibri"/>
                <a:cs typeface="Calibri"/>
              </a:rPr>
              <a:t>µ</a:t>
            </a:r>
            <a:r>
              <a:rPr sz="800" b="1" spc="50" dirty="0">
                <a:solidFill>
                  <a:srgbClr val="191933"/>
                </a:solidFill>
                <a:latin typeface="Arial"/>
                <a:cs typeface="Arial"/>
              </a:rPr>
              <a:t>):</a:t>
            </a:r>
            <a:r>
              <a:rPr sz="800" b="1" spc="13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Average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observed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features.</a:t>
            </a:r>
            <a:endParaRPr sz="800">
              <a:latin typeface="Arial MT"/>
              <a:cs typeface="Arial MT"/>
            </a:endParaRPr>
          </a:p>
          <a:p>
            <a:pPr marL="327660" marR="454025">
              <a:lnSpc>
                <a:spcPct val="129700"/>
              </a:lnSpc>
            </a:pPr>
            <a:r>
              <a:rPr sz="800" b="1" spc="-40" dirty="0">
                <a:solidFill>
                  <a:srgbClr val="191933"/>
                </a:solidFill>
                <a:latin typeface="Arial"/>
                <a:cs typeface="Arial"/>
              </a:rPr>
              <a:t>Covariance</a:t>
            </a:r>
            <a:r>
              <a:rPr sz="800" b="1" spc="4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Matrix</a:t>
            </a:r>
            <a:r>
              <a:rPr sz="800" b="1" spc="4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95" dirty="0">
                <a:solidFill>
                  <a:srgbClr val="191933"/>
                </a:solidFill>
                <a:latin typeface="Arial"/>
                <a:cs typeface="Arial"/>
              </a:rPr>
              <a:t>(</a:t>
            </a:r>
            <a:r>
              <a:rPr sz="800" spc="95" dirty="0">
                <a:solidFill>
                  <a:srgbClr val="191933"/>
                </a:solidFill>
                <a:latin typeface="Calibri"/>
                <a:cs typeface="Calibri"/>
              </a:rPr>
              <a:t>Σ</a:t>
            </a:r>
            <a:r>
              <a:rPr sz="800" b="1" spc="95" dirty="0">
                <a:solidFill>
                  <a:srgbClr val="191933"/>
                </a:solidFill>
                <a:latin typeface="Arial"/>
                <a:cs typeface="Arial"/>
              </a:rPr>
              <a:t>):</a:t>
            </a:r>
            <a:r>
              <a:rPr sz="800" b="1" spc="12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Measures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variance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and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correlation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between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features.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800" spc="-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normal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behavior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i="1" spc="195" dirty="0">
                <a:solidFill>
                  <a:srgbClr val="191933"/>
                </a:solidFill>
                <a:latin typeface="Calibri"/>
                <a:cs typeface="Calibri"/>
              </a:rPr>
              <a:t>B</a:t>
            </a:r>
            <a:r>
              <a:rPr sz="800" i="1" spc="9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can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be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represented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as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i="1" spc="155" dirty="0">
                <a:solidFill>
                  <a:srgbClr val="191933"/>
                </a:solidFill>
                <a:latin typeface="Calibri"/>
                <a:cs typeface="Calibri"/>
              </a:rPr>
              <a:t>N</a:t>
            </a:r>
            <a:r>
              <a:rPr sz="800" i="1" spc="-10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spc="65" dirty="0">
                <a:solidFill>
                  <a:srgbClr val="191933"/>
                </a:solidFill>
                <a:latin typeface="Calibri"/>
                <a:cs typeface="Calibri"/>
              </a:rPr>
              <a:t>(</a:t>
            </a:r>
            <a:r>
              <a:rPr sz="800" i="1" spc="65" dirty="0">
                <a:solidFill>
                  <a:srgbClr val="191933"/>
                </a:solidFill>
                <a:latin typeface="Calibri"/>
                <a:cs typeface="Calibri"/>
              </a:rPr>
              <a:t>µ,</a:t>
            </a:r>
            <a:r>
              <a:rPr sz="800" i="1" spc="-4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spc="90" dirty="0">
                <a:solidFill>
                  <a:srgbClr val="191933"/>
                </a:solidFill>
                <a:latin typeface="Calibri"/>
                <a:cs typeface="Calibri"/>
              </a:rPr>
              <a:t>Σ)</a:t>
            </a:r>
            <a:r>
              <a:rPr sz="800" spc="90" dirty="0">
                <a:solidFill>
                  <a:srgbClr val="191933"/>
                </a:solidFill>
                <a:latin typeface="Arial MT"/>
                <a:cs typeface="Arial MT"/>
              </a:rPr>
              <a:t>.</a:t>
            </a:r>
            <a:endParaRPr sz="800">
              <a:latin typeface="Arial MT"/>
              <a:cs typeface="Arial MT"/>
            </a:endParaRPr>
          </a:p>
          <a:p>
            <a:pPr marL="50800">
              <a:lnSpc>
                <a:spcPct val="100000"/>
              </a:lnSpc>
              <a:spcBef>
                <a:spcPts val="285"/>
              </a:spcBef>
            </a:pPr>
            <a:r>
              <a:rPr sz="800" b="1" spc="-25" dirty="0">
                <a:solidFill>
                  <a:srgbClr val="191933"/>
                </a:solidFill>
                <a:latin typeface="Arial"/>
                <a:cs typeface="Arial"/>
              </a:rPr>
              <a:t>Anomaly</a:t>
            </a:r>
            <a:r>
              <a:rPr sz="800" b="1" spc="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191933"/>
                </a:solidFill>
                <a:latin typeface="Arial"/>
                <a:cs typeface="Arial"/>
              </a:rPr>
              <a:t>Detection:</a:t>
            </a:r>
            <a:endParaRPr sz="800">
              <a:latin typeface="Arial"/>
              <a:cs typeface="Arial"/>
            </a:endParaRPr>
          </a:p>
          <a:p>
            <a:pPr marL="327660" marR="49530">
              <a:lnSpc>
                <a:spcPts val="850"/>
              </a:lnSpc>
              <a:spcBef>
                <a:spcPts val="505"/>
              </a:spcBef>
            </a:pPr>
            <a:r>
              <a:rPr sz="1200" b="1" spc="-44" baseline="6944" dirty="0">
                <a:solidFill>
                  <a:srgbClr val="191933"/>
                </a:solidFill>
                <a:latin typeface="Arial"/>
                <a:cs typeface="Arial"/>
              </a:rPr>
              <a:t>Mahalanobis</a:t>
            </a:r>
            <a:r>
              <a:rPr sz="1200" b="1" spc="60" baseline="6944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200" b="1" spc="-15" baseline="6944" dirty="0">
                <a:solidFill>
                  <a:srgbClr val="191933"/>
                </a:solidFill>
                <a:latin typeface="Arial"/>
                <a:cs typeface="Arial"/>
              </a:rPr>
              <a:t>Distance:</a:t>
            </a:r>
            <a:r>
              <a:rPr sz="1200" b="1" spc="179" baseline="6944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200" spc="-30" baseline="6944" dirty="0">
                <a:solidFill>
                  <a:srgbClr val="191933"/>
                </a:solidFill>
                <a:latin typeface="Arial MT"/>
                <a:cs typeface="Arial MT"/>
              </a:rPr>
              <a:t>Measure</a:t>
            </a:r>
            <a:r>
              <a:rPr sz="1200" spc="52" baseline="6944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200" baseline="6944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1200" spc="52" baseline="6944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200" spc="-15" baseline="6944" dirty="0">
                <a:solidFill>
                  <a:srgbClr val="191933"/>
                </a:solidFill>
                <a:latin typeface="Arial MT"/>
                <a:cs typeface="Arial MT"/>
              </a:rPr>
              <a:t>distance</a:t>
            </a:r>
            <a:r>
              <a:rPr sz="1200" spc="52" baseline="6944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200" baseline="6944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1200" spc="52" baseline="6944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200" baseline="6944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1200" spc="52" baseline="6944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200" baseline="6944" dirty="0">
                <a:solidFill>
                  <a:srgbClr val="191933"/>
                </a:solidFill>
                <a:latin typeface="Arial MT"/>
                <a:cs typeface="Arial MT"/>
              </a:rPr>
              <a:t>current</a:t>
            </a:r>
            <a:r>
              <a:rPr sz="1200" spc="52" baseline="6944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200" spc="-15" baseline="6944" dirty="0">
                <a:solidFill>
                  <a:srgbClr val="191933"/>
                </a:solidFill>
                <a:latin typeface="Arial MT"/>
                <a:cs typeface="Arial MT"/>
              </a:rPr>
              <a:t>behavior</a:t>
            </a:r>
            <a:r>
              <a:rPr sz="1200" spc="52" baseline="6944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200" i="1" spc="270" baseline="6944" dirty="0">
                <a:solidFill>
                  <a:srgbClr val="191933"/>
                </a:solidFill>
                <a:latin typeface="Calibri"/>
                <a:cs typeface="Calibri"/>
              </a:rPr>
              <a:t>X</a:t>
            </a:r>
            <a:r>
              <a:rPr sz="600" i="1" spc="180" dirty="0">
                <a:solidFill>
                  <a:srgbClr val="191933"/>
                </a:solidFill>
                <a:latin typeface="Calibri"/>
                <a:cs typeface="Calibri"/>
              </a:rPr>
              <a:t>t</a:t>
            </a:r>
            <a:r>
              <a:rPr sz="600" i="1" spc="17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200" baseline="6944" dirty="0">
                <a:solidFill>
                  <a:srgbClr val="191933"/>
                </a:solidFill>
                <a:latin typeface="Arial MT"/>
                <a:cs typeface="Arial MT"/>
              </a:rPr>
              <a:t>from</a:t>
            </a:r>
            <a:r>
              <a:rPr sz="1200" spc="52" baseline="6944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200" baseline="6944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1200" spc="52" baseline="6944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200" spc="-15" baseline="6944" dirty="0">
                <a:solidFill>
                  <a:srgbClr val="191933"/>
                </a:solidFill>
                <a:latin typeface="Arial MT"/>
                <a:cs typeface="Arial MT"/>
              </a:rPr>
              <a:t>normal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behavior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profile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using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Mahalanobis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distance.</a:t>
            </a: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5"/>
              </a:spcBef>
            </a:pPr>
            <a:endParaRPr sz="800">
              <a:latin typeface="Arial MT"/>
              <a:cs typeface="Arial MT"/>
            </a:endParaRPr>
          </a:p>
          <a:p>
            <a:pPr marL="276860" algn="ctr">
              <a:lnSpc>
                <a:spcPct val="100000"/>
              </a:lnSpc>
            </a:pPr>
            <a:r>
              <a:rPr sz="800" i="1" spc="190" dirty="0">
                <a:solidFill>
                  <a:srgbClr val="191933"/>
                </a:solidFill>
                <a:latin typeface="Calibri"/>
                <a:cs typeface="Calibri"/>
              </a:rPr>
              <a:t>D</a:t>
            </a:r>
            <a:r>
              <a:rPr sz="900" i="1" spc="284" baseline="-13888" dirty="0">
                <a:solidFill>
                  <a:srgbClr val="191933"/>
                </a:solidFill>
                <a:latin typeface="Calibri"/>
                <a:cs typeface="Calibri"/>
              </a:rPr>
              <a:t>M</a:t>
            </a:r>
            <a:r>
              <a:rPr sz="900" i="1" spc="-30" baseline="-13888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spc="145" dirty="0">
                <a:solidFill>
                  <a:srgbClr val="191933"/>
                </a:solidFill>
                <a:latin typeface="Calibri"/>
                <a:cs typeface="Calibri"/>
              </a:rPr>
              <a:t>(</a:t>
            </a:r>
            <a:r>
              <a:rPr sz="800" i="1" spc="145" dirty="0">
                <a:solidFill>
                  <a:srgbClr val="191933"/>
                </a:solidFill>
                <a:latin typeface="Calibri"/>
                <a:cs typeface="Calibri"/>
              </a:rPr>
              <a:t>X</a:t>
            </a:r>
            <a:r>
              <a:rPr sz="900" i="1" spc="217" baseline="-9259" dirty="0">
                <a:solidFill>
                  <a:srgbClr val="191933"/>
                </a:solidFill>
                <a:latin typeface="Calibri"/>
                <a:cs typeface="Calibri"/>
              </a:rPr>
              <a:t>t</a:t>
            </a:r>
            <a:r>
              <a:rPr sz="800" spc="145" dirty="0">
                <a:solidFill>
                  <a:srgbClr val="191933"/>
                </a:solidFill>
                <a:latin typeface="Calibri"/>
                <a:cs typeface="Calibri"/>
              </a:rPr>
              <a:t>)</a:t>
            </a:r>
            <a:r>
              <a:rPr sz="800" spc="6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spc="254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800" spc="6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200" spc="397" baseline="69444" dirty="0">
                <a:solidFill>
                  <a:srgbClr val="191933"/>
                </a:solidFill>
                <a:latin typeface="Arial MT"/>
                <a:cs typeface="Arial MT"/>
              </a:rPr>
              <a:t>,</a:t>
            </a:r>
            <a:r>
              <a:rPr sz="800" spc="265" dirty="0">
                <a:solidFill>
                  <a:srgbClr val="191933"/>
                </a:solidFill>
                <a:latin typeface="Calibri"/>
                <a:cs typeface="Calibri"/>
              </a:rPr>
              <a:t>(</a:t>
            </a:r>
            <a:r>
              <a:rPr sz="800" i="1" spc="265" dirty="0">
                <a:solidFill>
                  <a:srgbClr val="191933"/>
                </a:solidFill>
                <a:latin typeface="Calibri"/>
                <a:cs typeface="Calibri"/>
              </a:rPr>
              <a:t>X</a:t>
            </a:r>
            <a:r>
              <a:rPr sz="900" i="1" spc="397" baseline="-9259" dirty="0">
                <a:solidFill>
                  <a:srgbClr val="191933"/>
                </a:solidFill>
                <a:latin typeface="Calibri"/>
                <a:cs typeface="Calibri"/>
              </a:rPr>
              <a:t>t</a:t>
            </a:r>
            <a:r>
              <a:rPr sz="900" i="1" spc="165" baseline="-9259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i="1" spc="140" dirty="0">
                <a:solidFill>
                  <a:srgbClr val="191933"/>
                </a:solidFill>
                <a:latin typeface="Georgia"/>
                <a:cs typeface="Georgia"/>
              </a:rPr>
              <a:t>−</a:t>
            </a:r>
            <a:r>
              <a:rPr sz="800" i="1" spc="5" dirty="0">
                <a:solidFill>
                  <a:srgbClr val="191933"/>
                </a:solidFill>
                <a:latin typeface="Georgia"/>
                <a:cs typeface="Georgia"/>
              </a:rPr>
              <a:t> </a:t>
            </a:r>
            <a:r>
              <a:rPr sz="800" i="1" spc="105" dirty="0">
                <a:solidFill>
                  <a:srgbClr val="191933"/>
                </a:solidFill>
                <a:latin typeface="Calibri"/>
                <a:cs typeface="Calibri"/>
              </a:rPr>
              <a:t>µ</a:t>
            </a:r>
            <a:r>
              <a:rPr sz="800" spc="105" dirty="0">
                <a:solidFill>
                  <a:srgbClr val="191933"/>
                </a:solidFill>
                <a:latin typeface="Calibri"/>
                <a:cs typeface="Calibri"/>
              </a:rPr>
              <a:t>)</a:t>
            </a:r>
            <a:r>
              <a:rPr sz="900" i="1" spc="157" baseline="23148" dirty="0">
                <a:solidFill>
                  <a:srgbClr val="191933"/>
                </a:solidFill>
                <a:latin typeface="Calibri"/>
                <a:cs typeface="Calibri"/>
              </a:rPr>
              <a:t>T</a:t>
            </a:r>
            <a:r>
              <a:rPr sz="900" i="1" spc="22" baseline="23148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spc="170" dirty="0">
                <a:solidFill>
                  <a:srgbClr val="191933"/>
                </a:solidFill>
                <a:latin typeface="Calibri"/>
                <a:cs typeface="Calibri"/>
              </a:rPr>
              <a:t>Σ</a:t>
            </a:r>
            <a:r>
              <a:rPr sz="900" spc="254" baseline="23148" dirty="0">
                <a:solidFill>
                  <a:srgbClr val="191933"/>
                </a:solidFill>
                <a:latin typeface="Cambria"/>
                <a:cs typeface="Cambria"/>
              </a:rPr>
              <a:t>−</a:t>
            </a:r>
            <a:r>
              <a:rPr sz="900" spc="254" baseline="23148" dirty="0">
                <a:solidFill>
                  <a:srgbClr val="191933"/>
                </a:solidFill>
                <a:latin typeface="Calibri"/>
                <a:cs typeface="Calibri"/>
              </a:rPr>
              <a:t>1</a:t>
            </a:r>
            <a:r>
              <a:rPr sz="800" spc="170" dirty="0">
                <a:solidFill>
                  <a:srgbClr val="191933"/>
                </a:solidFill>
                <a:latin typeface="Calibri"/>
                <a:cs typeface="Calibri"/>
              </a:rPr>
              <a:t>(</a:t>
            </a:r>
            <a:r>
              <a:rPr sz="800" i="1" spc="170" dirty="0">
                <a:solidFill>
                  <a:srgbClr val="191933"/>
                </a:solidFill>
                <a:latin typeface="Calibri"/>
                <a:cs typeface="Calibri"/>
              </a:rPr>
              <a:t>X</a:t>
            </a:r>
            <a:r>
              <a:rPr sz="900" i="1" spc="254" baseline="-9259" dirty="0">
                <a:solidFill>
                  <a:srgbClr val="191933"/>
                </a:solidFill>
                <a:latin typeface="Calibri"/>
                <a:cs typeface="Calibri"/>
              </a:rPr>
              <a:t>t</a:t>
            </a:r>
            <a:r>
              <a:rPr sz="900" i="1" spc="165" baseline="-9259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i="1" spc="140" dirty="0">
                <a:solidFill>
                  <a:srgbClr val="191933"/>
                </a:solidFill>
                <a:latin typeface="Georgia"/>
                <a:cs typeface="Georgia"/>
              </a:rPr>
              <a:t>−</a:t>
            </a:r>
            <a:r>
              <a:rPr sz="800" i="1" spc="5" dirty="0">
                <a:solidFill>
                  <a:srgbClr val="191933"/>
                </a:solidFill>
                <a:latin typeface="Georgia"/>
                <a:cs typeface="Georgia"/>
              </a:rPr>
              <a:t> </a:t>
            </a:r>
            <a:r>
              <a:rPr sz="800" i="1" spc="60" dirty="0">
                <a:solidFill>
                  <a:srgbClr val="191933"/>
                </a:solidFill>
                <a:latin typeface="Calibri"/>
                <a:cs typeface="Calibri"/>
              </a:rPr>
              <a:t>µ</a:t>
            </a:r>
            <a:r>
              <a:rPr sz="800" spc="60" dirty="0">
                <a:solidFill>
                  <a:srgbClr val="191933"/>
                </a:solidFill>
                <a:latin typeface="Calibri"/>
                <a:cs typeface="Calibri"/>
              </a:rPr>
              <a:t>)</a:t>
            </a: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800">
              <a:latin typeface="Calibri"/>
              <a:cs typeface="Calibri"/>
            </a:endParaRPr>
          </a:p>
          <a:p>
            <a:pPr marL="327660">
              <a:lnSpc>
                <a:spcPts val="955"/>
              </a:lnSpc>
            </a:pP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where</a:t>
            </a:r>
            <a:r>
              <a:rPr sz="8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i="1" spc="190" dirty="0">
                <a:solidFill>
                  <a:srgbClr val="191933"/>
                </a:solidFill>
                <a:latin typeface="Calibri"/>
                <a:cs typeface="Calibri"/>
              </a:rPr>
              <a:t>D</a:t>
            </a:r>
            <a:r>
              <a:rPr sz="900" i="1" spc="284" baseline="-13888" dirty="0">
                <a:solidFill>
                  <a:srgbClr val="191933"/>
                </a:solidFill>
                <a:latin typeface="Calibri"/>
                <a:cs typeface="Calibri"/>
              </a:rPr>
              <a:t>M</a:t>
            </a:r>
            <a:r>
              <a:rPr sz="900" i="1" spc="-52" baseline="-13888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spc="145" dirty="0">
                <a:solidFill>
                  <a:srgbClr val="191933"/>
                </a:solidFill>
                <a:latin typeface="Calibri"/>
                <a:cs typeface="Calibri"/>
              </a:rPr>
              <a:t>(</a:t>
            </a:r>
            <a:r>
              <a:rPr sz="800" i="1" spc="145" dirty="0">
                <a:solidFill>
                  <a:srgbClr val="191933"/>
                </a:solidFill>
                <a:latin typeface="Calibri"/>
                <a:cs typeface="Calibri"/>
              </a:rPr>
              <a:t>X</a:t>
            </a:r>
            <a:r>
              <a:rPr sz="900" i="1" spc="217" baseline="-9259" dirty="0">
                <a:solidFill>
                  <a:srgbClr val="191933"/>
                </a:solidFill>
                <a:latin typeface="Calibri"/>
                <a:cs typeface="Calibri"/>
              </a:rPr>
              <a:t>t</a:t>
            </a:r>
            <a:r>
              <a:rPr sz="800" spc="145" dirty="0">
                <a:solidFill>
                  <a:srgbClr val="191933"/>
                </a:solidFill>
                <a:latin typeface="Calibri"/>
                <a:cs typeface="Calibri"/>
              </a:rPr>
              <a:t>)</a:t>
            </a:r>
            <a:r>
              <a:rPr sz="800" spc="5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is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8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Mahalanobis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distance,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i="1" spc="80" dirty="0">
                <a:solidFill>
                  <a:srgbClr val="191933"/>
                </a:solidFill>
                <a:latin typeface="Calibri"/>
                <a:cs typeface="Calibri"/>
              </a:rPr>
              <a:t>µ</a:t>
            </a:r>
            <a:r>
              <a:rPr sz="800" i="1" spc="5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is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mean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vector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normal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behavior,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and</a:t>
            </a:r>
            <a:endParaRPr sz="800">
              <a:latin typeface="Arial MT"/>
              <a:cs typeface="Arial MT"/>
            </a:endParaRPr>
          </a:p>
          <a:p>
            <a:pPr marL="327660">
              <a:lnSpc>
                <a:spcPts val="955"/>
              </a:lnSpc>
            </a:pPr>
            <a:r>
              <a:rPr sz="800" spc="180" dirty="0">
                <a:solidFill>
                  <a:srgbClr val="191933"/>
                </a:solidFill>
                <a:latin typeface="Calibri"/>
                <a:cs typeface="Calibri"/>
              </a:rPr>
              <a:t>Σ</a:t>
            </a:r>
            <a:r>
              <a:rPr sz="900" spc="270" baseline="27777" dirty="0">
                <a:solidFill>
                  <a:srgbClr val="191933"/>
                </a:solidFill>
                <a:latin typeface="Cambria"/>
                <a:cs typeface="Cambria"/>
              </a:rPr>
              <a:t>−</a:t>
            </a:r>
            <a:r>
              <a:rPr sz="900" spc="270" baseline="27777" dirty="0">
                <a:solidFill>
                  <a:srgbClr val="191933"/>
                </a:solidFill>
                <a:latin typeface="Calibri"/>
                <a:cs typeface="Calibri"/>
              </a:rPr>
              <a:t>1</a:t>
            </a:r>
            <a:r>
              <a:rPr sz="900" spc="262" baseline="27777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is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inverse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800" spc="5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covariance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matrix.</a:t>
            </a:r>
            <a:endParaRPr sz="800">
              <a:latin typeface="Arial MT"/>
              <a:cs typeface="Arial MT"/>
            </a:endParaRPr>
          </a:p>
          <a:p>
            <a:pPr marL="327660">
              <a:lnSpc>
                <a:spcPts val="955"/>
              </a:lnSpc>
              <a:spcBef>
                <a:spcPts val="285"/>
              </a:spcBef>
            </a:pPr>
            <a:r>
              <a:rPr sz="800" b="1" spc="-30" dirty="0">
                <a:solidFill>
                  <a:srgbClr val="191933"/>
                </a:solidFill>
                <a:latin typeface="Arial"/>
                <a:cs typeface="Arial"/>
              </a:rPr>
              <a:t>Thresholding:</a:t>
            </a:r>
            <a:r>
              <a:rPr sz="800" b="1" spc="10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Compare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Mahalanobis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distance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with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predefined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threshold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i="1" dirty="0">
                <a:solidFill>
                  <a:srgbClr val="191933"/>
                </a:solidFill>
                <a:latin typeface="Calibri"/>
                <a:cs typeface="Calibri"/>
              </a:rPr>
              <a:t>θ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.</a:t>
            </a:r>
            <a:r>
              <a:rPr sz="800" spc="1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If</a:t>
            </a:r>
            <a:endParaRPr sz="800">
              <a:latin typeface="Arial MT"/>
              <a:cs typeface="Arial MT"/>
            </a:endParaRPr>
          </a:p>
          <a:p>
            <a:pPr marL="327660">
              <a:lnSpc>
                <a:spcPts val="955"/>
              </a:lnSpc>
            </a:pPr>
            <a:r>
              <a:rPr sz="800" i="1" spc="190" dirty="0">
                <a:solidFill>
                  <a:srgbClr val="191933"/>
                </a:solidFill>
                <a:latin typeface="Calibri"/>
                <a:cs typeface="Calibri"/>
              </a:rPr>
              <a:t>D</a:t>
            </a:r>
            <a:r>
              <a:rPr sz="900" i="1" spc="284" baseline="-13888" dirty="0">
                <a:solidFill>
                  <a:srgbClr val="191933"/>
                </a:solidFill>
                <a:latin typeface="Calibri"/>
                <a:cs typeface="Calibri"/>
              </a:rPr>
              <a:t>M</a:t>
            </a:r>
            <a:r>
              <a:rPr sz="900" i="1" spc="-52" baseline="-13888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spc="145" dirty="0">
                <a:solidFill>
                  <a:srgbClr val="191933"/>
                </a:solidFill>
                <a:latin typeface="Calibri"/>
                <a:cs typeface="Calibri"/>
              </a:rPr>
              <a:t>(</a:t>
            </a:r>
            <a:r>
              <a:rPr sz="800" i="1" spc="145" dirty="0">
                <a:solidFill>
                  <a:srgbClr val="191933"/>
                </a:solidFill>
                <a:latin typeface="Calibri"/>
                <a:cs typeface="Calibri"/>
              </a:rPr>
              <a:t>X</a:t>
            </a:r>
            <a:r>
              <a:rPr sz="900" i="1" spc="217" baseline="-9259" dirty="0">
                <a:solidFill>
                  <a:srgbClr val="191933"/>
                </a:solidFill>
                <a:latin typeface="Calibri"/>
                <a:cs typeface="Calibri"/>
              </a:rPr>
              <a:t>t</a:t>
            </a:r>
            <a:r>
              <a:rPr sz="800" spc="145" dirty="0">
                <a:solidFill>
                  <a:srgbClr val="191933"/>
                </a:solidFill>
                <a:latin typeface="Calibri"/>
                <a:cs typeface="Calibri"/>
              </a:rPr>
              <a:t>)</a:t>
            </a:r>
            <a:r>
              <a:rPr sz="800" spc="3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i="1" spc="254" dirty="0">
                <a:solidFill>
                  <a:srgbClr val="191933"/>
                </a:solidFill>
                <a:latin typeface="Calibri"/>
                <a:cs typeface="Calibri"/>
              </a:rPr>
              <a:t>&gt;</a:t>
            </a:r>
            <a:r>
              <a:rPr sz="800" i="1" spc="3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i="1" dirty="0">
                <a:solidFill>
                  <a:srgbClr val="191933"/>
                </a:solidFill>
                <a:latin typeface="Calibri"/>
                <a:cs typeface="Calibri"/>
              </a:rPr>
              <a:t>θ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,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behavior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is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considered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anomalous.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3" name="object 13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4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18</a:t>
            </a:r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93</a:t>
            </a:r>
          </a:p>
        </p:txBody>
      </p:sp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3456304"/>
          </a:xfrm>
          <a:custGeom>
            <a:avLst/>
            <a:gdLst/>
            <a:ahLst/>
            <a:cxnLst/>
            <a:rect l="l" t="t" r="r" b="b"/>
            <a:pathLst>
              <a:path w="4608195" h="3456304">
                <a:moveTo>
                  <a:pt x="4608004" y="0"/>
                </a:moveTo>
                <a:lnTo>
                  <a:pt x="0" y="0"/>
                </a:lnTo>
                <a:lnTo>
                  <a:pt x="0" y="3456000"/>
                </a:lnTo>
                <a:lnTo>
                  <a:pt x="4608004" y="3456000"/>
                </a:lnTo>
                <a:lnTo>
                  <a:pt x="4608004" y="0"/>
                </a:lnTo>
                <a:close/>
              </a:path>
            </a:pathLst>
          </a:custGeom>
          <a:solidFill>
            <a:srgbClr val="B2E5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069083" y="3261575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D6E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989465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EA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167268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EAF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3260445" y="3248732"/>
            <a:ext cx="203200" cy="55880"/>
            <a:chOff x="3260445" y="3248732"/>
            <a:chExt cx="203200" cy="55880"/>
          </a:xfrm>
        </p:grpSpPr>
        <p:sp>
          <p:nvSpPr>
            <p:cNvPr id="7" name="object 7"/>
            <p:cNvSpPr/>
            <p:nvPr/>
          </p:nvSpPr>
          <p:spPr>
            <a:xfrm>
              <a:off x="3323614" y="3251262"/>
              <a:ext cx="64135" cy="50800"/>
            </a:xfrm>
            <a:custGeom>
              <a:avLst/>
              <a:gdLst/>
              <a:ahLst/>
              <a:cxnLst/>
              <a:rect l="l" t="t" r="r" b="b"/>
              <a:pathLst>
                <a:path w="64135" h="50800">
                  <a:moveTo>
                    <a:pt x="0" y="50800"/>
                  </a:moveTo>
                  <a:lnTo>
                    <a:pt x="43019" y="50800"/>
                  </a:lnTo>
                  <a:lnTo>
                    <a:pt x="43019" y="20434"/>
                  </a:lnTo>
                  <a:lnTo>
                    <a:pt x="0" y="20434"/>
                  </a:lnTo>
                  <a:lnTo>
                    <a:pt x="0" y="50800"/>
                  </a:lnTo>
                  <a:close/>
                </a:path>
                <a:path w="64135" h="50800">
                  <a:moveTo>
                    <a:pt x="10491" y="20320"/>
                  </a:moveTo>
                  <a:lnTo>
                    <a:pt x="10491" y="10160"/>
                  </a:lnTo>
                  <a:lnTo>
                    <a:pt x="53672" y="10160"/>
                  </a:lnTo>
                  <a:lnTo>
                    <a:pt x="53672" y="40640"/>
                  </a:lnTo>
                  <a:lnTo>
                    <a:pt x="43512" y="40640"/>
                  </a:lnTo>
                </a:path>
                <a:path w="64135" h="50800">
                  <a:moveTo>
                    <a:pt x="20652" y="10160"/>
                  </a:moveTo>
                  <a:lnTo>
                    <a:pt x="20652" y="0"/>
                  </a:lnTo>
                  <a:lnTo>
                    <a:pt x="63832" y="0"/>
                  </a:lnTo>
                  <a:lnTo>
                    <a:pt x="63832" y="30480"/>
                  </a:lnTo>
                  <a:lnTo>
                    <a:pt x="53672" y="30480"/>
                  </a:lnTo>
                </a:path>
              </a:pathLst>
            </a:custGeom>
            <a:ln w="5060">
              <a:solidFill>
                <a:srgbClr val="ADD6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260445" y="3257613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EA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3531425" y="3247467"/>
            <a:ext cx="203200" cy="58419"/>
            <a:chOff x="3531425" y="3247467"/>
            <a:chExt cx="203200" cy="58419"/>
          </a:xfrm>
        </p:grpSpPr>
        <p:sp>
          <p:nvSpPr>
            <p:cNvPr id="10" name="object 10"/>
            <p:cNvSpPr/>
            <p:nvPr/>
          </p:nvSpPr>
          <p:spPr>
            <a:xfrm>
              <a:off x="3620326" y="3263963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>
                  <a:moveTo>
                    <a:pt x="0" y="0"/>
                  </a:moveTo>
                  <a:lnTo>
                    <a:pt x="38100" y="0"/>
                  </a:lnTo>
                </a:path>
              </a:pathLst>
            </a:custGeom>
            <a:ln w="7591">
              <a:solidFill>
                <a:srgbClr val="ADD6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531425" y="3257613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EA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607626" y="3251262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38100" y="0"/>
                  </a:lnTo>
                </a:path>
                <a:path w="50800" h="50800">
                  <a:moveTo>
                    <a:pt x="12700" y="25400"/>
                  </a:moveTo>
                  <a:lnTo>
                    <a:pt x="50800" y="25400"/>
                  </a:lnTo>
                </a:path>
                <a:path w="50800" h="50800">
                  <a:moveTo>
                    <a:pt x="0" y="38100"/>
                  </a:moveTo>
                  <a:lnTo>
                    <a:pt x="38100" y="38100"/>
                  </a:lnTo>
                </a:path>
                <a:path w="50800" h="50800">
                  <a:moveTo>
                    <a:pt x="12700" y="50800"/>
                  </a:moveTo>
                  <a:lnTo>
                    <a:pt x="50800" y="50800"/>
                  </a:lnTo>
                </a:path>
              </a:pathLst>
            </a:custGeom>
            <a:ln w="7591">
              <a:solidFill>
                <a:srgbClr val="D6EAF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3802393" y="3247467"/>
            <a:ext cx="203200" cy="58419"/>
            <a:chOff x="3802393" y="3247467"/>
            <a:chExt cx="203200" cy="58419"/>
          </a:xfrm>
        </p:grpSpPr>
        <p:sp>
          <p:nvSpPr>
            <p:cNvPr id="14" name="object 14"/>
            <p:cNvSpPr/>
            <p:nvPr/>
          </p:nvSpPr>
          <p:spPr>
            <a:xfrm>
              <a:off x="3878593" y="3251262"/>
              <a:ext cx="50800" cy="25400"/>
            </a:xfrm>
            <a:custGeom>
              <a:avLst/>
              <a:gdLst/>
              <a:ahLst/>
              <a:cxnLst/>
              <a:rect l="l" t="t" r="r" b="b"/>
              <a:pathLst>
                <a:path w="50800" h="25400">
                  <a:moveTo>
                    <a:pt x="0" y="0"/>
                  </a:moveTo>
                  <a:lnTo>
                    <a:pt x="38100" y="0"/>
                  </a:lnTo>
                </a:path>
                <a:path w="50800" h="25400">
                  <a:moveTo>
                    <a:pt x="12700" y="12700"/>
                  </a:moveTo>
                  <a:lnTo>
                    <a:pt x="50800" y="12700"/>
                  </a:lnTo>
                </a:path>
                <a:path w="50800" h="25400">
                  <a:moveTo>
                    <a:pt x="12700" y="25400"/>
                  </a:moveTo>
                  <a:lnTo>
                    <a:pt x="50800" y="25400"/>
                  </a:lnTo>
                </a:path>
              </a:pathLst>
            </a:custGeom>
            <a:ln w="7591">
              <a:solidFill>
                <a:srgbClr val="ADD6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802393" y="3257613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EA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878593" y="3289363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38100" y="0"/>
                  </a:lnTo>
                </a:path>
                <a:path w="50800" h="12700">
                  <a:moveTo>
                    <a:pt x="12700" y="12699"/>
                  </a:moveTo>
                  <a:lnTo>
                    <a:pt x="50800" y="12699"/>
                  </a:lnTo>
                </a:path>
              </a:pathLst>
            </a:custGeom>
            <a:ln w="7591">
              <a:solidFill>
                <a:srgbClr val="D6EAF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/>
          <p:nvPr/>
        </p:nvSpPr>
        <p:spPr>
          <a:xfrm>
            <a:off x="4149573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D6E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8" name="object 18"/>
          <p:cNvGrpSpPr/>
          <p:nvPr/>
        </p:nvGrpSpPr>
        <p:grpSpPr>
          <a:xfrm>
            <a:off x="4326582" y="3248732"/>
            <a:ext cx="238760" cy="57150"/>
            <a:chOff x="4326582" y="3248732"/>
            <a:chExt cx="238760" cy="57150"/>
          </a:xfrm>
        </p:grpSpPr>
        <p:sp>
          <p:nvSpPr>
            <p:cNvPr id="19" name="object 19"/>
            <p:cNvSpPr/>
            <p:nvPr/>
          </p:nvSpPr>
          <p:spPr>
            <a:xfrm>
              <a:off x="4451033" y="328174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0" y="0"/>
                  </a:moveTo>
                  <a:lnTo>
                    <a:pt x="20320" y="20320"/>
                  </a:lnTo>
                </a:path>
              </a:pathLst>
            </a:custGeom>
            <a:ln w="7591">
              <a:solidFill>
                <a:srgbClr val="ADD6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423969" y="325524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79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ADD6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329112" y="3251262"/>
              <a:ext cx="233679" cy="50800"/>
            </a:xfrm>
            <a:custGeom>
              <a:avLst/>
              <a:gdLst/>
              <a:ahLst/>
              <a:cxnLst/>
              <a:rect l="l" t="t" r="r" b="b"/>
              <a:pathLst>
                <a:path w="233679" h="50800">
                  <a:moveTo>
                    <a:pt x="40640" y="50800"/>
                  </a:moveTo>
                  <a:lnTo>
                    <a:pt x="50400" y="48796"/>
                  </a:lnTo>
                  <a:lnTo>
                    <a:pt x="58488" y="43339"/>
                  </a:lnTo>
                  <a:lnTo>
                    <a:pt x="64002" y="35262"/>
                  </a:lnTo>
                  <a:lnTo>
                    <a:pt x="66040" y="25400"/>
                  </a:lnTo>
                  <a:lnTo>
                    <a:pt x="64036" y="15537"/>
                  </a:lnTo>
                  <a:lnTo>
                    <a:pt x="58579" y="7461"/>
                  </a:lnTo>
                  <a:lnTo>
                    <a:pt x="50502" y="2004"/>
                  </a:lnTo>
                  <a:lnTo>
                    <a:pt x="40640" y="0"/>
                  </a:lnTo>
                  <a:lnTo>
                    <a:pt x="30778" y="2004"/>
                  </a:lnTo>
                  <a:lnTo>
                    <a:pt x="22701" y="7461"/>
                  </a:lnTo>
                  <a:lnTo>
                    <a:pt x="17244" y="15537"/>
                  </a:lnTo>
                  <a:lnTo>
                    <a:pt x="15240" y="25400"/>
                  </a:lnTo>
                </a:path>
                <a:path w="233679" h="50800">
                  <a:moveTo>
                    <a:pt x="30480" y="17780"/>
                  </a:moveTo>
                  <a:lnTo>
                    <a:pt x="15240" y="30480"/>
                  </a:lnTo>
                  <a:lnTo>
                    <a:pt x="0" y="17780"/>
                  </a:lnTo>
                </a:path>
                <a:path w="233679" h="50800">
                  <a:moveTo>
                    <a:pt x="193042" y="50800"/>
                  </a:moveTo>
                  <a:lnTo>
                    <a:pt x="183179" y="48796"/>
                  </a:lnTo>
                  <a:lnTo>
                    <a:pt x="175103" y="43339"/>
                  </a:lnTo>
                  <a:lnTo>
                    <a:pt x="169646" y="35262"/>
                  </a:lnTo>
                  <a:lnTo>
                    <a:pt x="167642" y="25400"/>
                  </a:lnTo>
                  <a:lnTo>
                    <a:pt x="169646" y="15537"/>
                  </a:lnTo>
                  <a:lnTo>
                    <a:pt x="175103" y="7461"/>
                  </a:lnTo>
                  <a:lnTo>
                    <a:pt x="183179" y="2004"/>
                  </a:lnTo>
                  <a:lnTo>
                    <a:pt x="193042" y="0"/>
                  </a:lnTo>
                  <a:lnTo>
                    <a:pt x="202904" y="2004"/>
                  </a:lnTo>
                  <a:lnTo>
                    <a:pt x="210981" y="7461"/>
                  </a:lnTo>
                  <a:lnTo>
                    <a:pt x="216438" y="15537"/>
                  </a:lnTo>
                  <a:lnTo>
                    <a:pt x="218442" y="25400"/>
                  </a:lnTo>
                </a:path>
                <a:path w="233679" h="50800">
                  <a:moveTo>
                    <a:pt x="233682" y="17780"/>
                  </a:moveTo>
                  <a:lnTo>
                    <a:pt x="218442" y="30480"/>
                  </a:lnTo>
                  <a:lnTo>
                    <a:pt x="203202" y="17780"/>
                  </a:lnTo>
                </a:path>
              </a:pathLst>
            </a:custGeom>
            <a:ln w="5060">
              <a:solidFill>
                <a:srgbClr val="ADD6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/>
          <p:nvPr/>
        </p:nvSpPr>
        <p:spPr>
          <a:xfrm>
            <a:off x="0" y="0"/>
            <a:ext cx="4608195" cy="484505"/>
          </a:xfrm>
          <a:custGeom>
            <a:avLst/>
            <a:gdLst/>
            <a:ahLst/>
            <a:cxnLst/>
            <a:rect l="l" t="t" r="r" b="b"/>
            <a:pathLst>
              <a:path w="4608195" h="484505">
                <a:moveTo>
                  <a:pt x="4608004" y="0"/>
                </a:moveTo>
                <a:lnTo>
                  <a:pt x="0" y="0"/>
                </a:lnTo>
                <a:lnTo>
                  <a:pt x="0" y="484238"/>
                </a:lnTo>
                <a:lnTo>
                  <a:pt x="4608004" y="484238"/>
                </a:lnTo>
                <a:lnTo>
                  <a:pt x="4608004" y="0"/>
                </a:lnTo>
                <a:close/>
              </a:path>
            </a:pathLst>
          </a:custGeom>
          <a:solidFill>
            <a:srgbClr val="33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95300" y="51013"/>
            <a:ext cx="3629660" cy="38481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390"/>
              </a:lnSpc>
              <a:spcBef>
                <a:spcPts val="180"/>
              </a:spcBef>
            </a:pPr>
            <a:r>
              <a:rPr spc="-35" dirty="0"/>
              <a:t>Behavioral</a:t>
            </a:r>
            <a:r>
              <a:rPr spc="40" dirty="0"/>
              <a:t> </a:t>
            </a:r>
            <a:r>
              <a:rPr spc="-25" dirty="0"/>
              <a:t>Prevention</a:t>
            </a:r>
            <a:r>
              <a:rPr spc="40" dirty="0"/>
              <a:t> </a:t>
            </a:r>
            <a:r>
              <a:rPr spc="-25" dirty="0"/>
              <a:t>Algorithm</a:t>
            </a:r>
            <a:r>
              <a:rPr spc="40" dirty="0"/>
              <a:t> </a:t>
            </a:r>
            <a:r>
              <a:rPr dirty="0"/>
              <a:t>(Step</a:t>
            </a:r>
            <a:r>
              <a:rPr spc="35" dirty="0"/>
              <a:t> </a:t>
            </a:r>
            <a:r>
              <a:rPr spc="-55" dirty="0"/>
              <a:t>3):Response </a:t>
            </a:r>
            <a:r>
              <a:rPr spc="-10" dirty="0"/>
              <a:t>Mechanism</a:t>
            </a:r>
          </a:p>
        </p:txBody>
      </p:sp>
      <p:pic>
        <p:nvPicPr>
          <p:cNvPr id="24" name="object 2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390612"/>
            <a:ext cx="65265" cy="65265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982749"/>
            <a:ext cx="65265" cy="65265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125844" y="1053348"/>
            <a:ext cx="4304665" cy="138176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b="1" dirty="0">
                <a:solidFill>
                  <a:srgbClr val="191933"/>
                </a:solidFill>
                <a:latin typeface="Arial"/>
                <a:cs typeface="Arial"/>
              </a:rPr>
              <a:t>Alert</a:t>
            </a:r>
            <a:r>
              <a:rPr sz="1100" b="1" spc="7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191933"/>
                </a:solidFill>
                <a:latin typeface="Arial"/>
                <a:cs typeface="Arial"/>
              </a:rPr>
              <a:t>Generation:</a:t>
            </a:r>
            <a:endParaRPr sz="1100">
              <a:latin typeface="Arial"/>
              <a:cs typeface="Arial"/>
            </a:endParaRPr>
          </a:p>
          <a:p>
            <a:pPr marL="289560" marR="5080">
              <a:lnSpc>
                <a:spcPct val="102600"/>
              </a:lnSpc>
              <a:spcBef>
                <a:spcPts val="300"/>
              </a:spcBef>
            </a:pP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If</a:t>
            </a:r>
            <a:r>
              <a:rPr sz="1100" spc="-6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the</a:t>
            </a:r>
            <a:r>
              <a:rPr sz="1100" spc="-7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behavior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is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detected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as</a:t>
            </a:r>
            <a:r>
              <a:rPr sz="1100" spc="-5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anomalous,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55" dirty="0">
                <a:solidFill>
                  <a:srgbClr val="191933"/>
                </a:solidFill>
                <a:latin typeface="Tahoma"/>
                <a:cs typeface="Tahoma"/>
              </a:rPr>
              <a:t>generate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an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alert</a:t>
            </a:r>
            <a:r>
              <a:rPr sz="1100" spc="-5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or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log</a:t>
            </a:r>
            <a:r>
              <a:rPr sz="1100" spc="-5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the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event.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1100" b="1" spc="-25" dirty="0">
                <a:solidFill>
                  <a:srgbClr val="191933"/>
                </a:solidFill>
                <a:latin typeface="Arial"/>
                <a:cs typeface="Arial"/>
              </a:rPr>
              <a:t>Preventive</a:t>
            </a:r>
            <a:r>
              <a:rPr sz="1100" b="1" spc="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191933"/>
                </a:solidFill>
                <a:latin typeface="Arial"/>
                <a:cs typeface="Arial"/>
              </a:rPr>
              <a:t>Actions:</a:t>
            </a:r>
            <a:endParaRPr sz="1100">
              <a:latin typeface="Arial"/>
              <a:cs typeface="Arial"/>
            </a:endParaRPr>
          </a:p>
          <a:p>
            <a:pPr marL="289560" marR="374650">
              <a:lnSpc>
                <a:spcPct val="102600"/>
              </a:lnSpc>
              <a:spcBef>
                <a:spcPts val="300"/>
              </a:spcBef>
            </a:pP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Based</a:t>
            </a:r>
            <a:r>
              <a:rPr sz="1100" spc="-6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on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the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severity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of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the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detected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191933"/>
                </a:solidFill>
                <a:latin typeface="Tahoma"/>
                <a:cs typeface="Tahoma"/>
              </a:rPr>
              <a:t>anomaly,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take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 preventive 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actions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such 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as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blocking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the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process,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isolating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the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system,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or 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terminating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the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suspicious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activity.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28" name="object 28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4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19</a:t>
            </a:r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93</a:t>
            </a:r>
          </a:p>
        </p:txBody>
      </p:sp>
    </p:spTree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51013"/>
            <a:ext cx="1882139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Network-</a:t>
            </a: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Based</a:t>
            </a:r>
            <a:r>
              <a:rPr sz="1200" b="1" spc="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Prevention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650646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032751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2932" y="567193"/>
            <a:ext cx="3985260" cy="74612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99"/>
              </a:lnSpc>
              <a:spcBef>
                <a:spcPts val="55"/>
              </a:spcBef>
            </a:pP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Worms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191933"/>
                </a:solidFill>
                <a:latin typeface="Tahoma"/>
                <a:cs typeface="Tahoma"/>
              </a:rPr>
              <a:t>are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malicious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programs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that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propagate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through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a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network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by 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exploiting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vulnerabilities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in</a:t>
            </a:r>
            <a:r>
              <a:rPr sz="1100" spc="-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systems.</a:t>
            </a:r>
            <a:endParaRPr sz="1100">
              <a:latin typeface="Tahoma"/>
              <a:cs typeface="Tahoma"/>
            </a:endParaRPr>
          </a:p>
          <a:p>
            <a:pPr marL="12700" marR="113030">
              <a:lnSpc>
                <a:spcPct val="102600"/>
              </a:lnSpc>
              <a:spcBef>
                <a:spcPts val="300"/>
              </a:spcBef>
            </a:pP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To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prevent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the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65" dirty="0">
                <a:solidFill>
                  <a:srgbClr val="191933"/>
                </a:solidFill>
                <a:latin typeface="Tahoma"/>
                <a:cs typeface="Tahoma"/>
              </a:rPr>
              <a:t>spread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of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65" dirty="0">
                <a:solidFill>
                  <a:srgbClr val="191933"/>
                </a:solidFill>
                <a:latin typeface="Tahoma"/>
                <a:cs typeface="Tahoma"/>
              </a:rPr>
              <a:t>worms,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it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is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crucial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to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detect 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and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contain them</a:t>
            </a:r>
            <a:r>
              <a:rPr sz="1100" spc="-5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early.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7" name="object 7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4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195587" y="3351784"/>
            <a:ext cx="28130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</a:rPr>
              <a:t>20</a:t>
            </a:r>
            <a:r>
              <a:rPr sz="6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00" spc="150" dirty="0">
                <a:solidFill>
                  <a:srgbClr val="FFFFFF"/>
                </a:solidFill>
                <a:latin typeface="Arial MT"/>
                <a:cs typeface="Arial MT"/>
              </a:rPr>
              <a:t>/</a:t>
            </a:r>
            <a:r>
              <a:rPr sz="6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Arial MT"/>
                <a:cs typeface="Arial MT"/>
              </a:rPr>
              <a:t>93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/>
              <a:t>Network-</a:t>
            </a:r>
            <a:r>
              <a:rPr spc="-25" dirty="0"/>
              <a:t>Based</a:t>
            </a:r>
            <a:r>
              <a:rPr spc="50" dirty="0"/>
              <a:t> </a:t>
            </a:r>
            <a:r>
              <a:rPr spc="-25" dirty="0"/>
              <a:t>Prevention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650646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032751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414856"/>
            <a:ext cx="65265" cy="6526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02932" y="567193"/>
            <a:ext cx="3985260" cy="112839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99"/>
              </a:lnSpc>
              <a:spcBef>
                <a:spcPts val="55"/>
              </a:spcBef>
            </a:pP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Worms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191933"/>
                </a:solidFill>
                <a:latin typeface="Tahoma"/>
                <a:cs typeface="Tahoma"/>
              </a:rPr>
              <a:t>are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malicious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programs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that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propagate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through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a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network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by 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exploiting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vulnerabilities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in</a:t>
            </a:r>
            <a:r>
              <a:rPr sz="1100" spc="-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systems.</a:t>
            </a:r>
            <a:endParaRPr sz="1100">
              <a:latin typeface="Tahoma"/>
              <a:cs typeface="Tahoma"/>
            </a:endParaRPr>
          </a:p>
          <a:p>
            <a:pPr marL="12700" marR="113030">
              <a:lnSpc>
                <a:spcPct val="102600"/>
              </a:lnSpc>
              <a:spcBef>
                <a:spcPts val="300"/>
              </a:spcBef>
            </a:pP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To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prevent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the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65" dirty="0">
                <a:solidFill>
                  <a:srgbClr val="191933"/>
                </a:solidFill>
                <a:latin typeface="Tahoma"/>
                <a:cs typeface="Tahoma"/>
              </a:rPr>
              <a:t>spread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of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65" dirty="0">
                <a:solidFill>
                  <a:srgbClr val="191933"/>
                </a:solidFill>
                <a:latin typeface="Tahoma"/>
                <a:cs typeface="Tahoma"/>
              </a:rPr>
              <a:t>worms,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it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is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crucial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to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detect 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and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contain them</a:t>
            </a:r>
            <a:r>
              <a:rPr sz="1100" spc="-5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early.</a:t>
            </a:r>
            <a:endParaRPr sz="1100">
              <a:latin typeface="Tahoma"/>
              <a:cs typeface="Tahoma"/>
            </a:endParaRPr>
          </a:p>
          <a:p>
            <a:pPr marL="12700" marR="680085">
              <a:lnSpc>
                <a:spcPct val="102600"/>
              </a:lnSpc>
              <a:spcBef>
                <a:spcPts val="300"/>
              </a:spcBef>
            </a:pP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We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65" dirty="0">
                <a:solidFill>
                  <a:srgbClr val="191933"/>
                </a:solidFill>
                <a:latin typeface="Tahoma"/>
                <a:cs typeface="Tahoma"/>
              </a:rPr>
              <a:t>use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a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Susceptible-Infected-</a:t>
            </a:r>
            <a:r>
              <a:rPr sz="1100" spc="-55" dirty="0">
                <a:solidFill>
                  <a:srgbClr val="191933"/>
                </a:solidFill>
                <a:latin typeface="Tahoma"/>
                <a:cs typeface="Tahoma"/>
              </a:rPr>
              <a:t>Recovered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(SIR)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model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to 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mathematically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191933"/>
                </a:solidFill>
                <a:latin typeface="Tahoma"/>
                <a:cs typeface="Tahoma"/>
              </a:rPr>
              <a:t>represent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the 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propagation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 dynamics.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8" name="object 8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4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195587" y="3351784"/>
            <a:ext cx="28130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</a:rPr>
              <a:t>20</a:t>
            </a:r>
            <a:r>
              <a:rPr sz="6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00" spc="150" dirty="0">
                <a:solidFill>
                  <a:srgbClr val="FFFFFF"/>
                </a:solidFill>
                <a:latin typeface="Arial MT"/>
                <a:cs typeface="Arial MT"/>
              </a:rPr>
              <a:t>/</a:t>
            </a:r>
            <a:r>
              <a:rPr sz="6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Arial MT"/>
                <a:cs typeface="Arial MT"/>
              </a:rPr>
              <a:t>93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/>
              <a:t>Network-</a:t>
            </a:r>
            <a:r>
              <a:rPr spc="-25" dirty="0"/>
              <a:t>Based</a:t>
            </a:r>
            <a:r>
              <a:rPr spc="50" dirty="0"/>
              <a:t> </a:t>
            </a:r>
            <a:r>
              <a:rPr spc="-25" dirty="0"/>
              <a:t>Prevention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650646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032751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414856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796973"/>
            <a:ext cx="65265" cy="6526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02932" y="567193"/>
            <a:ext cx="4071620" cy="168275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90805">
              <a:lnSpc>
                <a:spcPct val="102699"/>
              </a:lnSpc>
              <a:spcBef>
                <a:spcPts val="55"/>
              </a:spcBef>
            </a:pP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Worms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191933"/>
                </a:solidFill>
                <a:latin typeface="Tahoma"/>
                <a:cs typeface="Tahoma"/>
              </a:rPr>
              <a:t>are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malicious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programs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that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propagate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through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a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network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by 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exploiting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vulnerabilities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in</a:t>
            </a:r>
            <a:r>
              <a:rPr sz="1100" spc="-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systems.</a:t>
            </a:r>
            <a:endParaRPr sz="1100">
              <a:latin typeface="Tahoma"/>
              <a:cs typeface="Tahoma"/>
            </a:endParaRPr>
          </a:p>
          <a:p>
            <a:pPr marL="12700" marR="199390">
              <a:lnSpc>
                <a:spcPct val="102600"/>
              </a:lnSpc>
              <a:spcBef>
                <a:spcPts val="300"/>
              </a:spcBef>
            </a:pP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To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prevent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the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65" dirty="0">
                <a:solidFill>
                  <a:srgbClr val="191933"/>
                </a:solidFill>
                <a:latin typeface="Tahoma"/>
                <a:cs typeface="Tahoma"/>
              </a:rPr>
              <a:t>spread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of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65" dirty="0">
                <a:solidFill>
                  <a:srgbClr val="191933"/>
                </a:solidFill>
                <a:latin typeface="Tahoma"/>
                <a:cs typeface="Tahoma"/>
              </a:rPr>
              <a:t>worms,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it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is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crucial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to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detect 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and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contain them</a:t>
            </a:r>
            <a:r>
              <a:rPr sz="1100" spc="-5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early.</a:t>
            </a:r>
            <a:endParaRPr sz="1100">
              <a:latin typeface="Tahoma"/>
              <a:cs typeface="Tahoma"/>
            </a:endParaRPr>
          </a:p>
          <a:p>
            <a:pPr marL="12700" marR="766445">
              <a:lnSpc>
                <a:spcPct val="102600"/>
              </a:lnSpc>
              <a:spcBef>
                <a:spcPts val="300"/>
              </a:spcBef>
            </a:pP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We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65" dirty="0">
                <a:solidFill>
                  <a:srgbClr val="191933"/>
                </a:solidFill>
                <a:latin typeface="Tahoma"/>
                <a:cs typeface="Tahoma"/>
              </a:rPr>
              <a:t>use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a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Susceptible-Infected-</a:t>
            </a:r>
            <a:r>
              <a:rPr sz="1100" spc="-55" dirty="0">
                <a:solidFill>
                  <a:srgbClr val="191933"/>
                </a:solidFill>
                <a:latin typeface="Tahoma"/>
                <a:cs typeface="Tahoma"/>
              </a:rPr>
              <a:t>Recovered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(SIR)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model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to 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mathematically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191933"/>
                </a:solidFill>
                <a:latin typeface="Tahoma"/>
                <a:cs typeface="Tahoma"/>
              </a:rPr>
              <a:t>represent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the 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propagation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 dynamics.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02600"/>
              </a:lnSpc>
              <a:spcBef>
                <a:spcPts val="295"/>
              </a:spcBef>
            </a:pP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The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susceptible-infected-</a:t>
            </a:r>
            <a:r>
              <a:rPr sz="1100" spc="-60" dirty="0">
                <a:solidFill>
                  <a:srgbClr val="191933"/>
                </a:solidFill>
                <a:latin typeface="Tahoma"/>
                <a:cs typeface="Tahoma"/>
              </a:rPr>
              <a:t>Recovered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(SIR)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model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can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be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applied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to 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network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65" dirty="0">
                <a:solidFill>
                  <a:srgbClr val="191933"/>
                </a:solidFill>
                <a:latin typeface="Tahoma"/>
                <a:cs typeface="Tahoma"/>
              </a:rPr>
              <a:t>worm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prevention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by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treating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the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191933"/>
                </a:solidFill>
                <a:latin typeface="Tahoma"/>
                <a:cs typeface="Tahoma"/>
              </a:rPr>
              <a:t>network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as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a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population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and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the</a:t>
            </a:r>
            <a:r>
              <a:rPr sz="1100" spc="-7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65" dirty="0">
                <a:solidFill>
                  <a:srgbClr val="191933"/>
                </a:solidFill>
                <a:latin typeface="Tahoma"/>
                <a:cs typeface="Tahoma"/>
              </a:rPr>
              <a:t>worm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as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an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infectious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disease.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9" name="object 9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4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195587" y="3351784"/>
            <a:ext cx="28130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</a:rPr>
              <a:t>20</a:t>
            </a:r>
            <a:r>
              <a:rPr sz="6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00" spc="150" dirty="0">
                <a:solidFill>
                  <a:srgbClr val="FFFFFF"/>
                </a:solidFill>
                <a:latin typeface="Arial MT"/>
                <a:cs typeface="Arial MT"/>
              </a:rPr>
              <a:t>/</a:t>
            </a:r>
            <a:r>
              <a:rPr sz="6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Arial MT"/>
                <a:cs typeface="Arial MT"/>
              </a:rPr>
              <a:t>93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/>
              <a:t>Network-</a:t>
            </a:r>
            <a:r>
              <a:rPr spc="-25" dirty="0"/>
              <a:t>Based</a:t>
            </a:r>
            <a:r>
              <a:rPr spc="50" dirty="0"/>
              <a:t> </a:t>
            </a:r>
            <a:r>
              <a:rPr spc="-25" dirty="0"/>
              <a:t>Prevention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650646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032751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414856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796973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2351151"/>
            <a:ext cx="65265" cy="6526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02932" y="567193"/>
            <a:ext cx="4071620" cy="206438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90805">
              <a:lnSpc>
                <a:spcPct val="102699"/>
              </a:lnSpc>
              <a:spcBef>
                <a:spcPts val="55"/>
              </a:spcBef>
            </a:pP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Worms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191933"/>
                </a:solidFill>
                <a:latin typeface="Tahoma"/>
                <a:cs typeface="Tahoma"/>
              </a:rPr>
              <a:t>are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malicious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programs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that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propagate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through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a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network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by 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exploiting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vulnerabilities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in</a:t>
            </a:r>
            <a:r>
              <a:rPr sz="1100" spc="-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systems.</a:t>
            </a:r>
            <a:endParaRPr sz="1100">
              <a:latin typeface="Tahoma"/>
              <a:cs typeface="Tahoma"/>
            </a:endParaRPr>
          </a:p>
          <a:p>
            <a:pPr marL="12700" marR="199390">
              <a:lnSpc>
                <a:spcPct val="102600"/>
              </a:lnSpc>
              <a:spcBef>
                <a:spcPts val="300"/>
              </a:spcBef>
            </a:pP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To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prevent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the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65" dirty="0">
                <a:solidFill>
                  <a:srgbClr val="191933"/>
                </a:solidFill>
                <a:latin typeface="Tahoma"/>
                <a:cs typeface="Tahoma"/>
              </a:rPr>
              <a:t>spread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of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65" dirty="0">
                <a:solidFill>
                  <a:srgbClr val="191933"/>
                </a:solidFill>
                <a:latin typeface="Tahoma"/>
                <a:cs typeface="Tahoma"/>
              </a:rPr>
              <a:t>worms,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it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is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crucial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to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detect 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and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contain them</a:t>
            </a:r>
            <a:r>
              <a:rPr sz="1100" spc="-5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early.</a:t>
            </a:r>
            <a:endParaRPr sz="1100">
              <a:latin typeface="Tahoma"/>
              <a:cs typeface="Tahoma"/>
            </a:endParaRPr>
          </a:p>
          <a:p>
            <a:pPr marL="12700" marR="766445">
              <a:lnSpc>
                <a:spcPct val="102600"/>
              </a:lnSpc>
              <a:spcBef>
                <a:spcPts val="300"/>
              </a:spcBef>
            </a:pP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We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65" dirty="0">
                <a:solidFill>
                  <a:srgbClr val="191933"/>
                </a:solidFill>
                <a:latin typeface="Tahoma"/>
                <a:cs typeface="Tahoma"/>
              </a:rPr>
              <a:t>use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a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Susceptible-Infected-</a:t>
            </a:r>
            <a:r>
              <a:rPr sz="1100" spc="-55" dirty="0">
                <a:solidFill>
                  <a:srgbClr val="191933"/>
                </a:solidFill>
                <a:latin typeface="Tahoma"/>
                <a:cs typeface="Tahoma"/>
              </a:rPr>
              <a:t>Recovered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(SIR)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model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to 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mathematically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191933"/>
                </a:solidFill>
                <a:latin typeface="Tahoma"/>
                <a:cs typeface="Tahoma"/>
              </a:rPr>
              <a:t>represent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the 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propagation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 dynamics.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02600"/>
              </a:lnSpc>
              <a:spcBef>
                <a:spcPts val="295"/>
              </a:spcBef>
            </a:pP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The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susceptible-infected-</a:t>
            </a:r>
            <a:r>
              <a:rPr sz="1100" spc="-60" dirty="0">
                <a:solidFill>
                  <a:srgbClr val="191933"/>
                </a:solidFill>
                <a:latin typeface="Tahoma"/>
                <a:cs typeface="Tahoma"/>
              </a:rPr>
              <a:t>Recovered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(SIR)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model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can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be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applied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to 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network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65" dirty="0">
                <a:solidFill>
                  <a:srgbClr val="191933"/>
                </a:solidFill>
                <a:latin typeface="Tahoma"/>
                <a:cs typeface="Tahoma"/>
              </a:rPr>
              <a:t>worm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prevention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by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treating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the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191933"/>
                </a:solidFill>
                <a:latin typeface="Tahoma"/>
                <a:cs typeface="Tahoma"/>
              </a:rPr>
              <a:t>network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as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a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population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and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the</a:t>
            </a:r>
            <a:r>
              <a:rPr sz="1100" spc="-7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65" dirty="0">
                <a:solidFill>
                  <a:srgbClr val="191933"/>
                </a:solidFill>
                <a:latin typeface="Tahoma"/>
                <a:cs typeface="Tahoma"/>
              </a:rPr>
              <a:t>worm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as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an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infectious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disease.</a:t>
            </a:r>
            <a:endParaRPr sz="1100">
              <a:latin typeface="Tahoma"/>
              <a:cs typeface="Tahoma"/>
            </a:endParaRPr>
          </a:p>
          <a:p>
            <a:pPr marL="12700" marR="84455">
              <a:lnSpc>
                <a:spcPct val="102600"/>
              </a:lnSpc>
              <a:spcBef>
                <a:spcPts val="300"/>
              </a:spcBef>
            </a:pP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The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SIR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 model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is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a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mathematical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 model </a:t>
            </a:r>
            <a:r>
              <a:rPr sz="1100" spc="-60" dirty="0">
                <a:solidFill>
                  <a:srgbClr val="191933"/>
                </a:solidFill>
                <a:latin typeface="Tahoma"/>
                <a:cs typeface="Tahoma"/>
              </a:rPr>
              <a:t>used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to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describe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the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191933"/>
                </a:solidFill>
                <a:latin typeface="Tahoma"/>
                <a:cs typeface="Tahoma"/>
              </a:rPr>
              <a:t>spread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of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infectious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diseases.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0" name="object 10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4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195587" y="3351784"/>
            <a:ext cx="28130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</a:rPr>
              <a:t>20</a:t>
            </a:r>
            <a:r>
              <a:rPr sz="6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00" spc="150" dirty="0">
                <a:solidFill>
                  <a:srgbClr val="FFFFFF"/>
                </a:solidFill>
                <a:latin typeface="Arial MT"/>
                <a:cs typeface="Arial MT"/>
              </a:rPr>
              <a:t>/</a:t>
            </a:r>
            <a:r>
              <a:rPr sz="6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Arial MT"/>
                <a:cs typeface="Arial MT"/>
              </a:rPr>
              <a:t>93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/>
              <a:t>Network-</a:t>
            </a:r>
            <a:r>
              <a:rPr spc="-25" dirty="0"/>
              <a:t>Based</a:t>
            </a:r>
            <a:r>
              <a:rPr spc="50" dirty="0"/>
              <a:t> </a:t>
            </a:r>
            <a:r>
              <a:rPr spc="-25" dirty="0"/>
              <a:t>Prevention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650646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032751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414856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796973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2351151"/>
            <a:ext cx="65265" cy="6526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1089" y="2733256"/>
            <a:ext cx="65265" cy="6526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02932" y="567193"/>
            <a:ext cx="4071620" cy="24466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90805">
              <a:lnSpc>
                <a:spcPct val="102699"/>
              </a:lnSpc>
              <a:spcBef>
                <a:spcPts val="55"/>
              </a:spcBef>
            </a:pP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Worms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191933"/>
                </a:solidFill>
                <a:latin typeface="Tahoma"/>
                <a:cs typeface="Tahoma"/>
              </a:rPr>
              <a:t>are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malicious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programs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that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propagate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through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a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network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by 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exploiting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vulnerabilities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in</a:t>
            </a:r>
            <a:r>
              <a:rPr sz="1100" spc="-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systems.</a:t>
            </a:r>
            <a:endParaRPr sz="1100">
              <a:latin typeface="Tahoma"/>
              <a:cs typeface="Tahoma"/>
            </a:endParaRPr>
          </a:p>
          <a:p>
            <a:pPr marL="12700" marR="199390">
              <a:lnSpc>
                <a:spcPct val="102600"/>
              </a:lnSpc>
              <a:spcBef>
                <a:spcPts val="300"/>
              </a:spcBef>
            </a:pP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To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prevent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the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65" dirty="0">
                <a:solidFill>
                  <a:srgbClr val="191933"/>
                </a:solidFill>
                <a:latin typeface="Tahoma"/>
                <a:cs typeface="Tahoma"/>
              </a:rPr>
              <a:t>spread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of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65" dirty="0">
                <a:solidFill>
                  <a:srgbClr val="191933"/>
                </a:solidFill>
                <a:latin typeface="Tahoma"/>
                <a:cs typeface="Tahoma"/>
              </a:rPr>
              <a:t>worms,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it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is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crucial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to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detect 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and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contain them</a:t>
            </a:r>
            <a:r>
              <a:rPr sz="1100" spc="-5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early.</a:t>
            </a:r>
            <a:endParaRPr sz="1100">
              <a:latin typeface="Tahoma"/>
              <a:cs typeface="Tahoma"/>
            </a:endParaRPr>
          </a:p>
          <a:p>
            <a:pPr marL="12700" marR="766445">
              <a:lnSpc>
                <a:spcPct val="102600"/>
              </a:lnSpc>
              <a:spcBef>
                <a:spcPts val="300"/>
              </a:spcBef>
            </a:pP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We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65" dirty="0">
                <a:solidFill>
                  <a:srgbClr val="191933"/>
                </a:solidFill>
                <a:latin typeface="Tahoma"/>
                <a:cs typeface="Tahoma"/>
              </a:rPr>
              <a:t>use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a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Susceptible-Infected-</a:t>
            </a:r>
            <a:r>
              <a:rPr sz="1100" spc="-55" dirty="0">
                <a:solidFill>
                  <a:srgbClr val="191933"/>
                </a:solidFill>
                <a:latin typeface="Tahoma"/>
                <a:cs typeface="Tahoma"/>
              </a:rPr>
              <a:t>Recovered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(SIR)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model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to 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mathematically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191933"/>
                </a:solidFill>
                <a:latin typeface="Tahoma"/>
                <a:cs typeface="Tahoma"/>
              </a:rPr>
              <a:t>represent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the 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propagation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 dynamics.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02600"/>
              </a:lnSpc>
              <a:spcBef>
                <a:spcPts val="295"/>
              </a:spcBef>
            </a:pP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The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susceptible-infected-</a:t>
            </a:r>
            <a:r>
              <a:rPr sz="1100" spc="-60" dirty="0">
                <a:solidFill>
                  <a:srgbClr val="191933"/>
                </a:solidFill>
                <a:latin typeface="Tahoma"/>
                <a:cs typeface="Tahoma"/>
              </a:rPr>
              <a:t>Recovered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(SIR)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model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can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be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applied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to 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network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65" dirty="0">
                <a:solidFill>
                  <a:srgbClr val="191933"/>
                </a:solidFill>
                <a:latin typeface="Tahoma"/>
                <a:cs typeface="Tahoma"/>
              </a:rPr>
              <a:t>worm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prevention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by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treating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the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191933"/>
                </a:solidFill>
                <a:latin typeface="Tahoma"/>
                <a:cs typeface="Tahoma"/>
              </a:rPr>
              <a:t>network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as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a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population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and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the</a:t>
            </a:r>
            <a:r>
              <a:rPr sz="1100" spc="-7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65" dirty="0">
                <a:solidFill>
                  <a:srgbClr val="191933"/>
                </a:solidFill>
                <a:latin typeface="Tahoma"/>
                <a:cs typeface="Tahoma"/>
              </a:rPr>
              <a:t>worm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as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an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infectious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disease.</a:t>
            </a:r>
            <a:endParaRPr sz="1100">
              <a:latin typeface="Tahoma"/>
              <a:cs typeface="Tahoma"/>
            </a:endParaRPr>
          </a:p>
          <a:p>
            <a:pPr marL="12700" marR="84455">
              <a:lnSpc>
                <a:spcPct val="102600"/>
              </a:lnSpc>
              <a:spcBef>
                <a:spcPts val="300"/>
              </a:spcBef>
            </a:pP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The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SIR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 model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is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a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mathematical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 model </a:t>
            </a:r>
            <a:r>
              <a:rPr sz="1100" spc="-60" dirty="0">
                <a:solidFill>
                  <a:srgbClr val="191933"/>
                </a:solidFill>
                <a:latin typeface="Tahoma"/>
                <a:cs typeface="Tahoma"/>
              </a:rPr>
              <a:t>used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to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describe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the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191933"/>
                </a:solidFill>
                <a:latin typeface="Tahoma"/>
                <a:cs typeface="Tahoma"/>
              </a:rPr>
              <a:t>spread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of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infectious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diseases.</a:t>
            </a:r>
            <a:endParaRPr sz="1100">
              <a:latin typeface="Tahoma"/>
              <a:cs typeface="Tahoma"/>
            </a:endParaRPr>
          </a:p>
          <a:p>
            <a:pPr marL="12700" marR="152400">
              <a:lnSpc>
                <a:spcPct val="102699"/>
              </a:lnSpc>
              <a:spcBef>
                <a:spcPts val="300"/>
              </a:spcBef>
            </a:pP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It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divides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the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population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into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three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 compartments:</a:t>
            </a:r>
            <a:r>
              <a:rPr sz="1100" spc="6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Susceptible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(S), 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Infected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(I),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and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191933"/>
                </a:solidFill>
                <a:latin typeface="Tahoma"/>
                <a:cs typeface="Tahoma"/>
              </a:rPr>
              <a:t>Recovered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(R).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1" name="object 11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4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195587" y="3351784"/>
            <a:ext cx="28130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</a:rPr>
              <a:t>20</a:t>
            </a:r>
            <a:r>
              <a:rPr sz="6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00" spc="150" dirty="0">
                <a:solidFill>
                  <a:srgbClr val="FFFFFF"/>
                </a:solidFill>
                <a:latin typeface="Arial MT"/>
                <a:cs typeface="Arial MT"/>
              </a:rPr>
              <a:t>/</a:t>
            </a:r>
            <a:r>
              <a:rPr sz="6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Arial MT"/>
                <a:cs typeface="Arial MT"/>
              </a:rPr>
              <a:t>93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1013"/>
            <a:ext cx="300799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Mathematical</a:t>
            </a:r>
            <a:r>
              <a:rPr spc="-10" dirty="0"/>
              <a:t> Modeling</a:t>
            </a:r>
            <a:r>
              <a:rPr spc="-5" dirty="0"/>
              <a:t> </a:t>
            </a:r>
            <a:r>
              <a:rPr dirty="0"/>
              <a:t>of</a:t>
            </a:r>
            <a:r>
              <a:rPr spc="-10" dirty="0"/>
              <a:t> Network Traffic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106335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865" y="1296136"/>
            <a:ext cx="52590" cy="5259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0865" y="1447965"/>
            <a:ext cx="52590" cy="5259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0865" y="1599806"/>
            <a:ext cx="52590" cy="5259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0865" y="1751634"/>
            <a:ext cx="52590" cy="5259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70865" y="1903463"/>
            <a:ext cx="52590" cy="5259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70865" y="2055291"/>
            <a:ext cx="52590" cy="5259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70865" y="2207120"/>
            <a:ext cx="52590" cy="52590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402932" y="997814"/>
            <a:ext cx="4079875" cy="1303020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Let: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ts val="1200"/>
              </a:lnSpc>
              <a:spcBef>
                <a:spcPts val="175"/>
              </a:spcBef>
            </a:pPr>
            <a:r>
              <a:rPr sz="1000" i="1" spc="145" dirty="0">
                <a:solidFill>
                  <a:srgbClr val="191933"/>
                </a:solidFill>
                <a:latin typeface="Calibri"/>
                <a:cs typeface="Calibri"/>
              </a:rPr>
              <a:t>N</a:t>
            </a:r>
            <a:r>
              <a:rPr sz="1000" i="1" spc="-12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191933"/>
                </a:solidFill>
                <a:latin typeface="Tahoma"/>
                <a:cs typeface="Tahoma"/>
              </a:rPr>
              <a:t>:</a:t>
            </a:r>
            <a:r>
              <a:rPr sz="1000" spc="5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191933"/>
                </a:solidFill>
                <a:latin typeface="Tahoma"/>
                <a:cs typeface="Tahoma"/>
              </a:rPr>
              <a:t>Total</a:t>
            </a: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40" dirty="0">
                <a:solidFill>
                  <a:srgbClr val="191933"/>
                </a:solidFill>
                <a:latin typeface="Tahoma"/>
                <a:cs typeface="Tahoma"/>
              </a:rPr>
              <a:t>number</a:t>
            </a:r>
            <a:r>
              <a:rPr sz="10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191933"/>
                </a:solidFill>
                <a:latin typeface="Tahoma"/>
                <a:cs typeface="Tahoma"/>
              </a:rPr>
              <a:t>of</a:t>
            </a: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50" dirty="0">
                <a:solidFill>
                  <a:srgbClr val="191933"/>
                </a:solidFill>
                <a:latin typeface="Tahoma"/>
                <a:cs typeface="Tahoma"/>
              </a:rPr>
              <a:t>nodes</a:t>
            </a:r>
            <a:r>
              <a:rPr sz="10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(hosts)</a:t>
            </a:r>
            <a:r>
              <a:rPr sz="10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191933"/>
                </a:solidFill>
                <a:latin typeface="Tahoma"/>
                <a:cs typeface="Tahoma"/>
              </a:rPr>
              <a:t>in</a:t>
            </a: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20" dirty="0">
                <a:solidFill>
                  <a:srgbClr val="191933"/>
                </a:solidFill>
                <a:latin typeface="Tahoma"/>
                <a:cs typeface="Tahoma"/>
              </a:rPr>
              <a:t>the</a:t>
            </a:r>
            <a:r>
              <a:rPr sz="10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191933"/>
                </a:solidFill>
                <a:latin typeface="Tahoma"/>
                <a:cs typeface="Tahoma"/>
              </a:rPr>
              <a:t>network.</a:t>
            </a:r>
            <a:endParaRPr sz="1000">
              <a:latin typeface="Tahoma"/>
              <a:cs typeface="Tahoma"/>
            </a:endParaRPr>
          </a:p>
          <a:p>
            <a:pPr marL="289560">
              <a:lnSpc>
                <a:spcPts val="1195"/>
              </a:lnSpc>
            </a:pPr>
            <a:r>
              <a:rPr sz="1000" i="1" dirty="0">
                <a:solidFill>
                  <a:srgbClr val="191933"/>
                </a:solidFill>
                <a:latin typeface="Calibri"/>
                <a:cs typeface="Calibri"/>
              </a:rPr>
              <a:t>t</a:t>
            </a:r>
            <a:r>
              <a:rPr sz="1000" dirty="0">
                <a:solidFill>
                  <a:srgbClr val="191933"/>
                </a:solidFill>
                <a:latin typeface="Tahoma"/>
                <a:cs typeface="Tahoma"/>
              </a:rPr>
              <a:t>:</a:t>
            </a:r>
            <a:r>
              <a:rPr sz="1000" spc="7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191933"/>
                </a:solidFill>
                <a:latin typeface="Tahoma"/>
                <a:cs typeface="Tahoma"/>
              </a:rPr>
              <a:t>Time</a:t>
            </a:r>
            <a:r>
              <a:rPr sz="10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30" dirty="0">
                <a:solidFill>
                  <a:srgbClr val="191933"/>
                </a:solidFill>
                <a:latin typeface="Tahoma"/>
                <a:cs typeface="Tahoma"/>
              </a:rPr>
              <a:t>variable (continuous</a:t>
            </a:r>
            <a:r>
              <a:rPr sz="10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191933"/>
                </a:solidFill>
                <a:latin typeface="Tahoma"/>
                <a:cs typeface="Tahoma"/>
              </a:rPr>
              <a:t>time).</a:t>
            </a:r>
            <a:endParaRPr sz="1000">
              <a:latin typeface="Tahoma"/>
              <a:cs typeface="Tahoma"/>
            </a:endParaRPr>
          </a:p>
          <a:p>
            <a:pPr marL="289560" marR="1392555">
              <a:lnSpc>
                <a:spcPts val="1200"/>
              </a:lnSpc>
              <a:spcBef>
                <a:spcPts val="40"/>
              </a:spcBef>
            </a:pPr>
            <a:r>
              <a:rPr sz="1000" i="1" spc="60" dirty="0">
                <a:solidFill>
                  <a:srgbClr val="191933"/>
                </a:solidFill>
                <a:latin typeface="Calibri"/>
                <a:cs typeface="Calibri"/>
              </a:rPr>
              <a:t>S</a:t>
            </a:r>
            <a:r>
              <a:rPr sz="1000" spc="60" dirty="0">
                <a:solidFill>
                  <a:srgbClr val="191933"/>
                </a:solidFill>
                <a:latin typeface="Calibri"/>
                <a:cs typeface="Calibri"/>
              </a:rPr>
              <a:t>(</a:t>
            </a:r>
            <a:r>
              <a:rPr sz="1000" i="1" spc="60" dirty="0">
                <a:solidFill>
                  <a:srgbClr val="191933"/>
                </a:solidFill>
                <a:latin typeface="Calibri"/>
                <a:cs typeface="Calibri"/>
              </a:rPr>
              <a:t>t</a:t>
            </a:r>
            <a:r>
              <a:rPr sz="1000" spc="60" dirty="0">
                <a:solidFill>
                  <a:srgbClr val="191933"/>
                </a:solidFill>
                <a:latin typeface="Calibri"/>
                <a:cs typeface="Calibri"/>
              </a:rPr>
              <a:t>)</a:t>
            </a:r>
            <a:r>
              <a:rPr sz="1000" spc="60" dirty="0">
                <a:solidFill>
                  <a:srgbClr val="191933"/>
                </a:solidFill>
                <a:latin typeface="Tahoma"/>
                <a:cs typeface="Tahoma"/>
              </a:rPr>
              <a:t>:</a:t>
            </a:r>
            <a:r>
              <a:rPr sz="1000" spc="8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20" dirty="0">
                <a:solidFill>
                  <a:srgbClr val="191933"/>
                </a:solidFill>
                <a:latin typeface="Tahoma"/>
                <a:cs typeface="Tahoma"/>
              </a:rPr>
              <a:t>Number</a:t>
            </a:r>
            <a:r>
              <a:rPr sz="1000" spc="-1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191933"/>
                </a:solidFill>
                <a:latin typeface="Tahoma"/>
                <a:cs typeface="Tahoma"/>
              </a:rPr>
              <a:t>of</a:t>
            </a:r>
            <a:r>
              <a:rPr sz="10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40" dirty="0">
                <a:solidFill>
                  <a:srgbClr val="191933"/>
                </a:solidFill>
                <a:latin typeface="Tahoma"/>
                <a:cs typeface="Tahoma"/>
              </a:rPr>
              <a:t>susceptible</a:t>
            </a:r>
            <a:r>
              <a:rPr sz="1000" spc="-1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50" dirty="0">
                <a:solidFill>
                  <a:srgbClr val="191933"/>
                </a:solidFill>
                <a:latin typeface="Tahoma"/>
                <a:cs typeface="Tahoma"/>
              </a:rPr>
              <a:t>nodes</a:t>
            </a:r>
            <a:r>
              <a:rPr sz="10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191933"/>
                </a:solidFill>
                <a:latin typeface="Tahoma"/>
                <a:cs typeface="Tahoma"/>
              </a:rPr>
              <a:t>at</a:t>
            </a:r>
            <a:r>
              <a:rPr sz="1000" spc="-1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191933"/>
                </a:solidFill>
                <a:latin typeface="Tahoma"/>
                <a:cs typeface="Tahoma"/>
              </a:rPr>
              <a:t>time</a:t>
            </a:r>
            <a:r>
              <a:rPr sz="10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i="1" spc="-25" dirty="0">
                <a:solidFill>
                  <a:srgbClr val="191933"/>
                </a:solidFill>
                <a:latin typeface="Calibri"/>
                <a:cs typeface="Calibri"/>
              </a:rPr>
              <a:t>t</a:t>
            </a: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. </a:t>
            </a:r>
            <a:r>
              <a:rPr sz="1000" i="1" spc="70" dirty="0">
                <a:solidFill>
                  <a:srgbClr val="191933"/>
                </a:solidFill>
                <a:latin typeface="Calibri"/>
                <a:cs typeface="Calibri"/>
              </a:rPr>
              <a:t>I</a:t>
            </a:r>
            <a:r>
              <a:rPr sz="1000" spc="70" dirty="0">
                <a:solidFill>
                  <a:srgbClr val="191933"/>
                </a:solidFill>
                <a:latin typeface="Calibri"/>
                <a:cs typeface="Calibri"/>
              </a:rPr>
              <a:t>(</a:t>
            </a:r>
            <a:r>
              <a:rPr sz="1000" i="1" spc="70" dirty="0">
                <a:solidFill>
                  <a:srgbClr val="191933"/>
                </a:solidFill>
                <a:latin typeface="Calibri"/>
                <a:cs typeface="Calibri"/>
              </a:rPr>
              <a:t>t</a:t>
            </a:r>
            <a:r>
              <a:rPr sz="1000" spc="70" dirty="0">
                <a:solidFill>
                  <a:srgbClr val="191933"/>
                </a:solidFill>
                <a:latin typeface="Calibri"/>
                <a:cs typeface="Calibri"/>
              </a:rPr>
              <a:t>)</a:t>
            </a:r>
            <a:r>
              <a:rPr sz="1000" spc="70" dirty="0">
                <a:solidFill>
                  <a:srgbClr val="191933"/>
                </a:solidFill>
                <a:latin typeface="Tahoma"/>
                <a:cs typeface="Tahoma"/>
              </a:rPr>
              <a:t>:</a:t>
            </a:r>
            <a:r>
              <a:rPr sz="1000" spc="8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20" dirty="0">
                <a:solidFill>
                  <a:srgbClr val="191933"/>
                </a:solidFill>
                <a:latin typeface="Tahoma"/>
                <a:cs typeface="Tahoma"/>
              </a:rPr>
              <a:t>Number</a:t>
            </a:r>
            <a:r>
              <a:rPr sz="1000" spc="-1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191933"/>
                </a:solidFill>
                <a:latin typeface="Tahoma"/>
                <a:cs typeface="Tahoma"/>
              </a:rPr>
              <a:t>of</a:t>
            </a:r>
            <a:r>
              <a:rPr sz="10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infected</a:t>
            </a:r>
            <a:r>
              <a:rPr sz="1000" spc="-1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50" dirty="0">
                <a:solidFill>
                  <a:srgbClr val="191933"/>
                </a:solidFill>
                <a:latin typeface="Tahoma"/>
                <a:cs typeface="Tahoma"/>
              </a:rPr>
              <a:t>nodes</a:t>
            </a:r>
            <a:r>
              <a:rPr sz="10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191933"/>
                </a:solidFill>
                <a:latin typeface="Tahoma"/>
                <a:cs typeface="Tahoma"/>
              </a:rPr>
              <a:t>at</a:t>
            </a:r>
            <a:r>
              <a:rPr sz="1000" spc="-10" dirty="0">
                <a:solidFill>
                  <a:srgbClr val="191933"/>
                </a:solidFill>
                <a:latin typeface="Tahoma"/>
                <a:cs typeface="Tahoma"/>
              </a:rPr>
              <a:t> time</a:t>
            </a:r>
            <a:r>
              <a:rPr sz="10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i="1" spc="-25" dirty="0">
                <a:solidFill>
                  <a:srgbClr val="191933"/>
                </a:solidFill>
                <a:latin typeface="Calibri"/>
                <a:cs typeface="Calibri"/>
              </a:rPr>
              <a:t>t</a:t>
            </a: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.</a:t>
            </a:r>
            <a:endParaRPr sz="1000">
              <a:latin typeface="Tahoma"/>
              <a:cs typeface="Tahoma"/>
            </a:endParaRPr>
          </a:p>
          <a:p>
            <a:pPr marL="289560">
              <a:lnSpc>
                <a:spcPts val="1150"/>
              </a:lnSpc>
            </a:pPr>
            <a:r>
              <a:rPr sz="1000" i="1" spc="65" dirty="0">
                <a:solidFill>
                  <a:srgbClr val="191933"/>
                </a:solidFill>
                <a:latin typeface="Calibri"/>
                <a:cs typeface="Calibri"/>
              </a:rPr>
              <a:t>R</a:t>
            </a:r>
            <a:r>
              <a:rPr sz="1000" spc="65" dirty="0">
                <a:solidFill>
                  <a:srgbClr val="191933"/>
                </a:solidFill>
                <a:latin typeface="Calibri"/>
                <a:cs typeface="Calibri"/>
              </a:rPr>
              <a:t>(</a:t>
            </a:r>
            <a:r>
              <a:rPr sz="1000" i="1" spc="65" dirty="0">
                <a:solidFill>
                  <a:srgbClr val="191933"/>
                </a:solidFill>
                <a:latin typeface="Calibri"/>
                <a:cs typeface="Calibri"/>
              </a:rPr>
              <a:t>t</a:t>
            </a:r>
            <a:r>
              <a:rPr sz="1000" spc="65" dirty="0">
                <a:solidFill>
                  <a:srgbClr val="191933"/>
                </a:solidFill>
                <a:latin typeface="Calibri"/>
                <a:cs typeface="Calibri"/>
              </a:rPr>
              <a:t>)</a:t>
            </a:r>
            <a:r>
              <a:rPr sz="1000" spc="65" dirty="0">
                <a:solidFill>
                  <a:srgbClr val="191933"/>
                </a:solidFill>
                <a:latin typeface="Tahoma"/>
                <a:cs typeface="Tahoma"/>
              </a:rPr>
              <a:t>:</a:t>
            </a:r>
            <a:r>
              <a:rPr sz="1000" spc="8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20" dirty="0">
                <a:solidFill>
                  <a:srgbClr val="191933"/>
                </a:solidFill>
                <a:latin typeface="Tahoma"/>
                <a:cs typeface="Tahoma"/>
              </a:rPr>
              <a:t>Number</a:t>
            </a:r>
            <a:r>
              <a:rPr sz="1000" spc="-1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191933"/>
                </a:solidFill>
                <a:latin typeface="Tahoma"/>
                <a:cs typeface="Tahoma"/>
              </a:rPr>
              <a:t>of</a:t>
            </a:r>
            <a:r>
              <a:rPr sz="10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50" dirty="0">
                <a:solidFill>
                  <a:srgbClr val="191933"/>
                </a:solidFill>
                <a:latin typeface="Tahoma"/>
                <a:cs typeface="Tahoma"/>
              </a:rPr>
              <a:t>removed</a:t>
            </a:r>
            <a:r>
              <a:rPr sz="10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40" dirty="0">
                <a:solidFill>
                  <a:srgbClr val="191933"/>
                </a:solidFill>
                <a:latin typeface="Tahoma"/>
                <a:cs typeface="Tahoma"/>
              </a:rPr>
              <a:t>(recovered)</a:t>
            </a:r>
            <a:r>
              <a:rPr sz="1000" spc="-1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50" dirty="0">
                <a:solidFill>
                  <a:srgbClr val="191933"/>
                </a:solidFill>
                <a:latin typeface="Tahoma"/>
                <a:cs typeface="Tahoma"/>
              </a:rPr>
              <a:t>nodes</a:t>
            </a:r>
            <a:r>
              <a:rPr sz="10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191933"/>
                </a:solidFill>
                <a:latin typeface="Tahoma"/>
                <a:cs typeface="Tahoma"/>
              </a:rPr>
              <a:t>at</a:t>
            </a:r>
            <a:r>
              <a:rPr sz="10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191933"/>
                </a:solidFill>
                <a:latin typeface="Tahoma"/>
                <a:cs typeface="Tahoma"/>
              </a:rPr>
              <a:t>time</a:t>
            </a: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i="1" spc="-25" dirty="0">
                <a:solidFill>
                  <a:srgbClr val="191933"/>
                </a:solidFill>
                <a:latin typeface="Calibri"/>
                <a:cs typeface="Calibri"/>
              </a:rPr>
              <a:t>t</a:t>
            </a: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.</a:t>
            </a:r>
            <a:endParaRPr sz="1000">
              <a:latin typeface="Tahoma"/>
              <a:cs typeface="Tahoma"/>
            </a:endParaRPr>
          </a:p>
          <a:p>
            <a:pPr marL="289560">
              <a:lnSpc>
                <a:spcPts val="1195"/>
              </a:lnSpc>
            </a:pPr>
            <a:r>
              <a:rPr sz="1000" i="1" dirty="0">
                <a:solidFill>
                  <a:srgbClr val="191933"/>
                </a:solidFill>
                <a:latin typeface="Calibri"/>
                <a:cs typeface="Calibri"/>
              </a:rPr>
              <a:t>λ</a:t>
            </a:r>
            <a:r>
              <a:rPr sz="1000" dirty="0">
                <a:solidFill>
                  <a:srgbClr val="191933"/>
                </a:solidFill>
                <a:latin typeface="Tahoma"/>
                <a:cs typeface="Tahoma"/>
              </a:rPr>
              <a:t>:</a:t>
            </a:r>
            <a:r>
              <a:rPr sz="1000" spc="10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35" dirty="0">
                <a:solidFill>
                  <a:srgbClr val="191933"/>
                </a:solidFill>
                <a:latin typeface="Tahoma"/>
                <a:cs typeface="Tahoma"/>
              </a:rPr>
              <a:t>Infection</a:t>
            </a:r>
            <a:r>
              <a:rPr sz="10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rate</a:t>
            </a:r>
            <a:r>
              <a:rPr sz="10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50" dirty="0">
                <a:solidFill>
                  <a:srgbClr val="191933"/>
                </a:solidFill>
                <a:latin typeface="Tahoma"/>
                <a:cs typeface="Tahoma"/>
              </a:rPr>
              <a:t>(worm</a:t>
            </a:r>
            <a:r>
              <a:rPr sz="10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60" dirty="0">
                <a:solidFill>
                  <a:srgbClr val="191933"/>
                </a:solidFill>
                <a:latin typeface="Tahoma"/>
                <a:cs typeface="Tahoma"/>
              </a:rPr>
              <a:t>spread</a:t>
            </a:r>
            <a:r>
              <a:rPr sz="10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rate</a:t>
            </a:r>
            <a:r>
              <a:rPr sz="1000" spc="-20" dirty="0">
                <a:solidFill>
                  <a:srgbClr val="191933"/>
                </a:solidFill>
                <a:latin typeface="Tahoma"/>
                <a:cs typeface="Tahoma"/>
              </a:rPr>
              <a:t> from </a:t>
            </a:r>
            <a:r>
              <a:rPr sz="1000" spc="-30" dirty="0">
                <a:solidFill>
                  <a:srgbClr val="191933"/>
                </a:solidFill>
                <a:latin typeface="Tahoma"/>
                <a:cs typeface="Tahoma"/>
              </a:rPr>
              <a:t>infected</a:t>
            </a:r>
            <a:r>
              <a:rPr sz="10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191933"/>
                </a:solidFill>
                <a:latin typeface="Tahoma"/>
                <a:cs typeface="Tahoma"/>
              </a:rPr>
              <a:t>to</a:t>
            </a:r>
            <a:r>
              <a:rPr sz="10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40" dirty="0">
                <a:solidFill>
                  <a:srgbClr val="191933"/>
                </a:solidFill>
                <a:latin typeface="Tahoma"/>
                <a:cs typeface="Tahoma"/>
              </a:rPr>
              <a:t>susceptible</a:t>
            </a:r>
            <a:r>
              <a:rPr sz="10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191933"/>
                </a:solidFill>
                <a:latin typeface="Tahoma"/>
                <a:cs typeface="Tahoma"/>
              </a:rPr>
              <a:t>nodes).</a:t>
            </a:r>
            <a:endParaRPr sz="1000">
              <a:latin typeface="Tahoma"/>
              <a:cs typeface="Tahoma"/>
            </a:endParaRPr>
          </a:p>
          <a:p>
            <a:pPr marL="289560">
              <a:lnSpc>
                <a:spcPts val="1200"/>
              </a:lnSpc>
            </a:pPr>
            <a:r>
              <a:rPr sz="1000" i="1" dirty="0">
                <a:solidFill>
                  <a:srgbClr val="191933"/>
                </a:solidFill>
                <a:latin typeface="Calibri"/>
                <a:cs typeface="Calibri"/>
              </a:rPr>
              <a:t>δ</a:t>
            </a:r>
            <a:r>
              <a:rPr sz="1000" dirty="0">
                <a:solidFill>
                  <a:srgbClr val="191933"/>
                </a:solidFill>
                <a:latin typeface="Tahoma"/>
                <a:cs typeface="Tahoma"/>
              </a:rPr>
              <a:t>:</a:t>
            </a:r>
            <a:r>
              <a:rPr sz="1000" spc="6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40" dirty="0">
                <a:solidFill>
                  <a:srgbClr val="191933"/>
                </a:solidFill>
                <a:latin typeface="Tahoma"/>
                <a:cs typeface="Tahoma"/>
              </a:rPr>
              <a:t>Recovery</a:t>
            </a:r>
            <a:r>
              <a:rPr sz="10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20" dirty="0">
                <a:solidFill>
                  <a:srgbClr val="191933"/>
                </a:solidFill>
                <a:latin typeface="Tahoma"/>
                <a:cs typeface="Tahoma"/>
              </a:rPr>
              <a:t>rate</a:t>
            </a:r>
            <a:r>
              <a:rPr sz="10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20" dirty="0">
                <a:solidFill>
                  <a:srgbClr val="191933"/>
                </a:solidFill>
                <a:latin typeface="Tahoma"/>
                <a:cs typeface="Tahoma"/>
              </a:rPr>
              <a:t>(rate</a:t>
            </a: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191933"/>
                </a:solidFill>
                <a:latin typeface="Tahoma"/>
                <a:cs typeface="Tahoma"/>
              </a:rPr>
              <a:t>at</a:t>
            </a:r>
            <a:r>
              <a:rPr sz="10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which infected</a:t>
            </a:r>
            <a:r>
              <a:rPr sz="10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50" dirty="0">
                <a:solidFill>
                  <a:srgbClr val="191933"/>
                </a:solidFill>
                <a:latin typeface="Tahoma"/>
                <a:cs typeface="Tahoma"/>
              </a:rPr>
              <a:t>nodes</a:t>
            </a: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50" dirty="0">
                <a:solidFill>
                  <a:srgbClr val="191933"/>
                </a:solidFill>
                <a:latin typeface="Tahoma"/>
                <a:cs typeface="Tahoma"/>
              </a:rPr>
              <a:t>are</a:t>
            </a:r>
            <a:r>
              <a:rPr sz="10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191933"/>
                </a:solidFill>
                <a:latin typeface="Tahoma"/>
                <a:cs typeface="Tahoma"/>
              </a:rPr>
              <a:t>removed).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3" name="object 13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4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21</a:t>
            </a:r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93</a:t>
            </a:r>
          </a:p>
        </p:txBody>
      </p:sp>
    </p:spTree>
  </p:cSld>
  <p:clrMapOvr>
    <a:masterClrMapping/>
  </p:clrMapOvr>
  <p:transition>
    <p:cut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Differential</a:t>
            </a:r>
            <a:r>
              <a:rPr dirty="0"/>
              <a:t> </a:t>
            </a:r>
            <a:r>
              <a:rPr spc="-40" dirty="0"/>
              <a:t>Equations</a:t>
            </a:r>
            <a:r>
              <a:rPr dirty="0"/>
              <a:t> for Worm </a:t>
            </a:r>
            <a:r>
              <a:rPr spc="-35" dirty="0"/>
              <a:t>Propagation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725626"/>
            <a:ext cx="4432935" cy="198755"/>
          </a:xfrm>
          <a:custGeom>
            <a:avLst/>
            <a:gdLst/>
            <a:ahLst/>
            <a:cxnLst/>
            <a:rect l="l" t="t" r="r" b="b"/>
            <a:pathLst>
              <a:path w="4432935" h="198755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4432566" y="198367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2672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8544" y="754074"/>
            <a:ext cx="131127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30" dirty="0">
                <a:solidFill>
                  <a:srgbClr val="FFFFFF"/>
                </a:solidFill>
                <a:latin typeface="Tahoma"/>
                <a:cs typeface="Tahoma"/>
              </a:rPr>
              <a:t>SIR</a:t>
            </a:r>
            <a:r>
              <a:rPr sz="12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Tahoma"/>
                <a:cs typeface="Tahoma"/>
              </a:rPr>
              <a:t>Model</a:t>
            </a:r>
            <a:r>
              <a:rPr sz="12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50" dirty="0">
                <a:solidFill>
                  <a:srgbClr val="FFFFFF"/>
                </a:solidFill>
                <a:latin typeface="Tahoma"/>
                <a:cs typeface="Tahoma"/>
              </a:rPr>
              <a:t>Equations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19973" y="1179142"/>
            <a:ext cx="8280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1100" spc="295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1100" spc="5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85" dirty="0">
                <a:solidFill>
                  <a:srgbClr val="191933"/>
                </a:solidFill>
                <a:latin typeface="Lucida Sans Unicode"/>
                <a:cs typeface="Lucida Sans Unicode"/>
              </a:rPr>
              <a:t>−</a:t>
            </a:r>
            <a:r>
              <a:rPr sz="1100" i="1" spc="85" dirty="0">
                <a:solidFill>
                  <a:srgbClr val="191933"/>
                </a:solidFill>
                <a:latin typeface="Calibri"/>
                <a:cs typeface="Calibri"/>
              </a:rPr>
              <a:t>λS</a:t>
            </a:r>
            <a:r>
              <a:rPr sz="1100" spc="85" dirty="0">
                <a:solidFill>
                  <a:srgbClr val="191933"/>
                </a:solidFill>
                <a:latin typeface="Calibri"/>
                <a:cs typeface="Calibri"/>
              </a:rPr>
              <a:t>(</a:t>
            </a:r>
            <a:r>
              <a:rPr sz="1100" i="1" spc="85" dirty="0">
                <a:solidFill>
                  <a:srgbClr val="191933"/>
                </a:solidFill>
                <a:latin typeface="Calibri"/>
                <a:cs typeface="Calibri"/>
              </a:rPr>
              <a:t>t</a:t>
            </a:r>
            <a:r>
              <a:rPr sz="1100" spc="85" dirty="0">
                <a:solidFill>
                  <a:srgbClr val="191933"/>
                </a:solidFill>
                <a:latin typeface="Calibri"/>
                <a:cs typeface="Calibri"/>
              </a:rPr>
              <a:t>)</a:t>
            </a:r>
            <a:r>
              <a:rPr sz="1100" i="1" spc="85" dirty="0">
                <a:solidFill>
                  <a:srgbClr val="191933"/>
                </a:solidFill>
                <a:latin typeface="Calibri"/>
                <a:cs typeface="Calibri"/>
              </a:rPr>
              <a:t>I</a:t>
            </a:r>
            <a:r>
              <a:rPr sz="1100" spc="85" dirty="0">
                <a:solidFill>
                  <a:srgbClr val="191933"/>
                </a:solidFill>
                <a:latin typeface="Calibri"/>
                <a:cs typeface="Calibri"/>
              </a:rPr>
              <a:t>(</a:t>
            </a:r>
            <a:r>
              <a:rPr sz="1100" i="1" spc="85" dirty="0">
                <a:solidFill>
                  <a:srgbClr val="191933"/>
                </a:solidFill>
                <a:latin typeface="Calibri"/>
                <a:cs typeface="Calibri"/>
              </a:rPr>
              <a:t>t</a:t>
            </a:r>
            <a:r>
              <a:rPr sz="1100" spc="85" dirty="0">
                <a:solidFill>
                  <a:srgbClr val="191933"/>
                </a:solidFill>
                <a:latin typeface="Calibri"/>
                <a:cs typeface="Calibri"/>
              </a:rPr>
              <a:t>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92422" y="1179142"/>
            <a:ext cx="1898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(1)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530146" y="1636268"/>
            <a:ext cx="336550" cy="349250"/>
            <a:chOff x="1530146" y="1636268"/>
            <a:chExt cx="336550" cy="349250"/>
          </a:xfrm>
        </p:grpSpPr>
        <p:sp>
          <p:nvSpPr>
            <p:cNvPr id="13" name="object 13"/>
            <p:cNvSpPr/>
            <p:nvPr/>
          </p:nvSpPr>
          <p:spPr>
            <a:xfrm>
              <a:off x="1564640" y="1639036"/>
              <a:ext cx="302260" cy="0"/>
            </a:xfrm>
            <a:custGeom>
              <a:avLst/>
              <a:gdLst/>
              <a:ahLst/>
              <a:cxnLst/>
              <a:rect l="l" t="t" r="r" b="b"/>
              <a:pathLst>
                <a:path w="302260">
                  <a:moveTo>
                    <a:pt x="0" y="0"/>
                  </a:moveTo>
                  <a:lnTo>
                    <a:pt x="301675" y="0"/>
                  </a:lnTo>
                </a:path>
              </a:pathLst>
            </a:custGeom>
            <a:ln w="5537">
              <a:solidFill>
                <a:srgbClr val="1919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530146" y="1982317"/>
              <a:ext cx="336550" cy="0"/>
            </a:xfrm>
            <a:custGeom>
              <a:avLst/>
              <a:gdLst/>
              <a:ahLst/>
              <a:cxnLst/>
              <a:rect l="l" t="t" r="r" b="b"/>
              <a:pathLst>
                <a:path w="336550">
                  <a:moveTo>
                    <a:pt x="0" y="0"/>
                  </a:moveTo>
                  <a:lnTo>
                    <a:pt x="336169" y="0"/>
                  </a:lnTo>
                </a:path>
              </a:pathLst>
            </a:custGeom>
            <a:ln w="5537">
              <a:solidFill>
                <a:srgbClr val="1919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919973" y="1522423"/>
            <a:ext cx="11861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1100" spc="295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1100" spc="7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i="1" spc="110" dirty="0">
                <a:solidFill>
                  <a:srgbClr val="191933"/>
                </a:solidFill>
                <a:latin typeface="Calibri"/>
                <a:cs typeface="Calibri"/>
              </a:rPr>
              <a:t>λS</a:t>
            </a:r>
            <a:r>
              <a:rPr sz="1100" spc="110" dirty="0">
                <a:solidFill>
                  <a:srgbClr val="191933"/>
                </a:solidFill>
                <a:latin typeface="Calibri"/>
                <a:cs typeface="Calibri"/>
              </a:rPr>
              <a:t>(</a:t>
            </a:r>
            <a:r>
              <a:rPr sz="1100" i="1" spc="110" dirty="0">
                <a:solidFill>
                  <a:srgbClr val="191933"/>
                </a:solidFill>
                <a:latin typeface="Calibri"/>
                <a:cs typeface="Calibri"/>
              </a:rPr>
              <a:t>t</a:t>
            </a:r>
            <a:r>
              <a:rPr sz="1100" spc="110" dirty="0">
                <a:solidFill>
                  <a:srgbClr val="191933"/>
                </a:solidFill>
                <a:latin typeface="Calibri"/>
                <a:cs typeface="Calibri"/>
              </a:rPr>
              <a:t>)</a:t>
            </a:r>
            <a:r>
              <a:rPr sz="1100" i="1" spc="110" dirty="0">
                <a:solidFill>
                  <a:srgbClr val="191933"/>
                </a:solidFill>
                <a:latin typeface="Calibri"/>
                <a:cs typeface="Calibri"/>
              </a:rPr>
              <a:t>I</a:t>
            </a:r>
            <a:r>
              <a:rPr sz="1100" spc="110" dirty="0">
                <a:solidFill>
                  <a:srgbClr val="191933"/>
                </a:solidFill>
                <a:latin typeface="Calibri"/>
                <a:cs typeface="Calibri"/>
              </a:rPr>
              <a:t>(</a:t>
            </a:r>
            <a:r>
              <a:rPr sz="1100" i="1" spc="110" dirty="0">
                <a:solidFill>
                  <a:srgbClr val="191933"/>
                </a:solidFill>
                <a:latin typeface="Calibri"/>
                <a:cs typeface="Calibri"/>
              </a:rPr>
              <a:t>t</a:t>
            </a:r>
            <a:r>
              <a:rPr sz="1100" spc="110" dirty="0">
                <a:solidFill>
                  <a:srgbClr val="191933"/>
                </a:solidFill>
                <a:latin typeface="Calibri"/>
                <a:cs typeface="Calibri"/>
              </a:rPr>
              <a:t>)</a:t>
            </a:r>
            <a:r>
              <a:rPr sz="110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Lucida Sans Unicode"/>
                <a:cs typeface="Lucida Sans Unicode"/>
              </a:rPr>
              <a:t>−</a:t>
            </a:r>
            <a:r>
              <a:rPr sz="1100" spc="-95" dirty="0">
                <a:solidFill>
                  <a:srgbClr val="191933"/>
                </a:solidFill>
                <a:latin typeface="Lucida Sans Unicode"/>
                <a:cs typeface="Lucida Sans Unicode"/>
              </a:rPr>
              <a:t> </a:t>
            </a:r>
            <a:r>
              <a:rPr sz="1100" i="1" spc="65" dirty="0">
                <a:solidFill>
                  <a:srgbClr val="191933"/>
                </a:solidFill>
                <a:latin typeface="Calibri"/>
                <a:cs typeface="Calibri"/>
              </a:rPr>
              <a:t>δI</a:t>
            </a:r>
            <a:r>
              <a:rPr sz="1100" spc="65" dirty="0">
                <a:solidFill>
                  <a:srgbClr val="191933"/>
                </a:solidFill>
                <a:latin typeface="Calibri"/>
                <a:cs typeface="Calibri"/>
              </a:rPr>
              <a:t>(</a:t>
            </a:r>
            <a:r>
              <a:rPr sz="1100" i="1" spc="65" dirty="0">
                <a:solidFill>
                  <a:srgbClr val="191933"/>
                </a:solidFill>
                <a:latin typeface="Calibri"/>
                <a:cs typeface="Calibri"/>
              </a:rPr>
              <a:t>t</a:t>
            </a:r>
            <a:r>
              <a:rPr sz="1100" spc="65" dirty="0">
                <a:solidFill>
                  <a:srgbClr val="191933"/>
                </a:solidFill>
                <a:latin typeface="Calibri"/>
                <a:cs typeface="Calibri"/>
              </a:rPr>
              <a:t>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292422" y="1522423"/>
            <a:ext cx="1898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(2)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30146" y="1062911"/>
            <a:ext cx="349250" cy="108966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13664" indent="-100965">
              <a:lnSpc>
                <a:spcPct val="100000"/>
              </a:lnSpc>
              <a:spcBef>
                <a:spcPts val="265"/>
              </a:spcBef>
            </a:pPr>
            <a:r>
              <a:rPr sz="1100" i="1" spc="75" dirty="0">
                <a:solidFill>
                  <a:srgbClr val="191933"/>
                </a:solidFill>
                <a:latin typeface="Calibri"/>
                <a:cs typeface="Calibri"/>
              </a:rPr>
              <a:t>dS</a:t>
            </a:r>
            <a:r>
              <a:rPr sz="1100" spc="75" dirty="0">
                <a:solidFill>
                  <a:srgbClr val="191933"/>
                </a:solidFill>
                <a:latin typeface="Calibri"/>
                <a:cs typeface="Calibri"/>
              </a:rPr>
              <a:t>(</a:t>
            </a:r>
            <a:r>
              <a:rPr sz="1100" i="1" spc="75" dirty="0">
                <a:solidFill>
                  <a:srgbClr val="191933"/>
                </a:solidFill>
                <a:latin typeface="Calibri"/>
                <a:cs typeface="Calibri"/>
              </a:rPr>
              <a:t>t</a:t>
            </a:r>
            <a:r>
              <a:rPr sz="1100" spc="75" dirty="0">
                <a:solidFill>
                  <a:srgbClr val="191933"/>
                </a:solidFill>
                <a:latin typeface="Calibri"/>
                <a:cs typeface="Calibri"/>
              </a:rPr>
              <a:t>)</a:t>
            </a:r>
            <a:endParaRPr sz="1100">
              <a:latin typeface="Calibri"/>
              <a:cs typeface="Calibri"/>
            </a:endParaRPr>
          </a:p>
          <a:p>
            <a:pPr marL="34290" marR="5080" indent="78740">
              <a:lnSpc>
                <a:spcPts val="1220"/>
              </a:lnSpc>
              <a:spcBef>
                <a:spcPts val="290"/>
              </a:spcBef>
            </a:pPr>
            <a:r>
              <a:rPr sz="1100" i="1" spc="-25" dirty="0">
                <a:solidFill>
                  <a:srgbClr val="191933"/>
                </a:solidFill>
                <a:latin typeface="Calibri"/>
                <a:cs typeface="Calibri"/>
              </a:rPr>
              <a:t>dt </a:t>
            </a:r>
            <a:r>
              <a:rPr sz="1100" i="1" spc="85" dirty="0">
                <a:solidFill>
                  <a:srgbClr val="191933"/>
                </a:solidFill>
                <a:latin typeface="Calibri"/>
                <a:cs typeface="Calibri"/>
              </a:rPr>
              <a:t>dI</a:t>
            </a:r>
            <a:r>
              <a:rPr sz="1100" spc="85" dirty="0">
                <a:solidFill>
                  <a:srgbClr val="191933"/>
                </a:solidFill>
                <a:latin typeface="Calibri"/>
                <a:cs typeface="Calibri"/>
              </a:rPr>
              <a:t>(</a:t>
            </a:r>
            <a:r>
              <a:rPr sz="1100" i="1" spc="85" dirty="0">
                <a:solidFill>
                  <a:srgbClr val="191933"/>
                </a:solidFill>
                <a:latin typeface="Calibri"/>
                <a:cs typeface="Calibri"/>
              </a:rPr>
              <a:t>t</a:t>
            </a:r>
            <a:r>
              <a:rPr sz="1100" spc="85" dirty="0">
                <a:solidFill>
                  <a:srgbClr val="191933"/>
                </a:solidFill>
                <a:latin typeface="Calibri"/>
                <a:cs typeface="Calibri"/>
              </a:rPr>
              <a:t>)</a:t>
            </a:r>
            <a:endParaRPr sz="1100">
              <a:latin typeface="Calibri"/>
              <a:cs typeface="Calibri"/>
            </a:endParaRPr>
          </a:p>
          <a:p>
            <a:pPr marR="5080" indent="123825">
              <a:lnSpc>
                <a:spcPts val="1220"/>
              </a:lnSpc>
              <a:spcBef>
                <a:spcPts val="265"/>
              </a:spcBef>
            </a:pPr>
            <a:r>
              <a:rPr sz="1100" i="1" spc="-25" dirty="0">
                <a:solidFill>
                  <a:srgbClr val="191933"/>
                </a:solidFill>
                <a:latin typeface="Calibri"/>
                <a:cs typeface="Calibri"/>
              </a:rPr>
              <a:t>dt </a:t>
            </a:r>
            <a:r>
              <a:rPr sz="1100" i="1" spc="75" dirty="0">
                <a:solidFill>
                  <a:srgbClr val="191933"/>
                </a:solidFill>
                <a:latin typeface="Calibri"/>
                <a:cs typeface="Calibri"/>
              </a:rPr>
              <a:t>dR</a:t>
            </a:r>
            <a:r>
              <a:rPr sz="1100" spc="75" dirty="0">
                <a:solidFill>
                  <a:srgbClr val="191933"/>
                </a:solidFill>
                <a:latin typeface="Calibri"/>
                <a:cs typeface="Calibri"/>
              </a:rPr>
              <a:t>(</a:t>
            </a:r>
            <a:r>
              <a:rPr sz="1100" i="1" spc="75" dirty="0">
                <a:solidFill>
                  <a:srgbClr val="191933"/>
                </a:solidFill>
                <a:latin typeface="Calibri"/>
                <a:cs typeface="Calibri"/>
              </a:rPr>
              <a:t>t</a:t>
            </a:r>
            <a:r>
              <a:rPr sz="1100" spc="75" dirty="0">
                <a:solidFill>
                  <a:srgbClr val="191933"/>
                </a:solidFill>
                <a:latin typeface="Calibri"/>
                <a:cs typeface="Calibri"/>
              </a:rPr>
              <a:t>)</a:t>
            </a:r>
            <a:endParaRPr sz="1100">
              <a:latin typeface="Calibri"/>
              <a:cs typeface="Calibri"/>
            </a:endParaRPr>
          </a:p>
          <a:p>
            <a:pPr marL="106680">
              <a:lnSpc>
                <a:spcPct val="100000"/>
              </a:lnSpc>
              <a:spcBef>
                <a:spcPts val="140"/>
              </a:spcBef>
            </a:pPr>
            <a:r>
              <a:rPr sz="1100" i="1" spc="-25" dirty="0">
                <a:solidFill>
                  <a:srgbClr val="191933"/>
                </a:solidFill>
                <a:latin typeface="Calibri"/>
                <a:cs typeface="Calibri"/>
              </a:rPr>
              <a:t>dt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919973" y="1865705"/>
            <a:ext cx="25628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  <a:tabLst>
                <a:tab pos="2372360" algn="l"/>
              </a:tabLst>
            </a:pPr>
            <a:r>
              <a:rPr sz="1100" spc="295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1100" spc="5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i="1" spc="75" dirty="0">
                <a:solidFill>
                  <a:srgbClr val="191933"/>
                </a:solidFill>
                <a:latin typeface="Calibri"/>
                <a:cs typeface="Calibri"/>
              </a:rPr>
              <a:t>δI</a:t>
            </a:r>
            <a:r>
              <a:rPr sz="1100" spc="75" dirty="0">
                <a:solidFill>
                  <a:srgbClr val="191933"/>
                </a:solidFill>
                <a:latin typeface="Calibri"/>
                <a:cs typeface="Calibri"/>
              </a:rPr>
              <a:t>(</a:t>
            </a:r>
            <a:r>
              <a:rPr sz="1100" i="1" spc="75" dirty="0">
                <a:solidFill>
                  <a:srgbClr val="191933"/>
                </a:solidFill>
                <a:latin typeface="Calibri"/>
                <a:cs typeface="Calibri"/>
              </a:rPr>
              <a:t>t</a:t>
            </a:r>
            <a:r>
              <a:rPr sz="1100" spc="75" dirty="0">
                <a:solidFill>
                  <a:srgbClr val="191933"/>
                </a:solidFill>
                <a:latin typeface="Calibri"/>
                <a:cs typeface="Calibri"/>
              </a:rPr>
              <a:t>)</a:t>
            </a:r>
            <a:r>
              <a:rPr sz="1100" dirty="0">
                <a:solidFill>
                  <a:srgbClr val="191933"/>
                </a:solidFill>
                <a:latin typeface="Calibri"/>
                <a:cs typeface="Calibri"/>
              </a:rPr>
              <a:t>	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(3)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2349309"/>
            <a:ext cx="65265" cy="65265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2731414"/>
            <a:ext cx="65265" cy="65265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402932" y="2265856"/>
            <a:ext cx="4080510" cy="5740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224790">
              <a:lnSpc>
                <a:spcPct val="102600"/>
              </a:lnSpc>
              <a:spcBef>
                <a:spcPts val="55"/>
              </a:spcBef>
            </a:pP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These</a:t>
            </a:r>
            <a:r>
              <a:rPr sz="1100" spc="-5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equations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model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the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rate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of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change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in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susceptible, 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infected, and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55" dirty="0">
                <a:solidFill>
                  <a:srgbClr val="191933"/>
                </a:solidFill>
                <a:latin typeface="Tahoma"/>
                <a:cs typeface="Tahoma"/>
              </a:rPr>
              <a:t>recovered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nodes.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The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goal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is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to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minimize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i="1" spc="85" dirty="0">
                <a:solidFill>
                  <a:srgbClr val="191933"/>
                </a:solidFill>
                <a:latin typeface="Calibri"/>
                <a:cs typeface="Calibri"/>
              </a:rPr>
              <a:t>I</a:t>
            </a:r>
            <a:r>
              <a:rPr sz="1100" spc="85" dirty="0">
                <a:solidFill>
                  <a:srgbClr val="191933"/>
                </a:solidFill>
                <a:latin typeface="Calibri"/>
                <a:cs typeface="Calibri"/>
              </a:rPr>
              <a:t>(</a:t>
            </a:r>
            <a:r>
              <a:rPr sz="1100" i="1" spc="85" dirty="0">
                <a:solidFill>
                  <a:srgbClr val="191933"/>
                </a:solidFill>
                <a:latin typeface="Calibri"/>
                <a:cs typeface="Calibri"/>
              </a:rPr>
              <a:t>t</a:t>
            </a:r>
            <a:r>
              <a:rPr sz="1100" spc="85" dirty="0">
                <a:solidFill>
                  <a:srgbClr val="191933"/>
                </a:solidFill>
                <a:latin typeface="Calibri"/>
                <a:cs typeface="Calibri"/>
              </a:rPr>
              <a:t>)</a:t>
            </a:r>
            <a:r>
              <a:rPr sz="1100" spc="85" dirty="0">
                <a:solidFill>
                  <a:srgbClr val="191933"/>
                </a:solidFill>
                <a:latin typeface="Tahoma"/>
                <a:cs typeface="Tahoma"/>
              </a:rPr>
              <a:t>,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the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number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of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 infected </a:t>
            </a:r>
            <a:r>
              <a:rPr sz="1100" spc="-60" dirty="0">
                <a:solidFill>
                  <a:srgbClr val="191933"/>
                </a:solidFill>
                <a:latin typeface="Tahoma"/>
                <a:cs typeface="Tahoma"/>
              </a:rPr>
              <a:t>nodes,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55" dirty="0">
                <a:solidFill>
                  <a:srgbClr val="191933"/>
                </a:solidFill>
                <a:latin typeface="Tahoma"/>
                <a:cs typeface="Tahoma"/>
              </a:rPr>
              <a:t>over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time.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23" name="object 23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4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22</a:t>
            </a:r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93</a:t>
            </a:r>
          </a:p>
        </p:txBody>
      </p:sp>
    </p:spTree>
  </p:cSld>
  <p:clrMapOvr>
    <a:masterClrMapping/>
  </p:clrMapOvr>
  <p:transition>
    <p:cut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Prevention</a:t>
            </a:r>
            <a:r>
              <a:rPr spc="45" dirty="0"/>
              <a:t> </a:t>
            </a:r>
            <a:r>
              <a:rPr spc="-20" dirty="0"/>
              <a:t>Strategy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069746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451851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661884"/>
            <a:ext cx="65265" cy="6526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02932" y="986293"/>
            <a:ext cx="3629025" cy="78422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Monitor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191933"/>
                </a:solidFill>
                <a:latin typeface="Tahoma"/>
                <a:cs typeface="Tahoma"/>
              </a:rPr>
              <a:t>network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traffic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for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abnormal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patterns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indicating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worm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propagation.</a:t>
            </a:r>
            <a:endParaRPr sz="1100">
              <a:latin typeface="Tahoma"/>
              <a:cs typeface="Tahoma"/>
            </a:endParaRPr>
          </a:p>
          <a:p>
            <a:pPr marL="12700" marR="174625">
              <a:lnSpc>
                <a:spcPct val="125299"/>
              </a:lnSpc>
            </a:pP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Use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early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warning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systems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to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detect 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rapid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increases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in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i="1" spc="50" dirty="0">
                <a:solidFill>
                  <a:srgbClr val="191933"/>
                </a:solidFill>
                <a:latin typeface="Calibri"/>
                <a:cs typeface="Calibri"/>
              </a:rPr>
              <a:t>I</a:t>
            </a:r>
            <a:r>
              <a:rPr sz="1100" spc="50" dirty="0">
                <a:solidFill>
                  <a:srgbClr val="191933"/>
                </a:solidFill>
                <a:latin typeface="Calibri"/>
                <a:cs typeface="Calibri"/>
              </a:rPr>
              <a:t>(</a:t>
            </a:r>
            <a:r>
              <a:rPr sz="1100" i="1" spc="50" dirty="0">
                <a:solidFill>
                  <a:srgbClr val="191933"/>
                </a:solidFill>
                <a:latin typeface="Calibri"/>
                <a:cs typeface="Calibri"/>
              </a:rPr>
              <a:t>t</a:t>
            </a:r>
            <a:r>
              <a:rPr sz="1100" spc="50" dirty="0">
                <a:solidFill>
                  <a:srgbClr val="191933"/>
                </a:solidFill>
                <a:latin typeface="Calibri"/>
                <a:cs typeface="Calibri"/>
              </a:rPr>
              <a:t>)</a:t>
            </a:r>
            <a:r>
              <a:rPr sz="1100" spc="50" dirty="0">
                <a:solidFill>
                  <a:srgbClr val="191933"/>
                </a:solidFill>
                <a:latin typeface="Tahoma"/>
                <a:cs typeface="Tahoma"/>
              </a:rPr>
              <a:t>. 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Isolate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infected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55" dirty="0">
                <a:solidFill>
                  <a:srgbClr val="191933"/>
                </a:solidFill>
                <a:latin typeface="Tahoma"/>
                <a:cs typeface="Tahoma"/>
              </a:rPr>
              <a:t>nodes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to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prevent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further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spread: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98358" y="1889682"/>
            <a:ext cx="20891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873760" algn="l"/>
                <a:tab pos="1087755" algn="l"/>
              </a:tabLst>
            </a:pP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Isolate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Node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	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if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	</a:t>
            </a:r>
            <a:r>
              <a:rPr sz="1100" i="1" spc="120" dirty="0">
                <a:solidFill>
                  <a:srgbClr val="191933"/>
                </a:solidFill>
                <a:latin typeface="Calibri"/>
                <a:cs typeface="Calibri"/>
              </a:rPr>
              <a:t>I</a:t>
            </a:r>
            <a:r>
              <a:rPr sz="1100" spc="120" dirty="0">
                <a:solidFill>
                  <a:srgbClr val="191933"/>
                </a:solidFill>
                <a:latin typeface="Calibri"/>
                <a:cs typeface="Calibri"/>
              </a:rPr>
              <a:t>(</a:t>
            </a:r>
            <a:r>
              <a:rPr sz="1100" i="1" spc="120" dirty="0">
                <a:solidFill>
                  <a:srgbClr val="191933"/>
                </a:solidFill>
                <a:latin typeface="Calibri"/>
                <a:cs typeface="Calibri"/>
              </a:rPr>
              <a:t>t</a:t>
            </a:r>
            <a:r>
              <a:rPr sz="1100" spc="120" dirty="0">
                <a:solidFill>
                  <a:srgbClr val="191933"/>
                </a:solidFill>
                <a:latin typeface="Calibri"/>
                <a:cs typeface="Calibri"/>
              </a:rPr>
              <a:t>)</a:t>
            </a:r>
            <a:r>
              <a:rPr sz="1100" spc="5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i="1" spc="295" dirty="0">
                <a:solidFill>
                  <a:srgbClr val="191933"/>
                </a:solidFill>
                <a:latin typeface="Calibri"/>
                <a:cs typeface="Calibri"/>
              </a:rPr>
              <a:t>&gt;</a:t>
            </a:r>
            <a:r>
              <a:rPr sz="1100" i="1" spc="6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Threshold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79925" y="1889682"/>
            <a:ext cx="2025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(4)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2284387"/>
            <a:ext cx="65265" cy="65265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02932" y="2200934"/>
            <a:ext cx="28035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Apply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patches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to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susceptible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55" dirty="0">
                <a:solidFill>
                  <a:srgbClr val="191933"/>
                </a:solidFill>
                <a:latin typeface="Tahoma"/>
                <a:cs typeface="Tahoma"/>
              </a:rPr>
              <a:t>nodes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to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reduce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i="1" spc="-25" dirty="0">
                <a:solidFill>
                  <a:srgbClr val="191933"/>
                </a:solidFill>
                <a:latin typeface="Calibri"/>
                <a:cs typeface="Calibri"/>
              </a:rPr>
              <a:t>λ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2" name="object 12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4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23</a:t>
            </a:r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93</a:t>
            </a:r>
          </a:p>
        </p:txBody>
      </p:sp>
    </p:spTree>
  </p:cSld>
  <p:clrMapOvr>
    <a:masterClrMapping/>
  </p:clrMapOvr>
  <p:transition>
    <p:cut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Numerical</a:t>
            </a:r>
            <a:r>
              <a:rPr spc="45" dirty="0"/>
              <a:t> </a:t>
            </a:r>
            <a:r>
              <a:rPr spc="-35" dirty="0"/>
              <a:t>Example</a:t>
            </a:r>
            <a:r>
              <a:rPr spc="40" dirty="0"/>
              <a:t> </a:t>
            </a:r>
            <a:r>
              <a:rPr dirty="0"/>
              <a:t>-</a:t>
            </a:r>
            <a:r>
              <a:rPr spc="45" dirty="0"/>
              <a:t> </a:t>
            </a:r>
            <a:r>
              <a:rPr dirty="0"/>
              <a:t>Initial</a:t>
            </a:r>
            <a:r>
              <a:rPr spc="40" dirty="0"/>
              <a:t> </a:t>
            </a:r>
            <a:r>
              <a:rPr spc="-45" dirty="0"/>
              <a:t>Conditions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080795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270584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0865" y="1460398"/>
            <a:ext cx="52590" cy="5259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0865" y="1612226"/>
            <a:ext cx="52590" cy="5259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0865" y="1764055"/>
            <a:ext cx="52590" cy="5259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1089" y="1941169"/>
            <a:ext cx="65265" cy="6526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70865" y="2130983"/>
            <a:ext cx="52590" cy="5259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70865" y="2282812"/>
            <a:ext cx="52590" cy="52590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402932" y="973821"/>
            <a:ext cx="2548890" cy="1402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59715">
              <a:lnSpc>
                <a:spcPct val="113199"/>
              </a:lnSpc>
              <a:spcBef>
                <a:spcPts val="100"/>
              </a:spcBef>
            </a:pP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Consider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a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191933"/>
                </a:solidFill>
                <a:latin typeface="Tahoma"/>
                <a:cs typeface="Tahoma"/>
              </a:rPr>
              <a:t>network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of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1000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computers.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Initial</a:t>
            </a:r>
            <a:r>
              <a:rPr sz="1100" spc="-7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conditions: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ts val="1200"/>
              </a:lnSpc>
              <a:spcBef>
                <a:spcPts val="175"/>
              </a:spcBef>
            </a:pPr>
            <a:r>
              <a:rPr sz="1000" i="1" spc="90" dirty="0">
                <a:solidFill>
                  <a:srgbClr val="191933"/>
                </a:solidFill>
                <a:latin typeface="Calibri"/>
                <a:cs typeface="Calibri"/>
              </a:rPr>
              <a:t>S</a:t>
            </a:r>
            <a:r>
              <a:rPr sz="1000" spc="90" dirty="0">
                <a:solidFill>
                  <a:srgbClr val="191933"/>
                </a:solidFill>
                <a:latin typeface="Calibri"/>
                <a:cs typeface="Calibri"/>
              </a:rPr>
              <a:t>(0)</a:t>
            </a:r>
            <a:r>
              <a:rPr sz="1000" spc="3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000" spc="270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1000" spc="4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191933"/>
                </a:solidFill>
                <a:latin typeface="Calibri"/>
                <a:cs typeface="Calibri"/>
              </a:rPr>
              <a:t>990</a:t>
            </a:r>
            <a:r>
              <a:rPr sz="1000" spc="8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000" spc="-30" dirty="0">
                <a:solidFill>
                  <a:srgbClr val="191933"/>
                </a:solidFill>
                <a:latin typeface="Tahoma"/>
                <a:cs typeface="Tahoma"/>
              </a:rPr>
              <a:t>(Susceptible</a:t>
            </a:r>
            <a:r>
              <a:rPr sz="100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191933"/>
                </a:solidFill>
                <a:latin typeface="Tahoma"/>
                <a:cs typeface="Tahoma"/>
              </a:rPr>
              <a:t>computers)</a:t>
            </a:r>
            <a:endParaRPr sz="1000">
              <a:latin typeface="Tahoma"/>
              <a:cs typeface="Tahoma"/>
            </a:endParaRPr>
          </a:p>
          <a:p>
            <a:pPr marL="289560">
              <a:lnSpc>
                <a:spcPts val="1195"/>
              </a:lnSpc>
            </a:pPr>
            <a:r>
              <a:rPr sz="1000" i="1" spc="100" dirty="0">
                <a:solidFill>
                  <a:srgbClr val="191933"/>
                </a:solidFill>
                <a:latin typeface="Calibri"/>
                <a:cs typeface="Calibri"/>
              </a:rPr>
              <a:t>I</a:t>
            </a:r>
            <a:r>
              <a:rPr sz="1000" spc="100" dirty="0">
                <a:solidFill>
                  <a:srgbClr val="191933"/>
                </a:solidFill>
                <a:latin typeface="Calibri"/>
                <a:cs typeface="Calibri"/>
              </a:rPr>
              <a:t>(0)</a:t>
            </a:r>
            <a:r>
              <a:rPr sz="1000" spc="3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000" spc="270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1000" spc="3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191933"/>
                </a:solidFill>
                <a:latin typeface="Calibri"/>
                <a:cs typeface="Calibri"/>
              </a:rPr>
              <a:t>10</a:t>
            </a:r>
            <a:r>
              <a:rPr sz="1000" spc="8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000" spc="-35" dirty="0">
                <a:solidFill>
                  <a:srgbClr val="191933"/>
                </a:solidFill>
                <a:latin typeface="Tahoma"/>
                <a:cs typeface="Tahoma"/>
              </a:rPr>
              <a:t>(Infected</a:t>
            </a:r>
            <a:r>
              <a:rPr sz="1000" spc="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191933"/>
                </a:solidFill>
                <a:latin typeface="Tahoma"/>
                <a:cs typeface="Tahoma"/>
              </a:rPr>
              <a:t>computers)</a:t>
            </a:r>
            <a:endParaRPr sz="1000">
              <a:latin typeface="Tahoma"/>
              <a:cs typeface="Tahoma"/>
            </a:endParaRPr>
          </a:p>
          <a:p>
            <a:pPr marL="289560">
              <a:lnSpc>
                <a:spcPts val="1200"/>
              </a:lnSpc>
            </a:pPr>
            <a:r>
              <a:rPr sz="1000" i="1" spc="90" dirty="0">
                <a:solidFill>
                  <a:srgbClr val="191933"/>
                </a:solidFill>
                <a:latin typeface="Calibri"/>
                <a:cs typeface="Calibri"/>
              </a:rPr>
              <a:t>R</a:t>
            </a:r>
            <a:r>
              <a:rPr sz="1000" spc="90" dirty="0">
                <a:solidFill>
                  <a:srgbClr val="191933"/>
                </a:solidFill>
                <a:latin typeface="Calibri"/>
                <a:cs typeface="Calibri"/>
              </a:rPr>
              <a:t>(0)</a:t>
            </a:r>
            <a:r>
              <a:rPr sz="1000" spc="5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000" spc="270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1000" spc="6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191933"/>
                </a:solidFill>
                <a:latin typeface="Calibri"/>
                <a:cs typeface="Calibri"/>
              </a:rPr>
              <a:t>0</a:t>
            </a:r>
            <a:r>
              <a:rPr sz="1000" spc="11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000" spc="-30" dirty="0">
                <a:solidFill>
                  <a:srgbClr val="191933"/>
                </a:solidFill>
                <a:latin typeface="Tahoma"/>
                <a:cs typeface="Tahoma"/>
              </a:rPr>
              <a:t>(Recovered/Patched</a:t>
            </a:r>
            <a:r>
              <a:rPr sz="1000" spc="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computers)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Parameters: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ts val="1200"/>
              </a:lnSpc>
              <a:spcBef>
                <a:spcPts val="175"/>
              </a:spcBef>
            </a:pPr>
            <a:r>
              <a:rPr sz="1000" spc="-35" dirty="0">
                <a:solidFill>
                  <a:srgbClr val="191933"/>
                </a:solidFill>
                <a:latin typeface="Tahoma"/>
                <a:cs typeface="Tahoma"/>
              </a:rPr>
              <a:t>Infection</a:t>
            </a:r>
            <a:r>
              <a:rPr sz="100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20" dirty="0">
                <a:solidFill>
                  <a:srgbClr val="191933"/>
                </a:solidFill>
                <a:latin typeface="Tahoma"/>
                <a:cs typeface="Tahoma"/>
              </a:rPr>
              <a:t>rate</a:t>
            </a:r>
            <a:r>
              <a:rPr sz="100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i="1" dirty="0">
                <a:solidFill>
                  <a:srgbClr val="191933"/>
                </a:solidFill>
                <a:latin typeface="Calibri"/>
                <a:cs typeface="Calibri"/>
              </a:rPr>
              <a:t>β</a:t>
            </a:r>
            <a:r>
              <a:rPr sz="1000" i="1" spc="8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000" spc="270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1000" spc="4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000" spc="-25" dirty="0">
                <a:solidFill>
                  <a:srgbClr val="191933"/>
                </a:solidFill>
                <a:latin typeface="Calibri"/>
                <a:cs typeface="Calibri"/>
              </a:rPr>
              <a:t>0</a:t>
            </a:r>
            <a:r>
              <a:rPr sz="1000" i="1" spc="-25" dirty="0">
                <a:solidFill>
                  <a:srgbClr val="191933"/>
                </a:solidFill>
                <a:latin typeface="Calibri"/>
                <a:cs typeface="Calibri"/>
              </a:rPr>
              <a:t>.</a:t>
            </a:r>
            <a:r>
              <a:rPr sz="1000" spc="-25" dirty="0">
                <a:solidFill>
                  <a:srgbClr val="191933"/>
                </a:solidFill>
                <a:latin typeface="Calibri"/>
                <a:cs typeface="Calibri"/>
              </a:rPr>
              <a:t>3</a:t>
            </a:r>
            <a:endParaRPr sz="1000">
              <a:latin typeface="Calibri"/>
              <a:cs typeface="Calibri"/>
            </a:endParaRPr>
          </a:p>
          <a:p>
            <a:pPr marL="289560">
              <a:lnSpc>
                <a:spcPts val="1200"/>
              </a:lnSpc>
            </a:pPr>
            <a:r>
              <a:rPr sz="1000" spc="-35" dirty="0">
                <a:solidFill>
                  <a:srgbClr val="191933"/>
                </a:solidFill>
                <a:latin typeface="Tahoma"/>
                <a:cs typeface="Tahoma"/>
              </a:rPr>
              <a:t>Recovery</a:t>
            </a:r>
            <a:r>
              <a:rPr sz="10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20" dirty="0">
                <a:solidFill>
                  <a:srgbClr val="191933"/>
                </a:solidFill>
                <a:latin typeface="Tahoma"/>
                <a:cs typeface="Tahoma"/>
              </a:rPr>
              <a:t>rate</a:t>
            </a:r>
            <a:r>
              <a:rPr sz="1000" spc="-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i="1" spc="60" dirty="0">
                <a:solidFill>
                  <a:srgbClr val="191933"/>
                </a:solidFill>
                <a:latin typeface="Calibri"/>
                <a:cs typeface="Calibri"/>
              </a:rPr>
              <a:t>γ</a:t>
            </a:r>
            <a:r>
              <a:rPr sz="1000" i="1" spc="8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000" spc="270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1000" spc="3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000" spc="-25" dirty="0">
                <a:solidFill>
                  <a:srgbClr val="191933"/>
                </a:solidFill>
                <a:latin typeface="Calibri"/>
                <a:cs typeface="Calibri"/>
              </a:rPr>
              <a:t>0</a:t>
            </a:r>
            <a:r>
              <a:rPr sz="1000" i="1" spc="-25" dirty="0">
                <a:solidFill>
                  <a:srgbClr val="191933"/>
                </a:solidFill>
                <a:latin typeface="Calibri"/>
                <a:cs typeface="Calibri"/>
              </a:rPr>
              <a:t>.</a:t>
            </a:r>
            <a:r>
              <a:rPr sz="1000" spc="-25" dirty="0">
                <a:solidFill>
                  <a:srgbClr val="191933"/>
                </a:solidFill>
                <a:latin typeface="Calibri"/>
                <a:cs typeface="Calibri"/>
              </a:rPr>
              <a:t>1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3" name="object 13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4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Adarsh</a:t>
            </a:r>
            <a:r>
              <a:rPr spc="10" dirty="0"/>
              <a:t> </a:t>
            </a:r>
            <a:r>
              <a:rPr spc="-10" dirty="0"/>
              <a:t>Kumar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Adarsh[dot]Kumar[at]ddn[dot]upes[dot]ac[dot]in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3212884" y="3351784"/>
            <a:ext cx="6051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</a:rPr>
              <a:t>January</a:t>
            </a:r>
            <a:r>
              <a:rPr sz="6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</a:rPr>
              <a:t>17,</a:t>
            </a:r>
            <a:r>
              <a:rPr sz="6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Arial MT"/>
                <a:cs typeface="Arial MT"/>
              </a:rPr>
              <a:t>2025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24</a:t>
            </a:r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93</a:t>
            </a:r>
          </a:p>
        </p:txBody>
      </p:sp>
    </p:spTree>
  </p:cSld>
  <p:clrMapOvr>
    <a:masterClrMapping/>
  </p:clrMapOvr>
  <p:transition>
    <p:cut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Mathematical</a:t>
            </a:r>
            <a:r>
              <a:rPr spc="20" dirty="0"/>
              <a:t> </a:t>
            </a:r>
            <a:r>
              <a:rPr spc="-50" dirty="0"/>
              <a:t>Equations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755561"/>
            <a:ext cx="65265" cy="6526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672120"/>
            <a:ext cx="17214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-45" dirty="0">
                <a:solidFill>
                  <a:srgbClr val="191933"/>
                </a:solidFill>
                <a:latin typeface="Arial"/>
                <a:cs typeface="Arial"/>
              </a:rPr>
              <a:t>Change</a:t>
            </a:r>
            <a:r>
              <a:rPr sz="1100" b="1" spc="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191933"/>
                </a:solidFill>
                <a:latin typeface="Arial"/>
                <a:cs typeface="Arial"/>
              </a:rPr>
              <a:t>in</a:t>
            </a:r>
            <a:r>
              <a:rPr sz="1100" b="1" spc="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-50" dirty="0">
                <a:solidFill>
                  <a:srgbClr val="191933"/>
                </a:solidFill>
                <a:latin typeface="Arial"/>
                <a:cs typeface="Arial"/>
              </a:rPr>
              <a:t>Susceptible</a:t>
            </a:r>
            <a:r>
              <a:rPr sz="1100" b="1" spc="1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-20" dirty="0">
                <a:solidFill>
                  <a:srgbClr val="191933"/>
                </a:solidFill>
                <a:latin typeface="Arial"/>
                <a:cs typeface="Arial"/>
              </a:rPr>
              <a:t>(S):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946020" y="1165136"/>
            <a:ext cx="165100" cy="0"/>
          </a:xfrm>
          <a:custGeom>
            <a:avLst/>
            <a:gdLst/>
            <a:ahLst/>
            <a:cxnLst/>
            <a:rect l="l" t="t" r="r" b="b"/>
            <a:pathLst>
              <a:path w="165100">
                <a:moveTo>
                  <a:pt x="0" y="0"/>
                </a:moveTo>
                <a:lnTo>
                  <a:pt x="165049" y="0"/>
                </a:lnTo>
              </a:path>
            </a:pathLst>
          </a:custGeom>
          <a:ln w="5537">
            <a:solidFill>
              <a:srgbClr val="1919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933320" y="932292"/>
            <a:ext cx="182880" cy="403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655" marR="5080" indent="-21590">
              <a:lnSpc>
                <a:spcPct val="112599"/>
              </a:lnSpc>
              <a:spcBef>
                <a:spcPts val="100"/>
              </a:spcBef>
            </a:pPr>
            <a:r>
              <a:rPr sz="1100" i="1" spc="60" dirty="0">
                <a:solidFill>
                  <a:srgbClr val="191933"/>
                </a:solidFill>
                <a:latin typeface="Calibri"/>
                <a:cs typeface="Calibri"/>
              </a:rPr>
              <a:t>dS </a:t>
            </a:r>
            <a:r>
              <a:rPr sz="1100" i="1" spc="-25" dirty="0">
                <a:solidFill>
                  <a:srgbClr val="191933"/>
                </a:solidFill>
                <a:latin typeface="Calibri"/>
                <a:cs typeface="Calibri"/>
              </a:rPr>
              <a:t>dt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52040" y="1048523"/>
            <a:ext cx="6273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295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1100" spc="5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91933"/>
                </a:solidFill>
                <a:latin typeface="Lucida Sans Unicode"/>
                <a:cs typeface="Lucida Sans Unicode"/>
              </a:rPr>
              <a:t>−</a:t>
            </a:r>
            <a:r>
              <a:rPr sz="1100" i="1" dirty="0">
                <a:solidFill>
                  <a:srgbClr val="191933"/>
                </a:solidFill>
                <a:latin typeface="Calibri"/>
                <a:cs typeface="Calibri"/>
              </a:rPr>
              <a:t>β</a:t>
            </a:r>
            <a:r>
              <a:rPr sz="1100" i="1" spc="5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-400" dirty="0">
                <a:solidFill>
                  <a:srgbClr val="191933"/>
                </a:solidFill>
                <a:latin typeface="Lucida Sans Unicode"/>
                <a:cs typeface="Lucida Sans Unicode"/>
              </a:rPr>
              <a:t>·</a:t>
            </a:r>
            <a:r>
              <a:rPr sz="1100" spc="-100" dirty="0">
                <a:solidFill>
                  <a:srgbClr val="191933"/>
                </a:solidFill>
                <a:latin typeface="Lucida Sans Unicode"/>
                <a:cs typeface="Lucida Sans Unicode"/>
              </a:rPr>
              <a:t> </a:t>
            </a:r>
            <a:r>
              <a:rPr sz="1100" i="1" spc="165" dirty="0">
                <a:solidFill>
                  <a:srgbClr val="191933"/>
                </a:solidFill>
                <a:latin typeface="Calibri"/>
                <a:cs typeface="Calibri"/>
              </a:rPr>
              <a:t>S</a:t>
            </a:r>
            <a:r>
              <a:rPr sz="1100" i="1" spc="5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-450" dirty="0">
                <a:solidFill>
                  <a:srgbClr val="191933"/>
                </a:solidFill>
                <a:latin typeface="Lucida Sans Unicode"/>
                <a:cs typeface="Lucida Sans Unicode"/>
              </a:rPr>
              <a:t>·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812656" y="1165136"/>
            <a:ext cx="127000" cy="0"/>
          </a:xfrm>
          <a:custGeom>
            <a:avLst/>
            <a:gdLst/>
            <a:ahLst/>
            <a:cxnLst/>
            <a:rect l="l" t="t" r="r" b="b"/>
            <a:pathLst>
              <a:path w="127000">
                <a:moveTo>
                  <a:pt x="0" y="0"/>
                </a:moveTo>
                <a:lnTo>
                  <a:pt x="126428" y="0"/>
                </a:lnTo>
              </a:path>
            </a:pathLst>
          </a:custGeom>
          <a:ln w="5537">
            <a:solidFill>
              <a:srgbClr val="1919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799956" y="932292"/>
            <a:ext cx="137160" cy="403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7305">
              <a:lnSpc>
                <a:spcPct val="112599"/>
              </a:lnSpc>
              <a:spcBef>
                <a:spcPts val="100"/>
              </a:spcBef>
            </a:pPr>
            <a:r>
              <a:rPr sz="1100" i="1" spc="150" dirty="0">
                <a:solidFill>
                  <a:srgbClr val="191933"/>
                </a:solidFill>
                <a:latin typeface="Calibri"/>
                <a:cs typeface="Calibri"/>
              </a:rPr>
              <a:t>I </a:t>
            </a:r>
            <a:r>
              <a:rPr sz="1100" i="1" spc="105" dirty="0">
                <a:solidFill>
                  <a:srgbClr val="191933"/>
                </a:solidFill>
                <a:latin typeface="Calibri"/>
                <a:cs typeface="Calibri"/>
              </a:rPr>
              <a:t>N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482750"/>
            <a:ext cx="65265" cy="65265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402932" y="1399297"/>
            <a:ext cx="14833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-45" dirty="0">
                <a:solidFill>
                  <a:srgbClr val="191933"/>
                </a:solidFill>
                <a:latin typeface="Arial"/>
                <a:cs typeface="Arial"/>
              </a:rPr>
              <a:t>Change</a:t>
            </a:r>
            <a:r>
              <a:rPr sz="1100" b="1" spc="-1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191933"/>
                </a:solidFill>
                <a:latin typeface="Arial"/>
                <a:cs typeface="Arial"/>
              </a:rPr>
              <a:t>in</a:t>
            </a:r>
            <a:r>
              <a:rPr sz="1100" b="1" spc="-1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191933"/>
                </a:solidFill>
                <a:latin typeface="Arial"/>
                <a:cs typeface="Arial"/>
              </a:rPr>
              <a:t>Infected</a:t>
            </a:r>
            <a:r>
              <a:rPr sz="1100" b="1" spc="-1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35" dirty="0">
                <a:solidFill>
                  <a:srgbClr val="191933"/>
                </a:solidFill>
                <a:latin typeface="Arial"/>
                <a:cs typeface="Arial"/>
              </a:rPr>
              <a:t>(I):</a:t>
            </a:r>
            <a:endParaRPr sz="11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800186" y="1892312"/>
            <a:ext cx="144145" cy="0"/>
          </a:xfrm>
          <a:custGeom>
            <a:avLst/>
            <a:gdLst/>
            <a:ahLst/>
            <a:cxnLst/>
            <a:rect l="l" t="t" r="r" b="b"/>
            <a:pathLst>
              <a:path w="144144">
                <a:moveTo>
                  <a:pt x="0" y="0"/>
                </a:moveTo>
                <a:lnTo>
                  <a:pt x="143891" y="0"/>
                </a:lnTo>
              </a:path>
            </a:pathLst>
          </a:custGeom>
          <a:ln w="5537">
            <a:solidFill>
              <a:srgbClr val="1919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787486" y="1659468"/>
            <a:ext cx="158750" cy="403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495" marR="5080" indent="-11430">
              <a:lnSpc>
                <a:spcPct val="112599"/>
              </a:lnSpc>
              <a:spcBef>
                <a:spcPts val="100"/>
              </a:spcBef>
            </a:pPr>
            <a:r>
              <a:rPr sz="1100" i="1" spc="75" dirty="0">
                <a:solidFill>
                  <a:srgbClr val="191933"/>
                </a:solidFill>
                <a:latin typeface="Calibri"/>
                <a:cs typeface="Calibri"/>
              </a:rPr>
              <a:t>dI </a:t>
            </a:r>
            <a:r>
              <a:rPr sz="1100" i="1" spc="-25" dirty="0">
                <a:solidFill>
                  <a:srgbClr val="191933"/>
                </a:solidFill>
                <a:latin typeface="Calibri"/>
                <a:cs typeface="Calibri"/>
              </a:rPr>
              <a:t>dt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552522" y="1681974"/>
            <a:ext cx="863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150" dirty="0">
                <a:solidFill>
                  <a:srgbClr val="191933"/>
                </a:solidFill>
                <a:latin typeface="Calibri"/>
                <a:cs typeface="Calibri"/>
              </a:rPr>
              <a:t>I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537891" y="1892312"/>
            <a:ext cx="127000" cy="0"/>
          </a:xfrm>
          <a:custGeom>
            <a:avLst/>
            <a:gdLst/>
            <a:ahLst/>
            <a:cxnLst/>
            <a:rect l="l" t="t" r="r" b="b"/>
            <a:pathLst>
              <a:path w="127000">
                <a:moveTo>
                  <a:pt x="0" y="0"/>
                </a:moveTo>
                <a:lnTo>
                  <a:pt x="126428" y="0"/>
                </a:lnTo>
              </a:path>
            </a:pathLst>
          </a:custGeom>
          <a:ln w="5537">
            <a:solidFill>
              <a:srgbClr val="1919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525191" y="1870734"/>
            <a:ext cx="1371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105" dirty="0">
                <a:solidFill>
                  <a:srgbClr val="191933"/>
                </a:solidFill>
                <a:latin typeface="Calibri"/>
                <a:cs typeface="Calibri"/>
              </a:rPr>
              <a:t>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985035" y="1775700"/>
            <a:ext cx="11169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725170" algn="l"/>
              </a:tabLst>
            </a:pPr>
            <a:r>
              <a:rPr sz="1100" spc="295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1100" spc="6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191933"/>
                </a:solidFill>
                <a:latin typeface="Calibri"/>
                <a:cs typeface="Calibri"/>
              </a:rPr>
              <a:t>β</a:t>
            </a:r>
            <a:r>
              <a:rPr sz="1100" i="1" spc="6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-400" dirty="0">
                <a:solidFill>
                  <a:srgbClr val="191933"/>
                </a:solidFill>
                <a:latin typeface="Lucida Sans Unicode"/>
                <a:cs typeface="Lucida Sans Unicode"/>
              </a:rPr>
              <a:t>·</a:t>
            </a:r>
            <a:r>
              <a:rPr sz="1100" spc="-95" dirty="0">
                <a:solidFill>
                  <a:srgbClr val="191933"/>
                </a:solidFill>
                <a:latin typeface="Lucida Sans Unicode"/>
                <a:cs typeface="Lucida Sans Unicode"/>
              </a:rPr>
              <a:t> </a:t>
            </a:r>
            <a:r>
              <a:rPr sz="1100" i="1" spc="165" dirty="0">
                <a:solidFill>
                  <a:srgbClr val="191933"/>
                </a:solidFill>
                <a:latin typeface="Calibri"/>
                <a:cs typeface="Calibri"/>
              </a:rPr>
              <a:t>S</a:t>
            </a:r>
            <a:r>
              <a:rPr sz="1100" i="1" spc="6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-450" dirty="0">
                <a:solidFill>
                  <a:srgbClr val="191933"/>
                </a:solidFill>
                <a:latin typeface="Lucida Sans Unicode"/>
                <a:cs typeface="Lucida Sans Unicode"/>
              </a:rPr>
              <a:t>·</a:t>
            </a:r>
            <a:r>
              <a:rPr sz="1100" dirty="0">
                <a:solidFill>
                  <a:srgbClr val="191933"/>
                </a:solidFill>
                <a:latin typeface="Lucida Sans Unicode"/>
                <a:cs typeface="Lucida Sans Unicode"/>
              </a:rPr>
              <a:t>	</a:t>
            </a:r>
            <a:r>
              <a:rPr sz="1100" spc="-35" dirty="0">
                <a:solidFill>
                  <a:srgbClr val="191933"/>
                </a:solidFill>
                <a:latin typeface="Lucida Sans Unicode"/>
                <a:cs typeface="Lucida Sans Unicode"/>
              </a:rPr>
              <a:t>−</a:t>
            </a:r>
            <a:r>
              <a:rPr sz="1100" spc="-105" dirty="0">
                <a:solidFill>
                  <a:srgbClr val="191933"/>
                </a:solidFill>
                <a:latin typeface="Lucida Sans Unicode"/>
                <a:cs typeface="Lucida Sans Unicode"/>
              </a:rPr>
              <a:t> </a:t>
            </a:r>
            <a:r>
              <a:rPr sz="1100" i="1" spc="70" dirty="0">
                <a:solidFill>
                  <a:srgbClr val="191933"/>
                </a:solidFill>
                <a:latin typeface="Calibri"/>
                <a:cs typeface="Calibri"/>
              </a:rPr>
              <a:t>γ</a:t>
            </a:r>
            <a:r>
              <a:rPr sz="1100" i="1" spc="5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-400" dirty="0">
                <a:solidFill>
                  <a:srgbClr val="191933"/>
                </a:solidFill>
                <a:latin typeface="Lucida Sans Unicode"/>
                <a:cs typeface="Lucida Sans Unicode"/>
              </a:rPr>
              <a:t>·</a:t>
            </a:r>
            <a:r>
              <a:rPr sz="1100" spc="-105" dirty="0">
                <a:solidFill>
                  <a:srgbClr val="191933"/>
                </a:solidFill>
                <a:latin typeface="Lucida Sans Unicode"/>
                <a:cs typeface="Lucida Sans Unicode"/>
              </a:rPr>
              <a:t> </a:t>
            </a:r>
            <a:r>
              <a:rPr sz="1100" i="1" spc="150" dirty="0">
                <a:solidFill>
                  <a:srgbClr val="191933"/>
                </a:solidFill>
                <a:latin typeface="Calibri"/>
                <a:cs typeface="Calibri"/>
              </a:rPr>
              <a:t>I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18" name="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2209927"/>
            <a:ext cx="65265" cy="65265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402932" y="2126474"/>
            <a:ext cx="16738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-45" dirty="0">
                <a:solidFill>
                  <a:srgbClr val="191933"/>
                </a:solidFill>
                <a:latin typeface="Arial"/>
                <a:cs typeface="Arial"/>
              </a:rPr>
              <a:t>Change</a:t>
            </a:r>
            <a:r>
              <a:rPr sz="1100" b="1" spc="1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191933"/>
                </a:solidFill>
                <a:latin typeface="Arial"/>
                <a:cs typeface="Arial"/>
              </a:rPr>
              <a:t>in</a:t>
            </a:r>
            <a:r>
              <a:rPr sz="1100" b="1" spc="1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-50" dirty="0">
                <a:solidFill>
                  <a:srgbClr val="191933"/>
                </a:solidFill>
                <a:latin typeface="Arial"/>
                <a:cs typeface="Arial"/>
              </a:rPr>
              <a:t>Recovered</a:t>
            </a:r>
            <a:r>
              <a:rPr sz="1100" b="1" spc="1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-20" dirty="0">
                <a:solidFill>
                  <a:srgbClr val="191933"/>
                </a:solidFill>
                <a:latin typeface="Arial"/>
                <a:cs typeface="Arial"/>
              </a:rPr>
              <a:t>(R):</a:t>
            </a:r>
            <a:endParaRPr sz="11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135365" y="2619489"/>
            <a:ext cx="178435" cy="0"/>
          </a:xfrm>
          <a:custGeom>
            <a:avLst/>
            <a:gdLst/>
            <a:ahLst/>
            <a:cxnLst/>
            <a:rect l="l" t="t" r="r" b="b"/>
            <a:pathLst>
              <a:path w="178435">
                <a:moveTo>
                  <a:pt x="0" y="0"/>
                </a:moveTo>
                <a:lnTo>
                  <a:pt x="178371" y="0"/>
                </a:lnTo>
              </a:path>
            </a:pathLst>
          </a:custGeom>
          <a:ln w="5537">
            <a:solidFill>
              <a:srgbClr val="1919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2122665" y="2386658"/>
            <a:ext cx="203200" cy="403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640" marR="5080" indent="-28575">
              <a:lnSpc>
                <a:spcPct val="112599"/>
              </a:lnSpc>
              <a:spcBef>
                <a:spcPts val="100"/>
              </a:spcBef>
            </a:pPr>
            <a:r>
              <a:rPr sz="1100" i="1" spc="90" dirty="0">
                <a:solidFill>
                  <a:srgbClr val="191933"/>
                </a:solidFill>
                <a:latin typeface="Calibri"/>
                <a:cs typeface="Calibri"/>
              </a:rPr>
              <a:t>dR </a:t>
            </a:r>
            <a:r>
              <a:rPr sz="1100" i="1" spc="-25" dirty="0">
                <a:solidFill>
                  <a:srgbClr val="191933"/>
                </a:solidFill>
                <a:latin typeface="Calibri"/>
                <a:cs typeface="Calibri"/>
              </a:rPr>
              <a:t>dt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354707" y="2502889"/>
            <a:ext cx="4121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295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1100" spc="5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i="1" spc="70" dirty="0">
                <a:solidFill>
                  <a:srgbClr val="191933"/>
                </a:solidFill>
                <a:latin typeface="Calibri"/>
                <a:cs typeface="Calibri"/>
              </a:rPr>
              <a:t>γ</a:t>
            </a:r>
            <a:r>
              <a:rPr sz="1100" i="1" spc="5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-400" dirty="0">
                <a:solidFill>
                  <a:srgbClr val="191933"/>
                </a:solidFill>
                <a:latin typeface="Lucida Sans Unicode"/>
                <a:cs typeface="Lucida Sans Unicode"/>
              </a:rPr>
              <a:t>·</a:t>
            </a:r>
            <a:r>
              <a:rPr sz="1100" spc="-100" dirty="0">
                <a:solidFill>
                  <a:srgbClr val="191933"/>
                </a:solidFill>
                <a:latin typeface="Lucida Sans Unicode"/>
                <a:cs typeface="Lucida Sans Unicode"/>
              </a:rPr>
              <a:t> </a:t>
            </a:r>
            <a:r>
              <a:rPr sz="1100" i="1" spc="150" dirty="0">
                <a:solidFill>
                  <a:srgbClr val="191933"/>
                </a:solidFill>
                <a:latin typeface="Calibri"/>
                <a:cs typeface="Calibri"/>
              </a:rPr>
              <a:t>I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24" name="object 24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4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25</a:t>
            </a:r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93</a:t>
            </a:r>
          </a:p>
        </p:txBody>
      </p:sp>
    </p:spTree>
  </p:cSld>
  <p:clrMapOvr>
    <a:masterClrMapping/>
  </p:clrMapOvr>
  <p:transition>
    <p:cut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307340"/>
          </a:xfrm>
          <a:custGeom>
            <a:avLst/>
            <a:gdLst/>
            <a:ahLst/>
            <a:cxnLst/>
            <a:rect l="l" t="t" r="r" b="b"/>
            <a:pathLst>
              <a:path w="4608195" h="307340">
                <a:moveTo>
                  <a:pt x="4608004" y="0"/>
                </a:moveTo>
                <a:lnTo>
                  <a:pt x="0" y="0"/>
                </a:lnTo>
                <a:lnTo>
                  <a:pt x="0" y="307098"/>
                </a:lnTo>
                <a:lnTo>
                  <a:pt x="4608004" y="307098"/>
                </a:lnTo>
                <a:lnTo>
                  <a:pt x="4608004" y="0"/>
                </a:lnTo>
                <a:close/>
              </a:path>
            </a:pathLst>
          </a:custGeom>
          <a:solidFill>
            <a:srgbClr val="33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300" y="51013"/>
            <a:ext cx="141033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Time</a:t>
            </a:r>
            <a:r>
              <a:rPr sz="1200" b="1" spc="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Step</a:t>
            </a:r>
            <a:r>
              <a:rPr sz="1200" b="1" spc="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r>
              <a:rPr sz="1200" b="1" spc="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55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200" i="1" spc="55" dirty="0">
                <a:solidFill>
                  <a:srgbClr val="FFFFFF"/>
                </a:solidFill>
                <a:latin typeface="Cambria"/>
                <a:cs typeface="Cambria"/>
              </a:rPr>
              <a:t>t</a:t>
            </a:r>
            <a:r>
              <a:rPr sz="1200" i="1" spc="4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200" spc="305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200" spc="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349260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865" y="1539075"/>
            <a:ext cx="52590" cy="5259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0865" y="1690903"/>
            <a:ext cx="52590" cy="5259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0865" y="1842731"/>
            <a:ext cx="52590" cy="5259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02932" y="1240726"/>
            <a:ext cx="1021080" cy="69532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Initial</a:t>
            </a:r>
            <a:r>
              <a:rPr sz="1100" spc="-7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conditions: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ts val="1200"/>
              </a:lnSpc>
              <a:spcBef>
                <a:spcPts val="175"/>
              </a:spcBef>
            </a:pPr>
            <a:r>
              <a:rPr sz="1000" i="1" spc="90" dirty="0">
                <a:solidFill>
                  <a:srgbClr val="191933"/>
                </a:solidFill>
                <a:latin typeface="Calibri"/>
                <a:cs typeface="Calibri"/>
              </a:rPr>
              <a:t>S</a:t>
            </a:r>
            <a:r>
              <a:rPr sz="1000" spc="90" dirty="0">
                <a:solidFill>
                  <a:srgbClr val="191933"/>
                </a:solidFill>
                <a:latin typeface="Calibri"/>
                <a:cs typeface="Calibri"/>
              </a:rPr>
              <a:t>(0)</a:t>
            </a:r>
            <a:r>
              <a:rPr sz="1000" spc="5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000" spc="270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1000" spc="5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000" spc="-25" dirty="0">
                <a:solidFill>
                  <a:srgbClr val="191933"/>
                </a:solidFill>
                <a:latin typeface="Calibri"/>
                <a:cs typeface="Calibri"/>
              </a:rPr>
              <a:t>990</a:t>
            </a:r>
            <a:endParaRPr sz="1000">
              <a:latin typeface="Calibri"/>
              <a:cs typeface="Calibri"/>
            </a:endParaRPr>
          </a:p>
          <a:p>
            <a:pPr marL="289560">
              <a:lnSpc>
                <a:spcPts val="1195"/>
              </a:lnSpc>
            </a:pPr>
            <a:r>
              <a:rPr sz="1000" i="1" spc="100" dirty="0">
                <a:solidFill>
                  <a:srgbClr val="191933"/>
                </a:solidFill>
                <a:latin typeface="Calibri"/>
                <a:cs typeface="Calibri"/>
              </a:rPr>
              <a:t>I</a:t>
            </a:r>
            <a:r>
              <a:rPr sz="1000" spc="100" dirty="0">
                <a:solidFill>
                  <a:srgbClr val="191933"/>
                </a:solidFill>
                <a:latin typeface="Calibri"/>
                <a:cs typeface="Calibri"/>
              </a:rPr>
              <a:t>(0)</a:t>
            </a:r>
            <a:r>
              <a:rPr sz="1000" spc="5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000" spc="270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1000" spc="6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000" spc="-25" dirty="0">
                <a:solidFill>
                  <a:srgbClr val="191933"/>
                </a:solidFill>
                <a:latin typeface="Calibri"/>
                <a:cs typeface="Calibri"/>
              </a:rPr>
              <a:t>10</a:t>
            </a:r>
            <a:endParaRPr sz="1000">
              <a:latin typeface="Calibri"/>
              <a:cs typeface="Calibri"/>
            </a:endParaRPr>
          </a:p>
          <a:p>
            <a:pPr marL="289560">
              <a:lnSpc>
                <a:spcPts val="1200"/>
              </a:lnSpc>
            </a:pPr>
            <a:r>
              <a:rPr sz="1000" i="1" spc="90" dirty="0">
                <a:solidFill>
                  <a:srgbClr val="191933"/>
                </a:solidFill>
                <a:latin typeface="Calibri"/>
                <a:cs typeface="Calibri"/>
              </a:rPr>
              <a:t>R</a:t>
            </a:r>
            <a:r>
              <a:rPr sz="1000" spc="90" dirty="0">
                <a:solidFill>
                  <a:srgbClr val="191933"/>
                </a:solidFill>
                <a:latin typeface="Calibri"/>
                <a:cs typeface="Calibri"/>
              </a:rPr>
              <a:t>(0)</a:t>
            </a:r>
            <a:r>
              <a:rPr sz="1000" spc="5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000" spc="270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1000" spc="6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000" spc="-50" dirty="0">
                <a:solidFill>
                  <a:srgbClr val="191933"/>
                </a:solidFill>
                <a:latin typeface="Calibri"/>
                <a:cs typeface="Calibri"/>
              </a:rPr>
              <a:t>0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0" name="object 10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4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26</a:t>
            </a:r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93</a:t>
            </a:r>
          </a:p>
        </p:txBody>
      </p:sp>
    </p:spTree>
  </p:cSld>
  <p:clrMapOvr>
    <a:masterClrMapping/>
  </p:clrMapOvr>
  <p:transition>
    <p:cut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Time</a:t>
            </a:r>
            <a:r>
              <a:rPr spc="75" dirty="0"/>
              <a:t> </a:t>
            </a:r>
            <a:r>
              <a:rPr dirty="0"/>
              <a:t>Step</a:t>
            </a:r>
            <a:r>
              <a:rPr spc="70" dirty="0"/>
              <a:t> </a:t>
            </a:r>
            <a:r>
              <a:rPr dirty="0"/>
              <a:t>1</a:t>
            </a:r>
            <a:r>
              <a:rPr spc="75" dirty="0"/>
              <a:t> </a:t>
            </a:r>
            <a:r>
              <a:rPr spc="55" dirty="0"/>
              <a:t>(</a:t>
            </a:r>
            <a:r>
              <a:rPr b="0" i="1" spc="55" dirty="0">
                <a:latin typeface="Cambria"/>
                <a:cs typeface="Cambria"/>
              </a:rPr>
              <a:t>t</a:t>
            </a:r>
            <a:r>
              <a:rPr b="0" i="1" spc="45" dirty="0">
                <a:latin typeface="Cambria"/>
                <a:cs typeface="Cambria"/>
              </a:rPr>
              <a:t> </a:t>
            </a:r>
            <a:r>
              <a:rPr b="0" spc="305" dirty="0">
                <a:latin typeface="Calibri"/>
                <a:cs typeface="Calibri"/>
              </a:rPr>
              <a:t>=</a:t>
            </a:r>
            <a:r>
              <a:rPr b="0" spc="40" dirty="0">
                <a:latin typeface="Calibri"/>
                <a:cs typeface="Calibri"/>
              </a:rPr>
              <a:t> </a:t>
            </a:r>
            <a:r>
              <a:rPr b="0" spc="-25" dirty="0">
                <a:latin typeface="Calibri"/>
                <a:cs typeface="Calibri"/>
              </a:rPr>
              <a:t>1</a:t>
            </a:r>
            <a:r>
              <a:rPr spc="-25" dirty="0"/>
              <a:t>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481419"/>
            <a:ext cx="65265" cy="6526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397966"/>
            <a:ext cx="17214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-45" dirty="0">
                <a:solidFill>
                  <a:srgbClr val="191933"/>
                </a:solidFill>
                <a:latin typeface="Arial"/>
                <a:cs typeface="Arial"/>
              </a:rPr>
              <a:t>Change</a:t>
            </a:r>
            <a:r>
              <a:rPr sz="1100" b="1" spc="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191933"/>
                </a:solidFill>
                <a:latin typeface="Arial"/>
                <a:cs typeface="Arial"/>
              </a:rPr>
              <a:t>in</a:t>
            </a:r>
            <a:r>
              <a:rPr sz="1100" b="1" spc="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-50" dirty="0">
                <a:solidFill>
                  <a:srgbClr val="191933"/>
                </a:solidFill>
                <a:latin typeface="Arial"/>
                <a:cs typeface="Arial"/>
              </a:rPr>
              <a:t>Susceptible</a:t>
            </a:r>
            <a:r>
              <a:rPr sz="1100" b="1" spc="1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-20" dirty="0">
                <a:solidFill>
                  <a:srgbClr val="191933"/>
                </a:solidFill>
                <a:latin typeface="Arial"/>
                <a:cs typeface="Arial"/>
              </a:rPr>
              <a:t>(S):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61934" y="775930"/>
            <a:ext cx="10515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220" dirty="0">
                <a:solidFill>
                  <a:srgbClr val="191933"/>
                </a:solidFill>
                <a:latin typeface="Calibri"/>
                <a:cs typeface="Calibri"/>
              </a:rPr>
              <a:t>∆</a:t>
            </a:r>
            <a:r>
              <a:rPr sz="1100" i="1" spc="220" dirty="0">
                <a:solidFill>
                  <a:srgbClr val="191933"/>
                </a:solidFill>
                <a:latin typeface="Calibri"/>
                <a:cs typeface="Calibri"/>
              </a:rPr>
              <a:t>S</a:t>
            </a:r>
            <a:r>
              <a:rPr sz="1100" i="1" spc="12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295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1100" spc="6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91933"/>
                </a:solidFill>
                <a:latin typeface="Lucida Sans Unicode"/>
                <a:cs typeface="Lucida Sans Unicode"/>
              </a:rPr>
              <a:t>−</a:t>
            </a:r>
            <a:r>
              <a:rPr sz="1100" i="1" dirty="0">
                <a:solidFill>
                  <a:srgbClr val="191933"/>
                </a:solidFill>
                <a:latin typeface="Calibri"/>
                <a:cs typeface="Calibri"/>
              </a:rPr>
              <a:t>β</a:t>
            </a:r>
            <a:r>
              <a:rPr sz="1100" i="1" spc="5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-400" dirty="0">
                <a:solidFill>
                  <a:srgbClr val="191933"/>
                </a:solidFill>
                <a:latin typeface="Lucida Sans Unicode"/>
                <a:cs typeface="Lucida Sans Unicode"/>
              </a:rPr>
              <a:t>·</a:t>
            </a:r>
            <a:r>
              <a:rPr sz="1100" spc="-100" dirty="0">
                <a:solidFill>
                  <a:srgbClr val="191933"/>
                </a:solidFill>
                <a:latin typeface="Lucida Sans Unicode"/>
                <a:cs typeface="Lucida Sans Unicode"/>
              </a:rPr>
              <a:t> </a:t>
            </a:r>
            <a:r>
              <a:rPr sz="1100" i="1" spc="90" dirty="0">
                <a:solidFill>
                  <a:srgbClr val="191933"/>
                </a:solidFill>
                <a:latin typeface="Calibri"/>
                <a:cs typeface="Calibri"/>
              </a:rPr>
              <a:t>S</a:t>
            </a:r>
            <a:r>
              <a:rPr sz="1100" spc="90" dirty="0">
                <a:solidFill>
                  <a:srgbClr val="191933"/>
                </a:solidFill>
                <a:latin typeface="Calibri"/>
                <a:cs typeface="Calibri"/>
              </a:rPr>
              <a:t>(0)</a:t>
            </a:r>
            <a:r>
              <a:rPr sz="1100" spc="-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-450" dirty="0">
                <a:solidFill>
                  <a:srgbClr val="191933"/>
                </a:solidFill>
                <a:latin typeface="Lucida Sans Unicode"/>
                <a:cs typeface="Lucida Sans Unicode"/>
              </a:rPr>
              <a:t>·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846463" y="892543"/>
            <a:ext cx="248920" cy="0"/>
          </a:xfrm>
          <a:custGeom>
            <a:avLst/>
            <a:gdLst/>
            <a:ahLst/>
            <a:cxnLst/>
            <a:rect l="l" t="t" r="r" b="b"/>
            <a:pathLst>
              <a:path w="248919">
                <a:moveTo>
                  <a:pt x="0" y="0"/>
                </a:moveTo>
                <a:lnTo>
                  <a:pt x="248805" y="0"/>
                </a:lnTo>
              </a:path>
            </a:pathLst>
          </a:custGeom>
          <a:ln w="5537">
            <a:solidFill>
              <a:srgbClr val="1919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833763" y="659686"/>
            <a:ext cx="274955" cy="40322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100" i="1" spc="85" dirty="0">
                <a:solidFill>
                  <a:srgbClr val="191933"/>
                </a:solidFill>
                <a:latin typeface="Calibri"/>
                <a:cs typeface="Calibri"/>
              </a:rPr>
              <a:t>I</a:t>
            </a:r>
            <a:r>
              <a:rPr sz="1100" spc="85" dirty="0">
                <a:solidFill>
                  <a:srgbClr val="191933"/>
                </a:solidFill>
                <a:latin typeface="Calibri"/>
                <a:cs typeface="Calibri"/>
              </a:rPr>
              <a:t>(0)</a:t>
            </a:r>
            <a:endParaRPr sz="1100">
              <a:latin typeface="Calibri"/>
              <a:cs typeface="Calibri"/>
            </a:endParaRPr>
          </a:p>
          <a:p>
            <a:pPr marL="73660">
              <a:lnSpc>
                <a:spcPct val="100000"/>
              </a:lnSpc>
              <a:spcBef>
                <a:spcPts val="170"/>
              </a:spcBef>
            </a:pPr>
            <a:r>
              <a:rPr sz="1100" i="1" spc="105" dirty="0">
                <a:solidFill>
                  <a:srgbClr val="191933"/>
                </a:solidFill>
                <a:latin typeface="Calibri"/>
                <a:cs typeface="Calibri"/>
              </a:rPr>
              <a:t>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82915" y="1199678"/>
            <a:ext cx="10807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220" dirty="0">
                <a:solidFill>
                  <a:srgbClr val="191933"/>
                </a:solidFill>
                <a:latin typeface="Calibri"/>
                <a:cs typeface="Calibri"/>
              </a:rPr>
              <a:t>∆</a:t>
            </a:r>
            <a:r>
              <a:rPr sz="1100" i="1" spc="220" dirty="0">
                <a:solidFill>
                  <a:srgbClr val="191933"/>
                </a:solidFill>
                <a:latin typeface="Calibri"/>
                <a:cs typeface="Calibri"/>
              </a:rPr>
              <a:t>S</a:t>
            </a:r>
            <a:r>
              <a:rPr sz="1100" i="1" spc="9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295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1100" spc="4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Lucida Sans Unicode"/>
                <a:cs typeface="Lucida Sans Unicode"/>
              </a:rPr>
              <a:t>−</a:t>
            </a:r>
            <a:r>
              <a:rPr sz="1100" spc="-10" dirty="0">
                <a:solidFill>
                  <a:srgbClr val="191933"/>
                </a:solidFill>
                <a:latin typeface="Calibri"/>
                <a:cs typeface="Calibri"/>
              </a:rPr>
              <a:t>0</a:t>
            </a:r>
            <a:r>
              <a:rPr sz="1100" i="1" spc="-10" dirty="0">
                <a:solidFill>
                  <a:srgbClr val="191933"/>
                </a:solidFill>
                <a:latin typeface="Calibri"/>
                <a:cs typeface="Calibri"/>
              </a:rPr>
              <a:t>.</a:t>
            </a:r>
            <a:r>
              <a:rPr sz="1100" spc="-10" dirty="0">
                <a:solidFill>
                  <a:srgbClr val="191933"/>
                </a:solidFill>
                <a:latin typeface="Calibri"/>
                <a:cs typeface="Calibri"/>
              </a:rPr>
              <a:t>3</a:t>
            </a:r>
            <a:r>
              <a:rPr sz="1100" spc="-2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-400" dirty="0">
                <a:solidFill>
                  <a:srgbClr val="191933"/>
                </a:solidFill>
                <a:latin typeface="Lucida Sans Unicode"/>
                <a:cs typeface="Lucida Sans Unicode"/>
              </a:rPr>
              <a:t>·</a:t>
            </a:r>
            <a:r>
              <a:rPr sz="1100" spc="-105" dirty="0">
                <a:solidFill>
                  <a:srgbClr val="191933"/>
                </a:solidFill>
                <a:latin typeface="Lucida Sans Unicode"/>
                <a:cs typeface="Lucida Sans Unicode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Calibri"/>
                <a:cs typeface="Calibri"/>
              </a:rPr>
              <a:t>990</a:t>
            </a:r>
            <a:r>
              <a:rPr sz="1100" spc="-1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-450" dirty="0">
                <a:solidFill>
                  <a:srgbClr val="191933"/>
                </a:solidFill>
                <a:latin typeface="Lucida Sans Unicode"/>
                <a:cs typeface="Lucida Sans Unicode"/>
              </a:rPr>
              <a:t>·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53220" y="1105952"/>
            <a:ext cx="1644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 dirty="0">
                <a:solidFill>
                  <a:srgbClr val="191933"/>
                </a:solidFill>
                <a:latin typeface="Calibri"/>
                <a:cs typeface="Calibri"/>
              </a:rPr>
              <a:t>10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396655" y="1316291"/>
            <a:ext cx="277495" cy="0"/>
          </a:xfrm>
          <a:custGeom>
            <a:avLst/>
            <a:gdLst/>
            <a:ahLst/>
            <a:cxnLst/>
            <a:rect l="l" t="t" r="r" b="b"/>
            <a:pathLst>
              <a:path w="277494">
                <a:moveTo>
                  <a:pt x="0" y="0"/>
                </a:moveTo>
                <a:lnTo>
                  <a:pt x="277088" y="0"/>
                </a:lnTo>
              </a:path>
            </a:pathLst>
          </a:custGeom>
          <a:ln w="5537">
            <a:solidFill>
              <a:srgbClr val="1919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383955" y="1294713"/>
            <a:ext cx="3028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solidFill>
                  <a:srgbClr val="191933"/>
                </a:solidFill>
                <a:latin typeface="Calibri"/>
                <a:cs typeface="Calibri"/>
              </a:rPr>
              <a:t>1000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14713" y="1199678"/>
            <a:ext cx="88773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295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1100" spc="1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91933"/>
                </a:solidFill>
                <a:latin typeface="Lucida Sans Unicode"/>
                <a:cs typeface="Lucida Sans Unicode"/>
              </a:rPr>
              <a:t>−</a:t>
            </a:r>
            <a:r>
              <a:rPr sz="1100" dirty="0">
                <a:solidFill>
                  <a:srgbClr val="191933"/>
                </a:solidFill>
                <a:latin typeface="Calibri"/>
                <a:cs typeface="Calibri"/>
              </a:rPr>
              <a:t>2</a:t>
            </a:r>
            <a:r>
              <a:rPr sz="1100" i="1" dirty="0">
                <a:solidFill>
                  <a:srgbClr val="191933"/>
                </a:solidFill>
                <a:latin typeface="Calibri"/>
                <a:cs typeface="Calibri"/>
              </a:rPr>
              <a:t>.</a:t>
            </a:r>
            <a:r>
              <a:rPr sz="1100" dirty="0">
                <a:solidFill>
                  <a:srgbClr val="191933"/>
                </a:solidFill>
                <a:latin typeface="Calibri"/>
                <a:cs typeface="Calibri"/>
              </a:rPr>
              <a:t>97</a:t>
            </a:r>
            <a:r>
              <a:rPr sz="1100" spc="1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91933"/>
                </a:solidFill>
                <a:latin typeface="Lucida Sans Unicode"/>
                <a:cs typeface="Lucida Sans Unicode"/>
              </a:rPr>
              <a:t>≈</a:t>
            </a:r>
            <a:r>
              <a:rPr sz="1100" spc="-85" dirty="0">
                <a:solidFill>
                  <a:srgbClr val="191933"/>
                </a:solidFill>
                <a:latin typeface="Lucida Sans Unicode"/>
                <a:cs typeface="Lucida Sans Unicode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Lucida Sans Unicode"/>
                <a:cs typeface="Lucida Sans Unicode"/>
              </a:rPr>
              <a:t>−</a:t>
            </a:r>
            <a:r>
              <a:rPr sz="1100" spc="-25" dirty="0">
                <a:solidFill>
                  <a:srgbClr val="191933"/>
                </a:solidFill>
                <a:latin typeface="Calibri"/>
                <a:cs typeface="Calibri"/>
              </a:rPr>
              <a:t>3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573898"/>
            <a:ext cx="65265" cy="65265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402932" y="1490458"/>
            <a:ext cx="14833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-45" dirty="0">
                <a:solidFill>
                  <a:srgbClr val="191933"/>
                </a:solidFill>
                <a:latin typeface="Arial"/>
                <a:cs typeface="Arial"/>
              </a:rPr>
              <a:t>Change</a:t>
            </a:r>
            <a:r>
              <a:rPr sz="1100" b="1" spc="-1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191933"/>
                </a:solidFill>
                <a:latin typeface="Arial"/>
                <a:cs typeface="Arial"/>
              </a:rPr>
              <a:t>in</a:t>
            </a:r>
            <a:r>
              <a:rPr sz="1100" b="1" spc="-1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191933"/>
                </a:solidFill>
                <a:latin typeface="Arial"/>
                <a:cs typeface="Arial"/>
              </a:rPr>
              <a:t>Infected</a:t>
            </a:r>
            <a:r>
              <a:rPr sz="1100" b="1" spc="-1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35" dirty="0">
                <a:solidFill>
                  <a:srgbClr val="191933"/>
                </a:solidFill>
                <a:latin typeface="Arial"/>
                <a:cs typeface="Arial"/>
              </a:rPr>
              <a:t>(I):</a:t>
            </a:r>
            <a:endParaRPr sz="11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27594" y="1868422"/>
            <a:ext cx="92265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240" dirty="0">
                <a:solidFill>
                  <a:srgbClr val="191933"/>
                </a:solidFill>
                <a:latin typeface="Calibri"/>
                <a:cs typeface="Calibri"/>
              </a:rPr>
              <a:t>∆</a:t>
            </a:r>
            <a:r>
              <a:rPr sz="1100" i="1" spc="240" dirty="0">
                <a:solidFill>
                  <a:srgbClr val="191933"/>
                </a:solidFill>
                <a:latin typeface="Calibri"/>
                <a:cs typeface="Calibri"/>
              </a:rPr>
              <a:t>I</a:t>
            </a:r>
            <a:r>
              <a:rPr sz="1100" i="1" spc="15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295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1100" spc="6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191933"/>
                </a:solidFill>
                <a:latin typeface="Calibri"/>
                <a:cs typeface="Calibri"/>
              </a:rPr>
              <a:t>β</a:t>
            </a:r>
            <a:r>
              <a:rPr sz="1100" i="1" spc="6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-400" dirty="0">
                <a:solidFill>
                  <a:srgbClr val="191933"/>
                </a:solidFill>
                <a:latin typeface="Lucida Sans Unicode"/>
                <a:cs typeface="Lucida Sans Unicode"/>
              </a:rPr>
              <a:t>·</a:t>
            </a:r>
            <a:r>
              <a:rPr sz="1100" spc="-95" dirty="0">
                <a:solidFill>
                  <a:srgbClr val="191933"/>
                </a:solidFill>
                <a:latin typeface="Lucida Sans Unicode"/>
                <a:cs typeface="Lucida Sans Unicode"/>
              </a:rPr>
              <a:t> </a:t>
            </a:r>
            <a:r>
              <a:rPr sz="1100" i="1" spc="90" dirty="0">
                <a:solidFill>
                  <a:srgbClr val="191933"/>
                </a:solidFill>
                <a:latin typeface="Calibri"/>
                <a:cs typeface="Calibri"/>
              </a:rPr>
              <a:t>S</a:t>
            </a:r>
            <a:r>
              <a:rPr sz="1100" spc="90" dirty="0">
                <a:solidFill>
                  <a:srgbClr val="191933"/>
                </a:solidFill>
                <a:latin typeface="Calibri"/>
                <a:cs typeface="Calibri"/>
              </a:rPr>
              <a:t>(0)</a:t>
            </a:r>
            <a:r>
              <a:rPr sz="110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-450" dirty="0">
                <a:solidFill>
                  <a:srgbClr val="191933"/>
                </a:solidFill>
                <a:latin typeface="Lucida Sans Unicode"/>
                <a:cs typeface="Lucida Sans Unicode"/>
              </a:rPr>
              <a:t>·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483192" y="1985035"/>
            <a:ext cx="248920" cy="0"/>
          </a:xfrm>
          <a:custGeom>
            <a:avLst/>
            <a:gdLst/>
            <a:ahLst/>
            <a:cxnLst/>
            <a:rect l="l" t="t" r="r" b="b"/>
            <a:pathLst>
              <a:path w="248919">
                <a:moveTo>
                  <a:pt x="0" y="0"/>
                </a:moveTo>
                <a:lnTo>
                  <a:pt x="248805" y="0"/>
                </a:lnTo>
              </a:path>
            </a:pathLst>
          </a:custGeom>
          <a:ln w="5537">
            <a:solidFill>
              <a:srgbClr val="1919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470492" y="1752191"/>
            <a:ext cx="274955" cy="40322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100" i="1" spc="85" dirty="0">
                <a:solidFill>
                  <a:srgbClr val="191933"/>
                </a:solidFill>
                <a:latin typeface="Calibri"/>
                <a:cs typeface="Calibri"/>
              </a:rPr>
              <a:t>I</a:t>
            </a:r>
            <a:r>
              <a:rPr sz="1100" spc="85" dirty="0">
                <a:solidFill>
                  <a:srgbClr val="191933"/>
                </a:solidFill>
                <a:latin typeface="Calibri"/>
                <a:cs typeface="Calibri"/>
              </a:rPr>
              <a:t>(0)</a:t>
            </a:r>
            <a:endParaRPr sz="1100">
              <a:latin typeface="Calibri"/>
              <a:cs typeface="Calibri"/>
            </a:endParaRPr>
          </a:p>
          <a:p>
            <a:pPr marL="73660">
              <a:lnSpc>
                <a:spcPct val="100000"/>
              </a:lnSpc>
              <a:spcBef>
                <a:spcPts val="170"/>
              </a:spcBef>
            </a:pPr>
            <a:r>
              <a:rPr sz="1100" i="1" spc="105" dirty="0">
                <a:solidFill>
                  <a:srgbClr val="191933"/>
                </a:solidFill>
                <a:latin typeface="Calibri"/>
                <a:cs typeface="Calibri"/>
              </a:rPr>
              <a:t>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765272" y="1868422"/>
            <a:ext cx="59245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4" dirty="0">
                <a:solidFill>
                  <a:srgbClr val="191933"/>
                </a:solidFill>
                <a:latin typeface="Lucida Sans Unicode"/>
                <a:cs typeface="Lucida Sans Unicode"/>
              </a:rPr>
              <a:t>—</a:t>
            </a:r>
            <a:r>
              <a:rPr sz="1100" spc="-105" dirty="0">
                <a:solidFill>
                  <a:srgbClr val="191933"/>
                </a:solidFill>
                <a:latin typeface="Lucida Sans Unicode"/>
                <a:cs typeface="Lucida Sans Unicode"/>
              </a:rPr>
              <a:t> </a:t>
            </a:r>
            <a:r>
              <a:rPr sz="1100" i="1" spc="70" dirty="0">
                <a:solidFill>
                  <a:srgbClr val="191933"/>
                </a:solidFill>
                <a:latin typeface="Calibri"/>
                <a:cs typeface="Calibri"/>
              </a:rPr>
              <a:t>γ</a:t>
            </a:r>
            <a:r>
              <a:rPr sz="1100" i="1" spc="5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-400" dirty="0">
                <a:solidFill>
                  <a:srgbClr val="191933"/>
                </a:solidFill>
                <a:latin typeface="Lucida Sans Unicode"/>
                <a:cs typeface="Lucida Sans Unicode"/>
              </a:rPr>
              <a:t>·</a:t>
            </a:r>
            <a:r>
              <a:rPr sz="1100" spc="-100" dirty="0">
                <a:solidFill>
                  <a:srgbClr val="191933"/>
                </a:solidFill>
                <a:latin typeface="Lucida Sans Unicode"/>
                <a:cs typeface="Lucida Sans Unicode"/>
              </a:rPr>
              <a:t> </a:t>
            </a:r>
            <a:r>
              <a:rPr sz="1100" i="1" spc="85" dirty="0">
                <a:solidFill>
                  <a:srgbClr val="191933"/>
                </a:solidFill>
                <a:latin typeface="Calibri"/>
                <a:cs typeface="Calibri"/>
              </a:rPr>
              <a:t>I</a:t>
            </a:r>
            <a:r>
              <a:rPr sz="1100" spc="85" dirty="0">
                <a:solidFill>
                  <a:srgbClr val="191933"/>
                </a:solidFill>
                <a:latin typeface="Calibri"/>
                <a:cs typeface="Calibri"/>
              </a:rPr>
              <a:t>(0)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19" name="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2538526"/>
            <a:ext cx="65265" cy="65265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402932" y="2118840"/>
            <a:ext cx="2823845" cy="1138555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1255395" algn="ctr">
              <a:lnSpc>
                <a:spcPct val="100000"/>
              </a:lnSpc>
              <a:spcBef>
                <a:spcPts val="760"/>
              </a:spcBef>
            </a:pPr>
            <a:r>
              <a:rPr sz="1100" spc="240" dirty="0">
                <a:solidFill>
                  <a:srgbClr val="191933"/>
                </a:solidFill>
                <a:latin typeface="Calibri"/>
                <a:cs typeface="Calibri"/>
              </a:rPr>
              <a:t>∆</a:t>
            </a:r>
            <a:r>
              <a:rPr sz="1100" i="1" spc="240" dirty="0">
                <a:solidFill>
                  <a:srgbClr val="191933"/>
                </a:solidFill>
                <a:latin typeface="Calibri"/>
                <a:cs typeface="Calibri"/>
              </a:rPr>
              <a:t>I</a:t>
            </a:r>
            <a:r>
              <a:rPr sz="1100" i="1" spc="10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295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1100" spc="3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91933"/>
                </a:solidFill>
                <a:latin typeface="Calibri"/>
                <a:cs typeface="Calibri"/>
              </a:rPr>
              <a:t>2</a:t>
            </a:r>
            <a:r>
              <a:rPr sz="1100" i="1" dirty="0">
                <a:solidFill>
                  <a:srgbClr val="191933"/>
                </a:solidFill>
                <a:latin typeface="Calibri"/>
                <a:cs typeface="Calibri"/>
              </a:rPr>
              <a:t>.</a:t>
            </a:r>
            <a:r>
              <a:rPr sz="1100" dirty="0">
                <a:solidFill>
                  <a:srgbClr val="191933"/>
                </a:solidFill>
                <a:latin typeface="Calibri"/>
                <a:cs typeface="Calibri"/>
              </a:rPr>
              <a:t>97</a:t>
            </a:r>
            <a:r>
              <a:rPr sz="1100" spc="-2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Lucida Sans Unicode"/>
                <a:cs typeface="Lucida Sans Unicode"/>
              </a:rPr>
              <a:t>−</a:t>
            </a:r>
            <a:r>
              <a:rPr sz="1100" spc="-105" dirty="0">
                <a:solidFill>
                  <a:srgbClr val="191933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191933"/>
                </a:solidFill>
                <a:latin typeface="Calibri"/>
                <a:cs typeface="Calibri"/>
              </a:rPr>
              <a:t>1</a:t>
            </a:r>
            <a:r>
              <a:rPr sz="1100" spc="3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295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1100" spc="3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91933"/>
                </a:solidFill>
                <a:latin typeface="Calibri"/>
                <a:cs typeface="Calibri"/>
              </a:rPr>
              <a:t>1</a:t>
            </a:r>
            <a:r>
              <a:rPr sz="1100" i="1" dirty="0">
                <a:solidFill>
                  <a:srgbClr val="191933"/>
                </a:solidFill>
                <a:latin typeface="Calibri"/>
                <a:cs typeface="Calibri"/>
              </a:rPr>
              <a:t>.</a:t>
            </a:r>
            <a:r>
              <a:rPr sz="1100" dirty="0">
                <a:solidFill>
                  <a:srgbClr val="191933"/>
                </a:solidFill>
                <a:latin typeface="Calibri"/>
                <a:cs typeface="Calibri"/>
              </a:rPr>
              <a:t>97</a:t>
            </a:r>
            <a:r>
              <a:rPr sz="1100" spc="3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91933"/>
                </a:solidFill>
                <a:latin typeface="Lucida Sans Unicode"/>
                <a:cs typeface="Lucida Sans Unicode"/>
              </a:rPr>
              <a:t>≈</a:t>
            </a:r>
            <a:r>
              <a:rPr sz="1100" spc="-60" dirty="0">
                <a:solidFill>
                  <a:srgbClr val="191933"/>
                </a:solidFill>
                <a:latin typeface="Lucida Sans Unicode"/>
                <a:cs typeface="Lucida Sans Unicode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Calibri"/>
                <a:cs typeface="Calibri"/>
              </a:rPr>
              <a:t>2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sz="1100" b="1" spc="-45" dirty="0">
                <a:solidFill>
                  <a:srgbClr val="191933"/>
                </a:solidFill>
                <a:latin typeface="Arial"/>
                <a:cs typeface="Arial"/>
              </a:rPr>
              <a:t>Change</a:t>
            </a:r>
            <a:r>
              <a:rPr sz="1100" b="1" spc="1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191933"/>
                </a:solidFill>
                <a:latin typeface="Arial"/>
                <a:cs typeface="Arial"/>
              </a:rPr>
              <a:t>in</a:t>
            </a:r>
            <a:r>
              <a:rPr sz="1100" b="1" spc="1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-50" dirty="0">
                <a:solidFill>
                  <a:srgbClr val="191933"/>
                </a:solidFill>
                <a:latin typeface="Arial"/>
                <a:cs typeface="Arial"/>
              </a:rPr>
              <a:t>Recovered</a:t>
            </a:r>
            <a:r>
              <a:rPr sz="1100" b="1" spc="1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-20" dirty="0">
                <a:solidFill>
                  <a:srgbClr val="191933"/>
                </a:solidFill>
                <a:latin typeface="Arial"/>
                <a:cs typeface="Arial"/>
              </a:rPr>
              <a:t>(R):</a:t>
            </a:r>
            <a:endParaRPr sz="1100">
              <a:latin typeface="Arial"/>
              <a:cs typeface="Arial"/>
            </a:endParaRPr>
          </a:p>
          <a:p>
            <a:pPr marL="1256030" algn="ctr">
              <a:lnSpc>
                <a:spcPct val="100000"/>
              </a:lnSpc>
              <a:spcBef>
                <a:spcPts val="1085"/>
              </a:spcBef>
            </a:pPr>
            <a:r>
              <a:rPr sz="1100" spc="250" dirty="0">
                <a:solidFill>
                  <a:srgbClr val="191933"/>
                </a:solidFill>
                <a:latin typeface="Calibri"/>
                <a:cs typeface="Calibri"/>
              </a:rPr>
              <a:t>∆</a:t>
            </a:r>
            <a:r>
              <a:rPr sz="1100" i="1" spc="250" dirty="0">
                <a:solidFill>
                  <a:srgbClr val="191933"/>
                </a:solidFill>
                <a:latin typeface="Calibri"/>
                <a:cs typeface="Calibri"/>
              </a:rPr>
              <a:t>R</a:t>
            </a:r>
            <a:r>
              <a:rPr sz="1100" i="1" spc="6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295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1100" spc="6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i="1" spc="70" dirty="0">
                <a:solidFill>
                  <a:srgbClr val="191933"/>
                </a:solidFill>
                <a:latin typeface="Calibri"/>
                <a:cs typeface="Calibri"/>
              </a:rPr>
              <a:t>γ</a:t>
            </a:r>
            <a:r>
              <a:rPr sz="1100" i="1" spc="6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-400" dirty="0">
                <a:solidFill>
                  <a:srgbClr val="191933"/>
                </a:solidFill>
                <a:latin typeface="Lucida Sans Unicode"/>
                <a:cs typeface="Lucida Sans Unicode"/>
              </a:rPr>
              <a:t>·</a:t>
            </a:r>
            <a:r>
              <a:rPr sz="1100" spc="-100" dirty="0">
                <a:solidFill>
                  <a:srgbClr val="191933"/>
                </a:solidFill>
                <a:latin typeface="Lucida Sans Unicode"/>
                <a:cs typeface="Lucida Sans Unicode"/>
              </a:rPr>
              <a:t> </a:t>
            </a:r>
            <a:r>
              <a:rPr sz="1100" i="1" spc="85" dirty="0">
                <a:solidFill>
                  <a:srgbClr val="191933"/>
                </a:solidFill>
                <a:latin typeface="Calibri"/>
                <a:cs typeface="Calibri"/>
              </a:rPr>
              <a:t>I</a:t>
            </a:r>
            <a:r>
              <a:rPr sz="1100" spc="85" dirty="0">
                <a:solidFill>
                  <a:srgbClr val="191933"/>
                </a:solidFill>
                <a:latin typeface="Calibri"/>
                <a:cs typeface="Calibri"/>
              </a:rPr>
              <a:t>(0)</a:t>
            </a:r>
            <a:endParaRPr sz="1100">
              <a:latin typeface="Calibri"/>
              <a:cs typeface="Calibri"/>
            </a:endParaRPr>
          </a:p>
          <a:p>
            <a:pPr marL="1256030" algn="ctr">
              <a:lnSpc>
                <a:spcPct val="100000"/>
              </a:lnSpc>
              <a:spcBef>
                <a:spcPts val="1080"/>
              </a:spcBef>
            </a:pPr>
            <a:r>
              <a:rPr sz="1100" spc="250" dirty="0">
                <a:solidFill>
                  <a:srgbClr val="191933"/>
                </a:solidFill>
                <a:latin typeface="Calibri"/>
                <a:cs typeface="Calibri"/>
              </a:rPr>
              <a:t>∆</a:t>
            </a:r>
            <a:r>
              <a:rPr sz="1100" i="1" spc="250" dirty="0">
                <a:solidFill>
                  <a:srgbClr val="191933"/>
                </a:solidFill>
                <a:latin typeface="Calibri"/>
                <a:cs typeface="Calibri"/>
              </a:rPr>
              <a:t>R</a:t>
            </a:r>
            <a:r>
              <a:rPr sz="1100" i="1" spc="4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295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1100" spc="4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91933"/>
                </a:solidFill>
                <a:latin typeface="Calibri"/>
                <a:cs typeface="Calibri"/>
              </a:rPr>
              <a:t>0</a:t>
            </a:r>
            <a:r>
              <a:rPr sz="1100" i="1" dirty="0">
                <a:solidFill>
                  <a:srgbClr val="191933"/>
                </a:solidFill>
                <a:latin typeface="Calibri"/>
                <a:cs typeface="Calibri"/>
              </a:rPr>
              <a:t>.</a:t>
            </a:r>
            <a:r>
              <a:rPr sz="1100" dirty="0">
                <a:solidFill>
                  <a:srgbClr val="191933"/>
                </a:solidFill>
                <a:latin typeface="Calibri"/>
                <a:cs typeface="Calibri"/>
              </a:rPr>
              <a:t>1</a:t>
            </a:r>
            <a:r>
              <a:rPr sz="1100" spc="-2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-400" dirty="0">
                <a:solidFill>
                  <a:srgbClr val="191933"/>
                </a:solidFill>
                <a:latin typeface="Lucida Sans Unicode"/>
                <a:cs typeface="Lucida Sans Unicode"/>
              </a:rPr>
              <a:t>·</a:t>
            </a:r>
            <a:r>
              <a:rPr sz="1100" spc="-105" dirty="0">
                <a:solidFill>
                  <a:srgbClr val="191933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191933"/>
                </a:solidFill>
                <a:latin typeface="Calibri"/>
                <a:cs typeface="Calibri"/>
              </a:rPr>
              <a:t>10</a:t>
            </a:r>
            <a:r>
              <a:rPr sz="1100" spc="4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295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1100" spc="4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Calibri"/>
                <a:cs typeface="Calibri"/>
              </a:rPr>
              <a:t>1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22" name="object 22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4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27</a:t>
            </a:r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93</a:t>
            </a:r>
          </a:p>
        </p:txBody>
      </p:sp>
    </p:spTree>
  </p:cSld>
  <p:clrMapOvr>
    <a:masterClrMapping/>
  </p:clrMapOvr>
  <p:transition>
    <p:cut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Updated</a:t>
            </a:r>
            <a:r>
              <a:rPr spc="45" dirty="0"/>
              <a:t> </a:t>
            </a:r>
            <a:r>
              <a:rPr spc="-40" dirty="0"/>
              <a:t>Values</a:t>
            </a:r>
            <a:r>
              <a:rPr spc="50" dirty="0"/>
              <a:t> </a:t>
            </a:r>
            <a:r>
              <a:rPr dirty="0"/>
              <a:t>at</a:t>
            </a:r>
            <a:r>
              <a:rPr spc="50" dirty="0"/>
              <a:t> </a:t>
            </a:r>
            <a:r>
              <a:rPr dirty="0"/>
              <a:t>Time</a:t>
            </a:r>
            <a:r>
              <a:rPr spc="50" dirty="0"/>
              <a:t> </a:t>
            </a:r>
            <a:r>
              <a:rPr dirty="0"/>
              <a:t>Step</a:t>
            </a:r>
            <a:r>
              <a:rPr spc="50" dirty="0"/>
              <a:t> </a:t>
            </a:r>
            <a:r>
              <a:rPr spc="-50" dirty="0"/>
              <a:t>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384490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594523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804555"/>
            <a:ext cx="65265" cy="6526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02932" y="1257272"/>
            <a:ext cx="2152015" cy="655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299"/>
              </a:lnSpc>
              <a:spcBef>
                <a:spcPts val="100"/>
              </a:spcBef>
            </a:pPr>
            <a:r>
              <a:rPr sz="1100" i="1" spc="90" dirty="0">
                <a:solidFill>
                  <a:srgbClr val="191933"/>
                </a:solidFill>
                <a:latin typeface="Calibri"/>
                <a:cs typeface="Calibri"/>
              </a:rPr>
              <a:t>S</a:t>
            </a:r>
            <a:r>
              <a:rPr sz="1100" spc="90" dirty="0">
                <a:solidFill>
                  <a:srgbClr val="191933"/>
                </a:solidFill>
                <a:latin typeface="Calibri"/>
                <a:cs typeface="Calibri"/>
              </a:rPr>
              <a:t>(1)</a:t>
            </a:r>
            <a:r>
              <a:rPr sz="1100" spc="5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295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1100" spc="4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i="1" spc="90" dirty="0">
                <a:solidFill>
                  <a:srgbClr val="191933"/>
                </a:solidFill>
                <a:latin typeface="Calibri"/>
                <a:cs typeface="Calibri"/>
              </a:rPr>
              <a:t>S</a:t>
            </a:r>
            <a:r>
              <a:rPr sz="1100" spc="90" dirty="0">
                <a:solidFill>
                  <a:srgbClr val="191933"/>
                </a:solidFill>
                <a:latin typeface="Calibri"/>
                <a:cs typeface="Calibri"/>
              </a:rPr>
              <a:t>(0)</a:t>
            </a:r>
            <a:r>
              <a:rPr sz="1100" spc="-1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295" dirty="0">
                <a:solidFill>
                  <a:srgbClr val="191933"/>
                </a:solidFill>
                <a:latin typeface="Calibri"/>
                <a:cs typeface="Calibri"/>
              </a:rPr>
              <a:t>+</a:t>
            </a:r>
            <a:r>
              <a:rPr sz="1100" spc="-1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220" dirty="0">
                <a:solidFill>
                  <a:srgbClr val="191933"/>
                </a:solidFill>
                <a:latin typeface="Calibri"/>
                <a:cs typeface="Calibri"/>
              </a:rPr>
              <a:t>∆</a:t>
            </a:r>
            <a:r>
              <a:rPr sz="1100" i="1" spc="220" dirty="0">
                <a:solidFill>
                  <a:srgbClr val="191933"/>
                </a:solidFill>
                <a:latin typeface="Calibri"/>
                <a:cs typeface="Calibri"/>
              </a:rPr>
              <a:t>S</a:t>
            </a:r>
            <a:r>
              <a:rPr sz="1100" i="1" spc="114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295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1100" spc="5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Calibri"/>
                <a:cs typeface="Calibri"/>
              </a:rPr>
              <a:t>990 </a:t>
            </a:r>
            <a:r>
              <a:rPr sz="1100" spc="-35" dirty="0">
                <a:solidFill>
                  <a:srgbClr val="191933"/>
                </a:solidFill>
                <a:latin typeface="Lucida Sans Unicode"/>
                <a:cs typeface="Lucida Sans Unicode"/>
              </a:rPr>
              <a:t>−</a:t>
            </a:r>
            <a:r>
              <a:rPr sz="1100" spc="-105" dirty="0">
                <a:solidFill>
                  <a:srgbClr val="191933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191933"/>
                </a:solidFill>
                <a:latin typeface="Calibri"/>
                <a:cs typeface="Calibri"/>
              </a:rPr>
              <a:t>3</a:t>
            </a:r>
            <a:r>
              <a:rPr sz="1100" spc="4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295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1100" spc="5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Calibri"/>
                <a:cs typeface="Calibri"/>
              </a:rPr>
              <a:t>987 </a:t>
            </a:r>
            <a:r>
              <a:rPr sz="1100" i="1" spc="105" dirty="0">
                <a:solidFill>
                  <a:srgbClr val="191933"/>
                </a:solidFill>
                <a:latin typeface="Calibri"/>
                <a:cs typeface="Calibri"/>
              </a:rPr>
              <a:t>I</a:t>
            </a:r>
            <a:r>
              <a:rPr sz="1100" spc="105" dirty="0">
                <a:solidFill>
                  <a:srgbClr val="191933"/>
                </a:solidFill>
                <a:latin typeface="Calibri"/>
                <a:cs typeface="Calibri"/>
              </a:rPr>
              <a:t>(1)</a:t>
            </a:r>
            <a:r>
              <a:rPr sz="1100" spc="5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295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1100" spc="5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i="1" spc="105" dirty="0">
                <a:solidFill>
                  <a:srgbClr val="191933"/>
                </a:solidFill>
                <a:latin typeface="Calibri"/>
                <a:cs typeface="Calibri"/>
              </a:rPr>
              <a:t>I</a:t>
            </a:r>
            <a:r>
              <a:rPr sz="1100" spc="105" dirty="0">
                <a:solidFill>
                  <a:srgbClr val="191933"/>
                </a:solidFill>
                <a:latin typeface="Calibri"/>
                <a:cs typeface="Calibri"/>
              </a:rPr>
              <a:t>(0)</a:t>
            </a:r>
            <a:r>
              <a:rPr sz="1100" spc="-1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295" dirty="0">
                <a:solidFill>
                  <a:srgbClr val="191933"/>
                </a:solidFill>
                <a:latin typeface="Calibri"/>
                <a:cs typeface="Calibri"/>
              </a:rPr>
              <a:t>+</a:t>
            </a:r>
            <a:r>
              <a:rPr sz="1100" spc="-1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235" dirty="0">
                <a:solidFill>
                  <a:srgbClr val="191933"/>
                </a:solidFill>
                <a:latin typeface="Calibri"/>
                <a:cs typeface="Calibri"/>
              </a:rPr>
              <a:t>∆</a:t>
            </a:r>
            <a:r>
              <a:rPr sz="1100" i="1" spc="235" dirty="0">
                <a:solidFill>
                  <a:srgbClr val="191933"/>
                </a:solidFill>
                <a:latin typeface="Calibri"/>
                <a:cs typeface="Calibri"/>
              </a:rPr>
              <a:t>I</a:t>
            </a:r>
            <a:r>
              <a:rPr sz="1100" i="1" spc="14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295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1100" spc="5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91933"/>
                </a:solidFill>
                <a:latin typeface="Calibri"/>
                <a:cs typeface="Calibri"/>
              </a:rPr>
              <a:t>10</a:t>
            </a:r>
            <a:r>
              <a:rPr sz="1100" spc="-1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295" dirty="0">
                <a:solidFill>
                  <a:srgbClr val="191933"/>
                </a:solidFill>
                <a:latin typeface="Calibri"/>
                <a:cs typeface="Calibri"/>
              </a:rPr>
              <a:t>+</a:t>
            </a:r>
            <a:r>
              <a:rPr sz="1100" spc="-1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91933"/>
                </a:solidFill>
                <a:latin typeface="Calibri"/>
                <a:cs typeface="Calibri"/>
              </a:rPr>
              <a:t>2</a:t>
            </a:r>
            <a:r>
              <a:rPr sz="1100" spc="5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295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1100" spc="5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Calibri"/>
                <a:cs typeface="Calibri"/>
              </a:rPr>
              <a:t>12 </a:t>
            </a:r>
            <a:r>
              <a:rPr sz="1100" i="1" spc="95" dirty="0">
                <a:solidFill>
                  <a:srgbClr val="191933"/>
                </a:solidFill>
                <a:latin typeface="Calibri"/>
                <a:cs typeface="Calibri"/>
              </a:rPr>
              <a:t>R</a:t>
            </a:r>
            <a:r>
              <a:rPr sz="1100" spc="95" dirty="0">
                <a:solidFill>
                  <a:srgbClr val="191933"/>
                </a:solidFill>
                <a:latin typeface="Calibri"/>
                <a:cs typeface="Calibri"/>
              </a:rPr>
              <a:t>(1)</a:t>
            </a:r>
            <a:r>
              <a:rPr sz="1100" spc="5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295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1100" spc="4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i="1" spc="95" dirty="0">
                <a:solidFill>
                  <a:srgbClr val="191933"/>
                </a:solidFill>
                <a:latin typeface="Calibri"/>
                <a:cs typeface="Calibri"/>
              </a:rPr>
              <a:t>R</a:t>
            </a:r>
            <a:r>
              <a:rPr sz="1100" spc="95" dirty="0">
                <a:solidFill>
                  <a:srgbClr val="191933"/>
                </a:solidFill>
                <a:latin typeface="Calibri"/>
                <a:cs typeface="Calibri"/>
              </a:rPr>
              <a:t>(0)</a:t>
            </a:r>
            <a:r>
              <a:rPr sz="1100" spc="-1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295" dirty="0">
                <a:solidFill>
                  <a:srgbClr val="191933"/>
                </a:solidFill>
                <a:latin typeface="Calibri"/>
                <a:cs typeface="Calibri"/>
              </a:rPr>
              <a:t>+</a:t>
            </a:r>
            <a:r>
              <a:rPr sz="1100" spc="-1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250" dirty="0">
                <a:solidFill>
                  <a:srgbClr val="191933"/>
                </a:solidFill>
                <a:latin typeface="Calibri"/>
                <a:cs typeface="Calibri"/>
              </a:rPr>
              <a:t>∆</a:t>
            </a:r>
            <a:r>
              <a:rPr sz="1100" i="1" spc="250" dirty="0">
                <a:solidFill>
                  <a:srgbClr val="191933"/>
                </a:solidFill>
                <a:latin typeface="Calibri"/>
                <a:cs typeface="Calibri"/>
              </a:rPr>
              <a:t>R</a:t>
            </a:r>
            <a:r>
              <a:rPr sz="1100" i="1" spc="6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295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1100" spc="5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91933"/>
                </a:solidFill>
                <a:latin typeface="Calibri"/>
                <a:cs typeface="Calibri"/>
              </a:rPr>
              <a:t>0</a:t>
            </a:r>
            <a:r>
              <a:rPr sz="1100" spc="-1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295" dirty="0">
                <a:solidFill>
                  <a:srgbClr val="191933"/>
                </a:solidFill>
                <a:latin typeface="Calibri"/>
                <a:cs typeface="Calibri"/>
              </a:rPr>
              <a:t>+</a:t>
            </a:r>
            <a:r>
              <a:rPr sz="1100" spc="-1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91933"/>
                </a:solidFill>
                <a:latin typeface="Calibri"/>
                <a:cs typeface="Calibri"/>
              </a:rPr>
              <a:t>1</a:t>
            </a:r>
            <a:r>
              <a:rPr sz="1100" spc="5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295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1100" spc="5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Calibri"/>
                <a:cs typeface="Calibri"/>
              </a:rPr>
              <a:t>1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8" name="object 8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4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28</a:t>
            </a:r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93</a:t>
            </a:r>
          </a:p>
        </p:txBody>
      </p:sp>
    </p:spTree>
  </p:cSld>
  <p:clrMapOvr>
    <a:masterClrMapping/>
  </p:clrMapOvr>
  <p:transition>
    <p:cut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Time</a:t>
            </a:r>
            <a:r>
              <a:rPr spc="75" dirty="0"/>
              <a:t> </a:t>
            </a:r>
            <a:r>
              <a:rPr dirty="0"/>
              <a:t>Step</a:t>
            </a:r>
            <a:r>
              <a:rPr spc="70" dirty="0"/>
              <a:t> </a:t>
            </a:r>
            <a:r>
              <a:rPr dirty="0"/>
              <a:t>2</a:t>
            </a:r>
            <a:r>
              <a:rPr spc="75" dirty="0"/>
              <a:t> </a:t>
            </a:r>
            <a:r>
              <a:rPr spc="55" dirty="0"/>
              <a:t>(</a:t>
            </a:r>
            <a:r>
              <a:rPr b="0" i="1" spc="55" dirty="0">
                <a:latin typeface="Cambria"/>
                <a:cs typeface="Cambria"/>
              </a:rPr>
              <a:t>t</a:t>
            </a:r>
            <a:r>
              <a:rPr b="0" i="1" spc="45" dirty="0">
                <a:latin typeface="Cambria"/>
                <a:cs typeface="Cambria"/>
              </a:rPr>
              <a:t> </a:t>
            </a:r>
            <a:r>
              <a:rPr b="0" spc="305" dirty="0">
                <a:latin typeface="Calibri"/>
                <a:cs typeface="Calibri"/>
              </a:rPr>
              <a:t>=</a:t>
            </a:r>
            <a:r>
              <a:rPr b="0" spc="40" dirty="0">
                <a:latin typeface="Calibri"/>
                <a:cs typeface="Calibri"/>
              </a:rPr>
              <a:t> </a:t>
            </a:r>
            <a:r>
              <a:rPr b="0" spc="-25" dirty="0">
                <a:latin typeface="Calibri"/>
                <a:cs typeface="Calibri"/>
              </a:rPr>
              <a:t>2</a:t>
            </a:r>
            <a:r>
              <a:rPr spc="-25" dirty="0"/>
              <a:t>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825182"/>
            <a:ext cx="65265" cy="6526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741729"/>
            <a:ext cx="17214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-45" dirty="0">
                <a:solidFill>
                  <a:srgbClr val="191933"/>
                </a:solidFill>
                <a:latin typeface="Arial"/>
                <a:cs typeface="Arial"/>
              </a:rPr>
              <a:t>Change</a:t>
            </a:r>
            <a:r>
              <a:rPr sz="1100" b="1" spc="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191933"/>
                </a:solidFill>
                <a:latin typeface="Arial"/>
                <a:cs typeface="Arial"/>
              </a:rPr>
              <a:t>in</a:t>
            </a:r>
            <a:r>
              <a:rPr sz="1100" b="1" spc="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-50" dirty="0">
                <a:solidFill>
                  <a:srgbClr val="191933"/>
                </a:solidFill>
                <a:latin typeface="Arial"/>
                <a:cs typeface="Arial"/>
              </a:rPr>
              <a:t>Susceptible</a:t>
            </a:r>
            <a:r>
              <a:rPr sz="1100" b="1" spc="1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-20" dirty="0">
                <a:solidFill>
                  <a:srgbClr val="191933"/>
                </a:solidFill>
                <a:latin typeface="Arial"/>
                <a:cs typeface="Arial"/>
              </a:rPr>
              <a:t>(S):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82915" y="1111210"/>
            <a:ext cx="10807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220" dirty="0">
                <a:solidFill>
                  <a:srgbClr val="191933"/>
                </a:solidFill>
                <a:latin typeface="Calibri"/>
                <a:cs typeface="Calibri"/>
              </a:rPr>
              <a:t>∆</a:t>
            </a:r>
            <a:r>
              <a:rPr sz="1100" i="1" spc="220" dirty="0">
                <a:solidFill>
                  <a:srgbClr val="191933"/>
                </a:solidFill>
                <a:latin typeface="Calibri"/>
                <a:cs typeface="Calibri"/>
              </a:rPr>
              <a:t>S</a:t>
            </a:r>
            <a:r>
              <a:rPr sz="1100" i="1" spc="9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295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1100" spc="4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Lucida Sans Unicode"/>
                <a:cs typeface="Lucida Sans Unicode"/>
              </a:rPr>
              <a:t>−</a:t>
            </a:r>
            <a:r>
              <a:rPr sz="1100" spc="-10" dirty="0">
                <a:solidFill>
                  <a:srgbClr val="191933"/>
                </a:solidFill>
                <a:latin typeface="Calibri"/>
                <a:cs typeface="Calibri"/>
              </a:rPr>
              <a:t>0</a:t>
            </a:r>
            <a:r>
              <a:rPr sz="1100" i="1" spc="-10" dirty="0">
                <a:solidFill>
                  <a:srgbClr val="191933"/>
                </a:solidFill>
                <a:latin typeface="Calibri"/>
                <a:cs typeface="Calibri"/>
              </a:rPr>
              <a:t>.</a:t>
            </a:r>
            <a:r>
              <a:rPr sz="1100" spc="-10" dirty="0">
                <a:solidFill>
                  <a:srgbClr val="191933"/>
                </a:solidFill>
                <a:latin typeface="Calibri"/>
                <a:cs typeface="Calibri"/>
              </a:rPr>
              <a:t>3</a:t>
            </a:r>
            <a:r>
              <a:rPr sz="1100" spc="-2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-400" dirty="0">
                <a:solidFill>
                  <a:srgbClr val="191933"/>
                </a:solidFill>
                <a:latin typeface="Lucida Sans Unicode"/>
                <a:cs typeface="Lucida Sans Unicode"/>
              </a:rPr>
              <a:t>·</a:t>
            </a:r>
            <a:r>
              <a:rPr sz="1100" spc="-105" dirty="0">
                <a:solidFill>
                  <a:srgbClr val="191933"/>
                </a:solidFill>
                <a:latin typeface="Lucida Sans Unicode"/>
                <a:cs typeface="Lucida Sans Unicode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Calibri"/>
                <a:cs typeface="Calibri"/>
              </a:rPr>
              <a:t>987</a:t>
            </a:r>
            <a:r>
              <a:rPr sz="1100" spc="-1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-450" dirty="0">
                <a:solidFill>
                  <a:srgbClr val="191933"/>
                </a:solidFill>
                <a:latin typeface="Lucida Sans Unicode"/>
                <a:cs typeface="Lucida Sans Unicode"/>
              </a:rPr>
              <a:t>·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53220" y="1017484"/>
            <a:ext cx="1644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 dirty="0">
                <a:solidFill>
                  <a:srgbClr val="191933"/>
                </a:solidFill>
                <a:latin typeface="Calibri"/>
                <a:cs typeface="Calibri"/>
              </a:rPr>
              <a:t>12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396655" y="1227823"/>
            <a:ext cx="277495" cy="0"/>
          </a:xfrm>
          <a:custGeom>
            <a:avLst/>
            <a:gdLst/>
            <a:ahLst/>
            <a:cxnLst/>
            <a:rect l="l" t="t" r="r" b="b"/>
            <a:pathLst>
              <a:path w="277494">
                <a:moveTo>
                  <a:pt x="0" y="0"/>
                </a:moveTo>
                <a:lnTo>
                  <a:pt x="277088" y="0"/>
                </a:lnTo>
              </a:path>
            </a:pathLst>
          </a:custGeom>
          <a:ln w="5537">
            <a:solidFill>
              <a:srgbClr val="1919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383955" y="1206244"/>
            <a:ext cx="3028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solidFill>
                  <a:srgbClr val="191933"/>
                </a:solidFill>
                <a:latin typeface="Calibri"/>
                <a:cs typeface="Calibri"/>
              </a:rPr>
              <a:t>1000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14713" y="1111210"/>
            <a:ext cx="88773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295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1100" spc="1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91933"/>
                </a:solidFill>
                <a:latin typeface="Lucida Sans Unicode"/>
                <a:cs typeface="Lucida Sans Unicode"/>
              </a:rPr>
              <a:t>−</a:t>
            </a:r>
            <a:r>
              <a:rPr sz="1100" dirty="0">
                <a:solidFill>
                  <a:srgbClr val="191933"/>
                </a:solidFill>
                <a:latin typeface="Calibri"/>
                <a:cs typeface="Calibri"/>
              </a:rPr>
              <a:t>3</a:t>
            </a:r>
            <a:r>
              <a:rPr sz="1100" i="1" dirty="0">
                <a:solidFill>
                  <a:srgbClr val="191933"/>
                </a:solidFill>
                <a:latin typeface="Calibri"/>
                <a:cs typeface="Calibri"/>
              </a:rPr>
              <a:t>.</a:t>
            </a:r>
            <a:r>
              <a:rPr sz="1100" dirty="0">
                <a:solidFill>
                  <a:srgbClr val="191933"/>
                </a:solidFill>
                <a:latin typeface="Calibri"/>
                <a:cs typeface="Calibri"/>
              </a:rPr>
              <a:t>56</a:t>
            </a:r>
            <a:r>
              <a:rPr sz="1100" spc="1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91933"/>
                </a:solidFill>
                <a:latin typeface="Lucida Sans Unicode"/>
                <a:cs typeface="Lucida Sans Unicode"/>
              </a:rPr>
              <a:t>≈</a:t>
            </a:r>
            <a:r>
              <a:rPr sz="1100" spc="-85" dirty="0">
                <a:solidFill>
                  <a:srgbClr val="191933"/>
                </a:solidFill>
                <a:latin typeface="Lucida Sans Unicode"/>
                <a:cs typeface="Lucida Sans Unicode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Lucida Sans Unicode"/>
                <a:cs typeface="Lucida Sans Unicode"/>
              </a:rPr>
              <a:t>−</a:t>
            </a:r>
            <a:r>
              <a:rPr sz="1100" spc="-25" dirty="0">
                <a:solidFill>
                  <a:srgbClr val="191933"/>
                </a:solidFill>
                <a:latin typeface="Calibri"/>
                <a:cs typeface="Calibri"/>
              </a:rPr>
              <a:t>4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545437"/>
            <a:ext cx="65265" cy="65265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402932" y="1461984"/>
            <a:ext cx="14833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-45" dirty="0">
                <a:solidFill>
                  <a:srgbClr val="191933"/>
                </a:solidFill>
                <a:latin typeface="Arial"/>
                <a:cs typeface="Arial"/>
              </a:rPr>
              <a:t>Change</a:t>
            </a:r>
            <a:r>
              <a:rPr sz="1100" b="1" spc="-1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191933"/>
                </a:solidFill>
                <a:latin typeface="Arial"/>
                <a:cs typeface="Arial"/>
              </a:rPr>
              <a:t>in</a:t>
            </a:r>
            <a:r>
              <a:rPr sz="1100" b="1" spc="-1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191933"/>
                </a:solidFill>
                <a:latin typeface="Arial"/>
                <a:cs typeface="Arial"/>
              </a:rPr>
              <a:t>Infected</a:t>
            </a:r>
            <a:r>
              <a:rPr sz="1100" b="1" spc="-1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35" dirty="0">
                <a:solidFill>
                  <a:srgbClr val="191933"/>
                </a:solidFill>
                <a:latin typeface="Arial"/>
                <a:cs typeface="Arial"/>
              </a:rPr>
              <a:t>(I):</a:t>
            </a:r>
            <a:endParaRPr sz="11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62659" y="1831465"/>
            <a:ext cx="9518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240" dirty="0">
                <a:solidFill>
                  <a:srgbClr val="191933"/>
                </a:solidFill>
                <a:latin typeface="Calibri"/>
                <a:cs typeface="Calibri"/>
              </a:rPr>
              <a:t>∆</a:t>
            </a:r>
            <a:r>
              <a:rPr sz="1100" i="1" spc="240" dirty="0">
                <a:solidFill>
                  <a:srgbClr val="191933"/>
                </a:solidFill>
                <a:latin typeface="Calibri"/>
                <a:cs typeface="Calibri"/>
              </a:rPr>
              <a:t>I</a:t>
            </a:r>
            <a:r>
              <a:rPr sz="1100" i="1" spc="114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295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1100" spc="4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91933"/>
                </a:solidFill>
                <a:latin typeface="Calibri"/>
                <a:cs typeface="Calibri"/>
              </a:rPr>
              <a:t>0</a:t>
            </a:r>
            <a:r>
              <a:rPr sz="1100" i="1" dirty="0">
                <a:solidFill>
                  <a:srgbClr val="191933"/>
                </a:solidFill>
                <a:latin typeface="Calibri"/>
                <a:cs typeface="Calibri"/>
              </a:rPr>
              <a:t>.</a:t>
            </a:r>
            <a:r>
              <a:rPr sz="1100" dirty="0">
                <a:solidFill>
                  <a:srgbClr val="191933"/>
                </a:solidFill>
                <a:latin typeface="Calibri"/>
                <a:cs typeface="Calibri"/>
              </a:rPr>
              <a:t>3</a:t>
            </a:r>
            <a:r>
              <a:rPr sz="1100" spc="-2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-400" dirty="0">
                <a:solidFill>
                  <a:srgbClr val="191933"/>
                </a:solidFill>
                <a:latin typeface="Lucida Sans Unicode"/>
                <a:cs typeface="Lucida Sans Unicode"/>
              </a:rPr>
              <a:t>·</a:t>
            </a:r>
            <a:r>
              <a:rPr sz="1100" spc="-105" dirty="0">
                <a:solidFill>
                  <a:srgbClr val="191933"/>
                </a:solidFill>
                <a:latin typeface="Lucida Sans Unicode"/>
                <a:cs typeface="Lucida Sans Unicode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Calibri"/>
                <a:cs typeface="Calibri"/>
              </a:rPr>
              <a:t>987</a:t>
            </a:r>
            <a:r>
              <a:rPr sz="1100" spc="-1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-450" dirty="0">
                <a:solidFill>
                  <a:srgbClr val="191933"/>
                </a:solidFill>
                <a:latin typeface="Lucida Sans Unicode"/>
                <a:cs typeface="Lucida Sans Unicode"/>
              </a:rPr>
              <a:t>·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204034" y="1737739"/>
            <a:ext cx="1644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 dirty="0">
                <a:solidFill>
                  <a:srgbClr val="191933"/>
                </a:solidFill>
                <a:latin typeface="Calibri"/>
                <a:cs typeface="Calibri"/>
              </a:rPr>
              <a:t>12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147468" y="1948078"/>
            <a:ext cx="277495" cy="0"/>
          </a:xfrm>
          <a:custGeom>
            <a:avLst/>
            <a:gdLst/>
            <a:ahLst/>
            <a:cxnLst/>
            <a:rect l="l" t="t" r="r" b="b"/>
            <a:pathLst>
              <a:path w="277494">
                <a:moveTo>
                  <a:pt x="0" y="0"/>
                </a:moveTo>
                <a:lnTo>
                  <a:pt x="277088" y="0"/>
                </a:lnTo>
              </a:path>
            </a:pathLst>
          </a:custGeom>
          <a:ln w="5537">
            <a:solidFill>
              <a:srgbClr val="1919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134768" y="1926499"/>
            <a:ext cx="3028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solidFill>
                  <a:srgbClr val="191933"/>
                </a:solidFill>
                <a:latin typeface="Calibri"/>
                <a:cs typeface="Calibri"/>
              </a:rPr>
              <a:t>1000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457830" y="1831465"/>
            <a:ext cx="12649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4" dirty="0">
                <a:solidFill>
                  <a:srgbClr val="191933"/>
                </a:solidFill>
                <a:latin typeface="Lucida Sans Unicode"/>
                <a:cs typeface="Lucida Sans Unicode"/>
              </a:rPr>
              <a:t>—</a:t>
            </a:r>
            <a:r>
              <a:rPr sz="1100" spc="-105" dirty="0">
                <a:solidFill>
                  <a:srgbClr val="191933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191933"/>
                </a:solidFill>
                <a:latin typeface="Calibri"/>
                <a:cs typeface="Calibri"/>
              </a:rPr>
              <a:t>0</a:t>
            </a:r>
            <a:r>
              <a:rPr sz="1100" i="1" dirty="0">
                <a:solidFill>
                  <a:srgbClr val="191933"/>
                </a:solidFill>
                <a:latin typeface="Calibri"/>
                <a:cs typeface="Calibri"/>
              </a:rPr>
              <a:t>.</a:t>
            </a:r>
            <a:r>
              <a:rPr sz="1100" dirty="0">
                <a:solidFill>
                  <a:srgbClr val="191933"/>
                </a:solidFill>
                <a:latin typeface="Calibri"/>
                <a:cs typeface="Calibri"/>
              </a:rPr>
              <a:t>1</a:t>
            </a:r>
            <a:r>
              <a:rPr sz="1100" spc="-6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-400" dirty="0">
                <a:solidFill>
                  <a:srgbClr val="191933"/>
                </a:solidFill>
                <a:latin typeface="Lucida Sans Unicode"/>
                <a:cs typeface="Lucida Sans Unicode"/>
              </a:rPr>
              <a:t>·</a:t>
            </a:r>
            <a:r>
              <a:rPr sz="1100" spc="-105" dirty="0">
                <a:solidFill>
                  <a:srgbClr val="191933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191933"/>
                </a:solidFill>
                <a:latin typeface="Calibri"/>
                <a:cs typeface="Calibri"/>
              </a:rPr>
              <a:t>12</a:t>
            </a:r>
            <a:r>
              <a:rPr sz="1100" spc="2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295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1100" spc="3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91933"/>
                </a:solidFill>
                <a:latin typeface="Calibri"/>
                <a:cs typeface="Calibri"/>
              </a:rPr>
              <a:t>2</a:t>
            </a:r>
            <a:r>
              <a:rPr sz="1100" i="1" dirty="0">
                <a:solidFill>
                  <a:srgbClr val="191933"/>
                </a:solidFill>
                <a:latin typeface="Calibri"/>
                <a:cs typeface="Calibri"/>
              </a:rPr>
              <a:t>.</a:t>
            </a:r>
            <a:r>
              <a:rPr sz="1100" dirty="0">
                <a:solidFill>
                  <a:srgbClr val="191933"/>
                </a:solidFill>
                <a:latin typeface="Calibri"/>
                <a:cs typeface="Calibri"/>
              </a:rPr>
              <a:t>36</a:t>
            </a:r>
            <a:r>
              <a:rPr sz="1100" spc="3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91933"/>
                </a:solidFill>
                <a:latin typeface="Lucida Sans Unicode"/>
                <a:cs typeface="Lucida Sans Unicode"/>
              </a:rPr>
              <a:t>≈</a:t>
            </a:r>
            <a:r>
              <a:rPr sz="1100" spc="-70" dirty="0">
                <a:solidFill>
                  <a:srgbClr val="191933"/>
                </a:solidFill>
                <a:latin typeface="Lucida Sans Unicode"/>
                <a:cs typeface="Lucida Sans Unicode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Calibri"/>
                <a:cs typeface="Calibri"/>
              </a:rPr>
              <a:t>2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17" name="object 1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2265692"/>
            <a:ext cx="65265" cy="65265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402932" y="2182239"/>
            <a:ext cx="2771775" cy="5029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-45" dirty="0">
                <a:solidFill>
                  <a:srgbClr val="191933"/>
                </a:solidFill>
                <a:latin typeface="Arial"/>
                <a:cs typeface="Arial"/>
              </a:rPr>
              <a:t>Change</a:t>
            </a:r>
            <a:r>
              <a:rPr sz="1100" b="1" spc="1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191933"/>
                </a:solidFill>
                <a:latin typeface="Arial"/>
                <a:cs typeface="Arial"/>
              </a:rPr>
              <a:t>in</a:t>
            </a:r>
            <a:r>
              <a:rPr sz="1100" b="1" spc="1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-50" dirty="0">
                <a:solidFill>
                  <a:srgbClr val="191933"/>
                </a:solidFill>
                <a:latin typeface="Arial"/>
                <a:cs typeface="Arial"/>
              </a:rPr>
              <a:t>Recovered</a:t>
            </a:r>
            <a:r>
              <a:rPr sz="1100" b="1" spc="1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-20" dirty="0">
                <a:solidFill>
                  <a:srgbClr val="191933"/>
                </a:solidFill>
                <a:latin typeface="Arial"/>
                <a:cs typeface="Arial"/>
              </a:rPr>
              <a:t>(R):</a:t>
            </a:r>
            <a:endParaRPr sz="1100">
              <a:latin typeface="Arial"/>
              <a:cs typeface="Arial"/>
            </a:endParaRPr>
          </a:p>
          <a:p>
            <a:pPr marL="1320165">
              <a:lnSpc>
                <a:spcPct val="100000"/>
              </a:lnSpc>
              <a:spcBef>
                <a:spcPts val="1130"/>
              </a:spcBef>
            </a:pPr>
            <a:r>
              <a:rPr sz="1100" spc="250" dirty="0">
                <a:solidFill>
                  <a:srgbClr val="191933"/>
                </a:solidFill>
                <a:latin typeface="Calibri"/>
                <a:cs typeface="Calibri"/>
              </a:rPr>
              <a:t>∆</a:t>
            </a:r>
            <a:r>
              <a:rPr sz="1100" i="1" spc="250" dirty="0">
                <a:solidFill>
                  <a:srgbClr val="191933"/>
                </a:solidFill>
                <a:latin typeface="Calibri"/>
                <a:cs typeface="Calibri"/>
              </a:rPr>
              <a:t>R</a:t>
            </a:r>
            <a:r>
              <a:rPr sz="1100" i="1" spc="3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295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1100" spc="4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91933"/>
                </a:solidFill>
                <a:latin typeface="Calibri"/>
                <a:cs typeface="Calibri"/>
              </a:rPr>
              <a:t>0</a:t>
            </a:r>
            <a:r>
              <a:rPr sz="1100" i="1" dirty="0">
                <a:solidFill>
                  <a:srgbClr val="191933"/>
                </a:solidFill>
                <a:latin typeface="Calibri"/>
                <a:cs typeface="Calibri"/>
              </a:rPr>
              <a:t>.</a:t>
            </a:r>
            <a:r>
              <a:rPr sz="1100" dirty="0">
                <a:solidFill>
                  <a:srgbClr val="191933"/>
                </a:solidFill>
                <a:latin typeface="Calibri"/>
                <a:cs typeface="Calibri"/>
              </a:rPr>
              <a:t>1</a:t>
            </a:r>
            <a:r>
              <a:rPr sz="1100" spc="-2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-400" dirty="0">
                <a:solidFill>
                  <a:srgbClr val="191933"/>
                </a:solidFill>
                <a:latin typeface="Lucida Sans Unicode"/>
                <a:cs typeface="Lucida Sans Unicode"/>
              </a:rPr>
              <a:t>·</a:t>
            </a:r>
            <a:r>
              <a:rPr sz="1100" spc="-105" dirty="0">
                <a:solidFill>
                  <a:srgbClr val="191933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191933"/>
                </a:solidFill>
                <a:latin typeface="Calibri"/>
                <a:cs typeface="Calibri"/>
              </a:rPr>
              <a:t>12</a:t>
            </a:r>
            <a:r>
              <a:rPr sz="1100" spc="3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295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1100" spc="3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91933"/>
                </a:solidFill>
                <a:latin typeface="Calibri"/>
                <a:cs typeface="Calibri"/>
              </a:rPr>
              <a:t>1</a:t>
            </a:r>
            <a:r>
              <a:rPr sz="1100" i="1" dirty="0">
                <a:solidFill>
                  <a:srgbClr val="191933"/>
                </a:solidFill>
                <a:latin typeface="Calibri"/>
                <a:cs typeface="Calibri"/>
              </a:rPr>
              <a:t>.</a:t>
            </a:r>
            <a:r>
              <a:rPr sz="1100" dirty="0">
                <a:solidFill>
                  <a:srgbClr val="191933"/>
                </a:solidFill>
                <a:latin typeface="Calibri"/>
                <a:cs typeface="Calibri"/>
              </a:rPr>
              <a:t>2</a:t>
            </a:r>
            <a:r>
              <a:rPr sz="1100" spc="3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91933"/>
                </a:solidFill>
                <a:latin typeface="Lucida Sans Unicode"/>
                <a:cs typeface="Lucida Sans Unicode"/>
              </a:rPr>
              <a:t>≈</a:t>
            </a:r>
            <a:r>
              <a:rPr sz="1100" spc="-60" dirty="0">
                <a:solidFill>
                  <a:srgbClr val="191933"/>
                </a:solidFill>
                <a:latin typeface="Lucida Sans Unicode"/>
                <a:cs typeface="Lucida Sans Unicode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Calibri"/>
                <a:cs typeface="Calibri"/>
              </a:rPr>
              <a:t>1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20" name="object 20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4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29</a:t>
            </a:r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93</a:t>
            </a:r>
          </a:p>
        </p:txBody>
      </p:sp>
    </p:spTree>
  </p:cSld>
  <p:clrMapOvr>
    <a:masterClrMapping/>
  </p:clrMapOvr>
  <p:transition>
    <p:cut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Updated</a:t>
            </a:r>
            <a:r>
              <a:rPr spc="45" dirty="0"/>
              <a:t> </a:t>
            </a:r>
            <a:r>
              <a:rPr spc="-40" dirty="0"/>
              <a:t>Values</a:t>
            </a:r>
            <a:r>
              <a:rPr spc="50" dirty="0"/>
              <a:t> </a:t>
            </a:r>
            <a:r>
              <a:rPr dirty="0"/>
              <a:t>at</a:t>
            </a:r>
            <a:r>
              <a:rPr spc="50" dirty="0"/>
              <a:t> </a:t>
            </a:r>
            <a:r>
              <a:rPr dirty="0"/>
              <a:t>Time</a:t>
            </a:r>
            <a:r>
              <a:rPr spc="50" dirty="0"/>
              <a:t> </a:t>
            </a:r>
            <a:r>
              <a:rPr dirty="0"/>
              <a:t>Step</a:t>
            </a:r>
            <a:r>
              <a:rPr spc="50" dirty="0"/>
              <a:t> </a:t>
            </a:r>
            <a:r>
              <a:rPr spc="-50" dirty="0"/>
              <a:t>2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384490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594523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804555"/>
            <a:ext cx="65265" cy="6526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02932" y="1257272"/>
            <a:ext cx="2152015" cy="655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299"/>
              </a:lnSpc>
              <a:spcBef>
                <a:spcPts val="100"/>
              </a:spcBef>
            </a:pPr>
            <a:r>
              <a:rPr sz="1100" i="1" spc="90" dirty="0">
                <a:solidFill>
                  <a:srgbClr val="191933"/>
                </a:solidFill>
                <a:latin typeface="Calibri"/>
                <a:cs typeface="Calibri"/>
              </a:rPr>
              <a:t>S</a:t>
            </a:r>
            <a:r>
              <a:rPr sz="1100" spc="90" dirty="0">
                <a:solidFill>
                  <a:srgbClr val="191933"/>
                </a:solidFill>
                <a:latin typeface="Calibri"/>
                <a:cs typeface="Calibri"/>
              </a:rPr>
              <a:t>(2)</a:t>
            </a:r>
            <a:r>
              <a:rPr sz="1100" spc="5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295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1100" spc="4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i="1" spc="90" dirty="0">
                <a:solidFill>
                  <a:srgbClr val="191933"/>
                </a:solidFill>
                <a:latin typeface="Calibri"/>
                <a:cs typeface="Calibri"/>
              </a:rPr>
              <a:t>S</a:t>
            </a:r>
            <a:r>
              <a:rPr sz="1100" spc="90" dirty="0">
                <a:solidFill>
                  <a:srgbClr val="191933"/>
                </a:solidFill>
                <a:latin typeface="Calibri"/>
                <a:cs typeface="Calibri"/>
              </a:rPr>
              <a:t>(1)</a:t>
            </a:r>
            <a:r>
              <a:rPr sz="1100" spc="-1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295" dirty="0">
                <a:solidFill>
                  <a:srgbClr val="191933"/>
                </a:solidFill>
                <a:latin typeface="Calibri"/>
                <a:cs typeface="Calibri"/>
              </a:rPr>
              <a:t>+</a:t>
            </a:r>
            <a:r>
              <a:rPr sz="1100" spc="-1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220" dirty="0">
                <a:solidFill>
                  <a:srgbClr val="191933"/>
                </a:solidFill>
                <a:latin typeface="Calibri"/>
                <a:cs typeface="Calibri"/>
              </a:rPr>
              <a:t>∆</a:t>
            </a:r>
            <a:r>
              <a:rPr sz="1100" i="1" spc="220" dirty="0">
                <a:solidFill>
                  <a:srgbClr val="191933"/>
                </a:solidFill>
                <a:latin typeface="Calibri"/>
                <a:cs typeface="Calibri"/>
              </a:rPr>
              <a:t>S</a:t>
            </a:r>
            <a:r>
              <a:rPr sz="1100" i="1" spc="114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295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1100" spc="5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Calibri"/>
                <a:cs typeface="Calibri"/>
              </a:rPr>
              <a:t>987 </a:t>
            </a:r>
            <a:r>
              <a:rPr sz="1100" spc="-35" dirty="0">
                <a:solidFill>
                  <a:srgbClr val="191933"/>
                </a:solidFill>
                <a:latin typeface="Lucida Sans Unicode"/>
                <a:cs typeface="Lucida Sans Unicode"/>
              </a:rPr>
              <a:t>−</a:t>
            </a:r>
            <a:r>
              <a:rPr sz="1100" spc="-105" dirty="0">
                <a:solidFill>
                  <a:srgbClr val="191933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191933"/>
                </a:solidFill>
                <a:latin typeface="Calibri"/>
                <a:cs typeface="Calibri"/>
              </a:rPr>
              <a:t>4</a:t>
            </a:r>
            <a:r>
              <a:rPr sz="1100" spc="4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295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1100" spc="5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Calibri"/>
                <a:cs typeface="Calibri"/>
              </a:rPr>
              <a:t>983 </a:t>
            </a:r>
            <a:r>
              <a:rPr sz="1100" i="1" spc="105" dirty="0">
                <a:solidFill>
                  <a:srgbClr val="191933"/>
                </a:solidFill>
                <a:latin typeface="Calibri"/>
                <a:cs typeface="Calibri"/>
              </a:rPr>
              <a:t>I</a:t>
            </a:r>
            <a:r>
              <a:rPr sz="1100" spc="105" dirty="0">
                <a:solidFill>
                  <a:srgbClr val="191933"/>
                </a:solidFill>
                <a:latin typeface="Calibri"/>
                <a:cs typeface="Calibri"/>
              </a:rPr>
              <a:t>(2)</a:t>
            </a:r>
            <a:r>
              <a:rPr sz="1100" spc="5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295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1100" spc="5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i="1" spc="105" dirty="0">
                <a:solidFill>
                  <a:srgbClr val="191933"/>
                </a:solidFill>
                <a:latin typeface="Calibri"/>
                <a:cs typeface="Calibri"/>
              </a:rPr>
              <a:t>I</a:t>
            </a:r>
            <a:r>
              <a:rPr sz="1100" spc="105" dirty="0">
                <a:solidFill>
                  <a:srgbClr val="191933"/>
                </a:solidFill>
                <a:latin typeface="Calibri"/>
                <a:cs typeface="Calibri"/>
              </a:rPr>
              <a:t>(1)</a:t>
            </a:r>
            <a:r>
              <a:rPr sz="1100" spc="-1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295" dirty="0">
                <a:solidFill>
                  <a:srgbClr val="191933"/>
                </a:solidFill>
                <a:latin typeface="Calibri"/>
                <a:cs typeface="Calibri"/>
              </a:rPr>
              <a:t>+</a:t>
            </a:r>
            <a:r>
              <a:rPr sz="1100" spc="-1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235" dirty="0">
                <a:solidFill>
                  <a:srgbClr val="191933"/>
                </a:solidFill>
                <a:latin typeface="Calibri"/>
                <a:cs typeface="Calibri"/>
              </a:rPr>
              <a:t>∆</a:t>
            </a:r>
            <a:r>
              <a:rPr sz="1100" i="1" spc="235" dirty="0">
                <a:solidFill>
                  <a:srgbClr val="191933"/>
                </a:solidFill>
                <a:latin typeface="Calibri"/>
                <a:cs typeface="Calibri"/>
              </a:rPr>
              <a:t>I</a:t>
            </a:r>
            <a:r>
              <a:rPr sz="1100" i="1" spc="14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295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1100" spc="5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91933"/>
                </a:solidFill>
                <a:latin typeface="Calibri"/>
                <a:cs typeface="Calibri"/>
              </a:rPr>
              <a:t>12</a:t>
            </a:r>
            <a:r>
              <a:rPr sz="1100" spc="-1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295" dirty="0">
                <a:solidFill>
                  <a:srgbClr val="191933"/>
                </a:solidFill>
                <a:latin typeface="Calibri"/>
                <a:cs typeface="Calibri"/>
              </a:rPr>
              <a:t>+</a:t>
            </a:r>
            <a:r>
              <a:rPr sz="1100" spc="-1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91933"/>
                </a:solidFill>
                <a:latin typeface="Calibri"/>
                <a:cs typeface="Calibri"/>
              </a:rPr>
              <a:t>2</a:t>
            </a:r>
            <a:r>
              <a:rPr sz="1100" spc="5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295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1100" spc="5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Calibri"/>
                <a:cs typeface="Calibri"/>
              </a:rPr>
              <a:t>14 </a:t>
            </a:r>
            <a:r>
              <a:rPr sz="1100" i="1" spc="95" dirty="0">
                <a:solidFill>
                  <a:srgbClr val="191933"/>
                </a:solidFill>
                <a:latin typeface="Calibri"/>
                <a:cs typeface="Calibri"/>
              </a:rPr>
              <a:t>R</a:t>
            </a:r>
            <a:r>
              <a:rPr sz="1100" spc="95" dirty="0">
                <a:solidFill>
                  <a:srgbClr val="191933"/>
                </a:solidFill>
                <a:latin typeface="Calibri"/>
                <a:cs typeface="Calibri"/>
              </a:rPr>
              <a:t>(2)</a:t>
            </a:r>
            <a:r>
              <a:rPr sz="1100" spc="5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295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1100" spc="4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i="1" spc="95" dirty="0">
                <a:solidFill>
                  <a:srgbClr val="191933"/>
                </a:solidFill>
                <a:latin typeface="Calibri"/>
                <a:cs typeface="Calibri"/>
              </a:rPr>
              <a:t>R</a:t>
            </a:r>
            <a:r>
              <a:rPr sz="1100" spc="95" dirty="0">
                <a:solidFill>
                  <a:srgbClr val="191933"/>
                </a:solidFill>
                <a:latin typeface="Calibri"/>
                <a:cs typeface="Calibri"/>
              </a:rPr>
              <a:t>(1)</a:t>
            </a:r>
            <a:r>
              <a:rPr sz="1100" spc="-1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295" dirty="0">
                <a:solidFill>
                  <a:srgbClr val="191933"/>
                </a:solidFill>
                <a:latin typeface="Calibri"/>
                <a:cs typeface="Calibri"/>
              </a:rPr>
              <a:t>+</a:t>
            </a:r>
            <a:r>
              <a:rPr sz="1100" spc="-1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250" dirty="0">
                <a:solidFill>
                  <a:srgbClr val="191933"/>
                </a:solidFill>
                <a:latin typeface="Calibri"/>
                <a:cs typeface="Calibri"/>
              </a:rPr>
              <a:t>∆</a:t>
            </a:r>
            <a:r>
              <a:rPr sz="1100" i="1" spc="250" dirty="0">
                <a:solidFill>
                  <a:srgbClr val="191933"/>
                </a:solidFill>
                <a:latin typeface="Calibri"/>
                <a:cs typeface="Calibri"/>
              </a:rPr>
              <a:t>R</a:t>
            </a:r>
            <a:r>
              <a:rPr sz="1100" i="1" spc="6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295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1100" spc="5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91933"/>
                </a:solidFill>
                <a:latin typeface="Calibri"/>
                <a:cs typeface="Calibri"/>
              </a:rPr>
              <a:t>1</a:t>
            </a:r>
            <a:r>
              <a:rPr sz="1100" spc="-1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295" dirty="0">
                <a:solidFill>
                  <a:srgbClr val="191933"/>
                </a:solidFill>
                <a:latin typeface="Calibri"/>
                <a:cs typeface="Calibri"/>
              </a:rPr>
              <a:t>+</a:t>
            </a:r>
            <a:r>
              <a:rPr sz="1100" spc="-1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91933"/>
                </a:solidFill>
                <a:latin typeface="Calibri"/>
                <a:cs typeface="Calibri"/>
              </a:rPr>
              <a:t>1</a:t>
            </a:r>
            <a:r>
              <a:rPr sz="1100" spc="5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295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1100" spc="5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Calibri"/>
                <a:cs typeface="Calibri"/>
              </a:rPr>
              <a:t>2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8" name="object 8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4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30</a:t>
            </a:r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93</a:t>
            </a:r>
          </a:p>
        </p:txBody>
      </p:sp>
    </p:spTree>
  </p:cSld>
  <p:clrMapOvr>
    <a:masterClrMapping/>
  </p:clrMapOvr>
  <p:transition>
    <p:cut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Real-</a:t>
            </a:r>
            <a:r>
              <a:rPr dirty="0"/>
              <a:t>Time</a:t>
            </a:r>
            <a:r>
              <a:rPr spc="75" dirty="0"/>
              <a:t> </a:t>
            </a:r>
            <a:r>
              <a:rPr dirty="0"/>
              <a:t>SIR</a:t>
            </a:r>
            <a:r>
              <a:rPr spc="75" dirty="0"/>
              <a:t> </a:t>
            </a:r>
            <a:r>
              <a:rPr dirty="0"/>
              <a:t>Model</a:t>
            </a:r>
            <a:r>
              <a:rPr spc="70" dirty="0"/>
              <a:t> </a:t>
            </a:r>
            <a:r>
              <a:rPr spc="-50" dirty="0"/>
              <a:t>Extension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547370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865" y="737184"/>
            <a:ext cx="52590" cy="5259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0865" y="889012"/>
            <a:ext cx="52590" cy="5259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217955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0865" y="1407769"/>
            <a:ext cx="52590" cy="5259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70865" y="1711426"/>
            <a:ext cx="52590" cy="5259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1089" y="1888540"/>
            <a:ext cx="65265" cy="6526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70865" y="2078342"/>
            <a:ext cx="52590" cy="5259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70865" y="2382012"/>
            <a:ext cx="52590" cy="5259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81089" y="2710954"/>
            <a:ext cx="65265" cy="65265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70865" y="2900769"/>
            <a:ext cx="52590" cy="5259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70865" y="3052597"/>
            <a:ext cx="52590" cy="52590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402932" y="438835"/>
            <a:ext cx="3983354" cy="270700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100" b="1" spc="-20" dirty="0">
                <a:solidFill>
                  <a:srgbClr val="191933"/>
                </a:solidFill>
                <a:latin typeface="Arial"/>
                <a:cs typeface="Arial"/>
              </a:rPr>
              <a:t>Real-</a:t>
            </a:r>
            <a:r>
              <a:rPr sz="1100" b="1" dirty="0">
                <a:solidFill>
                  <a:srgbClr val="191933"/>
                </a:solidFill>
                <a:latin typeface="Arial"/>
                <a:cs typeface="Arial"/>
              </a:rPr>
              <a:t>Time</a:t>
            </a:r>
            <a:r>
              <a:rPr sz="1100" b="1" spc="11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191933"/>
                </a:solidFill>
                <a:latin typeface="Arial"/>
                <a:cs typeface="Arial"/>
              </a:rPr>
              <a:t>Data</a:t>
            </a:r>
            <a:r>
              <a:rPr sz="1100" b="1" spc="11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191933"/>
                </a:solidFill>
                <a:latin typeface="Arial"/>
                <a:cs typeface="Arial"/>
              </a:rPr>
              <a:t>Integration:</a:t>
            </a:r>
            <a:endParaRPr sz="1100">
              <a:latin typeface="Arial"/>
              <a:cs typeface="Arial"/>
            </a:endParaRPr>
          </a:p>
          <a:p>
            <a:pPr marL="289560" marR="356235">
              <a:lnSpc>
                <a:spcPct val="100000"/>
              </a:lnSpc>
              <a:spcBef>
                <a:spcPts val="175"/>
              </a:spcBef>
            </a:pPr>
            <a:r>
              <a:rPr sz="1000" spc="-30" dirty="0">
                <a:solidFill>
                  <a:srgbClr val="191933"/>
                </a:solidFill>
                <a:latin typeface="Tahoma"/>
                <a:cs typeface="Tahoma"/>
              </a:rPr>
              <a:t>Continuously</a:t>
            </a:r>
            <a:r>
              <a:rPr sz="10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20" dirty="0">
                <a:solidFill>
                  <a:srgbClr val="191933"/>
                </a:solidFill>
                <a:latin typeface="Tahoma"/>
                <a:cs typeface="Tahoma"/>
              </a:rPr>
              <a:t>collecting</a:t>
            </a:r>
            <a:r>
              <a:rPr sz="1000" spc="-10" dirty="0">
                <a:solidFill>
                  <a:srgbClr val="191933"/>
                </a:solidFill>
                <a:latin typeface="Tahoma"/>
                <a:cs typeface="Tahoma"/>
              </a:rPr>
              <a:t> data</a:t>
            </a:r>
            <a:r>
              <a:rPr sz="10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191933"/>
                </a:solidFill>
                <a:latin typeface="Tahoma"/>
                <a:cs typeface="Tahoma"/>
              </a:rPr>
              <a:t>from</a:t>
            </a:r>
            <a:r>
              <a:rPr sz="10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45" dirty="0">
                <a:solidFill>
                  <a:srgbClr val="191933"/>
                </a:solidFill>
                <a:latin typeface="Tahoma"/>
                <a:cs typeface="Tahoma"/>
              </a:rPr>
              <a:t>network</a:t>
            </a:r>
            <a:r>
              <a:rPr sz="1000" spc="-1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30" dirty="0">
                <a:solidFill>
                  <a:srgbClr val="191933"/>
                </a:solidFill>
                <a:latin typeface="Tahoma"/>
                <a:cs typeface="Tahoma"/>
              </a:rPr>
              <a:t>monitoring</a:t>
            </a:r>
            <a:r>
              <a:rPr sz="1000" spc="-1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40" dirty="0">
                <a:solidFill>
                  <a:srgbClr val="191933"/>
                </a:solidFill>
                <a:latin typeface="Tahoma"/>
                <a:cs typeface="Tahoma"/>
              </a:rPr>
              <a:t>systems. </a:t>
            </a:r>
            <a:r>
              <a:rPr sz="1000" spc="-10" dirty="0">
                <a:solidFill>
                  <a:srgbClr val="191933"/>
                </a:solidFill>
                <a:latin typeface="Tahoma"/>
                <a:cs typeface="Tahoma"/>
              </a:rPr>
              <a:t>Monitoring</a:t>
            </a:r>
            <a:r>
              <a:rPr sz="10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191933"/>
                </a:solidFill>
                <a:latin typeface="Tahoma"/>
                <a:cs typeface="Tahoma"/>
              </a:rPr>
              <a:t>the</a:t>
            </a:r>
            <a:r>
              <a:rPr sz="10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40" dirty="0">
                <a:solidFill>
                  <a:srgbClr val="191933"/>
                </a:solidFill>
                <a:latin typeface="Tahoma"/>
                <a:cs typeface="Tahoma"/>
              </a:rPr>
              <a:t>number</a:t>
            </a: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191933"/>
                </a:solidFill>
                <a:latin typeface="Tahoma"/>
                <a:cs typeface="Tahoma"/>
              </a:rPr>
              <a:t>of</a:t>
            </a:r>
            <a:r>
              <a:rPr sz="10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40" dirty="0">
                <a:solidFill>
                  <a:srgbClr val="191933"/>
                </a:solidFill>
                <a:latin typeface="Tahoma"/>
                <a:cs typeface="Tahoma"/>
              </a:rPr>
              <a:t>susceptible,</a:t>
            </a: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30" dirty="0">
                <a:solidFill>
                  <a:srgbClr val="191933"/>
                </a:solidFill>
                <a:latin typeface="Tahoma"/>
                <a:cs typeface="Tahoma"/>
              </a:rPr>
              <a:t>infected,</a:t>
            </a: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 and </a:t>
            </a:r>
            <a:r>
              <a:rPr sz="1000" spc="-10" dirty="0">
                <a:solidFill>
                  <a:srgbClr val="191933"/>
                </a:solidFill>
                <a:latin typeface="Tahoma"/>
                <a:cs typeface="Tahoma"/>
              </a:rPr>
              <a:t>recovered </a:t>
            </a:r>
            <a:r>
              <a:rPr sz="1000" spc="-40" dirty="0">
                <a:solidFill>
                  <a:srgbClr val="191933"/>
                </a:solidFill>
                <a:latin typeface="Tahoma"/>
                <a:cs typeface="Tahoma"/>
              </a:rPr>
              <a:t>computers</a:t>
            </a:r>
            <a:r>
              <a:rPr sz="1000" spc="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191933"/>
                </a:solidFill>
                <a:latin typeface="Tahoma"/>
                <a:cs typeface="Tahoma"/>
              </a:rPr>
              <a:t>in</a:t>
            </a:r>
            <a:r>
              <a:rPr sz="1000" spc="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35" dirty="0">
                <a:solidFill>
                  <a:srgbClr val="191933"/>
                </a:solidFill>
                <a:latin typeface="Tahoma"/>
                <a:cs typeface="Tahoma"/>
              </a:rPr>
              <a:t>real-</a:t>
            </a:r>
            <a:r>
              <a:rPr sz="1000" spc="-10" dirty="0">
                <a:solidFill>
                  <a:srgbClr val="191933"/>
                </a:solidFill>
                <a:latin typeface="Tahoma"/>
                <a:cs typeface="Tahoma"/>
              </a:rPr>
              <a:t>time.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1100" b="1" spc="-25" dirty="0">
                <a:solidFill>
                  <a:srgbClr val="191933"/>
                </a:solidFill>
                <a:latin typeface="Arial"/>
                <a:cs typeface="Arial"/>
              </a:rPr>
              <a:t>Dynamic</a:t>
            </a:r>
            <a:r>
              <a:rPr sz="1100" b="1" spc="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-20" dirty="0">
                <a:solidFill>
                  <a:srgbClr val="191933"/>
                </a:solidFill>
                <a:latin typeface="Arial"/>
                <a:cs typeface="Arial"/>
              </a:rPr>
              <a:t>Parameter</a:t>
            </a:r>
            <a:r>
              <a:rPr sz="1100" b="1" spc="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191933"/>
                </a:solidFill>
                <a:latin typeface="Arial"/>
                <a:cs typeface="Arial"/>
              </a:rPr>
              <a:t>Adjustment:</a:t>
            </a:r>
            <a:endParaRPr sz="1100">
              <a:latin typeface="Arial"/>
              <a:cs typeface="Arial"/>
            </a:endParaRPr>
          </a:p>
          <a:p>
            <a:pPr marL="289560" marR="5080">
              <a:lnSpc>
                <a:spcPct val="100000"/>
              </a:lnSpc>
              <a:spcBef>
                <a:spcPts val="175"/>
              </a:spcBef>
            </a:pPr>
            <a:r>
              <a:rPr sz="1000" spc="-20" dirty="0">
                <a:solidFill>
                  <a:srgbClr val="191933"/>
                </a:solidFill>
                <a:latin typeface="Tahoma"/>
                <a:cs typeface="Tahoma"/>
              </a:rPr>
              <a:t>Adjusting</a:t>
            </a: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45" dirty="0">
                <a:solidFill>
                  <a:srgbClr val="191933"/>
                </a:solidFill>
                <a:latin typeface="Tahoma"/>
                <a:cs typeface="Tahoma"/>
              </a:rPr>
              <a:t>parameters</a:t>
            </a:r>
            <a:r>
              <a:rPr sz="10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191933"/>
                </a:solidFill>
                <a:latin typeface="Tahoma"/>
                <a:cs typeface="Tahoma"/>
              </a:rPr>
              <a:t>like</a:t>
            </a:r>
            <a:r>
              <a:rPr sz="10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191933"/>
                </a:solidFill>
                <a:latin typeface="Tahoma"/>
                <a:cs typeface="Tahoma"/>
              </a:rPr>
              <a:t>the</a:t>
            </a:r>
            <a:r>
              <a:rPr sz="1000" spc="-20" dirty="0">
                <a:solidFill>
                  <a:srgbClr val="191933"/>
                </a:solidFill>
                <a:latin typeface="Tahoma"/>
                <a:cs typeface="Tahoma"/>
              </a:rPr>
              <a:t> infection</a:t>
            </a:r>
            <a:r>
              <a:rPr sz="10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20" dirty="0">
                <a:solidFill>
                  <a:srgbClr val="191933"/>
                </a:solidFill>
                <a:latin typeface="Tahoma"/>
                <a:cs typeface="Tahoma"/>
              </a:rPr>
              <a:t>rate </a:t>
            </a:r>
            <a:r>
              <a:rPr sz="1000" dirty="0">
                <a:solidFill>
                  <a:srgbClr val="191933"/>
                </a:solidFill>
                <a:latin typeface="Tahoma"/>
                <a:cs typeface="Tahoma"/>
              </a:rPr>
              <a:t>(</a:t>
            </a:r>
            <a:r>
              <a:rPr sz="1000" i="1" dirty="0">
                <a:solidFill>
                  <a:srgbClr val="191933"/>
                </a:solidFill>
                <a:latin typeface="Calibri"/>
                <a:cs typeface="Calibri"/>
              </a:rPr>
              <a:t>β</a:t>
            </a:r>
            <a:r>
              <a:rPr sz="1000" dirty="0">
                <a:solidFill>
                  <a:srgbClr val="191933"/>
                </a:solidFill>
                <a:latin typeface="Tahoma"/>
                <a:cs typeface="Tahoma"/>
              </a:rPr>
              <a:t>)</a:t>
            </a:r>
            <a:r>
              <a:rPr sz="10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and</a:t>
            </a:r>
            <a:r>
              <a:rPr sz="10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45" dirty="0">
                <a:solidFill>
                  <a:srgbClr val="191933"/>
                </a:solidFill>
                <a:latin typeface="Tahoma"/>
                <a:cs typeface="Tahoma"/>
              </a:rPr>
              <a:t>recovery</a:t>
            </a:r>
            <a:r>
              <a:rPr sz="1000" spc="-20" dirty="0">
                <a:solidFill>
                  <a:srgbClr val="191933"/>
                </a:solidFill>
                <a:latin typeface="Tahoma"/>
                <a:cs typeface="Tahoma"/>
              </a:rPr>
              <a:t> rate </a:t>
            </a: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(</a:t>
            </a:r>
            <a:r>
              <a:rPr sz="1000" i="1" spc="-25" dirty="0">
                <a:solidFill>
                  <a:srgbClr val="191933"/>
                </a:solidFill>
                <a:latin typeface="Calibri"/>
                <a:cs typeface="Calibri"/>
              </a:rPr>
              <a:t>γ</a:t>
            </a: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) </a:t>
            </a:r>
            <a:r>
              <a:rPr sz="1000" spc="-55" dirty="0">
                <a:solidFill>
                  <a:srgbClr val="191933"/>
                </a:solidFill>
                <a:latin typeface="Tahoma"/>
                <a:cs typeface="Tahoma"/>
              </a:rPr>
              <a:t>based</a:t>
            </a:r>
            <a:r>
              <a:rPr sz="10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191933"/>
                </a:solidFill>
                <a:latin typeface="Tahoma"/>
                <a:cs typeface="Tahoma"/>
              </a:rPr>
              <a:t>on</a:t>
            </a:r>
            <a:r>
              <a:rPr sz="10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35" dirty="0">
                <a:solidFill>
                  <a:srgbClr val="191933"/>
                </a:solidFill>
                <a:latin typeface="Tahoma"/>
                <a:cs typeface="Tahoma"/>
              </a:rPr>
              <a:t>real-</a:t>
            </a:r>
            <a:r>
              <a:rPr sz="1000" spc="-20" dirty="0">
                <a:solidFill>
                  <a:srgbClr val="191933"/>
                </a:solidFill>
                <a:latin typeface="Tahoma"/>
                <a:cs typeface="Tahoma"/>
              </a:rPr>
              <a:t>time</a:t>
            </a: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191933"/>
                </a:solidFill>
                <a:latin typeface="Tahoma"/>
                <a:cs typeface="Tahoma"/>
              </a:rPr>
              <a:t>observations.</a:t>
            </a:r>
            <a:endParaRPr sz="1000">
              <a:latin typeface="Tahoma"/>
              <a:cs typeface="Tahoma"/>
            </a:endParaRPr>
          </a:p>
          <a:p>
            <a:pPr marL="289560">
              <a:lnSpc>
                <a:spcPts val="1190"/>
              </a:lnSpc>
            </a:pPr>
            <a:r>
              <a:rPr sz="1000" spc="-10" dirty="0">
                <a:solidFill>
                  <a:srgbClr val="191933"/>
                </a:solidFill>
                <a:latin typeface="Tahoma"/>
                <a:cs typeface="Tahoma"/>
              </a:rPr>
              <a:t>Adapting</a:t>
            </a: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191933"/>
                </a:solidFill>
                <a:latin typeface="Tahoma"/>
                <a:cs typeface="Tahoma"/>
              </a:rPr>
              <a:t>to</a:t>
            </a: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35" dirty="0">
                <a:solidFill>
                  <a:srgbClr val="191933"/>
                </a:solidFill>
                <a:latin typeface="Tahoma"/>
                <a:cs typeface="Tahoma"/>
              </a:rPr>
              <a:t>changing</a:t>
            </a:r>
            <a:r>
              <a:rPr sz="10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45" dirty="0">
                <a:solidFill>
                  <a:srgbClr val="191933"/>
                </a:solidFill>
                <a:latin typeface="Tahoma"/>
                <a:cs typeface="Tahoma"/>
              </a:rPr>
              <a:t>network</a:t>
            </a:r>
            <a:r>
              <a:rPr sz="10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conditions and</a:t>
            </a:r>
            <a:r>
              <a:rPr sz="10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55" dirty="0">
                <a:solidFill>
                  <a:srgbClr val="191933"/>
                </a:solidFill>
                <a:latin typeface="Tahoma"/>
                <a:cs typeface="Tahoma"/>
              </a:rPr>
              <a:t>worm</a:t>
            </a: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191933"/>
                </a:solidFill>
                <a:latin typeface="Tahoma"/>
                <a:cs typeface="Tahoma"/>
              </a:rPr>
              <a:t>behavior.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1100" b="1" spc="-45" dirty="0">
                <a:solidFill>
                  <a:srgbClr val="191933"/>
                </a:solidFill>
                <a:latin typeface="Arial"/>
                <a:cs typeface="Arial"/>
              </a:rPr>
              <a:t>Feedback</a:t>
            </a:r>
            <a:r>
              <a:rPr sz="1100" b="1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191933"/>
                </a:solidFill>
                <a:latin typeface="Arial"/>
                <a:cs typeface="Arial"/>
              </a:rPr>
              <a:t>Mechanisms:</a:t>
            </a:r>
            <a:endParaRPr sz="1100">
              <a:latin typeface="Arial"/>
              <a:cs typeface="Arial"/>
            </a:endParaRPr>
          </a:p>
          <a:p>
            <a:pPr marL="289560" marR="146050">
              <a:lnSpc>
                <a:spcPct val="100000"/>
              </a:lnSpc>
              <a:spcBef>
                <a:spcPts val="175"/>
              </a:spcBef>
            </a:pPr>
            <a:r>
              <a:rPr sz="1000" spc="-45" dirty="0">
                <a:solidFill>
                  <a:srgbClr val="191933"/>
                </a:solidFill>
                <a:latin typeface="Tahoma"/>
                <a:cs typeface="Tahoma"/>
              </a:rPr>
              <a:t>Implementing</a:t>
            </a:r>
            <a:r>
              <a:rPr sz="10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40" dirty="0">
                <a:solidFill>
                  <a:srgbClr val="191933"/>
                </a:solidFill>
                <a:latin typeface="Tahoma"/>
                <a:cs typeface="Tahoma"/>
              </a:rPr>
              <a:t>feedback </a:t>
            </a:r>
            <a:r>
              <a:rPr sz="1000" spc="-20" dirty="0">
                <a:solidFill>
                  <a:srgbClr val="191933"/>
                </a:solidFill>
                <a:latin typeface="Tahoma"/>
                <a:cs typeface="Tahoma"/>
              </a:rPr>
              <a:t>loops</a:t>
            </a:r>
            <a:r>
              <a:rPr sz="10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191933"/>
                </a:solidFill>
                <a:latin typeface="Tahoma"/>
                <a:cs typeface="Tahoma"/>
              </a:rPr>
              <a:t>for</a:t>
            </a:r>
            <a:r>
              <a:rPr sz="1000" spc="-30" dirty="0">
                <a:solidFill>
                  <a:srgbClr val="191933"/>
                </a:solidFill>
                <a:latin typeface="Tahoma"/>
                <a:cs typeface="Tahoma"/>
              </a:rPr>
              <a:t> immediate </a:t>
            </a:r>
            <a:r>
              <a:rPr sz="1000" spc="-10" dirty="0">
                <a:solidFill>
                  <a:srgbClr val="191933"/>
                </a:solidFill>
                <a:latin typeface="Tahoma"/>
                <a:cs typeface="Tahoma"/>
              </a:rPr>
              <a:t>action</a:t>
            </a:r>
            <a:r>
              <a:rPr sz="10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55" dirty="0">
                <a:solidFill>
                  <a:srgbClr val="191933"/>
                </a:solidFill>
                <a:latin typeface="Tahoma"/>
                <a:cs typeface="Tahoma"/>
              </a:rPr>
              <a:t>based</a:t>
            </a:r>
            <a:r>
              <a:rPr sz="10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191933"/>
                </a:solidFill>
                <a:latin typeface="Tahoma"/>
                <a:cs typeface="Tahoma"/>
              </a:rPr>
              <a:t>on</a:t>
            </a:r>
            <a:r>
              <a:rPr sz="10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191933"/>
                </a:solidFill>
                <a:latin typeface="Tahoma"/>
                <a:cs typeface="Tahoma"/>
              </a:rPr>
              <a:t>model predictions.</a:t>
            </a:r>
            <a:endParaRPr sz="1000">
              <a:latin typeface="Tahoma"/>
              <a:cs typeface="Tahoma"/>
            </a:endParaRPr>
          </a:p>
          <a:p>
            <a:pPr marL="289560" marR="264795">
              <a:lnSpc>
                <a:spcPts val="1200"/>
              </a:lnSpc>
              <a:spcBef>
                <a:spcPts val="30"/>
              </a:spcBef>
            </a:pPr>
            <a:r>
              <a:rPr sz="1000" spc="-10" dirty="0">
                <a:solidFill>
                  <a:srgbClr val="191933"/>
                </a:solidFill>
                <a:latin typeface="Tahoma"/>
                <a:cs typeface="Tahoma"/>
              </a:rPr>
              <a:t>Actions</a:t>
            </a: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 include</a:t>
            </a:r>
            <a:r>
              <a:rPr sz="1000" spc="-20" dirty="0">
                <a:solidFill>
                  <a:srgbClr val="191933"/>
                </a:solidFill>
                <a:latin typeface="Tahoma"/>
                <a:cs typeface="Tahoma"/>
              </a:rPr>
              <a:t> isolating </a:t>
            </a: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infected</a:t>
            </a:r>
            <a:r>
              <a:rPr sz="10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40" dirty="0">
                <a:solidFill>
                  <a:srgbClr val="191933"/>
                </a:solidFill>
                <a:latin typeface="Tahoma"/>
                <a:cs typeface="Tahoma"/>
              </a:rPr>
              <a:t>computers</a:t>
            </a:r>
            <a:r>
              <a:rPr sz="10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191933"/>
                </a:solidFill>
                <a:latin typeface="Tahoma"/>
                <a:cs typeface="Tahoma"/>
              </a:rPr>
              <a:t>or</a:t>
            </a:r>
            <a:r>
              <a:rPr sz="10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updating</a:t>
            </a:r>
            <a:r>
              <a:rPr sz="10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30" dirty="0">
                <a:solidFill>
                  <a:srgbClr val="191933"/>
                </a:solidFill>
                <a:latin typeface="Tahoma"/>
                <a:cs typeface="Tahoma"/>
              </a:rPr>
              <a:t>security </a:t>
            </a:r>
            <a:r>
              <a:rPr sz="1000" spc="-10" dirty="0">
                <a:solidFill>
                  <a:srgbClr val="191933"/>
                </a:solidFill>
                <a:latin typeface="Tahoma"/>
                <a:cs typeface="Tahoma"/>
              </a:rPr>
              <a:t>policies.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100" b="1" spc="-25" dirty="0">
                <a:solidFill>
                  <a:srgbClr val="191933"/>
                </a:solidFill>
                <a:latin typeface="Arial"/>
                <a:cs typeface="Arial"/>
              </a:rPr>
              <a:t>Prediction</a:t>
            </a:r>
            <a:r>
              <a:rPr sz="1100" b="1" spc="-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-20" dirty="0">
                <a:solidFill>
                  <a:srgbClr val="191933"/>
                </a:solidFill>
                <a:latin typeface="Arial"/>
                <a:cs typeface="Arial"/>
              </a:rPr>
              <a:t>and</a:t>
            </a:r>
            <a:r>
              <a:rPr sz="1100" b="1" spc="-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191933"/>
                </a:solidFill>
                <a:latin typeface="Arial"/>
                <a:cs typeface="Arial"/>
              </a:rPr>
              <a:t>Control:</a:t>
            </a:r>
            <a:endParaRPr sz="1100">
              <a:latin typeface="Arial"/>
              <a:cs typeface="Arial"/>
            </a:endParaRPr>
          </a:p>
          <a:p>
            <a:pPr marL="289560" marR="240029">
              <a:lnSpc>
                <a:spcPct val="100000"/>
              </a:lnSpc>
              <a:spcBef>
                <a:spcPts val="175"/>
              </a:spcBef>
            </a:pPr>
            <a:r>
              <a:rPr sz="1000" spc="-20" dirty="0">
                <a:solidFill>
                  <a:srgbClr val="191933"/>
                </a:solidFill>
                <a:latin typeface="Tahoma"/>
                <a:cs typeface="Tahoma"/>
              </a:rPr>
              <a:t>Using</a:t>
            </a:r>
            <a:r>
              <a:rPr sz="10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191933"/>
                </a:solidFill>
                <a:latin typeface="Tahoma"/>
                <a:cs typeface="Tahoma"/>
              </a:rPr>
              <a:t>the</a:t>
            </a:r>
            <a:r>
              <a:rPr sz="10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model</a:t>
            </a:r>
            <a:r>
              <a:rPr sz="10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191933"/>
                </a:solidFill>
                <a:latin typeface="Tahoma"/>
                <a:cs typeface="Tahoma"/>
              </a:rPr>
              <a:t>to</a:t>
            </a:r>
            <a:r>
              <a:rPr sz="10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predict</a:t>
            </a:r>
            <a:r>
              <a:rPr sz="10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30" dirty="0">
                <a:solidFill>
                  <a:srgbClr val="191933"/>
                </a:solidFill>
                <a:latin typeface="Tahoma"/>
                <a:cs typeface="Tahoma"/>
              </a:rPr>
              <a:t>future</a:t>
            </a: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50" dirty="0">
                <a:solidFill>
                  <a:srgbClr val="191933"/>
                </a:solidFill>
                <a:latin typeface="Tahoma"/>
                <a:cs typeface="Tahoma"/>
              </a:rPr>
              <a:t>worm</a:t>
            </a: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35" dirty="0">
                <a:solidFill>
                  <a:srgbClr val="191933"/>
                </a:solidFill>
                <a:latin typeface="Tahoma"/>
                <a:cs typeface="Tahoma"/>
              </a:rPr>
              <a:t>propagation</a:t>
            </a:r>
            <a:r>
              <a:rPr sz="10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191933"/>
                </a:solidFill>
                <a:latin typeface="Tahoma"/>
                <a:cs typeface="Tahoma"/>
              </a:rPr>
              <a:t>trends. Controlling</a:t>
            </a:r>
            <a:r>
              <a:rPr sz="10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191933"/>
                </a:solidFill>
                <a:latin typeface="Tahoma"/>
                <a:cs typeface="Tahoma"/>
              </a:rPr>
              <a:t>the</a:t>
            </a: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55" dirty="0">
                <a:solidFill>
                  <a:srgbClr val="191933"/>
                </a:solidFill>
                <a:latin typeface="Tahoma"/>
                <a:cs typeface="Tahoma"/>
              </a:rPr>
              <a:t>spread</a:t>
            </a:r>
            <a:r>
              <a:rPr sz="1000" spc="-20" dirty="0">
                <a:solidFill>
                  <a:srgbClr val="191933"/>
                </a:solidFill>
                <a:latin typeface="Tahoma"/>
                <a:cs typeface="Tahoma"/>
              </a:rPr>
              <a:t> by</a:t>
            </a: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30" dirty="0">
                <a:solidFill>
                  <a:srgbClr val="191933"/>
                </a:solidFill>
                <a:latin typeface="Tahoma"/>
                <a:cs typeface="Tahoma"/>
              </a:rPr>
              <a:t>applying</a:t>
            </a: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35" dirty="0">
                <a:solidFill>
                  <a:srgbClr val="191933"/>
                </a:solidFill>
                <a:latin typeface="Tahoma"/>
                <a:cs typeface="Tahoma"/>
              </a:rPr>
              <a:t>appropriate</a:t>
            </a: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35" dirty="0">
                <a:solidFill>
                  <a:srgbClr val="191933"/>
                </a:solidFill>
                <a:latin typeface="Tahoma"/>
                <a:cs typeface="Tahoma"/>
              </a:rPr>
              <a:t>security</a:t>
            </a:r>
            <a:r>
              <a:rPr sz="10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50" dirty="0">
                <a:solidFill>
                  <a:srgbClr val="191933"/>
                </a:solidFill>
                <a:latin typeface="Tahoma"/>
                <a:cs typeface="Tahoma"/>
              </a:rPr>
              <a:t>measures.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7" name="object 17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4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31</a:t>
            </a:r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93</a:t>
            </a:r>
          </a:p>
        </p:txBody>
      </p:sp>
    </p:spTree>
  </p:cSld>
  <p:clrMapOvr>
    <a:masterClrMapping/>
  </p:clrMapOvr>
  <p:transition>
    <p:cut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1013"/>
            <a:ext cx="172275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Example</a:t>
            </a:r>
            <a:r>
              <a:rPr spc="40" dirty="0"/>
              <a:t> </a:t>
            </a:r>
            <a:r>
              <a:rPr dirty="0"/>
              <a:t>2:</a:t>
            </a:r>
            <a:r>
              <a:rPr spc="170" dirty="0"/>
              <a:t> </a:t>
            </a:r>
            <a:r>
              <a:rPr dirty="0"/>
              <a:t>Initial</a:t>
            </a:r>
            <a:r>
              <a:rPr spc="40" dirty="0"/>
              <a:t> </a:t>
            </a:r>
            <a:r>
              <a:rPr spc="-25" dirty="0"/>
              <a:t>Setup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303566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513598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723631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933663"/>
            <a:ext cx="65265" cy="65265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6093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pc="-35" dirty="0"/>
              <a:t>Network</a:t>
            </a:r>
            <a:r>
              <a:rPr spc="-55" dirty="0"/>
              <a:t> </a:t>
            </a:r>
            <a:r>
              <a:rPr spc="-10" dirty="0"/>
              <a:t>Size:</a:t>
            </a:r>
            <a:r>
              <a:rPr dirty="0"/>
              <a:t> </a:t>
            </a:r>
            <a:r>
              <a:rPr spc="-50" dirty="0"/>
              <a:t>1000</a:t>
            </a:r>
            <a:r>
              <a:rPr spc="-40" dirty="0"/>
              <a:t> </a:t>
            </a:r>
            <a:r>
              <a:rPr spc="-10" dirty="0"/>
              <a:t>computers</a:t>
            </a: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spc="-10" dirty="0"/>
              <a:t>Initial</a:t>
            </a:r>
            <a:r>
              <a:rPr spc="-15" dirty="0"/>
              <a:t> </a:t>
            </a:r>
            <a:r>
              <a:rPr spc="-25" dirty="0"/>
              <a:t>Conditions:</a:t>
            </a:r>
            <a:r>
              <a:rPr spc="90" dirty="0"/>
              <a:t> </a:t>
            </a:r>
            <a:r>
              <a:rPr i="1" spc="90" dirty="0">
                <a:latin typeface="Calibri"/>
                <a:cs typeface="Calibri"/>
              </a:rPr>
              <a:t>S</a:t>
            </a:r>
            <a:r>
              <a:rPr spc="90" dirty="0">
                <a:latin typeface="Calibri"/>
                <a:cs typeface="Calibri"/>
              </a:rPr>
              <a:t>(0)</a:t>
            </a:r>
            <a:r>
              <a:rPr spc="25" dirty="0">
                <a:latin typeface="Calibri"/>
                <a:cs typeface="Calibri"/>
              </a:rPr>
              <a:t> </a:t>
            </a:r>
            <a:r>
              <a:rPr spc="295" dirty="0">
                <a:latin typeface="Calibri"/>
                <a:cs typeface="Calibri"/>
              </a:rPr>
              <a:t>=</a:t>
            </a:r>
            <a:r>
              <a:rPr spc="2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980</a:t>
            </a:r>
            <a:r>
              <a:rPr spc="-10" dirty="0"/>
              <a:t>, </a:t>
            </a:r>
            <a:r>
              <a:rPr i="1" spc="105" dirty="0">
                <a:latin typeface="Calibri"/>
                <a:cs typeface="Calibri"/>
              </a:rPr>
              <a:t>I</a:t>
            </a:r>
            <a:r>
              <a:rPr spc="105" dirty="0">
                <a:latin typeface="Calibri"/>
                <a:cs typeface="Calibri"/>
              </a:rPr>
              <a:t>(0)</a:t>
            </a:r>
            <a:r>
              <a:rPr spc="25" dirty="0">
                <a:latin typeface="Calibri"/>
                <a:cs typeface="Calibri"/>
              </a:rPr>
              <a:t> </a:t>
            </a:r>
            <a:r>
              <a:rPr spc="295" dirty="0">
                <a:latin typeface="Calibri"/>
                <a:cs typeface="Calibri"/>
              </a:rPr>
              <a:t>=</a:t>
            </a:r>
            <a:r>
              <a:rPr spc="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20</a:t>
            </a:r>
            <a:r>
              <a:rPr dirty="0"/>
              <a:t>,</a:t>
            </a:r>
            <a:r>
              <a:rPr spc="-15" dirty="0"/>
              <a:t> </a:t>
            </a:r>
            <a:r>
              <a:rPr i="1" spc="95" dirty="0">
                <a:latin typeface="Calibri"/>
                <a:cs typeface="Calibri"/>
              </a:rPr>
              <a:t>R</a:t>
            </a:r>
            <a:r>
              <a:rPr spc="95" dirty="0">
                <a:latin typeface="Calibri"/>
                <a:cs typeface="Calibri"/>
              </a:rPr>
              <a:t>(0)</a:t>
            </a:r>
            <a:r>
              <a:rPr spc="30" dirty="0">
                <a:latin typeface="Calibri"/>
                <a:cs typeface="Calibri"/>
              </a:rPr>
              <a:t> </a:t>
            </a:r>
            <a:r>
              <a:rPr spc="295" dirty="0">
                <a:latin typeface="Calibri"/>
                <a:cs typeface="Calibri"/>
              </a:rPr>
              <a:t>=</a:t>
            </a:r>
            <a:r>
              <a:rPr spc="25" dirty="0">
                <a:latin typeface="Calibri"/>
                <a:cs typeface="Calibri"/>
              </a:rPr>
              <a:t> </a:t>
            </a:r>
            <a:r>
              <a:rPr spc="-50" dirty="0">
                <a:latin typeface="Calibri"/>
                <a:cs typeface="Calibri"/>
              </a:rPr>
              <a:t>0</a:t>
            </a: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-40" dirty="0"/>
              <a:t>Infection</a:t>
            </a:r>
            <a:r>
              <a:rPr spc="-10" dirty="0"/>
              <a:t> Rate:</a:t>
            </a:r>
            <a:r>
              <a:rPr spc="100" dirty="0"/>
              <a:t> </a:t>
            </a:r>
            <a:r>
              <a:rPr i="1" dirty="0">
                <a:latin typeface="Calibri"/>
                <a:cs typeface="Calibri"/>
              </a:rPr>
              <a:t>β</a:t>
            </a:r>
            <a:r>
              <a:rPr i="1" spc="80" dirty="0">
                <a:latin typeface="Calibri"/>
                <a:cs typeface="Calibri"/>
              </a:rPr>
              <a:t> </a:t>
            </a:r>
            <a:r>
              <a:rPr spc="295" dirty="0">
                <a:latin typeface="Calibri"/>
                <a:cs typeface="Calibri"/>
              </a:rPr>
              <a:t>=</a:t>
            </a:r>
            <a:r>
              <a:rPr spc="35" dirty="0">
                <a:latin typeface="Calibri"/>
                <a:cs typeface="Calibri"/>
              </a:rPr>
              <a:t> </a:t>
            </a:r>
            <a:r>
              <a:rPr spc="-25" dirty="0">
                <a:latin typeface="Calibri"/>
                <a:cs typeface="Calibri"/>
              </a:rPr>
              <a:t>0</a:t>
            </a:r>
            <a:r>
              <a:rPr i="1" spc="-25" dirty="0">
                <a:latin typeface="Calibri"/>
                <a:cs typeface="Calibri"/>
              </a:rPr>
              <a:t>.</a:t>
            </a:r>
            <a:r>
              <a:rPr spc="-25" dirty="0">
                <a:latin typeface="Calibri"/>
                <a:cs typeface="Calibri"/>
              </a:rPr>
              <a:t>3</a:t>
            </a: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pc="-45" dirty="0"/>
              <a:t>Recovery</a:t>
            </a:r>
            <a:r>
              <a:rPr spc="-25" dirty="0"/>
              <a:t> </a:t>
            </a:r>
            <a:r>
              <a:rPr spc="-10" dirty="0"/>
              <a:t>Rate:</a:t>
            </a:r>
            <a:r>
              <a:rPr spc="90" dirty="0"/>
              <a:t> </a:t>
            </a:r>
            <a:r>
              <a:rPr i="1" spc="70" dirty="0">
                <a:latin typeface="Calibri"/>
                <a:cs typeface="Calibri"/>
              </a:rPr>
              <a:t>γ</a:t>
            </a:r>
            <a:r>
              <a:rPr i="1" spc="75" dirty="0">
                <a:latin typeface="Calibri"/>
                <a:cs typeface="Calibri"/>
              </a:rPr>
              <a:t> </a:t>
            </a:r>
            <a:r>
              <a:rPr spc="295" dirty="0">
                <a:latin typeface="Calibri"/>
                <a:cs typeface="Calibri"/>
              </a:rPr>
              <a:t>=</a:t>
            </a:r>
            <a:r>
              <a:rPr spc="20" dirty="0">
                <a:latin typeface="Calibri"/>
                <a:cs typeface="Calibri"/>
              </a:rPr>
              <a:t> </a:t>
            </a:r>
            <a:r>
              <a:rPr spc="-25" dirty="0">
                <a:latin typeface="Calibri"/>
                <a:cs typeface="Calibri"/>
              </a:rPr>
              <a:t>0</a:t>
            </a:r>
            <a:r>
              <a:rPr i="1" spc="-25" dirty="0">
                <a:latin typeface="Calibri"/>
                <a:cs typeface="Calibri"/>
              </a:rPr>
              <a:t>.</a:t>
            </a:r>
            <a:r>
              <a:rPr spc="-25" dirty="0">
                <a:latin typeface="Calibri"/>
                <a:cs typeface="Calibri"/>
              </a:rPr>
              <a:t>1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-5147" y="3344164"/>
            <a:ext cx="4608195" cy="109855"/>
            <a:chOff x="0" y="3346348"/>
            <a:chExt cx="4608195" cy="109855"/>
          </a:xfrm>
        </p:grpSpPr>
        <p:sp>
          <p:nvSpPr>
            <p:cNvPr id="9" name="object 9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4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32</a:t>
            </a:r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93</a:t>
            </a:r>
          </a:p>
        </p:txBody>
      </p:sp>
    </p:spTree>
  </p:cSld>
  <p:clrMapOvr>
    <a:masterClrMapping/>
  </p:clrMapOvr>
  <p:transition>
    <p:cut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Dynamic</a:t>
            </a:r>
            <a:r>
              <a:rPr spc="75" dirty="0"/>
              <a:t> </a:t>
            </a:r>
            <a:r>
              <a:rPr dirty="0"/>
              <a:t>Update</a:t>
            </a:r>
            <a:r>
              <a:rPr spc="75" dirty="0"/>
              <a:t> </a:t>
            </a:r>
            <a:r>
              <a:rPr dirty="0"/>
              <a:t>at</a:t>
            </a:r>
            <a:r>
              <a:rPr spc="70" dirty="0"/>
              <a:t> </a:t>
            </a:r>
            <a:r>
              <a:rPr b="0" i="1" dirty="0">
                <a:latin typeface="Cambria"/>
                <a:cs typeface="Cambria"/>
              </a:rPr>
              <a:t>t</a:t>
            </a:r>
            <a:r>
              <a:rPr b="0" i="1" spc="45" dirty="0">
                <a:latin typeface="Cambria"/>
                <a:cs typeface="Cambria"/>
              </a:rPr>
              <a:t> </a:t>
            </a:r>
            <a:r>
              <a:rPr b="0" spc="305" dirty="0">
                <a:latin typeface="Calibri"/>
                <a:cs typeface="Calibri"/>
              </a:rPr>
              <a:t>=</a:t>
            </a:r>
            <a:r>
              <a:rPr b="0" spc="4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1</a:t>
            </a:r>
            <a:r>
              <a:rPr b="0" spc="140" dirty="0">
                <a:latin typeface="Calibri"/>
                <a:cs typeface="Calibri"/>
              </a:rPr>
              <a:t> </a:t>
            </a:r>
            <a:r>
              <a:rPr spc="-10" dirty="0"/>
              <a:t>Minute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129931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339964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549997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760029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2186419"/>
            <a:ext cx="65265" cy="6526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02932" y="1002701"/>
            <a:ext cx="2996565" cy="1292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11785">
              <a:lnSpc>
                <a:spcPct val="125299"/>
              </a:lnSpc>
              <a:spcBef>
                <a:spcPts val="100"/>
              </a:spcBef>
            </a:pP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Observations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indicate 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increased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infection 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rate. 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Updated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Infection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 Rate:</a:t>
            </a:r>
            <a:r>
              <a:rPr sz="1100" spc="9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i="1" dirty="0">
                <a:solidFill>
                  <a:srgbClr val="191933"/>
                </a:solidFill>
                <a:latin typeface="Calibri"/>
                <a:cs typeface="Calibri"/>
              </a:rPr>
              <a:t>β</a:t>
            </a:r>
            <a:r>
              <a:rPr sz="1100" i="1" spc="8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295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1100" spc="3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Calibri"/>
                <a:cs typeface="Calibri"/>
              </a:rPr>
              <a:t>0</a:t>
            </a:r>
            <a:r>
              <a:rPr sz="1100" i="1" spc="-20" dirty="0">
                <a:solidFill>
                  <a:srgbClr val="191933"/>
                </a:solidFill>
                <a:latin typeface="Calibri"/>
                <a:cs typeface="Calibri"/>
              </a:rPr>
              <a:t>.</a:t>
            </a:r>
            <a:r>
              <a:rPr sz="1100" spc="-20" dirty="0">
                <a:solidFill>
                  <a:srgbClr val="191933"/>
                </a:solidFill>
                <a:latin typeface="Calibri"/>
                <a:cs typeface="Calibri"/>
              </a:rPr>
              <a:t>35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Updated 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Recovery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Rate:</a:t>
            </a:r>
            <a:r>
              <a:rPr sz="1100" spc="9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i="1" spc="70" dirty="0">
                <a:solidFill>
                  <a:srgbClr val="191933"/>
                </a:solidFill>
                <a:latin typeface="Calibri"/>
                <a:cs typeface="Calibri"/>
              </a:rPr>
              <a:t>γ</a:t>
            </a:r>
            <a:r>
              <a:rPr sz="1100" i="1" spc="7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295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1100" spc="2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Calibri"/>
                <a:cs typeface="Calibri"/>
              </a:rPr>
              <a:t>0</a:t>
            </a:r>
            <a:r>
              <a:rPr sz="1100" i="1" spc="-25" dirty="0">
                <a:solidFill>
                  <a:srgbClr val="191933"/>
                </a:solidFill>
                <a:latin typeface="Calibri"/>
                <a:cs typeface="Calibri"/>
              </a:rPr>
              <a:t>.</a:t>
            </a:r>
            <a:r>
              <a:rPr sz="1100" spc="-25" dirty="0">
                <a:solidFill>
                  <a:srgbClr val="191933"/>
                </a:solidFill>
                <a:latin typeface="Calibri"/>
                <a:cs typeface="Calibri"/>
              </a:rPr>
              <a:t>1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Calculations:</a:t>
            </a:r>
            <a:endParaRPr sz="1100">
              <a:latin typeface="Tahoma"/>
              <a:cs typeface="Tahoma"/>
            </a:endParaRPr>
          </a:p>
          <a:p>
            <a:pPr marR="5080" algn="r">
              <a:lnSpc>
                <a:spcPct val="100000"/>
              </a:lnSpc>
              <a:spcBef>
                <a:spcPts val="35"/>
              </a:spcBef>
              <a:tabLst>
                <a:tab pos="769620" algn="l"/>
                <a:tab pos="1410970" algn="l"/>
              </a:tabLst>
            </a:pPr>
            <a:r>
              <a:rPr sz="1100" spc="220" dirty="0">
                <a:solidFill>
                  <a:srgbClr val="191933"/>
                </a:solidFill>
                <a:latin typeface="Calibri"/>
                <a:cs typeface="Calibri"/>
              </a:rPr>
              <a:t>∆</a:t>
            </a:r>
            <a:r>
              <a:rPr sz="1100" i="1" spc="220" dirty="0">
                <a:solidFill>
                  <a:srgbClr val="191933"/>
                </a:solidFill>
                <a:latin typeface="Calibri"/>
                <a:cs typeface="Calibri"/>
              </a:rPr>
              <a:t>S</a:t>
            </a:r>
            <a:r>
              <a:rPr sz="1100" i="1" spc="114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295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1100" spc="6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Lucida Sans Unicode"/>
                <a:cs typeface="Lucida Sans Unicode"/>
              </a:rPr>
              <a:t>−</a:t>
            </a:r>
            <a:r>
              <a:rPr sz="1100" spc="-25" dirty="0">
                <a:solidFill>
                  <a:srgbClr val="191933"/>
                </a:solidFill>
                <a:latin typeface="Calibri"/>
                <a:cs typeface="Calibri"/>
              </a:rPr>
              <a:t>7</a:t>
            </a:r>
            <a:r>
              <a:rPr sz="1100" i="1" spc="-25" dirty="0">
                <a:solidFill>
                  <a:srgbClr val="191933"/>
                </a:solidFill>
                <a:latin typeface="Calibri"/>
                <a:cs typeface="Calibri"/>
              </a:rPr>
              <a:t>,</a:t>
            </a:r>
            <a:r>
              <a:rPr sz="1100" i="1" dirty="0">
                <a:solidFill>
                  <a:srgbClr val="191933"/>
                </a:solidFill>
                <a:latin typeface="Calibri"/>
                <a:cs typeface="Calibri"/>
              </a:rPr>
              <a:t>	</a:t>
            </a:r>
            <a:r>
              <a:rPr sz="1100" spc="240" dirty="0">
                <a:solidFill>
                  <a:srgbClr val="191933"/>
                </a:solidFill>
                <a:latin typeface="Calibri"/>
                <a:cs typeface="Calibri"/>
              </a:rPr>
              <a:t>∆</a:t>
            </a:r>
            <a:r>
              <a:rPr sz="1100" i="1" spc="240" dirty="0">
                <a:solidFill>
                  <a:srgbClr val="191933"/>
                </a:solidFill>
                <a:latin typeface="Calibri"/>
                <a:cs typeface="Calibri"/>
              </a:rPr>
              <a:t>I</a:t>
            </a:r>
            <a:r>
              <a:rPr sz="1100" i="1" spc="14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295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1100" spc="6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Calibri"/>
                <a:cs typeface="Calibri"/>
              </a:rPr>
              <a:t>5</a:t>
            </a:r>
            <a:r>
              <a:rPr sz="1100" i="1" spc="-25" dirty="0">
                <a:solidFill>
                  <a:srgbClr val="191933"/>
                </a:solidFill>
                <a:latin typeface="Calibri"/>
                <a:cs typeface="Calibri"/>
              </a:rPr>
              <a:t>,</a:t>
            </a:r>
            <a:r>
              <a:rPr sz="1100" i="1" dirty="0">
                <a:solidFill>
                  <a:srgbClr val="191933"/>
                </a:solidFill>
                <a:latin typeface="Calibri"/>
                <a:cs typeface="Calibri"/>
              </a:rPr>
              <a:t>	</a:t>
            </a:r>
            <a:r>
              <a:rPr sz="1100" spc="250" dirty="0">
                <a:solidFill>
                  <a:srgbClr val="191933"/>
                </a:solidFill>
                <a:latin typeface="Calibri"/>
                <a:cs typeface="Calibri"/>
              </a:rPr>
              <a:t>∆</a:t>
            </a:r>
            <a:r>
              <a:rPr sz="1100" i="1" spc="250" dirty="0">
                <a:solidFill>
                  <a:srgbClr val="191933"/>
                </a:solidFill>
                <a:latin typeface="Calibri"/>
                <a:cs typeface="Calibri"/>
              </a:rPr>
              <a:t>R</a:t>
            </a:r>
            <a:r>
              <a:rPr sz="1100" i="1" spc="6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295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1100" spc="6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Calibri"/>
                <a:cs typeface="Calibri"/>
              </a:rPr>
              <a:t>2</a:t>
            </a:r>
            <a:endParaRPr sz="1100">
              <a:latin typeface="Calibri"/>
              <a:cs typeface="Calibri"/>
            </a:endParaRPr>
          </a:p>
          <a:p>
            <a:pPr marR="21590" algn="r">
              <a:lnSpc>
                <a:spcPct val="100000"/>
              </a:lnSpc>
              <a:spcBef>
                <a:spcPts val="680"/>
              </a:spcBef>
            </a:pP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Updated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Values:</a:t>
            </a:r>
            <a:r>
              <a:rPr sz="1100" spc="9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i="1" spc="90" dirty="0">
                <a:solidFill>
                  <a:srgbClr val="191933"/>
                </a:solidFill>
                <a:latin typeface="Calibri"/>
                <a:cs typeface="Calibri"/>
              </a:rPr>
              <a:t>S</a:t>
            </a:r>
            <a:r>
              <a:rPr sz="1100" spc="90" dirty="0">
                <a:solidFill>
                  <a:srgbClr val="191933"/>
                </a:solidFill>
                <a:latin typeface="Calibri"/>
                <a:cs typeface="Calibri"/>
              </a:rPr>
              <a:t>(1)</a:t>
            </a:r>
            <a:r>
              <a:rPr sz="1100" spc="3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295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1100" spc="3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Calibri"/>
                <a:cs typeface="Calibri"/>
              </a:rPr>
              <a:t>973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, </a:t>
            </a:r>
            <a:r>
              <a:rPr sz="1100" i="1" spc="105" dirty="0">
                <a:solidFill>
                  <a:srgbClr val="191933"/>
                </a:solidFill>
                <a:latin typeface="Calibri"/>
                <a:cs typeface="Calibri"/>
              </a:rPr>
              <a:t>I</a:t>
            </a:r>
            <a:r>
              <a:rPr sz="1100" spc="105" dirty="0">
                <a:solidFill>
                  <a:srgbClr val="191933"/>
                </a:solidFill>
                <a:latin typeface="Calibri"/>
                <a:cs typeface="Calibri"/>
              </a:rPr>
              <a:t>(1)</a:t>
            </a:r>
            <a:r>
              <a:rPr sz="1100" spc="3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295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1100" spc="2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91933"/>
                </a:solidFill>
                <a:latin typeface="Calibri"/>
                <a:cs typeface="Calibri"/>
              </a:rPr>
              <a:t>25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,</a:t>
            </a:r>
            <a:r>
              <a:rPr sz="1100" spc="-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i="1" spc="95" dirty="0">
                <a:solidFill>
                  <a:srgbClr val="191933"/>
                </a:solidFill>
                <a:latin typeface="Calibri"/>
                <a:cs typeface="Calibri"/>
              </a:rPr>
              <a:t>R</a:t>
            </a:r>
            <a:r>
              <a:rPr sz="1100" spc="95" dirty="0">
                <a:solidFill>
                  <a:srgbClr val="191933"/>
                </a:solidFill>
                <a:latin typeface="Calibri"/>
                <a:cs typeface="Calibri"/>
              </a:rPr>
              <a:t>(1)</a:t>
            </a:r>
            <a:r>
              <a:rPr sz="1100" spc="3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295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1100" spc="2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Calibri"/>
                <a:cs typeface="Calibri"/>
              </a:rPr>
              <a:t>2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0" name="object 10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4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33</a:t>
            </a:r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93</a:t>
            </a:r>
          </a:p>
        </p:txBody>
      </p:sp>
    </p:spTree>
  </p:cSld>
  <p:clrMapOvr>
    <a:masterClrMapping/>
  </p:clrMapOvr>
  <p:transition>
    <p:cut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Dynamic</a:t>
            </a:r>
            <a:r>
              <a:rPr spc="75" dirty="0"/>
              <a:t> </a:t>
            </a:r>
            <a:r>
              <a:rPr dirty="0"/>
              <a:t>Update</a:t>
            </a:r>
            <a:r>
              <a:rPr spc="75" dirty="0"/>
              <a:t> </a:t>
            </a:r>
            <a:r>
              <a:rPr dirty="0"/>
              <a:t>at</a:t>
            </a:r>
            <a:r>
              <a:rPr spc="70" dirty="0"/>
              <a:t> </a:t>
            </a:r>
            <a:r>
              <a:rPr b="0" i="1" dirty="0">
                <a:latin typeface="Cambria"/>
                <a:cs typeface="Cambria"/>
              </a:rPr>
              <a:t>t</a:t>
            </a:r>
            <a:r>
              <a:rPr b="0" i="1" spc="45" dirty="0">
                <a:latin typeface="Cambria"/>
                <a:cs typeface="Cambria"/>
              </a:rPr>
              <a:t> </a:t>
            </a:r>
            <a:r>
              <a:rPr b="0" spc="305" dirty="0">
                <a:latin typeface="Calibri"/>
                <a:cs typeface="Calibri"/>
              </a:rPr>
              <a:t>=</a:t>
            </a:r>
            <a:r>
              <a:rPr b="0" spc="4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2</a:t>
            </a:r>
            <a:r>
              <a:rPr b="0" spc="140" dirty="0">
                <a:latin typeface="Calibri"/>
                <a:cs typeface="Calibri"/>
              </a:rPr>
              <a:t> </a:t>
            </a:r>
            <a:r>
              <a:rPr spc="-10" dirty="0"/>
              <a:t>Minutes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129931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339964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549997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760029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2186419"/>
            <a:ext cx="65265" cy="6526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02932" y="1002701"/>
            <a:ext cx="2996565" cy="1292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30810">
              <a:lnSpc>
                <a:spcPct val="125299"/>
              </a:lnSpc>
              <a:spcBef>
                <a:spcPts val="100"/>
              </a:spcBef>
            </a:pP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Recovery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efforts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improve,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reducing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infection rate. Updated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Infection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 Rate:</a:t>
            </a:r>
            <a:r>
              <a:rPr sz="1100" spc="9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i="1" dirty="0">
                <a:solidFill>
                  <a:srgbClr val="191933"/>
                </a:solidFill>
                <a:latin typeface="Calibri"/>
                <a:cs typeface="Calibri"/>
              </a:rPr>
              <a:t>β</a:t>
            </a:r>
            <a:r>
              <a:rPr sz="1100" i="1" spc="8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295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1100" spc="3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Calibri"/>
                <a:cs typeface="Calibri"/>
              </a:rPr>
              <a:t>0</a:t>
            </a:r>
            <a:r>
              <a:rPr sz="1100" i="1" spc="-25" dirty="0">
                <a:solidFill>
                  <a:srgbClr val="191933"/>
                </a:solidFill>
                <a:latin typeface="Calibri"/>
                <a:cs typeface="Calibri"/>
              </a:rPr>
              <a:t>.</a:t>
            </a:r>
            <a:r>
              <a:rPr sz="1100" spc="-25" dirty="0">
                <a:solidFill>
                  <a:srgbClr val="191933"/>
                </a:solidFill>
                <a:latin typeface="Calibri"/>
                <a:cs typeface="Calibri"/>
              </a:rPr>
              <a:t>3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Updated 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Recovery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Rate:</a:t>
            </a:r>
            <a:r>
              <a:rPr sz="1100" spc="9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i="1" spc="70" dirty="0">
                <a:solidFill>
                  <a:srgbClr val="191933"/>
                </a:solidFill>
                <a:latin typeface="Calibri"/>
                <a:cs typeface="Calibri"/>
              </a:rPr>
              <a:t>γ</a:t>
            </a:r>
            <a:r>
              <a:rPr sz="1100" i="1" spc="7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295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1100" spc="2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Calibri"/>
                <a:cs typeface="Calibri"/>
              </a:rPr>
              <a:t>0</a:t>
            </a:r>
            <a:r>
              <a:rPr sz="1100" i="1" spc="-25" dirty="0">
                <a:solidFill>
                  <a:srgbClr val="191933"/>
                </a:solidFill>
                <a:latin typeface="Calibri"/>
                <a:cs typeface="Calibri"/>
              </a:rPr>
              <a:t>.</a:t>
            </a:r>
            <a:r>
              <a:rPr sz="1100" spc="-25" dirty="0">
                <a:solidFill>
                  <a:srgbClr val="191933"/>
                </a:solidFill>
                <a:latin typeface="Calibri"/>
                <a:cs typeface="Calibri"/>
              </a:rPr>
              <a:t>2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Calculations:</a:t>
            </a:r>
            <a:endParaRPr sz="1100">
              <a:latin typeface="Tahoma"/>
              <a:cs typeface="Tahoma"/>
            </a:endParaRPr>
          </a:p>
          <a:p>
            <a:pPr marR="5080" algn="r">
              <a:lnSpc>
                <a:spcPct val="100000"/>
              </a:lnSpc>
              <a:spcBef>
                <a:spcPts val="35"/>
              </a:spcBef>
              <a:tabLst>
                <a:tab pos="769620" algn="l"/>
                <a:tab pos="1410970" algn="l"/>
              </a:tabLst>
            </a:pPr>
            <a:r>
              <a:rPr sz="1100" spc="220" dirty="0">
                <a:solidFill>
                  <a:srgbClr val="191933"/>
                </a:solidFill>
                <a:latin typeface="Calibri"/>
                <a:cs typeface="Calibri"/>
              </a:rPr>
              <a:t>∆</a:t>
            </a:r>
            <a:r>
              <a:rPr sz="1100" i="1" spc="220" dirty="0">
                <a:solidFill>
                  <a:srgbClr val="191933"/>
                </a:solidFill>
                <a:latin typeface="Calibri"/>
                <a:cs typeface="Calibri"/>
              </a:rPr>
              <a:t>S</a:t>
            </a:r>
            <a:r>
              <a:rPr sz="1100" i="1" spc="114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295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1100" spc="6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Lucida Sans Unicode"/>
                <a:cs typeface="Lucida Sans Unicode"/>
              </a:rPr>
              <a:t>−</a:t>
            </a:r>
            <a:r>
              <a:rPr sz="1100" spc="-25" dirty="0">
                <a:solidFill>
                  <a:srgbClr val="191933"/>
                </a:solidFill>
                <a:latin typeface="Calibri"/>
                <a:cs typeface="Calibri"/>
              </a:rPr>
              <a:t>7</a:t>
            </a:r>
            <a:r>
              <a:rPr sz="1100" i="1" spc="-25" dirty="0">
                <a:solidFill>
                  <a:srgbClr val="191933"/>
                </a:solidFill>
                <a:latin typeface="Calibri"/>
                <a:cs typeface="Calibri"/>
              </a:rPr>
              <a:t>,</a:t>
            </a:r>
            <a:r>
              <a:rPr sz="1100" i="1" dirty="0">
                <a:solidFill>
                  <a:srgbClr val="191933"/>
                </a:solidFill>
                <a:latin typeface="Calibri"/>
                <a:cs typeface="Calibri"/>
              </a:rPr>
              <a:t>	</a:t>
            </a:r>
            <a:r>
              <a:rPr sz="1100" spc="240" dirty="0">
                <a:solidFill>
                  <a:srgbClr val="191933"/>
                </a:solidFill>
                <a:latin typeface="Calibri"/>
                <a:cs typeface="Calibri"/>
              </a:rPr>
              <a:t>∆</a:t>
            </a:r>
            <a:r>
              <a:rPr sz="1100" i="1" spc="240" dirty="0">
                <a:solidFill>
                  <a:srgbClr val="191933"/>
                </a:solidFill>
                <a:latin typeface="Calibri"/>
                <a:cs typeface="Calibri"/>
              </a:rPr>
              <a:t>I</a:t>
            </a:r>
            <a:r>
              <a:rPr sz="1100" i="1" spc="14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295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1100" spc="6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Calibri"/>
                <a:cs typeface="Calibri"/>
              </a:rPr>
              <a:t>2</a:t>
            </a:r>
            <a:r>
              <a:rPr sz="1100" i="1" spc="-25" dirty="0">
                <a:solidFill>
                  <a:srgbClr val="191933"/>
                </a:solidFill>
                <a:latin typeface="Calibri"/>
                <a:cs typeface="Calibri"/>
              </a:rPr>
              <a:t>,</a:t>
            </a:r>
            <a:r>
              <a:rPr sz="1100" i="1" dirty="0">
                <a:solidFill>
                  <a:srgbClr val="191933"/>
                </a:solidFill>
                <a:latin typeface="Calibri"/>
                <a:cs typeface="Calibri"/>
              </a:rPr>
              <a:t>	</a:t>
            </a:r>
            <a:r>
              <a:rPr sz="1100" spc="250" dirty="0">
                <a:solidFill>
                  <a:srgbClr val="191933"/>
                </a:solidFill>
                <a:latin typeface="Calibri"/>
                <a:cs typeface="Calibri"/>
              </a:rPr>
              <a:t>∆</a:t>
            </a:r>
            <a:r>
              <a:rPr sz="1100" i="1" spc="250" dirty="0">
                <a:solidFill>
                  <a:srgbClr val="191933"/>
                </a:solidFill>
                <a:latin typeface="Calibri"/>
                <a:cs typeface="Calibri"/>
              </a:rPr>
              <a:t>R</a:t>
            </a:r>
            <a:r>
              <a:rPr sz="1100" i="1" spc="6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295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1100" spc="6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Calibri"/>
                <a:cs typeface="Calibri"/>
              </a:rPr>
              <a:t>5</a:t>
            </a:r>
            <a:endParaRPr sz="1100">
              <a:latin typeface="Calibri"/>
              <a:cs typeface="Calibri"/>
            </a:endParaRPr>
          </a:p>
          <a:p>
            <a:pPr marR="21590" algn="r">
              <a:lnSpc>
                <a:spcPct val="100000"/>
              </a:lnSpc>
              <a:spcBef>
                <a:spcPts val="680"/>
              </a:spcBef>
            </a:pP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Updated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Values:</a:t>
            </a:r>
            <a:r>
              <a:rPr sz="1100" spc="9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i="1" spc="90" dirty="0">
                <a:solidFill>
                  <a:srgbClr val="191933"/>
                </a:solidFill>
                <a:latin typeface="Calibri"/>
                <a:cs typeface="Calibri"/>
              </a:rPr>
              <a:t>S</a:t>
            </a:r>
            <a:r>
              <a:rPr sz="1100" spc="90" dirty="0">
                <a:solidFill>
                  <a:srgbClr val="191933"/>
                </a:solidFill>
                <a:latin typeface="Calibri"/>
                <a:cs typeface="Calibri"/>
              </a:rPr>
              <a:t>(2)</a:t>
            </a:r>
            <a:r>
              <a:rPr sz="1100" spc="3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295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1100" spc="3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Calibri"/>
                <a:cs typeface="Calibri"/>
              </a:rPr>
              <a:t>966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, </a:t>
            </a:r>
            <a:r>
              <a:rPr sz="1100" i="1" spc="105" dirty="0">
                <a:solidFill>
                  <a:srgbClr val="191933"/>
                </a:solidFill>
                <a:latin typeface="Calibri"/>
                <a:cs typeface="Calibri"/>
              </a:rPr>
              <a:t>I</a:t>
            </a:r>
            <a:r>
              <a:rPr sz="1100" spc="105" dirty="0">
                <a:solidFill>
                  <a:srgbClr val="191933"/>
                </a:solidFill>
                <a:latin typeface="Calibri"/>
                <a:cs typeface="Calibri"/>
              </a:rPr>
              <a:t>(2)</a:t>
            </a:r>
            <a:r>
              <a:rPr sz="1100" spc="3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295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1100" spc="2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91933"/>
                </a:solidFill>
                <a:latin typeface="Calibri"/>
                <a:cs typeface="Calibri"/>
              </a:rPr>
              <a:t>27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,</a:t>
            </a:r>
            <a:r>
              <a:rPr sz="1100" spc="-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i="1" spc="95" dirty="0">
                <a:solidFill>
                  <a:srgbClr val="191933"/>
                </a:solidFill>
                <a:latin typeface="Calibri"/>
                <a:cs typeface="Calibri"/>
              </a:rPr>
              <a:t>R</a:t>
            </a:r>
            <a:r>
              <a:rPr sz="1100" spc="95" dirty="0">
                <a:solidFill>
                  <a:srgbClr val="191933"/>
                </a:solidFill>
                <a:latin typeface="Calibri"/>
                <a:cs typeface="Calibri"/>
              </a:rPr>
              <a:t>(2)</a:t>
            </a:r>
            <a:r>
              <a:rPr sz="1100" spc="3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295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1100" spc="2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Calibri"/>
                <a:cs typeface="Calibri"/>
              </a:rPr>
              <a:t>7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0" name="object 10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4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34</a:t>
            </a:r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93</a:t>
            </a:r>
          </a:p>
        </p:txBody>
      </p:sp>
    </p:spTree>
  </p:cSld>
  <p:clrMapOvr>
    <a:masterClrMapping/>
  </p:clrMapOvr>
  <p:transition>
    <p:cut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307340"/>
          </a:xfrm>
          <a:custGeom>
            <a:avLst/>
            <a:gdLst/>
            <a:ahLst/>
            <a:cxnLst/>
            <a:rect l="l" t="t" r="r" b="b"/>
            <a:pathLst>
              <a:path w="4608195" h="307340">
                <a:moveTo>
                  <a:pt x="4608004" y="0"/>
                </a:moveTo>
                <a:lnTo>
                  <a:pt x="0" y="0"/>
                </a:lnTo>
                <a:lnTo>
                  <a:pt x="0" y="307098"/>
                </a:lnTo>
                <a:lnTo>
                  <a:pt x="4608004" y="307098"/>
                </a:lnTo>
                <a:lnTo>
                  <a:pt x="4608004" y="0"/>
                </a:lnTo>
                <a:close/>
              </a:path>
            </a:pathLst>
          </a:custGeom>
          <a:solidFill>
            <a:srgbClr val="33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300" y="51013"/>
            <a:ext cx="132334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SIR</a:t>
            </a:r>
            <a:r>
              <a:rPr sz="1200" b="1" spc="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Model</a:t>
            </a:r>
            <a:r>
              <a:rPr sz="1200" b="1" spc="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-55" dirty="0">
                <a:solidFill>
                  <a:srgbClr val="FFFFFF"/>
                </a:solidFill>
                <a:latin typeface="Arial"/>
                <a:cs typeface="Arial"/>
              </a:rPr>
              <a:t>Results</a:t>
            </a:r>
            <a:endParaRPr sz="12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242377" y="410540"/>
          <a:ext cx="2122803" cy="25482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22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65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6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73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51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100" dirty="0">
                          <a:solidFill>
                            <a:srgbClr val="191933"/>
                          </a:solidFill>
                          <a:latin typeface="Tahoma"/>
                          <a:cs typeface="Tahoma"/>
                        </a:rPr>
                        <a:t>Day</a:t>
                      </a:r>
                      <a:r>
                        <a:rPr sz="1100" spc="-90" dirty="0">
                          <a:solidFill>
                            <a:srgbClr val="191933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25" dirty="0">
                          <a:solidFill>
                            <a:srgbClr val="191933"/>
                          </a:solidFill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25" dirty="0">
                          <a:solidFill>
                            <a:srgbClr val="191933"/>
                          </a:solidFill>
                          <a:latin typeface="Calibri"/>
                          <a:cs typeface="Calibri"/>
                        </a:rPr>
                        <a:t>t</a:t>
                      </a:r>
                      <a:r>
                        <a:rPr sz="1100" spc="-25" dirty="0">
                          <a:solidFill>
                            <a:srgbClr val="191933"/>
                          </a:solidFill>
                          <a:latin typeface="Tahoma"/>
                          <a:cs typeface="Tahoma"/>
                        </a:rPr>
                        <a:t>)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26034" marB="0">
                    <a:lnT w="12700">
                      <a:solidFill>
                        <a:srgbClr val="191933"/>
                      </a:solidFill>
                      <a:prstDash val="solid"/>
                    </a:lnT>
                    <a:lnB w="9525">
                      <a:solidFill>
                        <a:srgbClr val="19193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100" i="1" spc="85" dirty="0">
                          <a:solidFill>
                            <a:srgbClr val="191933"/>
                          </a:solidFill>
                          <a:latin typeface="Calibri"/>
                          <a:cs typeface="Calibri"/>
                        </a:rPr>
                        <a:t>S</a:t>
                      </a:r>
                      <a:r>
                        <a:rPr sz="1100" spc="85" dirty="0">
                          <a:solidFill>
                            <a:srgbClr val="191933"/>
                          </a:solidFill>
                          <a:latin typeface="Calibri"/>
                          <a:cs typeface="Calibri"/>
                        </a:rPr>
                        <a:t>(</a:t>
                      </a:r>
                      <a:r>
                        <a:rPr sz="1100" i="1" spc="85" dirty="0">
                          <a:solidFill>
                            <a:srgbClr val="191933"/>
                          </a:solidFill>
                          <a:latin typeface="Calibri"/>
                          <a:cs typeface="Calibri"/>
                        </a:rPr>
                        <a:t>t</a:t>
                      </a:r>
                      <a:r>
                        <a:rPr sz="1100" spc="85" dirty="0">
                          <a:solidFill>
                            <a:srgbClr val="191933"/>
                          </a:solidFill>
                          <a:latin typeface="Calibri"/>
                          <a:cs typeface="Calibri"/>
                        </a:rPr>
                        <a:t>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T w="12700">
                      <a:solidFill>
                        <a:srgbClr val="191933"/>
                      </a:solidFill>
                      <a:prstDash val="solid"/>
                    </a:lnT>
                    <a:lnB w="9525">
                      <a:solidFill>
                        <a:srgbClr val="19193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100" i="1" spc="100" dirty="0">
                          <a:solidFill>
                            <a:srgbClr val="191933"/>
                          </a:solidFill>
                          <a:latin typeface="Calibri"/>
                          <a:cs typeface="Calibri"/>
                        </a:rPr>
                        <a:t>I</a:t>
                      </a:r>
                      <a:r>
                        <a:rPr sz="1100" spc="100" dirty="0">
                          <a:solidFill>
                            <a:srgbClr val="191933"/>
                          </a:solidFill>
                          <a:latin typeface="Calibri"/>
                          <a:cs typeface="Calibri"/>
                        </a:rPr>
                        <a:t>(</a:t>
                      </a:r>
                      <a:r>
                        <a:rPr sz="1100" i="1" spc="100" dirty="0">
                          <a:solidFill>
                            <a:srgbClr val="191933"/>
                          </a:solidFill>
                          <a:latin typeface="Calibri"/>
                          <a:cs typeface="Calibri"/>
                        </a:rPr>
                        <a:t>t</a:t>
                      </a:r>
                      <a:r>
                        <a:rPr sz="1100" spc="100" dirty="0">
                          <a:solidFill>
                            <a:srgbClr val="191933"/>
                          </a:solidFill>
                          <a:latin typeface="Calibri"/>
                          <a:cs typeface="Calibri"/>
                        </a:rPr>
                        <a:t>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T w="12700">
                      <a:solidFill>
                        <a:srgbClr val="191933"/>
                      </a:solidFill>
                      <a:prstDash val="solid"/>
                    </a:lnT>
                    <a:lnB w="9525">
                      <a:solidFill>
                        <a:srgbClr val="19193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100" i="1" spc="85" dirty="0">
                          <a:solidFill>
                            <a:srgbClr val="191933"/>
                          </a:solidFill>
                          <a:latin typeface="Calibri"/>
                          <a:cs typeface="Calibri"/>
                        </a:rPr>
                        <a:t>R</a:t>
                      </a:r>
                      <a:r>
                        <a:rPr sz="1100" spc="85" dirty="0">
                          <a:solidFill>
                            <a:srgbClr val="191933"/>
                          </a:solidFill>
                          <a:latin typeface="Calibri"/>
                          <a:cs typeface="Calibri"/>
                        </a:rPr>
                        <a:t>(</a:t>
                      </a:r>
                      <a:r>
                        <a:rPr sz="1100" i="1" spc="85" dirty="0">
                          <a:solidFill>
                            <a:srgbClr val="191933"/>
                          </a:solidFill>
                          <a:latin typeface="Calibri"/>
                          <a:cs typeface="Calibri"/>
                        </a:rPr>
                        <a:t>t</a:t>
                      </a:r>
                      <a:r>
                        <a:rPr sz="1100" spc="85" dirty="0">
                          <a:solidFill>
                            <a:srgbClr val="191933"/>
                          </a:solidFill>
                          <a:latin typeface="Calibri"/>
                          <a:cs typeface="Calibri"/>
                        </a:rPr>
                        <a:t>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T w="12700">
                      <a:solidFill>
                        <a:srgbClr val="191933"/>
                      </a:solidFill>
                      <a:prstDash val="solid"/>
                    </a:lnT>
                    <a:lnB w="9525">
                      <a:solidFill>
                        <a:srgbClr val="19193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62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100" spc="-50" dirty="0">
                          <a:solidFill>
                            <a:srgbClr val="191933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24130" marB="0">
                    <a:lnT w="9525">
                      <a:solidFill>
                        <a:srgbClr val="19193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100" spc="-10" dirty="0">
                          <a:solidFill>
                            <a:srgbClr val="191933"/>
                          </a:solidFill>
                          <a:latin typeface="Tahoma"/>
                          <a:cs typeface="Tahoma"/>
                        </a:rPr>
                        <a:t>980.00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24130" marB="0">
                    <a:lnT w="9525">
                      <a:solidFill>
                        <a:srgbClr val="19193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100" spc="-10" dirty="0">
                          <a:solidFill>
                            <a:srgbClr val="191933"/>
                          </a:solidFill>
                          <a:latin typeface="Tahoma"/>
                          <a:cs typeface="Tahoma"/>
                        </a:rPr>
                        <a:t>20.00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24130" marB="0">
                    <a:lnT w="9525">
                      <a:solidFill>
                        <a:srgbClr val="19193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100" spc="-20" dirty="0">
                          <a:solidFill>
                            <a:srgbClr val="191933"/>
                          </a:solidFill>
                          <a:latin typeface="Tahoma"/>
                          <a:cs typeface="Tahoma"/>
                        </a:rPr>
                        <a:t>0.00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24130" marB="0">
                    <a:lnT w="9525">
                      <a:solidFill>
                        <a:srgbClr val="191933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100" spc="-50" dirty="0">
                          <a:solidFill>
                            <a:srgbClr val="191933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100" spc="-10" dirty="0">
                          <a:solidFill>
                            <a:srgbClr val="191933"/>
                          </a:solidFill>
                          <a:latin typeface="Tahoma"/>
                          <a:cs typeface="Tahoma"/>
                        </a:rPr>
                        <a:t>974.12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100" spc="-10" dirty="0">
                          <a:solidFill>
                            <a:srgbClr val="191933"/>
                          </a:solidFill>
                          <a:latin typeface="Tahoma"/>
                          <a:cs typeface="Tahoma"/>
                        </a:rPr>
                        <a:t>24.44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100" spc="-20" dirty="0">
                          <a:solidFill>
                            <a:srgbClr val="191933"/>
                          </a:solidFill>
                          <a:latin typeface="Tahoma"/>
                          <a:cs typeface="Tahoma"/>
                        </a:rPr>
                        <a:t>1.44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100" spc="-50" dirty="0">
                          <a:solidFill>
                            <a:srgbClr val="191933"/>
                          </a:solidFill>
                          <a:latin typeface="Tahoma"/>
                          <a:cs typeface="Tahoma"/>
                        </a:rPr>
                        <a:t>2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100" spc="-10" dirty="0">
                          <a:solidFill>
                            <a:srgbClr val="191933"/>
                          </a:solidFill>
                          <a:latin typeface="Tahoma"/>
                          <a:cs typeface="Tahoma"/>
                        </a:rPr>
                        <a:t>966.99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100" spc="-10" dirty="0">
                          <a:solidFill>
                            <a:srgbClr val="191933"/>
                          </a:solidFill>
                          <a:latin typeface="Tahoma"/>
                          <a:cs typeface="Tahoma"/>
                        </a:rPr>
                        <a:t>29.75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100" spc="-20" dirty="0">
                          <a:solidFill>
                            <a:srgbClr val="191933"/>
                          </a:solidFill>
                          <a:latin typeface="Tahoma"/>
                          <a:cs typeface="Tahoma"/>
                        </a:rPr>
                        <a:t>3.26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100" spc="-50" dirty="0">
                          <a:solidFill>
                            <a:srgbClr val="191933"/>
                          </a:solidFill>
                          <a:latin typeface="Tahoma"/>
                          <a:cs typeface="Tahoma"/>
                        </a:rPr>
                        <a:t>3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100" spc="-10" dirty="0">
                          <a:solidFill>
                            <a:srgbClr val="191933"/>
                          </a:solidFill>
                          <a:latin typeface="Tahoma"/>
                          <a:cs typeface="Tahoma"/>
                        </a:rPr>
                        <a:t>958.17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100" spc="-10" dirty="0">
                          <a:solidFill>
                            <a:srgbClr val="191933"/>
                          </a:solidFill>
                          <a:latin typeface="Tahoma"/>
                          <a:cs typeface="Tahoma"/>
                        </a:rPr>
                        <a:t>35.88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100" spc="-20" dirty="0">
                          <a:solidFill>
                            <a:srgbClr val="191933"/>
                          </a:solidFill>
                          <a:latin typeface="Tahoma"/>
                          <a:cs typeface="Tahoma"/>
                        </a:rPr>
                        <a:t>5.95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100" spc="-50" dirty="0">
                          <a:solidFill>
                            <a:srgbClr val="191933"/>
                          </a:solidFill>
                          <a:latin typeface="Tahoma"/>
                          <a:cs typeface="Tahoma"/>
                        </a:rPr>
                        <a:t>4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100" spc="-10" dirty="0">
                          <a:solidFill>
                            <a:srgbClr val="191933"/>
                          </a:solidFill>
                          <a:latin typeface="Tahoma"/>
                          <a:cs typeface="Tahoma"/>
                        </a:rPr>
                        <a:t>947.94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100" spc="-10" dirty="0">
                          <a:solidFill>
                            <a:srgbClr val="191933"/>
                          </a:solidFill>
                          <a:latin typeface="Tahoma"/>
                          <a:cs typeface="Tahoma"/>
                        </a:rPr>
                        <a:t>42.80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100" spc="-20" dirty="0">
                          <a:solidFill>
                            <a:srgbClr val="191933"/>
                          </a:solidFill>
                          <a:latin typeface="Tahoma"/>
                          <a:cs typeface="Tahoma"/>
                        </a:rPr>
                        <a:t>9.26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100" spc="-50" dirty="0">
                          <a:solidFill>
                            <a:srgbClr val="191933"/>
                          </a:solidFill>
                          <a:latin typeface="Tahoma"/>
                          <a:cs typeface="Tahoma"/>
                        </a:rPr>
                        <a:t>5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100" spc="-10" dirty="0">
                          <a:solidFill>
                            <a:srgbClr val="191933"/>
                          </a:solidFill>
                          <a:latin typeface="Tahoma"/>
                          <a:cs typeface="Tahoma"/>
                        </a:rPr>
                        <a:t>936.56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100" spc="-10" dirty="0">
                          <a:solidFill>
                            <a:srgbClr val="191933"/>
                          </a:solidFill>
                          <a:latin typeface="Tahoma"/>
                          <a:cs typeface="Tahoma"/>
                        </a:rPr>
                        <a:t>50.41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100" spc="-10" dirty="0">
                          <a:solidFill>
                            <a:srgbClr val="191933"/>
                          </a:solidFill>
                          <a:latin typeface="Tahoma"/>
                          <a:cs typeface="Tahoma"/>
                        </a:rPr>
                        <a:t>13.03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100" spc="-50" dirty="0">
                          <a:solidFill>
                            <a:srgbClr val="191933"/>
                          </a:solidFill>
                          <a:latin typeface="Tahoma"/>
                          <a:cs typeface="Tahoma"/>
                        </a:rPr>
                        <a:t>6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100" spc="-10" dirty="0">
                          <a:solidFill>
                            <a:srgbClr val="191933"/>
                          </a:solidFill>
                          <a:latin typeface="Tahoma"/>
                          <a:cs typeface="Tahoma"/>
                        </a:rPr>
                        <a:t>924.16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100" spc="-10" dirty="0">
                          <a:solidFill>
                            <a:srgbClr val="191933"/>
                          </a:solidFill>
                          <a:latin typeface="Tahoma"/>
                          <a:cs typeface="Tahoma"/>
                        </a:rPr>
                        <a:t>58.63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100" spc="-10" dirty="0">
                          <a:solidFill>
                            <a:srgbClr val="191933"/>
                          </a:solidFill>
                          <a:latin typeface="Tahoma"/>
                          <a:cs typeface="Tahoma"/>
                        </a:rPr>
                        <a:t>17.21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100" spc="-50" dirty="0">
                          <a:solidFill>
                            <a:srgbClr val="191933"/>
                          </a:solidFill>
                          <a:latin typeface="Tahoma"/>
                          <a:cs typeface="Tahoma"/>
                        </a:rPr>
                        <a:t>7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100" spc="-10" dirty="0">
                          <a:solidFill>
                            <a:srgbClr val="191933"/>
                          </a:solidFill>
                          <a:latin typeface="Tahoma"/>
                          <a:cs typeface="Tahoma"/>
                        </a:rPr>
                        <a:t>910.86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100" spc="-10" dirty="0">
                          <a:solidFill>
                            <a:srgbClr val="191933"/>
                          </a:solidFill>
                          <a:latin typeface="Tahoma"/>
                          <a:cs typeface="Tahoma"/>
                        </a:rPr>
                        <a:t>67.27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100" spc="-10" dirty="0">
                          <a:solidFill>
                            <a:srgbClr val="191933"/>
                          </a:solidFill>
                          <a:latin typeface="Tahoma"/>
                          <a:cs typeface="Tahoma"/>
                        </a:rPr>
                        <a:t>21.87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100" spc="-50" dirty="0">
                          <a:solidFill>
                            <a:srgbClr val="191933"/>
                          </a:solidFill>
                          <a:latin typeface="Tahoma"/>
                          <a:cs typeface="Tahoma"/>
                        </a:rPr>
                        <a:t>8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100" spc="-10" dirty="0">
                          <a:solidFill>
                            <a:srgbClr val="191933"/>
                          </a:solidFill>
                          <a:latin typeface="Tahoma"/>
                          <a:cs typeface="Tahoma"/>
                        </a:rPr>
                        <a:t>896.70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100" spc="-10" dirty="0">
                          <a:solidFill>
                            <a:srgbClr val="191933"/>
                          </a:solidFill>
                          <a:latin typeface="Tahoma"/>
                          <a:cs typeface="Tahoma"/>
                        </a:rPr>
                        <a:t>76.12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100" spc="-10" dirty="0">
                          <a:solidFill>
                            <a:srgbClr val="191933"/>
                          </a:solidFill>
                          <a:latin typeface="Tahoma"/>
                          <a:cs typeface="Tahoma"/>
                        </a:rPr>
                        <a:t>27.17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100" spc="-50" dirty="0">
                          <a:solidFill>
                            <a:srgbClr val="191933"/>
                          </a:solidFill>
                          <a:latin typeface="Tahoma"/>
                          <a:cs typeface="Tahoma"/>
                        </a:rPr>
                        <a:t>9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100" spc="-10" dirty="0">
                          <a:solidFill>
                            <a:srgbClr val="191933"/>
                          </a:solidFill>
                          <a:latin typeface="Tahoma"/>
                          <a:cs typeface="Tahoma"/>
                        </a:rPr>
                        <a:t>881.67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100" spc="-10" dirty="0">
                          <a:solidFill>
                            <a:srgbClr val="191933"/>
                          </a:solidFill>
                          <a:latin typeface="Tahoma"/>
                          <a:cs typeface="Tahoma"/>
                        </a:rPr>
                        <a:t>84.92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100" spc="-10" dirty="0">
                          <a:solidFill>
                            <a:srgbClr val="191933"/>
                          </a:solidFill>
                          <a:latin typeface="Tahoma"/>
                          <a:cs typeface="Tahoma"/>
                        </a:rPr>
                        <a:t>33.41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100" spc="-25" dirty="0">
                          <a:solidFill>
                            <a:srgbClr val="191933"/>
                          </a:solidFill>
                          <a:latin typeface="Tahoma"/>
                          <a:cs typeface="Tahoma"/>
                        </a:rPr>
                        <a:t>10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100" spc="-10" dirty="0">
                          <a:solidFill>
                            <a:srgbClr val="191933"/>
                          </a:solidFill>
                          <a:latin typeface="Tahoma"/>
                          <a:cs typeface="Tahoma"/>
                        </a:rPr>
                        <a:t>865.75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100" spc="-10" dirty="0">
                          <a:solidFill>
                            <a:srgbClr val="191933"/>
                          </a:solidFill>
                          <a:latin typeface="Tahoma"/>
                          <a:cs typeface="Tahoma"/>
                        </a:rPr>
                        <a:t>93.35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100" spc="-10" dirty="0">
                          <a:solidFill>
                            <a:srgbClr val="191933"/>
                          </a:solidFill>
                          <a:latin typeface="Tahoma"/>
                          <a:cs typeface="Tahoma"/>
                        </a:rPr>
                        <a:t>40.90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100" spc="-25" dirty="0">
                          <a:solidFill>
                            <a:srgbClr val="191933"/>
                          </a:solidFill>
                          <a:latin typeface="Tahoma"/>
                          <a:cs typeface="Tahoma"/>
                        </a:rPr>
                        <a:t>11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100" spc="-10" dirty="0">
                          <a:solidFill>
                            <a:srgbClr val="191933"/>
                          </a:solidFill>
                          <a:latin typeface="Tahoma"/>
                          <a:cs typeface="Tahoma"/>
                        </a:rPr>
                        <a:t>848.88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100" spc="-10" dirty="0">
                          <a:solidFill>
                            <a:srgbClr val="191933"/>
                          </a:solidFill>
                          <a:latin typeface="Tahoma"/>
                          <a:cs typeface="Tahoma"/>
                        </a:rPr>
                        <a:t>101.06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100" spc="-10" dirty="0">
                          <a:solidFill>
                            <a:srgbClr val="191933"/>
                          </a:solidFill>
                          <a:latin typeface="Tahoma"/>
                          <a:cs typeface="Tahoma"/>
                        </a:rPr>
                        <a:t>49.26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2565"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100" spc="-25" dirty="0">
                          <a:solidFill>
                            <a:srgbClr val="191933"/>
                          </a:solidFill>
                          <a:latin typeface="Tahoma"/>
                          <a:cs typeface="Tahoma"/>
                        </a:rPr>
                        <a:t>12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B w="12700">
                      <a:solidFill>
                        <a:srgbClr val="19193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100" spc="-10" dirty="0">
                          <a:solidFill>
                            <a:srgbClr val="191933"/>
                          </a:solidFill>
                          <a:latin typeface="Tahoma"/>
                          <a:cs typeface="Tahoma"/>
                        </a:rPr>
                        <a:t>830.95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B w="12700">
                      <a:solidFill>
                        <a:srgbClr val="19193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100" spc="-10" dirty="0">
                          <a:solidFill>
                            <a:srgbClr val="191933"/>
                          </a:solidFill>
                          <a:latin typeface="Tahoma"/>
                          <a:cs typeface="Tahoma"/>
                        </a:rPr>
                        <a:t>107.64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B w="12700">
                      <a:solidFill>
                        <a:srgbClr val="19193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100" spc="-10" dirty="0">
                          <a:solidFill>
                            <a:srgbClr val="191933"/>
                          </a:solidFill>
                          <a:latin typeface="Tahoma"/>
                          <a:cs typeface="Tahoma"/>
                        </a:rPr>
                        <a:t>58.41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B w="12700">
                      <a:solidFill>
                        <a:srgbClr val="19193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636181" y="3029336"/>
            <a:ext cx="333565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30" dirty="0">
                <a:solidFill>
                  <a:srgbClr val="3399CC"/>
                </a:solidFill>
                <a:latin typeface="Tahoma"/>
                <a:cs typeface="Tahoma"/>
              </a:rPr>
              <a:t>Table:</a:t>
            </a:r>
            <a:r>
              <a:rPr sz="1000" spc="-25" dirty="0">
                <a:solidFill>
                  <a:srgbClr val="3399CC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191933"/>
                </a:solidFill>
                <a:latin typeface="Tahoma"/>
                <a:cs typeface="Tahoma"/>
              </a:rPr>
              <a:t>SIR</a:t>
            </a: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 model</a:t>
            </a:r>
            <a:r>
              <a:rPr sz="10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simulation </a:t>
            </a:r>
            <a:r>
              <a:rPr sz="1000" spc="-30" dirty="0">
                <a:solidFill>
                  <a:srgbClr val="191933"/>
                </a:solidFill>
                <a:latin typeface="Tahoma"/>
                <a:cs typeface="Tahoma"/>
              </a:rPr>
              <a:t>results </a:t>
            </a:r>
            <a:r>
              <a:rPr sz="1000" dirty="0">
                <a:solidFill>
                  <a:srgbClr val="191933"/>
                </a:solidFill>
                <a:latin typeface="Tahoma"/>
                <a:cs typeface="Tahoma"/>
              </a:rPr>
              <a:t>until</a:t>
            </a: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i="1" spc="100" dirty="0">
                <a:solidFill>
                  <a:srgbClr val="191933"/>
                </a:solidFill>
                <a:latin typeface="Calibri"/>
                <a:cs typeface="Calibri"/>
              </a:rPr>
              <a:t>S</a:t>
            </a:r>
            <a:r>
              <a:rPr sz="1000" spc="100" dirty="0">
                <a:solidFill>
                  <a:srgbClr val="191933"/>
                </a:solidFill>
                <a:latin typeface="Calibri"/>
                <a:cs typeface="Calibri"/>
              </a:rPr>
              <a:t>(</a:t>
            </a:r>
            <a:r>
              <a:rPr sz="1000" i="1" spc="100" dirty="0">
                <a:solidFill>
                  <a:srgbClr val="191933"/>
                </a:solidFill>
                <a:latin typeface="Calibri"/>
                <a:cs typeface="Calibri"/>
              </a:rPr>
              <a:t>t</a:t>
            </a:r>
            <a:r>
              <a:rPr sz="1000" spc="100" dirty="0">
                <a:solidFill>
                  <a:srgbClr val="191933"/>
                </a:solidFill>
                <a:latin typeface="Calibri"/>
                <a:cs typeface="Calibri"/>
              </a:rPr>
              <a:t>)</a:t>
            </a:r>
            <a:r>
              <a:rPr sz="1000" spc="6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000" spc="-50" dirty="0">
                <a:solidFill>
                  <a:srgbClr val="191933"/>
                </a:solidFill>
                <a:latin typeface="Tahoma"/>
                <a:cs typeface="Tahoma"/>
              </a:rPr>
              <a:t>approaches</a:t>
            </a: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20" dirty="0">
                <a:solidFill>
                  <a:srgbClr val="191933"/>
                </a:solidFill>
                <a:latin typeface="Tahoma"/>
                <a:cs typeface="Tahoma"/>
              </a:rPr>
              <a:t>zero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7" name="object 7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4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35</a:t>
            </a:r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93</a:t>
            </a:r>
          </a:p>
        </p:txBody>
      </p:sp>
    </p:spTree>
  </p:cSld>
  <p:clrMapOvr>
    <a:masterClrMapping/>
  </p:clrMapOvr>
  <p:transition>
    <p:cut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307340"/>
          </a:xfrm>
          <a:custGeom>
            <a:avLst/>
            <a:gdLst/>
            <a:ahLst/>
            <a:cxnLst/>
            <a:rect l="l" t="t" r="r" b="b"/>
            <a:pathLst>
              <a:path w="4608195" h="307340">
                <a:moveTo>
                  <a:pt x="4608004" y="0"/>
                </a:moveTo>
                <a:lnTo>
                  <a:pt x="0" y="0"/>
                </a:lnTo>
                <a:lnTo>
                  <a:pt x="0" y="307098"/>
                </a:lnTo>
                <a:lnTo>
                  <a:pt x="4608004" y="307098"/>
                </a:lnTo>
                <a:lnTo>
                  <a:pt x="4608004" y="0"/>
                </a:lnTo>
                <a:close/>
              </a:path>
            </a:pathLst>
          </a:custGeom>
          <a:solidFill>
            <a:srgbClr val="33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300" y="51013"/>
            <a:ext cx="139382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Patch</a:t>
            </a:r>
            <a:r>
              <a:rPr sz="12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Management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5844" y="1464562"/>
            <a:ext cx="1640839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Patch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Management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Process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6" name="object 6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4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36</a:t>
            </a:r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93</a:t>
            </a:r>
          </a:p>
        </p:txBody>
      </p:sp>
    </p:spTree>
  </p:cSld>
  <p:clrMapOvr>
    <a:masterClrMapping/>
  </p:clrMapOvr>
  <p:transition>
    <p:cut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1013"/>
            <a:ext cx="250444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Introduction</a:t>
            </a:r>
            <a:r>
              <a:rPr spc="35" dirty="0"/>
              <a:t> </a:t>
            </a:r>
            <a:r>
              <a:rPr dirty="0"/>
              <a:t>to</a:t>
            </a:r>
            <a:r>
              <a:rPr spc="40" dirty="0"/>
              <a:t> </a:t>
            </a:r>
            <a:r>
              <a:rPr dirty="0"/>
              <a:t>Patch</a:t>
            </a:r>
            <a:r>
              <a:rPr spc="40" dirty="0"/>
              <a:t> </a:t>
            </a:r>
            <a:r>
              <a:rPr spc="-10" dirty="0"/>
              <a:t>Management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890587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616837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998941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2381059"/>
            <a:ext cx="65265" cy="6526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02932" y="807134"/>
            <a:ext cx="4079875" cy="185420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 algn="just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Patch</a:t>
            </a:r>
            <a:r>
              <a:rPr sz="1100" spc="6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management</a:t>
            </a:r>
            <a:r>
              <a:rPr sz="1100" spc="5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is</a:t>
            </a:r>
            <a:r>
              <a:rPr sz="1100" spc="6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the</a:t>
            </a:r>
            <a:r>
              <a:rPr sz="1100" spc="6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FF0000"/>
                </a:solidFill>
                <a:latin typeface="Tahoma"/>
                <a:cs typeface="Tahoma"/>
              </a:rPr>
              <a:t>process</a:t>
            </a:r>
            <a:r>
              <a:rPr sz="1100" spc="6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0000"/>
                </a:solidFill>
                <a:latin typeface="Tahoma"/>
                <a:cs typeface="Tahoma"/>
              </a:rPr>
              <a:t>of</a:t>
            </a:r>
            <a:r>
              <a:rPr sz="1100" spc="6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FF0000"/>
                </a:solidFill>
                <a:latin typeface="Tahoma"/>
                <a:cs typeface="Tahoma"/>
              </a:rPr>
              <a:t>applying</a:t>
            </a:r>
            <a:r>
              <a:rPr sz="1100" spc="5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FF0000"/>
                </a:solidFill>
                <a:latin typeface="Tahoma"/>
                <a:cs typeface="Tahoma"/>
              </a:rPr>
              <a:t>updates</a:t>
            </a:r>
            <a:r>
              <a:rPr sz="1100" spc="6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0000"/>
                </a:solidFill>
                <a:latin typeface="Tahoma"/>
                <a:cs typeface="Tahoma"/>
              </a:rPr>
              <a:t>to</a:t>
            </a:r>
            <a:r>
              <a:rPr sz="1100" spc="6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55" dirty="0">
                <a:solidFill>
                  <a:srgbClr val="FF0000"/>
                </a:solidFill>
                <a:latin typeface="Tahoma"/>
                <a:cs typeface="Tahoma"/>
              </a:rPr>
              <a:t>software, </a:t>
            </a:r>
            <a:r>
              <a:rPr sz="1100" spc="-40" dirty="0">
                <a:solidFill>
                  <a:srgbClr val="FF0000"/>
                </a:solidFill>
                <a:latin typeface="Tahoma"/>
                <a:cs typeface="Tahoma"/>
              </a:rPr>
              <a:t>drivers,</a:t>
            </a:r>
            <a:r>
              <a:rPr sz="1100" spc="-5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FF0000"/>
                </a:solidFill>
                <a:latin typeface="Tahoma"/>
                <a:cs typeface="Tahoma"/>
              </a:rPr>
              <a:t>and</a:t>
            </a:r>
            <a:r>
              <a:rPr sz="1100" spc="-4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55" dirty="0">
                <a:solidFill>
                  <a:srgbClr val="FF0000"/>
                </a:solidFill>
                <a:latin typeface="Tahoma"/>
                <a:cs typeface="Tahoma"/>
              </a:rPr>
              <a:t>firmware</a:t>
            </a:r>
            <a:r>
              <a:rPr sz="1100" spc="-3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0000"/>
                </a:solidFill>
                <a:latin typeface="Tahoma"/>
                <a:cs typeface="Tahoma"/>
              </a:rPr>
              <a:t>to</a:t>
            </a:r>
            <a:r>
              <a:rPr sz="1100" spc="-4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FF0000"/>
                </a:solidFill>
                <a:latin typeface="Tahoma"/>
                <a:cs typeface="Tahoma"/>
              </a:rPr>
              <a:t>protect</a:t>
            </a:r>
            <a:r>
              <a:rPr sz="1100" spc="-4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FF0000"/>
                </a:solidFill>
                <a:latin typeface="Tahoma"/>
                <a:cs typeface="Tahoma"/>
              </a:rPr>
              <a:t>against</a:t>
            </a:r>
            <a:r>
              <a:rPr sz="1100" spc="-4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FF0000"/>
                </a:solidFill>
                <a:latin typeface="Tahoma"/>
                <a:cs typeface="Tahoma"/>
              </a:rPr>
              <a:t>vulnerabilities.</a:t>
            </a:r>
            <a:r>
              <a:rPr sz="1100" spc="8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Effective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patch </a:t>
            </a:r>
            <a:r>
              <a:rPr sz="1100" spc="-55" dirty="0">
                <a:solidFill>
                  <a:srgbClr val="191933"/>
                </a:solidFill>
                <a:latin typeface="Tahoma"/>
                <a:cs typeface="Tahoma"/>
              </a:rPr>
              <a:t>management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also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 helps </a:t>
            </a:r>
            <a:r>
              <a:rPr sz="1100" spc="-55" dirty="0">
                <a:solidFill>
                  <a:srgbClr val="191933"/>
                </a:solidFill>
                <a:latin typeface="Tahoma"/>
                <a:cs typeface="Tahoma"/>
              </a:rPr>
              <a:t>ensure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the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best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operating 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performance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of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sys- tems,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boosting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productivity.</a:t>
            </a:r>
            <a:endParaRPr sz="1100">
              <a:latin typeface="Tahoma"/>
              <a:cs typeface="Tahoma"/>
            </a:endParaRPr>
          </a:p>
          <a:p>
            <a:pPr marL="12700" marR="6985" algn="just">
              <a:lnSpc>
                <a:spcPct val="102699"/>
              </a:lnSpc>
              <a:spcBef>
                <a:spcPts val="300"/>
              </a:spcBef>
            </a:pP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Patch 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management</a:t>
            </a:r>
            <a:r>
              <a:rPr sz="1100" spc="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involves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 the</a:t>
            </a:r>
            <a:r>
              <a:rPr sz="1100" spc="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process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 of</a:t>
            </a:r>
            <a:r>
              <a:rPr sz="1100" spc="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distributing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 and</a:t>
            </a:r>
            <a:r>
              <a:rPr sz="1100" spc="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applying 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updates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to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55" dirty="0">
                <a:solidFill>
                  <a:srgbClr val="191933"/>
                </a:solidFill>
                <a:latin typeface="Tahoma"/>
                <a:cs typeface="Tahoma"/>
              </a:rPr>
              <a:t>software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to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correct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vulnerabilities.</a:t>
            </a:r>
            <a:endParaRPr sz="1100">
              <a:latin typeface="Tahoma"/>
              <a:cs typeface="Tahoma"/>
            </a:endParaRPr>
          </a:p>
          <a:p>
            <a:pPr marL="12700" marR="5715" algn="just">
              <a:lnSpc>
                <a:spcPct val="102600"/>
              </a:lnSpc>
              <a:spcBef>
                <a:spcPts val="300"/>
              </a:spcBef>
            </a:pP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Patches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are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crucial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in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 preventing 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worms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and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other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 malware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from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ex- 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ploiting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known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security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flaws.</a:t>
            </a:r>
            <a:endParaRPr sz="1100">
              <a:latin typeface="Tahoma"/>
              <a:cs typeface="Tahoma"/>
            </a:endParaRPr>
          </a:p>
          <a:p>
            <a:pPr marL="12700" marR="6985" algn="just">
              <a:lnSpc>
                <a:spcPct val="102600"/>
              </a:lnSpc>
              <a:spcBef>
                <a:spcPts val="295"/>
              </a:spcBef>
            </a:pPr>
            <a:r>
              <a:rPr sz="1100" spc="-60" dirty="0">
                <a:solidFill>
                  <a:srgbClr val="191933"/>
                </a:solidFill>
                <a:latin typeface="Tahoma"/>
                <a:cs typeface="Tahoma"/>
              </a:rPr>
              <a:t>Regular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patching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65" dirty="0">
                <a:solidFill>
                  <a:srgbClr val="191933"/>
                </a:solidFill>
                <a:latin typeface="Tahoma"/>
                <a:cs typeface="Tahoma"/>
              </a:rPr>
              <a:t>helps</a:t>
            </a:r>
            <a:r>
              <a:rPr sz="1100" spc="-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maintain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191933"/>
                </a:solidFill>
                <a:latin typeface="Tahoma"/>
                <a:cs typeface="Tahoma"/>
              </a:rPr>
              <a:t>the</a:t>
            </a:r>
            <a:r>
              <a:rPr sz="1100" spc="-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integrity,</a:t>
            </a:r>
            <a:r>
              <a:rPr sz="1100" spc="1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confidentiality,</a:t>
            </a:r>
            <a:r>
              <a:rPr sz="1100" spc="1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70" dirty="0">
                <a:solidFill>
                  <a:srgbClr val="191933"/>
                </a:solidFill>
                <a:latin typeface="Tahoma"/>
                <a:cs typeface="Tahoma"/>
              </a:rPr>
              <a:t>and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 avail- ability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of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systems.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9" name="object 9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4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37</a:t>
            </a:r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93</a:t>
            </a:r>
          </a:p>
        </p:txBody>
      </p:sp>
    </p:spTree>
  </p:cSld>
  <p:clrMapOvr>
    <a:masterClrMapping/>
  </p:clrMapOvr>
  <p:transition>
    <p:cut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1013"/>
            <a:ext cx="242443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Importance</a:t>
            </a:r>
            <a:r>
              <a:rPr spc="20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Patch</a:t>
            </a:r>
            <a:r>
              <a:rPr spc="20" dirty="0"/>
              <a:t> </a:t>
            </a:r>
            <a:r>
              <a:rPr spc="-10" dirty="0"/>
              <a:t>Management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028242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410347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792452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2174557"/>
            <a:ext cx="65265" cy="6526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02932" y="944789"/>
            <a:ext cx="4065904" cy="151066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265430">
              <a:lnSpc>
                <a:spcPct val="102600"/>
              </a:lnSpc>
              <a:spcBef>
                <a:spcPts val="55"/>
              </a:spcBef>
            </a:pPr>
            <a:r>
              <a:rPr sz="1100" b="1" spc="-30" dirty="0">
                <a:solidFill>
                  <a:srgbClr val="191933"/>
                </a:solidFill>
                <a:latin typeface="Arial"/>
                <a:cs typeface="Arial"/>
              </a:rPr>
              <a:t>Vulnerability</a:t>
            </a:r>
            <a:r>
              <a:rPr sz="1100" b="1" spc="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-40" dirty="0">
                <a:solidFill>
                  <a:srgbClr val="191933"/>
                </a:solidFill>
                <a:latin typeface="Arial"/>
                <a:cs typeface="Arial"/>
              </a:rPr>
              <a:t>Fixes:</a:t>
            </a:r>
            <a:r>
              <a:rPr sz="1100" b="1" spc="10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Patches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 close security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55" dirty="0">
                <a:solidFill>
                  <a:srgbClr val="191933"/>
                </a:solidFill>
                <a:latin typeface="Tahoma"/>
                <a:cs typeface="Tahoma"/>
              </a:rPr>
              <a:t>gaps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that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70" dirty="0">
                <a:solidFill>
                  <a:srgbClr val="191933"/>
                </a:solidFill>
                <a:latin typeface="Tahoma"/>
                <a:cs typeface="Tahoma"/>
              </a:rPr>
              <a:t>worms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and </a:t>
            </a:r>
            <a:r>
              <a:rPr sz="1100" spc="-55" dirty="0">
                <a:solidFill>
                  <a:srgbClr val="191933"/>
                </a:solidFill>
                <a:latin typeface="Tahoma"/>
                <a:cs typeface="Tahoma"/>
              </a:rPr>
              <a:t>malware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exploit.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02699"/>
              </a:lnSpc>
              <a:spcBef>
                <a:spcPts val="300"/>
              </a:spcBef>
            </a:pPr>
            <a:r>
              <a:rPr sz="1100" b="1" spc="-40" dirty="0">
                <a:solidFill>
                  <a:srgbClr val="191933"/>
                </a:solidFill>
                <a:latin typeface="Arial"/>
                <a:cs typeface="Arial"/>
              </a:rPr>
              <a:t>Compliance:</a:t>
            </a:r>
            <a:r>
              <a:rPr sz="1100" b="1" spc="11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Helps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organizations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meet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regulatory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requirements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(e.g.,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GDPR,</a:t>
            </a:r>
            <a:r>
              <a:rPr sz="1100" spc="8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HIPAA).</a:t>
            </a:r>
            <a:endParaRPr sz="1100">
              <a:latin typeface="Tahoma"/>
              <a:cs typeface="Tahoma"/>
            </a:endParaRPr>
          </a:p>
          <a:p>
            <a:pPr marL="12700" marR="223520">
              <a:lnSpc>
                <a:spcPct val="102600"/>
              </a:lnSpc>
              <a:spcBef>
                <a:spcPts val="300"/>
              </a:spcBef>
            </a:pPr>
            <a:r>
              <a:rPr sz="1100" b="1" spc="-45" dirty="0">
                <a:solidFill>
                  <a:srgbClr val="191933"/>
                </a:solidFill>
                <a:latin typeface="Arial"/>
                <a:cs typeface="Arial"/>
              </a:rPr>
              <a:t>Performance</a:t>
            </a:r>
            <a:r>
              <a:rPr sz="1100" b="1" spc="2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-35" dirty="0">
                <a:solidFill>
                  <a:srgbClr val="191933"/>
                </a:solidFill>
                <a:latin typeface="Arial"/>
                <a:cs typeface="Arial"/>
              </a:rPr>
              <a:t>Improvements:</a:t>
            </a:r>
            <a:r>
              <a:rPr sz="1100" b="1" spc="9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Patches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can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also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 improve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software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stability</a:t>
            </a:r>
            <a:r>
              <a:rPr sz="1100" spc="-6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and</a:t>
            </a:r>
            <a:r>
              <a:rPr sz="1100" spc="-5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performance.</a:t>
            </a:r>
            <a:endParaRPr sz="1100">
              <a:latin typeface="Tahoma"/>
              <a:cs typeface="Tahoma"/>
            </a:endParaRPr>
          </a:p>
          <a:p>
            <a:pPr marL="12700" marR="88900">
              <a:lnSpc>
                <a:spcPct val="102600"/>
              </a:lnSpc>
              <a:spcBef>
                <a:spcPts val="295"/>
              </a:spcBef>
            </a:pPr>
            <a:r>
              <a:rPr sz="1100" b="1" spc="-10" dirty="0">
                <a:solidFill>
                  <a:srgbClr val="191933"/>
                </a:solidFill>
                <a:latin typeface="Arial"/>
                <a:cs typeface="Arial"/>
              </a:rPr>
              <a:t>Minimized</a:t>
            </a:r>
            <a:r>
              <a:rPr sz="1100" b="1" spc="2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191933"/>
                </a:solidFill>
                <a:latin typeface="Arial"/>
                <a:cs typeface="Arial"/>
              </a:rPr>
              <a:t>Downtime:</a:t>
            </a:r>
            <a:r>
              <a:rPr sz="1100" b="1" spc="9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Regular 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patching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can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prevent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major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system 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outages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due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to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exploits.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9" name="object 9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4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38</a:t>
            </a:r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93</a:t>
            </a:r>
          </a:p>
        </p:txBody>
      </p:sp>
    </p:spTree>
  </p:cSld>
  <p:clrMapOvr>
    <a:masterClrMapping/>
  </p:clrMapOvr>
  <p:transition>
    <p:cut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101624"/>
            <a:ext cx="309943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40" dirty="0"/>
              <a:t>Comparison</a:t>
            </a:r>
            <a:r>
              <a:rPr sz="800" spc="5" dirty="0"/>
              <a:t> </a:t>
            </a:r>
            <a:r>
              <a:rPr sz="800" dirty="0"/>
              <a:t>of</a:t>
            </a:r>
            <a:r>
              <a:rPr sz="800" spc="10" dirty="0"/>
              <a:t> </a:t>
            </a:r>
            <a:r>
              <a:rPr sz="800" dirty="0"/>
              <a:t>Patch</a:t>
            </a:r>
            <a:r>
              <a:rPr sz="800" spc="10" dirty="0"/>
              <a:t> </a:t>
            </a:r>
            <a:r>
              <a:rPr sz="800" spc="-10" dirty="0"/>
              <a:t>Management</a:t>
            </a:r>
            <a:r>
              <a:rPr sz="800" spc="5" dirty="0"/>
              <a:t> </a:t>
            </a:r>
            <a:r>
              <a:rPr sz="800" spc="-10" dirty="0"/>
              <a:t>Methods</a:t>
            </a:r>
            <a:r>
              <a:rPr sz="800" spc="10" dirty="0"/>
              <a:t> </a:t>
            </a:r>
            <a:r>
              <a:rPr sz="800" dirty="0"/>
              <a:t>for</a:t>
            </a:r>
            <a:r>
              <a:rPr sz="800" spc="10" dirty="0"/>
              <a:t> </a:t>
            </a:r>
            <a:r>
              <a:rPr sz="800" dirty="0"/>
              <a:t>Worm</a:t>
            </a:r>
            <a:r>
              <a:rPr sz="800" spc="5" dirty="0"/>
              <a:t> </a:t>
            </a:r>
            <a:r>
              <a:rPr sz="800" spc="-10" dirty="0"/>
              <a:t>Prevention</a:t>
            </a:r>
            <a:endParaRPr sz="800"/>
          </a:p>
        </p:txBody>
      </p:sp>
      <p:sp>
        <p:nvSpPr>
          <p:cNvPr id="3" name="object 3"/>
          <p:cNvSpPr/>
          <p:nvPr/>
        </p:nvSpPr>
        <p:spPr>
          <a:xfrm>
            <a:off x="162115" y="408648"/>
            <a:ext cx="4284345" cy="0"/>
          </a:xfrm>
          <a:custGeom>
            <a:avLst/>
            <a:gdLst/>
            <a:ahLst/>
            <a:cxnLst/>
            <a:rect l="l" t="t" r="r" b="b"/>
            <a:pathLst>
              <a:path w="4284345">
                <a:moveTo>
                  <a:pt x="0" y="0"/>
                </a:moveTo>
                <a:lnTo>
                  <a:pt x="4283734" y="0"/>
                </a:lnTo>
              </a:path>
            </a:pathLst>
          </a:custGeom>
          <a:ln w="7285">
            <a:solidFill>
              <a:srgbClr val="1919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27010" y="414665"/>
            <a:ext cx="832485" cy="1054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00" b="1" dirty="0">
                <a:solidFill>
                  <a:srgbClr val="191933"/>
                </a:solidFill>
                <a:latin typeface="Arial"/>
                <a:cs typeface="Arial"/>
              </a:rPr>
              <a:t>Performance</a:t>
            </a:r>
            <a:r>
              <a:rPr sz="500" b="1" spc="36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500" b="1" spc="-10" dirty="0">
                <a:solidFill>
                  <a:srgbClr val="191933"/>
                </a:solidFill>
                <a:latin typeface="Arial"/>
                <a:cs typeface="Arial"/>
              </a:rPr>
              <a:t>Advantages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27903" y="414665"/>
            <a:ext cx="462280" cy="1054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00" b="1" spc="-10" dirty="0">
                <a:solidFill>
                  <a:srgbClr val="191933"/>
                </a:solidFill>
                <a:latin typeface="Arial"/>
                <a:cs typeface="Arial"/>
              </a:rPr>
              <a:t>Disadvantages</a:t>
            </a:r>
            <a:endParaRPr sz="5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74274" y="414665"/>
            <a:ext cx="306705" cy="1054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00" b="1" dirty="0">
                <a:solidFill>
                  <a:srgbClr val="191933"/>
                </a:solidFill>
                <a:latin typeface="Arial"/>
                <a:cs typeface="Arial"/>
              </a:rPr>
              <a:t>Use</a:t>
            </a:r>
            <a:r>
              <a:rPr sz="500" b="1" spc="2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500" b="1" spc="-20" dirty="0">
                <a:solidFill>
                  <a:srgbClr val="191933"/>
                </a:solidFill>
                <a:latin typeface="Arial"/>
                <a:cs typeface="Arial"/>
              </a:rPr>
              <a:t>Case</a:t>
            </a:r>
            <a:endParaRPr sz="5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62115" y="615015"/>
            <a:ext cx="4284345" cy="0"/>
          </a:xfrm>
          <a:custGeom>
            <a:avLst/>
            <a:gdLst/>
            <a:ahLst/>
            <a:cxnLst/>
            <a:rect l="l" t="t" r="r" b="b"/>
            <a:pathLst>
              <a:path w="4284345">
                <a:moveTo>
                  <a:pt x="0" y="0"/>
                </a:moveTo>
                <a:lnTo>
                  <a:pt x="4283734" y="0"/>
                </a:lnTo>
              </a:path>
            </a:pathLst>
          </a:custGeom>
          <a:ln w="4548">
            <a:solidFill>
              <a:srgbClr val="1919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99302" y="414665"/>
            <a:ext cx="853440" cy="389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3699"/>
              </a:lnSpc>
              <a:spcBef>
                <a:spcPts val="100"/>
              </a:spcBef>
              <a:tabLst>
                <a:tab pos="441325" algn="l"/>
              </a:tabLst>
            </a:pPr>
            <a:r>
              <a:rPr sz="500" b="1" spc="-10" dirty="0">
                <a:solidFill>
                  <a:srgbClr val="191933"/>
                </a:solidFill>
                <a:latin typeface="Arial"/>
                <a:cs typeface="Arial"/>
              </a:rPr>
              <a:t>Patch</a:t>
            </a:r>
            <a:r>
              <a:rPr sz="500" b="1" dirty="0">
                <a:solidFill>
                  <a:srgbClr val="191933"/>
                </a:solidFill>
                <a:latin typeface="Arial"/>
                <a:cs typeface="Arial"/>
              </a:rPr>
              <a:t>	</a:t>
            </a:r>
            <a:r>
              <a:rPr sz="500" b="1" spc="-10" dirty="0">
                <a:solidFill>
                  <a:srgbClr val="191933"/>
                </a:solidFill>
                <a:latin typeface="Arial"/>
                <a:cs typeface="Arial"/>
              </a:rPr>
              <a:t>Management</a:t>
            </a:r>
            <a:r>
              <a:rPr sz="500" b="1" spc="50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500" b="1" spc="-10" dirty="0">
                <a:solidFill>
                  <a:srgbClr val="191933"/>
                </a:solidFill>
                <a:latin typeface="Arial"/>
                <a:cs typeface="Arial"/>
              </a:rPr>
              <a:t>Method</a:t>
            </a:r>
            <a:endParaRPr sz="500">
              <a:latin typeface="Arial"/>
              <a:cs typeface="Arial"/>
            </a:endParaRPr>
          </a:p>
          <a:p>
            <a:pPr marL="12700" marR="5080">
              <a:lnSpc>
                <a:spcPct val="103600"/>
              </a:lnSpc>
              <a:spcBef>
                <a:spcPts val="370"/>
              </a:spcBef>
            </a:pP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Automated</a:t>
            </a:r>
            <a:r>
              <a:rPr sz="500" spc="254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Patch</a:t>
            </a:r>
            <a:r>
              <a:rPr sz="500" spc="26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191933"/>
                </a:solidFill>
                <a:latin typeface="Arial MT"/>
                <a:cs typeface="Arial MT"/>
              </a:rPr>
              <a:t>Manage-</a:t>
            </a:r>
            <a:r>
              <a:rPr sz="500" spc="5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ment</a:t>
            </a:r>
            <a:r>
              <a:rPr sz="500" spc="1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191933"/>
                </a:solidFill>
                <a:latin typeface="Arial MT"/>
                <a:cs typeface="Arial MT"/>
              </a:rPr>
              <a:t>Tools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27010" y="619673"/>
            <a:ext cx="164465" cy="1054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00" spc="-20" dirty="0">
                <a:solidFill>
                  <a:srgbClr val="191933"/>
                </a:solidFill>
                <a:latin typeface="Arial MT"/>
                <a:cs typeface="Arial MT"/>
              </a:rPr>
              <a:t>High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81613" y="619673"/>
            <a:ext cx="971550" cy="184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3600"/>
              </a:lnSpc>
              <a:spcBef>
                <a:spcPts val="100"/>
              </a:spcBef>
            </a:pP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Reduces</a:t>
            </a:r>
            <a:r>
              <a:rPr sz="500" spc="1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manual</a:t>
            </a:r>
            <a:r>
              <a:rPr sz="500" spc="1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effort,</a:t>
            </a:r>
            <a:r>
              <a:rPr sz="500" spc="16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191933"/>
                </a:solidFill>
                <a:latin typeface="Arial MT"/>
                <a:cs typeface="Arial MT"/>
              </a:rPr>
              <a:t>ensures</a:t>
            </a:r>
            <a:r>
              <a:rPr sz="500" spc="5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consistency,</a:t>
            </a:r>
            <a:r>
              <a:rPr sz="500" spc="5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fast</a:t>
            </a:r>
            <a:r>
              <a:rPr sz="500" spc="5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191933"/>
                </a:solidFill>
                <a:latin typeface="Arial MT"/>
                <a:cs typeface="Arial MT"/>
              </a:rPr>
              <a:t>deployment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627605" y="619673"/>
            <a:ext cx="972185" cy="263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3699"/>
              </a:lnSpc>
              <a:spcBef>
                <a:spcPts val="100"/>
              </a:spcBef>
            </a:pP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Requires</a:t>
            </a:r>
            <a:r>
              <a:rPr sz="500" spc="39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setup</a:t>
            </a:r>
            <a:r>
              <a:rPr sz="500" spc="39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and</a:t>
            </a:r>
            <a:r>
              <a:rPr sz="500" spc="39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191933"/>
                </a:solidFill>
                <a:latin typeface="Arial MT"/>
                <a:cs typeface="Arial MT"/>
              </a:rPr>
              <a:t>mainte-</a:t>
            </a:r>
            <a:r>
              <a:rPr sz="500" spc="5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nance;</a:t>
            </a:r>
            <a:r>
              <a:rPr sz="500" spc="2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potential</a:t>
            </a:r>
            <a:r>
              <a:rPr sz="500" spc="19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deployment</a:t>
            </a:r>
            <a:r>
              <a:rPr sz="500" spc="19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spc="-25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500" spc="5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faulty</a:t>
            </a:r>
            <a:r>
              <a:rPr sz="500" spc="1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191933"/>
                </a:solidFill>
                <a:latin typeface="Arial MT"/>
                <a:cs typeface="Arial MT"/>
              </a:rPr>
              <a:t>patches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73597" y="619673"/>
            <a:ext cx="735330" cy="1054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35915" algn="l"/>
              </a:tabLst>
            </a:pPr>
            <a:r>
              <a:rPr sz="500" spc="-10" dirty="0">
                <a:solidFill>
                  <a:srgbClr val="191933"/>
                </a:solidFill>
                <a:latin typeface="Arial MT"/>
                <a:cs typeface="Arial MT"/>
              </a:rPr>
              <a:t>Large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	</a:t>
            </a:r>
            <a:r>
              <a:rPr sz="500" spc="-10" dirty="0">
                <a:solidFill>
                  <a:srgbClr val="191933"/>
                </a:solidFill>
                <a:latin typeface="Arial MT"/>
                <a:cs typeface="Arial MT"/>
              </a:rPr>
              <a:t>organizations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73597" y="698651"/>
            <a:ext cx="735330" cy="1054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428625" algn="l"/>
              </a:tabLst>
            </a:pPr>
            <a:r>
              <a:rPr sz="500" spc="-10" dirty="0">
                <a:solidFill>
                  <a:srgbClr val="191933"/>
                </a:solidFill>
                <a:latin typeface="Arial MT"/>
                <a:cs typeface="Arial MT"/>
              </a:rPr>
              <a:t>needing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	</a:t>
            </a:r>
            <a:r>
              <a:rPr sz="500" spc="-10" dirty="0">
                <a:solidFill>
                  <a:srgbClr val="191933"/>
                </a:solidFill>
                <a:latin typeface="Arial MT"/>
                <a:cs typeface="Arial MT"/>
              </a:rPr>
              <a:t>consistent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673597" y="777638"/>
            <a:ext cx="549910" cy="1054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patch</a:t>
            </a:r>
            <a:r>
              <a:rPr sz="500" spc="114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191933"/>
                </a:solidFill>
                <a:latin typeface="Arial MT"/>
                <a:cs typeface="Arial MT"/>
              </a:rPr>
              <a:t>deployment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62115" y="899002"/>
            <a:ext cx="4284345" cy="0"/>
          </a:xfrm>
          <a:custGeom>
            <a:avLst/>
            <a:gdLst/>
            <a:ahLst/>
            <a:cxnLst/>
            <a:rect l="l" t="t" r="r" b="b"/>
            <a:pathLst>
              <a:path w="4284345">
                <a:moveTo>
                  <a:pt x="0" y="0"/>
                </a:moveTo>
                <a:lnTo>
                  <a:pt x="4283734" y="0"/>
                </a:lnTo>
              </a:path>
            </a:pathLst>
          </a:custGeom>
          <a:ln w="4548">
            <a:solidFill>
              <a:srgbClr val="1919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99302" y="903650"/>
            <a:ext cx="853440" cy="184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3699"/>
              </a:lnSpc>
              <a:spcBef>
                <a:spcPts val="100"/>
              </a:spcBef>
            </a:pP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Centralized</a:t>
            </a:r>
            <a:r>
              <a:rPr sz="500" spc="19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Patch</a:t>
            </a:r>
            <a:r>
              <a:rPr sz="500" spc="19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191933"/>
                </a:solidFill>
                <a:latin typeface="Arial MT"/>
                <a:cs typeface="Arial MT"/>
              </a:rPr>
              <a:t>Manage-</a:t>
            </a:r>
            <a:r>
              <a:rPr sz="500" spc="5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spc="-20" dirty="0">
                <a:solidFill>
                  <a:srgbClr val="191933"/>
                </a:solidFill>
                <a:latin typeface="Arial MT"/>
                <a:cs typeface="Arial MT"/>
              </a:rPr>
              <a:t>ment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27010" y="903650"/>
            <a:ext cx="164465" cy="1054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00" spc="-20" dirty="0">
                <a:solidFill>
                  <a:srgbClr val="191933"/>
                </a:solidFill>
                <a:latin typeface="Arial MT"/>
                <a:cs typeface="Arial MT"/>
              </a:rPr>
              <a:t>High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581613" y="903650"/>
            <a:ext cx="972185" cy="263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3699"/>
              </a:lnSpc>
              <a:spcBef>
                <a:spcPts val="100"/>
              </a:spcBef>
            </a:pP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Better</a:t>
            </a:r>
            <a:r>
              <a:rPr sz="500" spc="29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control,</a:t>
            </a:r>
            <a:r>
              <a:rPr sz="500" spc="3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reduced</a:t>
            </a:r>
            <a:r>
              <a:rPr sz="500" spc="29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191933"/>
                </a:solidFill>
                <a:latin typeface="Arial MT"/>
                <a:cs typeface="Arial MT"/>
              </a:rPr>
              <a:t>band-</a:t>
            </a:r>
            <a:r>
              <a:rPr sz="500" spc="5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width</a:t>
            </a:r>
            <a:r>
              <a:rPr sz="500" spc="204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usage,</a:t>
            </a:r>
            <a:r>
              <a:rPr sz="500" spc="2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efficient</a:t>
            </a:r>
            <a:r>
              <a:rPr sz="500" spc="204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191933"/>
                </a:solidFill>
                <a:latin typeface="Arial MT"/>
                <a:cs typeface="Arial MT"/>
              </a:rPr>
              <a:t>manage-</a:t>
            </a:r>
            <a:r>
              <a:rPr sz="500" spc="5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spc="-20" dirty="0">
                <a:solidFill>
                  <a:srgbClr val="191933"/>
                </a:solidFill>
                <a:latin typeface="Arial MT"/>
                <a:cs typeface="Arial MT"/>
              </a:rPr>
              <a:t>ment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627605" y="903650"/>
            <a:ext cx="971550" cy="184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3699"/>
              </a:lnSpc>
              <a:spcBef>
                <a:spcPts val="100"/>
              </a:spcBef>
            </a:pP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Potential</a:t>
            </a:r>
            <a:r>
              <a:rPr sz="500" spc="1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single</a:t>
            </a:r>
            <a:r>
              <a:rPr sz="500" spc="1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point</a:t>
            </a:r>
            <a:r>
              <a:rPr sz="500" spc="1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500" spc="1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191933"/>
                </a:solidFill>
                <a:latin typeface="Arial MT"/>
                <a:cs typeface="Arial MT"/>
              </a:rPr>
              <a:t>failure,</a:t>
            </a:r>
            <a:r>
              <a:rPr sz="500" spc="5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complex</a:t>
            </a:r>
            <a:r>
              <a:rPr sz="500" spc="8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191933"/>
                </a:solidFill>
                <a:latin typeface="Arial MT"/>
                <a:cs typeface="Arial MT"/>
              </a:rPr>
              <a:t>setup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673597" y="903650"/>
            <a:ext cx="735330" cy="263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3699"/>
              </a:lnSpc>
              <a:spcBef>
                <a:spcPts val="100"/>
              </a:spcBef>
            </a:pP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Organizations</a:t>
            </a:r>
            <a:r>
              <a:rPr sz="500" spc="350" dirty="0">
                <a:solidFill>
                  <a:srgbClr val="191933"/>
                </a:solidFill>
                <a:latin typeface="Arial MT"/>
                <a:cs typeface="Arial MT"/>
              </a:rPr>
              <a:t>   </a:t>
            </a:r>
            <a:r>
              <a:rPr sz="500" spc="-20" dirty="0">
                <a:solidFill>
                  <a:srgbClr val="191933"/>
                </a:solidFill>
                <a:latin typeface="Arial MT"/>
                <a:cs typeface="Arial MT"/>
              </a:rPr>
              <a:t>with</a:t>
            </a:r>
            <a:r>
              <a:rPr sz="500" spc="5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many</a:t>
            </a:r>
            <a:r>
              <a:rPr sz="500" spc="1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devices</a:t>
            </a:r>
            <a:r>
              <a:rPr sz="500" spc="15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in</a:t>
            </a:r>
            <a:r>
              <a:rPr sz="500" spc="1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191933"/>
                </a:solidFill>
                <a:latin typeface="Arial MT"/>
                <a:cs typeface="Arial MT"/>
              </a:rPr>
              <a:t>multi-</a:t>
            </a:r>
            <a:r>
              <a:rPr sz="500" spc="5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ple</a:t>
            </a:r>
            <a:r>
              <a:rPr sz="5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191933"/>
                </a:solidFill>
                <a:latin typeface="Arial MT"/>
                <a:cs typeface="Arial MT"/>
              </a:rPr>
              <a:t>locations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62115" y="1182988"/>
            <a:ext cx="4284345" cy="0"/>
          </a:xfrm>
          <a:custGeom>
            <a:avLst/>
            <a:gdLst/>
            <a:ahLst/>
            <a:cxnLst/>
            <a:rect l="l" t="t" r="r" b="b"/>
            <a:pathLst>
              <a:path w="4284345">
                <a:moveTo>
                  <a:pt x="0" y="0"/>
                </a:moveTo>
                <a:lnTo>
                  <a:pt x="4283734" y="0"/>
                </a:lnTo>
              </a:path>
            </a:pathLst>
          </a:custGeom>
          <a:ln w="4548">
            <a:solidFill>
              <a:srgbClr val="1919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199302" y="1187637"/>
            <a:ext cx="853440" cy="184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3699"/>
              </a:lnSpc>
              <a:spcBef>
                <a:spcPts val="100"/>
              </a:spcBef>
            </a:pP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Regular</a:t>
            </a:r>
            <a:r>
              <a:rPr sz="500" spc="18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Patch</a:t>
            </a:r>
            <a:r>
              <a:rPr sz="500" spc="18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Testing</a:t>
            </a:r>
            <a:r>
              <a:rPr sz="500" spc="18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spc="-25" dirty="0">
                <a:solidFill>
                  <a:srgbClr val="191933"/>
                </a:solidFill>
                <a:latin typeface="Arial MT"/>
                <a:cs typeface="Arial MT"/>
              </a:rPr>
              <a:t>and</a:t>
            </a:r>
            <a:r>
              <a:rPr sz="500" spc="5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191933"/>
                </a:solidFill>
                <a:latin typeface="Arial MT"/>
                <a:cs typeface="Arial MT"/>
              </a:rPr>
              <a:t>Validation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127010" y="1187637"/>
            <a:ext cx="264795" cy="1054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00" spc="-10" dirty="0">
                <a:solidFill>
                  <a:srgbClr val="191933"/>
                </a:solidFill>
                <a:latin typeface="Arial MT"/>
                <a:cs typeface="Arial MT"/>
              </a:rPr>
              <a:t>Medium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581613" y="1187637"/>
            <a:ext cx="972185" cy="263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3699"/>
              </a:lnSpc>
              <a:spcBef>
                <a:spcPts val="100"/>
              </a:spcBef>
            </a:pP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Reduces</a:t>
            </a:r>
            <a:r>
              <a:rPr sz="500" spc="40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patch-related</a:t>
            </a:r>
            <a:r>
              <a:rPr sz="500" spc="409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spc="-20" dirty="0">
                <a:solidFill>
                  <a:srgbClr val="191933"/>
                </a:solidFill>
                <a:latin typeface="Arial MT"/>
                <a:cs typeface="Arial MT"/>
              </a:rPr>
              <a:t>issues,</a:t>
            </a:r>
            <a:r>
              <a:rPr sz="500" spc="5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191933"/>
                </a:solidFill>
                <a:latin typeface="Arial MT"/>
                <a:cs typeface="Arial MT"/>
              </a:rPr>
              <a:t>ensures</a:t>
            </a:r>
            <a:r>
              <a:rPr sz="500" spc="1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compatibility</a:t>
            </a:r>
            <a:r>
              <a:rPr sz="500" spc="10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and</a:t>
            </a:r>
            <a:r>
              <a:rPr sz="500" spc="10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191933"/>
                </a:solidFill>
                <a:latin typeface="Arial MT"/>
                <a:cs typeface="Arial MT"/>
              </a:rPr>
              <a:t>stabil-</a:t>
            </a:r>
            <a:r>
              <a:rPr sz="500" spc="5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spc="-25" dirty="0">
                <a:solidFill>
                  <a:srgbClr val="191933"/>
                </a:solidFill>
                <a:latin typeface="Arial MT"/>
                <a:cs typeface="Arial MT"/>
              </a:rPr>
              <a:t>ity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627605" y="1187637"/>
            <a:ext cx="971550" cy="184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3699"/>
              </a:lnSpc>
              <a:spcBef>
                <a:spcPts val="100"/>
              </a:spcBef>
            </a:pP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Slower</a:t>
            </a:r>
            <a:r>
              <a:rPr sz="500" spc="7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deployment,</a:t>
            </a:r>
            <a:r>
              <a:rPr sz="500" spc="8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requires</a:t>
            </a:r>
            <a:r>
              <a:rPr sz="500" spc="7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spc="-25" dirty="0">
                <a:solidFill>
                  <a:srgbClr val="191933"/>
                </a:solidFill>
                <a:latin typeface="Arial MT"/>
                <a:cs typeface="Arial MT"/>
              </a:rPr>
              <a:t>ad-</a:t>
            </a:r>
            <a:r>
              <a:rPr sz="500" spc="5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ditional</a:t>
            </a:r>
            <a:r>
              <a:rPr sz="500" spc="18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191933"/>
                </a:solidFill>
                <a:latin typeface="Arial MT"/>
                <a:cs typeface="Arial MT"/>
              </a:rPr>
              <a:t>resources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673597" y="1187637"/>
            <a:ext cx="735330" cy="263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3699"/>
              </a:lnSpc>
              <a:spcBef>
                <a:spcPts val="100"/>
              </a:spcBef>
            </a:pP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Environments</a:t>
            </a:r>
            <a:r>
              <a:rPr sz="500" spc="6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where</a:t>
            </a:r>
            <a:r>
              <a:rPr sz="500" spc="6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spc="-25" dirty="0">
                <a:solidFill>
                  <a:srgbClr val="191933"/>
                </a:solidFill>
                <a:latin typeface="Arial MT"/>
                <a:cs typeface="Arial MT"/>
              </a:rPr>
              <a:t>up-</a:t>
            </a:r>
            <a:r>
              <a:rPr sz="500" spc="5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time</a:t>
            </a:r>
            <a:r>
              <a:rPr sz="500" spc="3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and</a:t>
            </a:r>
            <a:r>
              <a:rPr sz="500" spc="3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stability</a:t>
            </a:r>
            <a:r>
              <a:rPr sz="500" spc="3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spc="-25" dirty="0">
                <a:solidFill>
                  <a:srgbClr val="191933"/>
                </a:solidFill>
                <a:latin typeface="Arial MT"/>
                <a:cs typeface="Arial MT"/>
              </a:rPr>
              <a:t>are</a:t>
            </a:r>
            <a:r>
              <a:rPr sz="500" spc="5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191933"/>
                </a:solidFill>
                <a:latin typeface="Arial MT"/>
                <a:cs typeface="Arial MT"/>
              </a:rPr>
              <a:t>critical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62115" y="1466974"/>
            <a:ext cx="4284345" cy="0"/>
          </a:xfrm>
          <a:custGeom>
            <a:avLst/>
            <a:gdLst/>
            <a:ahLst/>
            <a:cxnLst/>
            <a:rect l="l" t="t" r="r" b="b"/>
            <a:pathLst>
              <a:path w="4284345">
                <a:moveTo>
                  <a:pt x="0" y="0"/>
                </a:moveTo>
                <a:lnTo>
                  <a:pt x="4283734" y="0"/>
                </a:lnTo>
              </a:path>
            </a:pathLst>
          </a:custGeom>
          <a:ln w="4548">
            <a:solidFill>
              <a:srgbClr val="1919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199302" y="1471623"/>
            <a:ext cx="1189990" cy="184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3699"/>
              </a:lnSpc>
              <a:spcBef>
                <a:spcPts val="100"/>
              </a:spcBef>
            </a:pP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Patch</a:t>
            </a:r>
            <a:r>
              <a:rPr sz="500" spc="235" dirty="0">
                <a:solidFill>
                  <a:srgbClr val="191933"/>
                </a:solidFill>
                <a:latin typeface="Arial MT"/>
                <a:cs typeface="Arial MT"/>
              </a:rPr>
              <a:t> 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Prioritization</a:t>
            </a:r>
            <a:r>
              <a:rPr sz="500" spc="235" dirty="0">
                <a:solidFill>
                  <a:srgbClr val="191933"/>
                </a:solidFill>
                <a:latin typeface="Arial MT"/>
                <a:cs typeface="Arial MT"/>
              </a:rPr>
              <a:t> 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and</a:t>
            </a:r>
            <a:r>
              <a:rPr sz="500" spc="305" dirty="0">
                <a:solidFill>
                  <a:srgbClr val="191933"/>
                </a:solidFill>
                <a:latin typeface="Arial MT"/>
                <a:cs typeface="Arial MT"/>
              </a:rPr>
              <a:t>  </a:t>
            </a:r>
            <a:r>
              <a:rPr sz="500" spc="-10" dirty="0">
                <a:solidFill>
                  <a:srgbClr val="191933"/>
                </a:solidFill>
                <a:latin typeface="Arial MT"/>
                <a:cs typeface="Arial MT"/>
              </a:rPr>
              <a:t>Variable</a:t>
            </a:r>
            <a:r>
              <a:rPr sz="500" spc="5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Risk</a:t>
            </a:r>
            <a:r>
              <a:rPr sz="5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191933"/>
                </a:solidFill>
                <a:latin typeface="Arial MT"/>
                <a:cs typeface="Arial MT"/>
              </a:rPr>
              <a:t>Assessment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581479" y="1471623"/>
            <a:ext cx="971550" cy="184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>
              <a:lnSpc>
                <a:spcPct val="103699"/>
              </a:lnSpc>
              <a:spcBef>
                <a:spcPts val="100"/>
              </a:spcBef>
            </a:pP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Focuses</a:t>
            </a:r>
            <a:r>
              <a:rPr sz="500" spc="2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on</a:t>
            </a:r>
            <a:r>
              <a:rPr sz="500" spc="2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critical</a:t>
            </a:r>
            <a:r>
              <a:rPr sz="500" spc="204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191933"/>
                </a:solidFill>
                <a:latin typeface="Arial MT"/>
                <a:cs typeface="Arial MT"/>
              </a:rPr>
              <a:t>vulnerabili-</a:t>
            </a:r>
            <a:r>
              <a:rPr sz="500" spc="5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ties,</a:t>
            </a:r>
            <a:r>
              <a:rPr sz="500" spc="7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optimized</a:t>
            </a:r>
            <a:r>
              <a:rPr sz="500" spc="7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resource</a:t>
            </a:r>
            <a:r>
              <a:rPr sz="500" spc="8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spc="-25" dirty="0">
                <a:solidFill>
                  <a:srgbClr val="191933"/>
                </a:solidFill>
                <a:latin typeface="Arial MT"/>
                <a:cs typeface="Arial MT"/>
              </a:rPr>
              <a:t>use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627605" y="1471623"/>
            <a:ext cx="972185" cy="184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3699"/>
              </a:lnSpc>
              <a:spcBef>
                <a:spcPts val="100"/>
              </a:spcBef>
            </a:pP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Less</a:t>
            </a:r>
            <a:r>
              <a:rPr sz="500" spc="2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critical</a:t>
            </a:r>
            <a:r>
              <a:rPr sz="500" spc="2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patches</a:t>
            </a:r>
            <a:r>
              <a:rPr sz="500" spc="2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might</a:t>
            </a:r>
            <a:r>
              <a:rPr sz="500" spc="2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spc="-25" dirty="0">
                <a:solidFill>
                  <a:srgbClr val="191933"/>
                </a:solidFill>
                <a:latin typeface="Arial MT"/>
                <a:cs typeface="Arial MT"/>
              </a:rPr>
              <a:t>be</a:t>
            </a:r>
            <a:r>
              <a:rPr sz="500" spc="5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delayed,</a:t>
            </a:r>
            <a:r>
              <a:rPr sz="500" spc="1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potential</a:t>
            </a:r>
            <a:r>
              <a:rPr sz="500" spc="1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191933"/>
                </a:solidFill>
                <a:latin typeface="Arial MT"/>
                <a:cs typeface="Arial MT"/>
              </a:rPr>
              <a:t>exposure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673597" y="1471623"/>
            <a:ext cx="735330" cy="184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3699"/>
              </a:lnSpc>
              <a:spcBef>
                <a:spcPts val="100"/>
              </a:spcBef>
            </a:pP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Security-sensitive</a:t>
            </a:r>
            <a:r>
              <a:rPr sz="500" spc="40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191933"/>
                </a:solidFill>
                <a:latin typeface="Arial MT"/>
                <a:cs typeface="Arial MT"/>
              </a:rPr>
              <a:t>envi-</a:t>
            </a:r>
            <a:r>
              <a:rPr sz="500" spc="5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191933"/>
                </a:solidFill>
                <a:latin typeface="Arial MT"/>
                <a:cs typeface="Arial MT"/>
              </a:rPr>
              <a:t>ronments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162115" y="1671973"/>
            <a:ext cx="4284345" cy="0"/>
          </a:xfrm>
          <a:custGeom>
            <a:avLst/>
            <a:gdLst/>
            <a:ahLst/>
            <a:cxnLst/>
            <a:rect l="l" t="t" r="r" b="b"/>
            <a:pathLst>
              <a:path w="4284345">
                <a:moveTo>
                  <a:pt x="0" y="0"/>
                </a:moveTo>
                <a:lnTo>
                  <a:pt x="4283734" y="0"/>
                </a:lnTo>
              </a:path>
            </a:pathLst>
          </a:custGeom>
          <a:ln w="4548">
            <a:solidFill>
              <a:srgbClr val="1919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199302" y="1676622"/>
            <a:ext cx="854075" cy="184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3699"/>
              </a:lnSpc>
              <a:spcBef>
                <a:spcPts val="100"/>
              </a:spcBef>
            </a:pP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Patch</a:t>
            </a:r>
            <a:r>
              <a:rPr sz="500" spc="3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Management</a:t>
            </a:r>
            <a:r>
              <a:rPr sz="500" spc="3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191933"/>
                </a:solidFill>
                <a:latin typeface="Arial MT"/>
                <a:cs typeface="Arial MT"/>
              </a:rPr>
              <a:t>Policy</a:t>
            </a:r>
            <a:r>
              <a:rPr sz="500" spc="5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and</a:t>
            </a:r>
            <a:r>
              <a:rPr sz="500" spc="5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191933"/>
                </a:solidFill>
                <a:latin typeface="Arial MT"/>
                <a:cs typeface="Arial MT"/>
              </a:rPr>
              <a:t>Compliance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127010" y="1676622"/>
            <a:ext cx="264795" cy="1054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00" spc="-10" dirty="0">
                <a:solidFill>
                  <a:srgbClr val="191933"/>
                </a:solidFill>
                <a:latin typeface="Arial MT"/>
                <a:cs typeface="Arial MT"/>
              </a:rPr>
              <a:t>Medium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581613" y="1676622"/>
            <a:ext cx="972185" cy="263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3699"/>
              </a:lnSpc>
              <a:spcBef>
                <a:spcPts val="100"/>
              </a:spcBef>
            </a:pP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Establishes</a:t>
            </a:r>
            <a:r>
              <a:rPr sz="5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clear</a:t>
            </a:r>
            <a:r>
              <a:rPr sz="5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procedures,</a:t>
            </a:r>
            <a:r>
              <a:rPr sz="5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spc="-25" dirty="0">
                <a:solidFill>
                  <a:srgbClr val="191933"/>
                </a:solidFill>
                <a:latin typeface="Arial MT"/>
                <a:cs typeface="Arial MT"/>
              </a:rPr>
              <a:t>en-</a:t>
            </a:r>
            <a:r>
              <a:rPr sz="500" spc="5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hances</a:t>
            </a:r>
            <a:r>
              <a:rPr sz="500" spc="3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accountability,</a:t>
            </a:r>
            <a:r>
              <a:rPr sz="500" spc="38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191933"/>
                </a:solidFill>
                <a:latin typeface="Arial MT"/>
                <a:cs typeface="Arial MT"/>
              </a:rPr>
              <a:t>ensures</a:t>
            </a:r>
            <a:r>
              <a:rPr sz="500" spc="5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regular</a:t>
            </a:r>
            <a:r>
              <a:rPr sz="500" spc="6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191933"/>
                </a:solidFill>
                <a:latin typeface="Arial MT"/>
                <a:cs typeface="Arial MT"/>
              </a:rPr>
              <a:t>updates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627605" y="1676622"/>
            <a:ext cx="971550" cy="184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3699"/>
              </a:lnSpc>
              <a:spcBef>
                <a:spcPts val="100"/>
              </a:spcBef>
            </a:pP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Requires</a:t>
            </a:r>
            <a:r>
              <a:rPr sz="500" spc="1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audits</a:t>
            </a:r>
            <a:r>
              <a:rPr sz="500" spc="1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and</a:t>
            </a:r>
            <a:r>
              <a:rPr sz="500" spc="1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191933"/>
                </a:solidFill>
                <a:latin typeface="Arial MT"/>
                <a:cs typeface="Arial MT"/>
              </a:rPr>
              <a:t>adherence,</a:t>
            </a:r>
            <a:r>
              <a:rPr sz="500" spc="5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challenging</a:t>
            </a:r>
            <a:r>
              <a:rPr sz="500" spc="1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500" spc="10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191933"/>
                </a:solidFill>
                <a:latin typeface="Arial MT"/>
                <a:cs typeface="Arial MT"/>
              </a:rPr>
              <a:t>enforce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673597" y="1676622"/>
            <a:ext cx="735330" cy="263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3699"/>
              </a:lnSpc>
              <a:spcBef>
                <a:spcPts val="100"/>
              </a:spcBef>
            </a:pP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All</a:t>
            </a:r>
            <a:r>
              <a:rPr sz="500" spc="6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organizations,</a:t>
            </a:r>
            <a:r>
              <a:rPr sz="500" spc="8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191933"/>
                </a:solidFill>
                <a:latin typeface="Arial MT"/>
                <a:cs typeface="Arial MT"/>
              </a:rPr>
              <a:t>partic-</a:t>
            </a:r>
            <a:r>
              <a:rPr sz="500" spc="5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ularly</a:t>
            </a:r>
            <a:r>
              <a:rPr sz="500" spc="3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regulated</a:t>
            </a:r>
            <a:r>
              <a:rPr sz="500" spc="3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191933"/>
                </a:solidFill>
                <a:latin typeface="Arial MT"/>
                <a:cs typeface="Arial MT"/>
              </a:rPr>
              <a:t>indus-</a:t>
            </a:r>
            <a:r>
              <a:rPr sz="500" spc="5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191933"/>
                </a:solidFill>
                <a:latin typeface="Arial MT"/>
                <a:cs typeface="Arial MT"/>
              </a:rPr>
              <a:t>tries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162115" y="1955959"/>
            <a:ext cx="4284345" cy="0"/>
          </a:xfrm>
          <a:custGeom>
            <a:avLst/>
            <a:gdLst/>
            <a:ahLst/>
            <a:cxnLst/>
            <a:rect l="l" t="t" r="r" b="b"/>
            <a:pathLst>
              <a:path w="4284345">
                <a:moveTo>
                  <a:pt x="0" y="0"/>
                </a:moveTo>
                <a:lnTo>
                  <a:pt x="4283734" y="0"/>
                </a:lnTo>
              </a:path>
            </a:pathLst>
          </a:custGeom>
          <a:ln w="4548">
            <a:solidFill>
              <a:srgbClr val="1919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199302" y="1960608"/>
            <a:ext cx="854075" cy="184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3699"/>
              </a:lnSpc>
              <a:spcBef>
                <a:spcPts val="100"/>
              </a:spcBef>
            </a:pP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Vulnerability</a:t>
            </a:r>
            <a:r>
              <a:rPr sz="500" spc="27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Scanning</a:t>
            </a:r>
            <a:r>
              <a:rPr sz="500" spc="27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spc="-25" dirty="0">
                <a:solidFill>
                  <a:srgbClr val="191933"/>
                </a:solidFill>
                <a:latin typeface="Arial MT"/>
                <a:cs typeface="Arial MT"/>
              </a:rPr>
              <a:t>and</a:t>
            </a:r>
            <a:r>
              <a:rPr sz="500" spc="5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Patch</a:t>
            </a:r>
            <a:r>
              <a:rPr sz="500" spc="9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191933"/>
                </a:solidFill>
                <a:latin typeface="Arial MT"/>
                <a:cs typeface="Arial MT"/>
              </a:rPr>
              <a:t>Monitoring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127010" y="1960608"/>
            <a:ext cx="164465" cy="1054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00" spc="-20" dirty="0">
                <a:solidFill>
                  <a:srgbClr val="191933"/>
                </a:solidFill>
                <a:latin typeface="Arial MT"/>
                <a:cs typeface="Arial MT"/>
              </a:rPr>
              <a:t>High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581613" y="1960608"/>
            <a:ext cx="971550" cy="184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3699"/>
              </a:lnSpc>
              <a:spcBef>
                <a:spcPts val="100"/>
              </a:spcBef>
            </a:pP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Early</a:t>
            </a:r>
            <a:r>
              <a:rPr sz="5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detection</a:t>
            </a:r>
            <a:r>
              <a:rPr sz="5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5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191933"/>
                </a:solidFill>
                <a:latin typeface="Arial MT"/>
                <a:cs typeface="Arial MT"/>
              </a:rPr>
              <a:t>vulnerabilities,</a:t>
            </a:r>
            <a:r>
              <a:rPr sz="500" spc="5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191933"/>
                </a:solidFill>
                <a:latin typeface="Arial MT"/>
                <a:cs typeface="Arial MT"/>
              </a:rPr>
              <a:t>ensures</a:t>
            </a:r>
            <a:r>
              <a:rPr sz="500" spc="7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patch</a:t>
            </a:r>
            <a:r>
              <a:rPr sz="500" spc="7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191933"/>
                </a:solidFill>
                <a:latin typeface="Arial MT"/>
                <a:cs typeface="Arial MT"/>
              </a:rPr>
              <a:t>compliance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627605" y="1960608"/>
            <a:ext cx="971550" cy="184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3699"/>
              </a:lnSpc>
              <a:spcBef>
                <a:spcPts val="100"/>
              </a:spcBef>
            </a:pP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False</a:t>
            </a:r>
            <a:r>
              <a:rPr sz="500" spc="37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positives/negatives,</a:t>
            </a:r>
            <a:r>
              <a:rPr sz="500" spc="45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spc="-25" dirty="0">
                <a:solidFill>
                  <a:srgbClr val="191933"/>
                </a:solidFill>
                <a:latin typeface="Arial MT"/>
                <a:cs typeface="Arial MT"/>
              </a:rPr>
              <a:t>un-</a:t>
            </a:r>
            <a:r>
              <a:rPr sz="500" spc="5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191933"/>
                </a:solidFill>
                <a:latin typeface="Arial MT"/>
                <a:cs typeface="Arial MT"/>
              </a:rPr>
              <a:t>necessary</a:t>
            </a:r>
            <a:r>
              <a:rPr sz="5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work</a:t>
            </a:r>
            <a:r>
              <a:rPr sz="5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or</a:t>
            </a:r>
            <a:r>
              <a:rPr sz="5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191933"/>
                </a:solidFill>
                <a:latin typeface="Arial MT"/>
                <a:cs typeface="Arial MT"/>
              </a:rPr>
              <a:t>missed</a:t>
            </a:r>
            <a:r>
              <a:rPr sz="5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191933"/>
                </a:solidFill>
                <a:latin typeface="Arial MT"/>
                <a:cs typeface="Arial MT"/>
              </a:rPr>
              <a:t>threats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673597" y="1960608"/>
            <a:ext cx="735330" cy="184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3699"/>
              </a:lnSpc>
              <a:spcBef>
                <a:spcPts val="100"/>
              </a:spcBef>
            </a:pP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Dynamic</a:t>
            </a:r>
            <a:r>
              <a:rPr sz="500" spc="3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and</a:t>
            </a:r>
            <a:r>
              <a:rPr sz="500" spc="3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191933"/>
                </a:solidFill>
                <a:latin typeface="Arial MT"/>
                <a:cs typeface="Arial MT"/>
              </a:rPr>
              <a:t>evolving</a:t>
            </a:r>
            <a:r>
              <a:rPr sz="500" spc="5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IT</a:t>
            </a:r>
            <a:r>
              <a:rPr sz="500" spc="1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191933"/>
                </a:solidFill>
                <a:latin typeface="Arial MT"/>
                <a:cs typeface="Arial MT"/>
              </a:rPr>
              <a:t>environments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162115" y="2160958"/>
            <a:ext cx="4284345" cy="0"/>
          </a:xfrm>
          <a:custGeom>
            <a:avLst/>
            <a:gdLst/>
            <a:ahLst/>
            <a:cxnLst/>
            <a:rect l="l" t="t" r="r" b="b"/>
            <a:pathLst>
              <a:path w="4284345">
                <a:moveTo>
                  <a:pt x="0" y="0"/>
                </a:moveTo>
                <a:lnTo>
                  <a:pt x="4283734" y="0"/>
                </a:lnTo>
              </a:path>
            </a:pathLst>
          </a:custGeom>
          <a:ln w="4548">
            <a:solidFill>
              <a:srgbClr val="1919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199302" y="2165607"/>
            <a:ext cx="853440" cy="184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3699"/>
              </a:lnSpc>
              <a:spcBef>
                <a:spcPts val="100"/>
              </a:spcBef>
            </a:pP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Third-Party</a:t>
            </a:r>
            <a:r>
              <a:rPr sz="500" spc="2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Patch</a:t>
            </a:r>
            <a:r>
              <a:rPr sz="500" spc="2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191933"/>
                </a:solidFill>
                <a:latin typeface="Arial MT"/>
                <a:cs typeface="Arial MT"/>
              </a:rPr>
              <a:t>Manage-</a:t>
            </a:r>
            <a:r>
              <a:rPr sz="500" spc="5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spc="-20" dirty="0">
                <a:solidFill>
                  <a:srgbClr val="191933"/>
                </a:solidFill>
                <a:latin typeface="Arial MT"/>
                <a:cs typeface="Arial MT"/>
              </a:rPr>
              <a:t>ment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127010" y="2165607"/>
            <a:ext cx="164465" cy="1054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00" spc="-20" dirty="0">
                <a:solidFill>
                  <a:srgbClr val="191933"/>
                </a:solidFill>
                <a:latin typeface="Arial MT"/>
                <a:cs typeface="Arial MT"/>
              </a:rPr>
              <a:t>High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581613" y="2165607"/>
            <a:ext cx="972185" cy="184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3699"/>
              </a:lnSpc>
              <a:spcBef>
                <a:spcPts val="100"/>
              </a:spcBef>
            </a:pP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Comprehensive</a:t>
            </a:r>
            <a:r>
              <a:rPr sz="500" spc="254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security</a:t>
            </a:r>
            <a:r>
              <a:rPr sz="500" spc="254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191933"/>
                </a:solidFill>
                <a:latin typeface="Arial MT"/>
                <a:cs typeface="Arial MT"/>
              </a:rPr>
              <a:t>cover-</a:t>
            </a:r>
            <a:r>
              <a:rPr sz="500" spc="5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age,</a:t>
            </a:r>
            <a:r>
              <a:rPr sz="500" spc="6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reduces</a:t>
            </a:r>
            <a:r>
              <a:rPr sz="500" spc="6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attack</a:t>
            </a:r>
            <a:r>
              <a:rPr sz="500" spc="6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191933"/>
                </a:solidFill>
                <a:latin typeface="Arial MT"/>
                <a:cs typeface="Arial MT"/>
              </a:rPr>
              <a:t>surface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627605" y="2165607"/>
            <a:ext cx="972185" cy="184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3699"/>
              </a:lnSpc>
              <a:spcBef>
                <a:spcPts val="100"/>
              </a:spcBef>
            </a:pP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Complexity</a:t>
            </a:r>
            <a:r>
              <a:rPr sz="500" spc="7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in</a:t>
            </a:r>
            <a:r>
              <a:rPr sz="500" spc="7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managing</a:t>
            </a:r>
            <a:r>
              <a:rPr sz="500" spc="7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191933"/>
                </a:solidFill>
                <a:latin typeface="Arial MT"/>
                <a:cs typeface="Arial MT"/>
              </a:rPr>
              <a:t>patches</a:t>
            </a:r>
            <a:r>
              <a:rPr sz="500" spc="5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for</a:t>
            </a:r>
            <a:r>
              <a:rPr sz="5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various</a:t>
            </a:r>
            <a:r>
              <a:rPr sz="500" spc="6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software</a:t>
            </a:r>
            <a:r>
              <a:rPr sz="5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191933"/>
                </a:solidFill>
                <a:latin typeface="Arial MT"/>
                <a:cs typeface="Arial MT"/>
              </a:rPr>
              <a:t>vendors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3673597" y="2165607"/>
            <a:ext cx="735330" cy="263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3699"/>
              </a:lnSpc>
              <a:spcBef>
                <a:spcPts val="100"/>
              </a:spcBef>
            </a:pP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Organizations</a:t>
            </a:r>
            <a:r>
              <a:rPr sz="500" spc="37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using</a:t>
            </a:r>
            <a:r>
              <a:rPr sz="500" spc="37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spc="-5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500" spc="5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wide</a:t>
            </a:r>
            <a:r>
              <a:rPr sz="500" spc="38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range</a:t>
            </a:r>
            <a:r>
              <a:rPr sz="500" spc="38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500" spc="38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191933"/>
                </a:solidFill>
                <a:latin typeface="Arial MT"/>
                <a:cs typeface="Arial MT"/>
              </a:rPr>
              <a:t>third-</a:t>
            </a:r>
            <a:r>
              <a:rPr sz="500" spc="5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party</a:t>
            </a:r>
            <a:r>
              <a:rPr sz="500" spc="9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191933"/>
                </a:solidFill>
                <a:latin typeface="Arial MT"/>
                <a:cs typeface="Arial MT"/>
              </a:rPr>
              <a:t>software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162115" y="2444944"/>
            <a:ext cx="4284345" cy="0"/>
          </a:xfrm>
          <a:custGeom>
            <a:avLst/>
            <a:gdLst/>
            <a:ahLst/>
            <a:cxnLst/>
            <a:rect l="l" t="t" r="r" b="b"/>
            <a:pathLst>
              <a:path w="4284345">
                <a:moveTo>
                  <a:pt x="0" y="0"/>
                </a:moveTo>
                <a:lnTo>
                  <a:pt x="4283734" y="0"/>
                </a:lnTo>
              </a:path>
            </a:pathLst>
          </a:custGeom>
          <a:ln w="4548">
            <a:solidFill>
              <a:srgbClr val="1919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199302" y="2449593"/>
            <a:ext cx="853440" cy="184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3699"/>
              </a:lnSpc>
              <a:spcBef>
                <a:spcPts val="100"/>
              </a:spcBef>
            </a:pP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Emergency</a:t>
            </a:r>
            <a:r>
              <a:rPr sz="500" spc="3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Patch</a:t>
            </a:r>
            <a:r>
              <a:rPr sz="500" spc="3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191933"/>
                </a:solidFill>
                <a:latin typeface="Arial MT"/>
                <a:cs typeface="Arial MT"/>
              </a:rPr>
              <a:t>Deploy-</a:t>
            </a:r>
            <a:r>
              <a:rPr sz="500" spc="5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ment</a:t>
            </a:r>
            <a:r>
              <a:rPr sz="500" spc="1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191933"/>
                </a:solidFill>
                <a:latin typeface="Arial MT"/>
                <a:cs typeface="Arial MT"/>
              </a:rPr>
              <a:t>Protocol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127010" y="2449593"/>
            <a:ext cx="380365" cy="184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3699"/>
              </a:lnSpc>
              <a:spcBef>
                <a:spcPts val="100"/>
              </a:spcBef>
            </a:pP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High</a:t>
            </a:r>
            <a:r>
              <a:rPr sz="500" spc="3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191933"/>
                </a:solidFill>
                <a:latin typeface="Arial MT"/>
                <a:cs typeface="Arial MT"/>
              </a:rPr>
              <a:t>(criti-</a:t>
            </a:r>
            <a:r>
              <a:rPr sz="500" spc="5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spc="-20" dirty="0">
                <a:solidFill>
                  <a:srgbClr val="191933"/>
                </a:solidFill>
                <a:latin typeface="Arial MT"/>
                <a:cs typeface="Arial MT"/>
              </a:rPr>
              <a:t>cal)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581613" y="2449593"/>
            <a:ext cx="971550" cy="263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3699"/>
              </a:lnSpc>
              <a:spcBef>
                <a:spcPts val="100"/>
              </a:spcBef>
            </a:pP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Quick</a:t>
            </a:r>
            <a:r>
              <a:rPr sz="500" spc="5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191933"/>
                </a:solidFill>
                <a:latin typeface="Arial MT"/>
                <a:cs typeface="Arial MT"/>
              </a:rPr>
              <a:t>response</a:t>
            </a:r>
            <a:r>
              <a:rPr sz="500" spc="5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5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critical</a:t>
            </a:r>
            <a:r>
              <a:rPr sz="500" spc="5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191933"/>
                </a:solidFill>
                <a:latin typeface="Arial MT"/>
                <a:cs typeface="Arial MT"/>
              </a:rPr>
              <a:t>vulner-</a:t>
            </a:r>
            <a:r>
              <a:rPr sz="500" spc="5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abilities,</a:t>
            </a:r>
            <a:r>
              <a:rPr sz="500" spc="1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reduces</a:t>
            </a:r>
            <a:r>
              <a:rPr sz="500" spc="1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exposure</a:t>
            </a:r>
            <a:r>
              <a:rPr sz="500" spc="1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spc="-20" dirty="0">
                <a:solidFill>
                  <a:srgbClr val="191933"/>
                </a:solidFill>
                <a:latin typeface="Arial MT"/>
                <a:cs typeface="Arial MT"/>
              </a:rPr>
              <a:t>win-</a:t>
            </a:r>
            <a:r>
              <a:rPr sz="500" spc="5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spc="-25" dirty="0">
                <a:solidFill>
                  <a:srgbClr val="191933"/>
                </a:solidFill>
                <a:latin typeface="Arial MT"/>
                <a:cs typeface="Arial MT"/>
              </a:rPr>
              <a:t>dow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2627605" y="2449593"/>
            <a:ext cx="971550" cy="184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3699"/>
              </a:lnSpc>
              <a:spcBef>
                <a:spcPts val="100"/>
              </a:spcBef>
            </a:pP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Potential</a:t>
            </a:r>
            <a:r>
              <a:rPr sz="500" spc="3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disruption,</a:t>
            </a:r>
            <a:r>
              <a:rPr sz="500" spc="434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high</a:t>
            </a:r>
            <a:r>
              <a:rPr sz="500" spc="37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spc="-25" dirty="0">
                <a:solidFill>
                  <a:srgbClr val="191933"/>
                </a:solidFill>
                <a:latin typeface="Arial MT"/>
                <a:cs typeface="Arial MT"/>
              </a:rPr>
              <a:t>ur-</a:t>
            </a:r>
            <a:r>
              <a:rPr sz="500" spc="5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gency</a:t>
            </a:r>
            <a:r>
              <a:rPr sz="5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requires</a:t>
            </a:r>
            <a:r>
              <a:rPr sz="5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191933"/>
                </a:solidFill>
                <a:latin typeface="Arial MT"/>
                <a:cs typeface="Arial MT"/>
              </a:rPr>
              <a:t>readiness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3673597" y="2449593"/>
            <a:ext cx="735330" cy="184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3699"/>
              </a:lnSpc>
              <a:spcBef>
                <a:spcPts val="100"/>
              </a:spcBef>
            </a:pP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High</a:t>
            </a:r>
            <a:r>
              <a:rPr sz="500" spc="17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exposure</a:t>
            </a:r>
            <a:r>
              <a:rPr sz="500" spc="17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500" spc="17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191933"/>
                </a:solidFill>
                <a:latin typeface="Arial MT"/>
                <a:cs typeface="Arial MT"/>
              </a:rPr>
              <a:t>zero-</a:t>
            </a:r>
            <a:r>
              <a:rPr sz="500" spc="5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day</a:t>
            </a:r>
            <a:r>
              <a:rPr sz="5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191933"/>
                </a:solidFill>
                <a:latin typeface="Arial MT"/>
                <a:cs typeface="Arial MT"/>
              </a:rPr>
              <a:t>vulnerabilities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162115" y="2728930"/>
            <a:ext cx="4284345" cy="0"/>
          </a:xfrm>
          <a:custGeom>
            <a:avLst/>
            <a:gdLst/>
            <a:ahLst/>
            <a:cxnLst/>
            <a:rect l="l" t="t" r="r" b="b"/>
            <a:pathLst>
              <a:path w="4284345">
                <a:moveTo>
                  <a:pt x="0" y="0"/>
                </a:moveTo>
                <a:lnTo>
                  <a:pt x="4283734" y="0"/>
                </a:lnTo>
              </a:path>
            </a:pathLst>
          </a:custGeom>
          <a:ln w="4548">
            <a:solidFill>
              <a:srgbClr val="1919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 txBox="1"/>
          <p:nvPr/>
        </p:nvSpPr>
        <p:spPr>
          <a:xfrm>
            <a:off x="199302" y="2733579"/>
            <a:ext cx="854075" cy="184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3699"/>
              </a:lnSpc>
              <a:spcBef>
                <a:spcPts val="100"/>
              </a:spcBef>
            </a:pP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Cloud-Based</a:t>
            </a:r>
            <a:r>
              <a:rPr sz="500" spc="409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Patch</a:t>
            </a:r>
            <a:r>
              <a:rPr sz="500" spc="409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spc="-20" dirty="0">
                <a:solidFill>
                  <a:srgbClr val="191933"/>
                </a:solidFill>
                <a:latin typeface="Arial MT"/>
                <a:cs typeface="Arial MT"/>
              </a:rPr>
              <a:t>Man-</a:t>
            </a:r>
            <a:r>
              <a:rPr sz="500" spc="5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agement</a:t>
            </a:r>
            <a:r>
              <a:rPr sz="500" spc="8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191933"/>
                </a:solidFill>
                <a:latin typeface="Arial MT"/>
                <a:cs typeface="Arial MT"/>
              </a:rPr>
              <a:t>Solutions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1127010" y="2733579"/>
            <a:ext cx="164465" cy="1054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00" spc="-20" dirty="0">
                <a:solidFill>
                  <a:srgbClr val="191933"/>
                </a:solidFill>
                <a:latin typeface="Arial MT"/>
                <a:cs typeface="Arial MT"/>
              </a:rPr>
              <a:t>High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1581613" y="2733579"/>
            <a:ext cx="971550" cy="184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3699"/>
              </a:lnSpc>
              <a:spcBef>
                <a:spcPts val="100"/>
              </a:spcBef>
            </a:pP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Scalability,</a:t>
            </a:r>
            <a:r>
              <a:rPr sz="500" spc="5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remote</a:t>
            </a:r>
            <a:r>
              <a:rPr sz="5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191933"/>
                </a:solidFill>
                <a:latin typeface="Arial MT"/>
                <a:cs typeface="Arial MT"/>
              </a:rPr>
              <a:t>management,</a:t>
            </a:r>
            <a:r>
              <a:rPr sz="500" spc="5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reduced</a:t>
            </a:r>
            <a:r>
              <a:rPr sz="500" spc="7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on-prem</a:t>
            </a:r>
            <a:r>
              <a:rPr sz="500" spc="7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191933"/>
                </a:solidFill>
                <a:latin typeface="Arial MT"/>
                <a:cs typeface="Arial MT"/>
              </a:rPr>
              <a:t>infrastructure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2627605" y="2733579"/>
            <a:ext cx="972185" cy="184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3699"/>
              </a:lnSpc>
              <a:spcBef>
                <a:spcPts val="100"/>
              </a:spcBef>
            </a:pP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Dependence</a:t>
            </a:r>
            <a:r>
              <a:rPr sz="500" spc="6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on</a:t>
            </a:r>
            <a:r>
              <a:rPr sz="500" spc="7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internet</a:t>
            </a:r>
            <a:r>
              <a:rPr sz="500" spc="7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191933"/>
                </a:solidFill>
                <a:latin typeface="Arial MT"/>
                <a:cs typeface="Arial MT"/>
              </a:rPr>
              <a:t>connec-</a:t>
            </a:r>
            <a:r>
              <a:rPr sz="500" spc="5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tivity,</a:t>
            </a:r>
            <a:r>
              <a:rPr sz="500" spc="1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potential</a:t>
            </a:r>
            <a:r>
              <a:rPr sz="500" spc="1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latency</a:t>
            </a:r>
            <a:r>
              <a:rPr sz="500" spc="1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191933"/>
                </a:solidFill>
                <a:latin typeface="Arial MT"/>
                <a:cs typeface="Arial MT"/>
              </a:rPr>
              <a:t>issues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3673597" y="2733579"/>
            <a:ext cx="735330" cy="263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3699"/>
              </a:lnSpc>
              <a:spcBef>
                <a:spcPts val="100"/>
              </a:spcBef>
            </a:pP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Remote</a:t>
            </a:r>
            <a:r>
              <a:rPr sz="500" spc="3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or</a:t>
            </a:r>
            <a:r>
              <a:rPr sz="500" spc="3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191933"/>
                </a:solidFill>
                <a:latin typeface="Arial MT"/>
                <a:cs typeface="Arial MT"/>
              </a:rPr>
              <a:t>geographi-</a:t>
            </a:r>
            <a:r>
              <a:rPr sz="500" spc="5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cally</a:t>
            </a:r>
            <a:r>
              <a:rPr sz="500" spc="3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dispersed</a:t>
            </a:r>
            <a:r>
              <a:rPr sz="500" spc="3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191933"/>
                </a:solidFill>
                <a:latin typeface="Arial MT"/>
                <a:cs typeface="Arial MT"/>
              </a:rPr>
              <a:t>infras-</a:t>
            </a:r>
            <a:r>
              <a:rPr sz="500" spc="5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191933"/>
                </a:solidFill>
                <a:latin typeface="Arial MT"/>
                <a:cs typeface="Arial MT"/>
              </a:rPr>
              <a:t>tructure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162115" y="3012917"/>
            <a:ext cx="4284345" cy="0"/>
          </a:xfrm>
          <a:custGeom>
            <a:avLst/>
            <a:gdLst/>
            <a:ahLst/>
            <a:cxnLst/>
            <a:rect l="l" t="t" r="r" b="b"/>
            <a:pathLst>
              <a:path w="4284345">
                <a:moveTo>
                  <a:pt x="0" y="0"/>
                </a:moveTo>
                <a:lnTo>
                  <a:pt x="4283734" y="0"/>
                </a:lnTo>
              </a:path>
            </a:pathLst>
          </a:custGeom>
          <a:ln w="4548">
            <a:solidFill>
              <a:srgbClr val="1919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 txBox="1"/>
          <p:nvPr/>
        </p:nvSpPr>
        <p:spPr>
          <a:xfrm>
            <a:off x="199302" y="3017565"/>
            <a:ext cx="854075" cy="184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3600"/>
              </a:lnSpc>
              <a:spcBef>
                <a:spcPts val="100"/>
              </a:spcBef>
            </a:pP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End-User</a:t>
            </a:r>
            <a:r>
              <a:rPr sz="500" spc="39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Awareness</a:t>
            </a:r>
            <a:r>
              <a:rPr sz="500" spc="39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spc="-25" dirty="0">
                <a:solidFill>
                  <a:srgbClr val="191933"/>
                </a:solidFill>
                <a:latin typeface="Arial MT"/>
                <a:cs typeface="Arial MT"/>
              </a:rPr>
              <a:t>and</a:t>
            </a:r>
            <a:r>
              <a:rPr sz="500" spc="5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191933"/>
                </a:solidFill>
                <a:latin typeface="Arial MT"/>
                <a:cs typeface="Arial MT"/>
              </a:rPr>
              <a:t>Training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1377447" y="3017565"/>
            <a:ext cx="130175" cy="1054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00" spc="-20" dirty="0">
                <a:solidFill>
                  <a:srgbClr val="191933"/>
                </a:solidFill>
                <a:latin typeface="Arial MT"/>
                <a:cs typeface="Arial MT"/>
              </a:rPr>
              <a:t>(di-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1127010" y="3017565"/>
            <a:ext cx="215265" cy="184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3600"/>
              </a:lnSpc>
              <a:spcBef>
                <a:spcPts val="100"/>
              </a:spcBef>
            </a:pPr>
            <a:r>
              <a:rPr sz="500" spc="-25" dirty="0">
                <a:solidFill>
                  <a:srgbClr val="191933"/>
                </a:solidFill>
                <a:latin typeface="Arial MT"/>
                <a:cs typeface="Arial MT"/>
              </a:rPr>
              <a:t>Low</a:t>
            </a:r>
            <a:r>
              <a:rPr sz="500" spc="5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191933"/>
                </a:solidFill>
                <a:latin typeface="Arial MT"/>
                <a:cs typeface="Arial MT"/>
              </a:rPr>
              <a:t>rectly)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1581613" y="3017565"/>
            <a:ext cx="971550" cy="184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3600"/>
              </a:lnSpc>
              <a:spcBef>
                <a:spcPts val="100"/>
              </a:spcBef>
            </a:pP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Enhances</a:t>
            </a:r>
            <a:r>
              <a:rPr sz="500" spc="254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security</a:t>
            </a:r>
            <a:r>
              <a:rPr sz="500" spc="254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culture,</a:t>
            </a:r>
            <a:r>
              <a:rPr sz="500" spc="30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spc="-25" dirty="0">
                <a:solidFill>
                  <a:srgbClr val="191933"/>
                </a:solidFill>
                <a:latin typeface="Arial MT"/>
                <a:cs typeface="Arial MT"/>
              </a:rPr>
              <a:t>re-</a:t>
            </a:r>
            <a:r>
              <a:rPr sz="500" spc="5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duces</a:t>
            </a:r>
            <a:r>
              <a:rPr sz="5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risk</a:t>
            </a:r>
            <a:r>
              <a:rPr sz="5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5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delayed</a:t>
            </a:r>
            <a:r>
              <a:rPr sz="5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191933"/>
                </a:solidFill>
                <a:latin typeface="Arial MT"/>
                <a:cs typeface="Arial MT"/>
              </a:rPr>
              <a:t>updates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2627605" y="3017565"/>
            <a:ext cx="972185" cy="263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3699"/>
              </a:lnSpc>
              <a:spcBef>
                <a:spcPts val="100"/>
              </a:spcBef>
            </a:pP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Relies</a:t>
            </a:r>
            <a:r>
              <a:rPr sz="500" spc="1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on</a:t>
            </a:r>
            <a:r>
              <a:rPr sz="500" spc="1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user</a:t>
            </a:r>
            <a:r>
              <a:rPr sz="500" spc="1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participation,</a:t>
            </a:r>
            <a:r>
              <a:rPr sz="500" spc="1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spc="-25" dirty="0">
                <a:solidFill>
                  <a:srgbClr val="191933"/>
                </a:solidFill>
                <a:latin typeface="Arial MT"/>
                <a:cs typeface="Arial MT"/>
              </a:rPr>
              <a:t>in-</a:t>
            </a:r>
            <a:r>
              <a:rPr sz="500" spc="5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direct</a:t>
            </a:r>
            <a:r>
              <a:rPr sz="500" spc="2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impact</a:t>
            </a:r>
            <a:r>
              <a:rPr sz="500" spc="2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on</a:t>
            </a:r>
            <a:r>
              <a:rPr sz="500" spc="2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patch</a:t>
            </a:r>
            <a:r>
              <a:rPr sz="500" spc="2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191933"/>
                </a:solidFill>
                <a:latin typeface="Arial MT"/>
                <a:cs typeface="Arial MT"/>
              </a:rPr>
              <a:t>perfor-</a:t>
            </a:r>
            <a:r>
              <a:rPr sz="500" spc="5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spc="-20" dirty="0">
                <a:solidFill>
                  <a:srgbClr val="191933"/>
                </a:solidFill>
                <a:latin typeface="Arial MT"/>
                <a:cs typeface="Arial MT"/>
              </a:rPr>
              <a:t>mance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3673597" y="3017565"/>
            <a:ext cx="735330" cy="184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3600"/>
              </a:lnSpc>
              <a:spcBef>
                <a:spcPts val="100"/>
              </a:spcBef>
            </a:pP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Any</a:t>
            </a:r>
            <a:r>
              <a:rPr sz="500" spc="8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organization</a:t>
            </a:r>
            <a:r>
              <a:rPr sz="500" spc="8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191933"/>
                </a:solidFill>
                <a:latin typeface="Arial MT"/>
                <a:cs typeface="Arial MT"/>
              </a:rPr>
              <a:t>aiming</a:t>
            </a:r>
            <a:r>
              <a:rPr sz="500" spc="5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for</a:t>
            </a:r>
            <a:r>
              <a:rPr sz="500" spc="10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191933"/>
                </a:solidFill>
                <a:latin typeface="Arial MT"/>
                <a:cs typeface="Arial MT"/>
              </a:rPr>
              <a:t>holistic</a:t>
            </a:r>
            <a:r>
              <a:rPr sz="500" spc="1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191933"/>
                </a:solidFill>
                <a:latin typeface="Arial MT"/>
                <a:cs typeface="Arial MT"/>
              </a:rPr>
              <a:t>security</a:t>
            </a:r>
            <a:endParaRPr sz="500">
              <a:latin typeface="Arial MT"/>
              <a:cs typeface="Arial MT"/>
            </a:endParaRPr>
          </a:p>
        </p:txBody>
      </p:sp>
      <p:grpSp>
        <p:nvGrpSpPr>
          <p:cNvPr id="69" name="object 69"/>
          <p:cNvGrpSpPr/>
          <p:nvPr/>
        </p:nvGrpSpPr>
        <p:grpSpPr>
          <a:xfrm>
            <a:off x="0" y="3294620"/>
            <a:ext cx="4608195" cy="161925"/>
            <a:chOff x="0" y="3294620"/>
            <a:chExt cx="4608195" cy="161925"/>
          </a:xfrm>
        </p:grpSpPr>
        <p:sp>
          <p:nvSpPr>
            <p:cNvPr id="70" name="object 70"/>
            <p:cNvSpPr/>
            <p:nvPr/>
          </p:nvSpPr>
          <p:spPr>
            <a:xfrm>
              <a:off x="162115" y="3298263"/>
              <a:ext cx="4284345" cy="0"/>
            </a:xfrm>
            <a:custGeom>
              <a:avLst/>
              <a:gdLst/>
              <a:ahLst/>
              <a:cxnLst/>
              <a:rect l="l" t="t" r="r" b="b"/>
              <a:pathLst>
                <a:path w="4284345">
                  <a:moveTo>
                    <a:pt x="0" y="0"/>
                  </a:moveTo>
                  <a:lnTo>
                    <a:pt x="4283734" y="0"/>
                  </a:lnTo>
                </a:path>
              </a:pathLst>
            </a:custGeom>
            <a:ln w="7285">
              <a:solidFill>
                <a:srgbClr val="1919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4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39</a:t>
            </a:r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93</a:t>
            </a:r>
          </a:p>
        </p:txBody>
      </p:sp>
    </p:spTree>
  </p:cSld>
  <p:clrMapOvr>
    <a:masterClrMapping/>
  </p:clrMapOvr>
  <p:transition>
    <p:cut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1013"/>
            <a:ext cx="343471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Patch</a:t>
            </a:r>
            <a:r>
              <a:rPr spc="-15" dirty="0"/>
              <a:t> </a:t>
            </a:r>
            <a:r>
              <a:rPr spc="-10" dirty="0"/>
              <a:t>Management Methods and </a:t>
            </a:r>
            <a:r>
              <a:rPr spc="-35" dirty="0"/>
              <a:t>Example</a:t>
            </a:r>
            <a:r>
              <a:rPr spc="-10" dirty="0"/>
              <a:t> </a:t>
            </a:r>
            <a:r>
              <a:rPr spc="-25" dirty="0"/>
              <a:t>Tools</a:t>
            </a:r>
          </a:p>
        </p:txBody>
      </p:sp>
      <p:sp>
        <p:nvSpPr>
          <p:cNvPr id="3" name="object 3"/>
          <p:cNvSpPr/>
          <p:nvPr/>
        </p:nvSpPr>
        <p:spPr>
          <a:xfrm>
            <a:off x="172173" y="410540"/>
            <a:ext cx="4264025" cy="0"/>
          </a:xfrm>
          <a:custGeom>
            <a:avLst/>
            <a:gdLst/>
            <a:ahLst/>
            <a:cxnLst/>
            <a:rect l="l" t="t" r="r" b="b"/>
            <a:pathLst>
              <a:path w="4264025">
                <a:moveTo>
                  <a:pt x="0" y="0"/>
                </a:moveTo>
                <a:lnTo>
                  <a:pt x="4263656" y="0"/>
                </a:lnTo>
              </a:path>
            </a:pathLst>
          </a:custGeom>
          <a:ln w="11087">
            <a:solidFill>
              <a:srgbClr val="1919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35381" y="426325"/>
            <a:ext cx="26530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964055" algn="l"/>
              </a:tabLst>
            </a:pP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Patch </a:t>
            </a:r>
            <a:r>
              <a:rPr sz="800" b="1" spc="-10" dirty="0">
                <a:solidFill>
                  <a:srgbClr val="191933"/>
                </a:solidFill>
                <a:latin typeface="Arial"/>
                <a:cs typeface="Arial"/>
              </a:rPr>
              <a:t>Management</a:t>
            </a:r>
            <a:r>
              <a:rPr sz="800" b="1" spc="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191933"/>
                </a:solidFill>
                <a:latin typeface="Arial"/>
                <a:cs typeface="Arial"/>
              </a:rPr>
              <a:t>Method</a:t>
            </a: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	</a:t>
            </a:r>
            <a:r>
              <a:rPr sz="800" b="1" spc="-30" dirty="0">
                <a:solidFill>
                  <a:srgbClr val="191933"/>
                </a:solidFill>
                <a:latin typeface="Arial"/>
                <a:cs typeface="Arial"/>
              </a:rPr>
              <a:t>Example</a:t>
            </a: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30" dirty="0">
                <a:solidFill>
                  <a:srgbClr val="191933"/>
                </a:solidFill>
                <a:latin typeface="Arial"/>
                <a:cs typeface="Arial"/>
              </a:rPr>
              <a:t>Tools</a:t>
            </a:r>
            <a:endParaRPr sz="8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72173" y="604393"/>
            <a:ext cx="4264025" cy="0"/>
          </a:xfrm>
          <a:custGeom>
            <a:avLst/>
            <a:gdLst/>
            <a:ahLst/>
            <a:cxnLst/>
            <a:rect l="l" t="t" r="r" b="b"/>
            <a:pathLst>
              <a:path w="4264025">
                <a:moveTo>
                  <a:pt x="0" y="0"/>
                </a:moveTo>
                <a:lnTo>
                  <a:pt x="4263656" y="0"/>
                </a:lnTo>
              </a:path>
            </a:pathLst>
          </a:custGeom>
          <a:ln w="6921">
            <a:solidFill>
              <a:srgbClr val="1919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35381" y="618107"/>
            <a:ext cx="171577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Automated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Patch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Management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Tools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87219" y="618107"/>
            <a:ext cx="2186305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>
              <a:lnSpc>
                <a:spcPts val="950"/>
              </a:lnSpc>
              <a:spcBef>
                <a:spcPts val="135"/>
              </a:spcBef>
            </a:pP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Microsoft</a:t>
            </a:r>
            <a:r>
              <a:rPr sz="800" spc="204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SCCM,</a:t>
            </a:r>
            <a:r>
              <a:rPr sz="800" spc="2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SolarWinds</a:t>
            </a:r>
            <a:r>
              <a:rPr sz="800" spc="2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Patch</a:t>
            </a:r>
            <a:r>
              <a:rPr sz="800" spc="204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Manager,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Ivanti</a:t>
            </a:r>
            <a:r>
              <a:rPr sz="8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Patch</a:t>
            </a:r>
            <a:r>
              <a:rPr sz="800" spc="6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Management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72173" y="916381"/>
            <a:ext cx="4264025" cy="0"/>
          </a:xfrm>
          <a:custGeom>
            <a:avLst/>
            <a:gdLst/>
            <a:ahLst/>
            <a:cxnLst/>
            <a:rect l="l" t="t" r="r" b="b"/>
            <a:pathLst>
              <a:path w="4264025">
                <a:moveTo>
                  <a:pt x="0" y="0"/>
                </a:moveTo>
                <a:lnTo>
                  <a:pt x="4263656" y="0"/>
                </a:lnTo>
              </a:path>
            </a:pathLst>
          </a:custGeom>
          <a:ln w="6921">
            <a:solidFill>
              <a:srgbClr val="1919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35381" y="930083"/>
            <a:ext cx="14401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Centralized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Patch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Management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87219" y="930083"/>
            <a:ext cx="2186305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>
              <a:lnSpc>
                <a:spcPts val="950"/>
              </a:lnSpc>
              <a:spcBef>
                <a:spcPts val="135"/>
              </a:spcBef>
            </a:pP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IBM</a:t>
            </a:r>
            <a:r>
              <a:rPr sz="800" spc="409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BigFix,</a:t>
            </a:r>
            <a:r>
              <a:rPr sz="800" spc="140" dirty="0">
                <a:solidFill>
                  <a:srgbClr val="191933"/>
                </a:solidFill>
                <a:latin typeface="Arial MT"/>
                <a:cs typeface="Arial MT"/>
              </a:rPr>
              <a:t> 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ManageEngine</a:t>
            </a:r>
            <a:r>
              <a:rPr sz="800" spc="4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Patch</a:t>
            </a:r>
            <a:r>
              <a:rPr sz="800" spc="4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Manager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Plus, Windows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Server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 Update</a:t>
            </a:r>
            <a:r>
              <a:rPr sz="8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Services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(WSUS)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72173" y="1228356"/>
            <a:ext cx="4264025" cy="0"/>
          </a:xfrm>
          <a:custGeom>
            <a:avLst/>
            <a:gdLst/>
            <a:ahLst/>
            <a:cxnLst/>
            <a:rect l="l" t="t" r="r" b="b"/>
            <a:pathLst>
              <a:path w="4264025">
                <a:moveTo>
                  <a:pt x="0" y="0"/>
                </a:moveTo>
                <a:lnTo>
                  <a:pt x="4263656" y="0"/>
                </a:lnTo>
              </a:path>
            </a:pathLst>
          </a:custGeom>
          <a:ln w="6921">
            <a:solidFill>
              <a:srgbClr val="1919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35381" y="1242058"/>
            <a:ext cx="170942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Regular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 Patch</a:t>
            </a:r>
            <a:r>
              <a:rPr sz="8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Testing and</a:t>
            </a:r>
            <a:r>
              <a:rPr sz="8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Validation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187219" y="1242058"/>
            <a:ext cx="2185035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>
              <a:lnSpc>
                <a:spcPts val="950"/>
              </a:lnSpc>
              <a:spcBef>
                <a:spcPts val="135"/>
              </a:spcBef>
            </a:pP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Qualys</a:t>
            </a:r>
            <a:r>
              <a:rPr sz="800" spc="36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Patch</a:t>
            </a:r>
            <a:r>
              <a:rPr sz="800" spc="37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Management,</a:t>
            </a:r>
            <a:r>
              <a:rPr sz="800" spc="459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GFI</a:t>
            </a:r>
            <a:r>
              <a:rPr sz="800" spc="37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LanGuard,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 Ivanti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Security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Controls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72173" y="1540332"/>
            <a:ext cx="4264025" cy="0"/>
          </a:xfrm>
          <a:custGeom>
            <a:avLst/>
            <a:gdLst/>
            <a:ahLst/>
            <a:cxnLst/>
            <a:rect l="l" t="t" r="r" b="b"/>
            <a:pathLst>
              <a:path w="4264025">
                <a:moveTo>
                  <a:pt x="0" y="0"/>
                </a:moveTo>
                <a:lnTo>
                  <a:pt x="4263656" y="0"/>
                </a:lnTo>
              </a:path>
            </a:pathLst>
          </a:custGeom>
          <a:ln w="6921">
            <a:solidFill>
              <a:srgbClr val="1919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35381" y="1554047"/>
            <a:ext cx="182562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Patch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Prioritization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5" dirty="0">
                <a:solidFill>
                  <a:srgbClr val="191933"/>
                </a:solidFill>
                <a:latin typeface="Arial MT"/>
                <a:cs typeface="Arial MT"/>
              </a:rPr>
              <a:t>and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Risk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Assessment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187374" y="1554047"/>
            <a:ext cx="174053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Rapid7</a:t>
            </a:r>
            <a:r>
              <a:rPr sz="8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InsightVM,</a:t>
            </a:r>
            <a:r>
              <a:rPr sz="8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5" dirty="0">
                <a:solidFill>
                  <a:srgbClr val="191933"/>
                </a:solidFill>
                <a:latin typeface="Arial MT"/>
                <a:cs typeface="Arial MT"/>
              </a:rPr>
              <a:t>Nessus,</a:t>
            </a:r>
            <a:r>
              <a:rPr sz="8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Tenable.sc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72173" y="1732115"/>
            <a:ext cx="4264025" cy="0"/>
          </a:xfrm>
          <a:custGeom>
            <a:avLst/>
            <a:gdLst/>
            <a:ahLst/>
            <a:cxnLst/>
            <a:rect l="l" t="t" r="r" b="b"/>
            <a:pathLst>
              <a:path w="4264025">
                <a:moveTo>
                  <a:pt x="0" y="0"/>
                </a:moveTo>
                <a:lnTo>
                  <a:pt x="4263656" y="0"/>
                </a:lnTo>
              </a:path>
            </a:pathLst>
          </a:custGeom>
          <a:ln w="6921">
            <a:solidFill>
              <a:srgbClr val="1919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235381" y="1745817"/>
            <a:ext cx="1826260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>
              <a:lnSpc>
                <a:spcPts val="950"/>
              </a:lnSpc>
              <a:spcBef>
                <a:spcPts val="135"/>
              </a:spcBef>
            </a:pP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Patch</a:t>
            </a:r>
            <a:r>
              <a:rPr sz="800" spc="7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Management</a:t>
            </a:r>
            <a:r>
              <a:rPr sz="800" spc="8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Policy</a:t>
            </a:r>
            <a:r>
              <a:rPr sz="800" spc="7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and</a:t>
            </a:r>
            <a:r>
              <a:rPr sz="800" spc="8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Compli-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ance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187219" y="1745817"/>
            <a:ext cx="2185670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>
              <a:lnSpc>
                <a:spcPts val="950"/>
              </a:lnSpc>
              <a:spcBef>
                <a:spcPts val="135"/>
              </a:spcBef>
            </a:pP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Microsoft</a:t>
            </a:r>
            <a:r>
              <a:rPr sz="800" spc="1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SCCM,</a:t>
            </a:r>
            <a:r>
              <a:rPr sz="800" spc="1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Symantec</a:t>
            </a:r>
            <a:r>
              <a:rPr sz="800" spc="1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Endpoint</a:t>
            </a:r>
            <a:r>
              <a:rPr sz="800" spc="1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Manage-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 ment,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Qualys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Patch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Management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72173" y="2044090"/>
            <a:ext cx="4264025" cy="0"/>
          </a:xfrm>
          <a:custGeom>
            <a:avLst/>
            <a:gdLst/>
            <a:ahLst/>
            <a:cxnLst/>
            <a:rect l="l" t="t" r="r" b="b"/>
            <a:pathLst>
              <a:path w="4264025">
                <a:moveTo>
                  <a:pt x="0" y="0"/>
                </a:moveTo>
                <a:lnTo>
                  <a:pt x="4263656" y="0"/>
                </a:lnTo>
              </a:path>
            </a:pathLst>
          </a:custGeom>
          <a:ln w="6921">
            <a:solidFill>
              <a:srgbClr val="1919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235381" y="2057805"/>
            <a:ext cx="1825625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>
              <a:lnSpc>
                <a:spcPts val="950"/>
              </a:lnSpc>
              <a:spcBef>
                <a:spcPts val="135"/>
              </a:spcBef>
            </a:pP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Vulnerability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Scanning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and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Patch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Moni- toring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187219" y="2057805"/>
            <a:ext cx="2185035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>
              <a:lnSpc>
                <a:spcPts val="950"/>
              </a:lnSpc>
              <a:spcBef>
                <a:spcPts val="135"/>
              </a:spcBef>
              <a:tabLst>
                <a:tab pos="1838960" algn="l"/>
              </a:tabLst>
            </a:pP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Qualys</a:t>
            </a:r>
            <a:r>
              <a:rPr sz="800" spc="180" dirty="0">
                <a:solidFill>
                  <a:srgbClr val="191933"/>
                </a:solidFill>
                <a:latin typeface="Arial MT"/>
                <a:cs typeface="Arial MT"/>
              </a:rPr>
              <a:t> 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Vulnerability</a:t>
            </a:r>
            <a:r>
              <a:rPr sz="800" spc="185" dirty="0">
                <a:solidFill>
                  <a:srgbClr val="191933"/>
                </a:solidFill>
                <a:latin typeface="Arial MT"/>
                <a:cs typeface="Arial MT"/>
              </a:rPr>
              <a:t> 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Management,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	</a:t>
            </a:r>
            <a:r>
              <a:rPr sz="800" spc="-45" dirty="0">
                <a:solidFill>
                  <a:srgbClr val="191933"/>
                </a:solidFill>
                <a:latin typeface="Arial MT"/>
                <a:cs typeface="Arial MT"/>
              </a:rPr>
              <a:t>Nessus,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 OpenVAS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72173" y="2356078"/>
            <a:ext cx="4264025" cy="0"/>
          </a:xfrm>
          <a:custGeom>
            <a:avLst/>
            <a:gdLst/>
            <a:ahLst/>
            <a:cxnLst/>
            <a:rect l="l" t="t" r="r" b="b"/>
            <a:pathLst>
              <a:path w="4264025">
                <a:moveTo>
                  <a:pt x="0" y="0"/>
                </a:moveTo>
                <a:lnTo>
                  <a:pt x="4263656" y="0"/>
                </a:lnTo>
              </a:path>
            </a:pathLst>
          </a:custGeom>
          <a:ln w="6921">
            <a:solidFill>
              <a:srgbClr val="1919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235381" y="2369780"/>
            <a:ext cx="145859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Third-Party</a:t>
            </a:r>
            <a:r>
              <a:rPr sz="800" spc="9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Patch</a:t>
            </a:r>
            <a:r>
              <a:rPr sz="800" spc="9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Management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187219" y="2369780"/>
            <a:ext cx="2185670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>
              <a:lnSpc>
                <a:spcPts val="950"/>
              </a:lnSpc>
              <a:spcBef>
                <a:spcPts val="135"/>
              </a:spcBef>
            </a:pP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SolarWinds</a:t>
            </a:r>
            <a:r>
              <a:rPr sz="800" spc="3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Patch</a:t>
            </a:r>
            <a:r>
              <a:rPr sz="800" spc="35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Manager,</a:t>
            </a:r>
            <a:r>
              <a:rPr sz="800" spc="4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GFI</a:t>
            </a:r>
            <a:r>
              <a:rPr sz="800" spc="3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LanGuard,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 ManageEngine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Patch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Manager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Plus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72173" y="2668054"/>
            <a:ext cx="4264025" cy="0"/>
          </a:xfrm>
          <a:custGeom>
            <a:avLst/>
            <a:gdLst/>
            <a:ahLst/>
            <a:cxnLst/>
            <a:rect l="l" t="t" r="r" b="b"/>
            <a:pathLst>
              <a:path w="4264025">
                <a:moveTo>
                  <a:pt x="0" y="0"/>
                </a:moveTo>
                <a:lnTo>
                  <a:pt x="4263656" y="0"/>
                </a:lnTo>
              </a:path>
            </a:pathLst>
          </a:custGeom>
          <a:ln w="6921">
            <a:solidFill>
              <a:srgbClr val="1919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235381" y="2681756"/>
            <a:ext cx="179832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Emergency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Patch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Deployment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Protocol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187219" y="2681756"/>
            <a:ext cx="2185670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>
              <a:lnSpc>
                <a:spcPts val="950"/>
              </a:lnSpc>
              <a:spcBef>
                <a:spcPts val="135"/>
              </a:spcBef>
            </a:pP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IBM</a:t>
            </a:r>
            <a:r>
              <a:rPr sz="8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BigFix,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Automox,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Symantec</a:t>
            </a:r>
            <a:r>
              <a:rPr sz="8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Endpoint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Man-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agement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72173" y="2980029"/>
            <a:ext cx="4264025" cy="0"/>
          </a:xfrm>
          <a:custGeom>
            <a:avLst/>
            <a:gdLst/>
            <a:ahLst/>
            <a:cxnLst/>
            <a:rect l="l" t="t" r="r" b="b"/>
            <a:pathLst>
              <a:path w="4264025">
                <a:moveTo>
                  <a:pt x="0" y="0"/>
                </a:moveTo>
                <a:lnTo>
                  <a:pt x="4263656" y="0"/>
                </a:lnTo>
              </a:path>
            </a:pathLst>
          </a:custGeom>
          <a:ln w="6921">
            <a:solidFill>
              <a:srgbClr val="1919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235381" y="2993744"/>
            <a:ext cx="1826260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>
              <a:lnSpc>
                <a:spcPts val="950"/>
              </a:lnSpc>
              <a:spcBef>
                <a:spcPts val="135"/>
              </a:spcBef>
            </a:pP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Cloud-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Based</a:t>
            </a:r>
            <a:r>
              <a:rPr sz="800" spc="1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Patch</a:t>
            </a:r>
            <a:r>
              <a:rPr sz="800" spc="1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Management</a:t>
            </a:r>
            <a:r>
              <a:rPr sz="800" spc="1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Solu-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tions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187219" y="2993744"/>
            <a:ext cx="2185670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>
              <a:lnSpc>
                <a:spcPts val="950"/>
              </a:lnSpc>
              <a:spcBef>
                <a:spcPts val="135"/>
              </a:spcBef>
            </a:pP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Automox,</a:t>
            </a:r>
            <a:r>
              <a:rPr sz="800" spc="9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Qualys</a:t>
            </a:r>
            <a:r>
              <a:rPr sz="800" spc="8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Cloud</a:t>
            </a:r>
            <a:r>
              <a:rPr sz="800" spc="8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Platform,</a:t>
            </a:r>
            <a:r>
              <a:rPr sz="800" spc="9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Microsoft</a:t>
            </a:r>
            <a:r>
              <a:rPr sz="800" spc="8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In-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 tune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172173" y="3292018"/>
            <a:ext cx="4264025" cy="0"/>
          </a:xfrm>
          <a:custGeom>
            <a:avLst/>
            <a:gdLst/>
            <a:ahLst/>
            <a:cxnLst/>
            <a:rect l="l" t="t" r="r" b="b"/>
            <a:pathLst>
              <a:path w="4264025">
                <a:moveTo>
                  <a:pt x="0" y="0"/>
                </a:moveTo>
                <a:lnTo>
                  <a:pt x="4263656" y="0"/>
                </a:lnTo>
              </a:path>
            </a:pathLst>
          </a:custGeom>
          <a:ln w="6921">
            <a:solidFill>
              <a:srgbClr val="1919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3" name="object 33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34" name="object 34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4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248081" y="3342611"/>
            <a:ext cx="3018155" cy="1028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765"/>
              </a:lnSpc>
              <a:tabLst>
                <a:tab pos="1951989" algn="l"/>
              </a:tabLst>
            </a:pP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End-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User </a:t>
            </a:r>
            <a:r>
              <a:rPr sz="800" spc="-35" dirty="0">
                <a:solidFill>
                  <a:srgbClr val="191933"/>
                </a:solidFill>
                <a:latin typeface="Arial MT"/>
                <a:cs typeface="Arial MT"/>
              </a:rPr>
              <a:t>Awareness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 and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Training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	KnowBe4,</a:t>
            </a:r>
            <a:r>
              <a:rPr sz="800" spc="-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Infosec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 IQ, </a:t>
            </a:r>
            <a:r>
              <a:rPr sz="800" spc="-80" dirty="0">
                <a:solidFill>
                  <a:srgbClr val="191933"/>
                </a:solidFill>
                <a:latin typeface="Arial MT"/>
                <a:cs typeface="Arial MT"/>
              </a:rPr>
              <a:t>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265842" y="3342611"/>
            <a:ext cx="1094105" cy="1028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765"/>
              </a:lnSpc>
            </a:pP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Security</a:t>
            </a:r>
            <a:r>
              <a:rPr sz="800" spc="-5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800" spc="-5" dirty="0">
                <a:solidFill>
                  <a:srgbClr val="191933"/>
                </a:solidFill>
                <a:latin typeface="Arial MT"/>
                <a:cs typeface="Arial MT"/>
              </a:rPr>
              <a:t>w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renes</a:t>
            </a:r>
            <a:r>
              <a:rPr sz="800" spc="-9770" dirty="0">
                <a:solidFill>
                  <a:srgbClr val="191933"/>
                </a:solidFill>
                <a:latin typeface="Arial MT"/>
                <a:cs typeface="Arial MT"/>
              </a:rPr>
              <a:t>s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ANS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40</a:t>
            </a:r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93</a:t>
            </a:r>
          </a:p>
        </p:txBody>
      </p:sp>
    </p:spTree>
  </p:cSld>
  <p:clrMapOvr>
    <a:masterClrMapping/>
  </p:clrMapOvr>
  <p:transition>
    <p:cut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1013"/>
            <a:ext cx="106680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0" dirty="0"/>
              <a:t>Scenario</a:t>
            </a:r>
            <a:r>
              <a:rPr spc="5" dirty="0"/>
              <a:t> </a:t>
            </a:r>
            <a:r>
              <a:rPr spc="-25" dirty="0"/>
              <a:t>Setup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997877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207909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417942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627975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2010079"/>
            <a:ext cx="65265" cy="6526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1089" y="2392184"/>
            <a:ext cx="65265" cy="65265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b="1" spc="-10" dirty="0">
                <a:latin typeface="Arial"/>
                <a:cs typeface="Arial"/>
              </a:rPr>
              <a:t>Network</a:t>
            </a:r>
            <a:r>
              <a:rPr b="1" spc="-40" dirty="0">
                <a:latin typeface="Arial"/>
                <a:cs typeface="Arial"/>
              </a:rPr>
              <a:t> </a:t>
            </a:r>
            <a:r>
              <a:rPr b="1" spc="-20" dirty="0">
                <a:latin typeface="Arial"/>
                <a:cs typeface="Arial"/>
              </a:rPr>
              <a:t>Size:</a:t>
            </a:r>
            <a:r>
              <a:rPr b="1" spc="50" dirty="0">
                <a:latin typeface="Arial"/>
                <a:cs typeface="Arial"/>
              </a:rPr>
              <a:t> </a:t>
            </a:r>
            <a:r>
              <a:rPr spc="-50" dirty="0"/>
              <a:t>1000</a:t>
            </a:r>
            <a:r>
              <a:rPr spc="-35" dirty="0"/>
              <a:t> </a:t>
            </a:r>
            <a:r>
              <a:rPr spc="-10" dirty="0"/>
              <a:t>computers</a:t>
            </a: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b="1" dirty="0">
                <a:latin typeface="Arial"/>
                <a:cs typeface="Arial"/>
              </a:rPr>
              <a:t>Initial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Worm</a:t>
            </a:r>
            <a:r>
              <a:rPr b="1" spc="-5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Infection:</a:t>
            </a:r>
            <a:r>
              <a:rPr b="1" spc="55" dirty="0">
                <a:latin typeface="Arial"/>
                <a:cs typeface="Arial"/>
              </a:rPr>
              <a:t> </a:t>
            </a:r>
            <a:r>
              <a:rPr spc="-20" dirty="0"/>
              <a:t>10</a:t>
            </a:r>
            <a:r>
              <a:rPr spc="-70" dirty="0"/>
              <a:t> </a:t>
            </a:r>
            <a:r>
              <a:rPr spc="-10" dirty="0"/>
              <a:t>computers</a:t>
            </a: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b="1" dirty="0">
                <a:latin typeface="Arial"/>
                <a:cs typeface="Arial"/>
              </a:rPr>
              <a:t>Patch</a:t>
            </a:r>
            <a:r>
              <a:rPr b="1" spc="30" dirty="0">
                <a:latin typeface="Arial"/>
                <a:cs typeface="Arial"/>
              </a:rPr>
              <a:t> </a:t>
            </a:r>
            <a:r>
              <a:rPr b="1" spc="-25" dirty="0">
                <a:latin typeface="Arial"/>
                <a:cs typeface="Arial"/>
              </a:rPr>
              <a:t>Availability:</a:t>
            </a:r>
            <a:r>
              <a:rPr b="1" spc="100" dirty="0">
                <a:latin typeface="Arial"/>
                <a:cs typeface="Arial"/>
              </a:rPr>
              <a:t> </a:t>
            </a:r>
            <a:r>
              <a:rPr spc="55" dirty="0"/>
              <a:t>A</a:t>
            </a:r>
            <a:r>
              <a:rPr spc="-35" dirty="0"/>
              <a:t> </a:t>
            </a:r>
            <a:r>
              <a:rPr spc="-20" dirty="0"/>
              <a:t>patch</a:t>
            </a:r>
            <a:r>
              <a:rPr spc="-40" dirty="0"/>
              <a:t> </a:t>
            </a:r>
            <a:r>
              <a:rPr dirty="0"/>
              <a:t>is</a:t>
            </a:r>
            <a:r>
              <a:rPr spc="-40" dirty="0"/>
              <a:t> </a:t>
            </a:r>
            <a:r>
              <a:rPr spc="-35" dirty="0"/>
              <a:t>available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fix</a:t>
            </a:r>
            <a:r>
              <a:rPr spc="-40" dirty="0"/>
              <a:t> </a:t>
            </a:r>
            <a:r>
              <a:rPr spc="-10" dirty="0"/>
              <a:t>the</a:t>
            </a:r>
            <a:r>
              <a:rPr spc="-35" dirty="0"/>
              <a:t> </a:t>
            </a:r>
            <a:r>
              <a:rPr spc="-10" dirty="0"/>
              <a:t>vulnerability</a:t>
            </a:r>
          </a:p>
          <a:p>
            <a:pPr marL="12700" marR="157480">
              <a:lnSpc>
                <a:spcPct val="102600"/>
              </a:lnSpc>
              <a:spcBef>
                <a:spcPts val="300"/>
              </a:spcBef>
            </a:pPr>
            <a:r>
              <a:rPr b="1" dirty="0">
                <a:latin typeface="Arial"/>
                <a:cs typeface="Arial"/>
              </a:rPr>
              <a:t>Patch </a:t>
            </a:r>
            <a:r>
              <a:rPr b="1" spc="-30" dirty="0">
                <a:latin typeface="Arial"/>
                <a:cs typeface="Arial"/>
              </a:rPr>
              <a:t>Deployment</a:t>
            </a:r>
            <a:r>
              <a:rPr b="1" spc="2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Rate:</a:t>
            </a:r>
            <a:r>
              <a:rPr b="1" spc="85" dirty="0">
                <a:latin typeface="Arial"/>
                <a:cs typeface="Arial"/>
              </a:rPr>
              <a:t> </a:t>
            </a:r>
            <a:r>
              <a:rPr spc="-20" dirty="0"/>
              <a:t>50</a:t>
            </a:r>
            <a:r>
              <a:rPr spc="-50" dirty="0"/>
              <a:t> </a:t>
            </a:r>
            <a:r>
              <a:rPr spc="-40" dirty="0"/>
              <a:t>computers</a:t>
            </a:r>
            <a:r>
              <a:rPr spc="-50" dirty="0"/>
              <a:t> </a:t>
            </a:r>
            <a:r>
              <a:rPr spc="-30" dirty="0"/>
              <a:t>per</a:t>
            </a:r>
            <a:r>
              <a:rPr spc="-50" dirty="0"/>
              <a:t> </a:t>
            </a:r>
            <a:r>
              <a:rPr spc="-45" dirty="0"/>
              <a:t>day</a:t>
            </a:r>
            <a:r>
              <a:rPr spc="-40" dirty="0"/>
              <a:t> </a:t>
            </a:r>
            <a:r>
              <a:rPr spc="-20" dirty="0"/>
              <a:t>from</a:t>
            </a:r>
            <a:r>
              <a:rPr spc="-50" dirty="0"/>
              <a:t> </a:t>
            </a:r>
            <a:r>
              <a:rPr spc="-40" dirty="0"/>
              <a:t>susceptible computers</a:t>
            </a:r>
            <a:r>
              <a:rPr spc="-35" dirty="0"/>
              <a:t> </a:t>
            </a:r>
            <a:r>
              <a:rPr spc="-10" dirty="0"/>
              <a:t>category</a:t>
            </a:r>
          </a:p>
          <a:p>
            <a:pPr marL="12700" marR="5080">
              <a:lnSpc>
                <a:spcPct val="102600"/>
              </a:lnSpc>
              <a:spcBef>
                <a:spcPts val="300"/>
              </a:spcBef>
            </a:pPr>
            <a:r>
              <a:rPr b="1" spc="-20" dirty="0">
                <a:latin typeface="Arial"/>
                <a:cs typeface="Arial"/>
              </a:rPr>
              <a:t>Infection</a:t>
            </a:r>
            <a:r>
              <a:rPr b="1" spc="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Rate:</a:t>
            </a:r>
            <a:r>
              <a:rPr b="1" spc="100" dirty="0">
                <a:latin typeface="Arial"/>
                <a:cs typeface="Arial"/>
              </a:rPr>
              <a:t> </a:t>
            </a:r>
            <a:r>
              <a:rPr dirty="0"/>
              <a:t>Each</a:t>
            </a:r>
            <a:r>
              <a:rPr spc="-35" dirty="0"/>
              <a:t> infected </a:t>
            </a:r>
            <a:r>
              <a:rPr spc="-40" dirty="0"/>
              <a:t>computer</a:t>
            </a:r>
            <a:r>
              <a:rPr spc="-35" dirty="0"/>
              <a:t> </a:t>
            </a:r>
            <a:r>
              <a:rPr spc="-20" dirty="0"/>
              <a:t>can</a:t>
            </a:r>
            <a:r>
              <a:rPr spc="-35" dirty="0"/>
              <a:t> </a:t>
            </a:r>
            <a:r>
              <a:rPr spc="-20" dirty="0"/>
              <a:t>infect</a:t>
            </a:r>
            <a:r>
              <a:rPr spc="-35" dirty="0"/>
              <a:t> </a:t>
            </a:r>
            <a:r>
              <a:rPr dirty="0"/>
              <a:t>2</a:t>
            </a:r>
            <a:r>
              <a:rPr spc="-40" dirty="0"/>
              <a:t> </a:t>
            </a:r>
            <a:r>
              <a:rPr spc="-60" dirty="0"/>
              <a:t>new</a:t>
            </a:r>
            <a:r>
              <a:rPr spc="-30" dirty="0"/>
              <a:t> </a:t>
            </a:r>
            <a:r>
              <a:rPr spc="-40" dirty="0"/>
              <a:t>computers </a:t>
            </a:r>
            <a:r>
              <a:rPr spc="-30" dirty="0"/>
              <a:t>per</a:t>
            </a:r>
            <a:r>
              <a:rPr spc="-45" dirty="0"/>
              <a:t> </a:t>
            </a:r>
            <a:r>
              <a:rPr spc="-25" dirty="0"/>
              <a:t>day</a:t>
            </a: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b="1" spc="-10" dirty="0">
                <a:latin typeface="Arial"/>
                <a:cs typeface="Arial"/>
              </a:rPr>
              <a:t>Timeframe:</a:t>
            </a:r>
            <a:r>
              <a:rPr b="1" spc="100" dirty="0">
                <a:latin typeface="Arial"/>
                <a:cs typeface="Arial"/>
              </a:rPr>
              <a:t> </a:t>
            </a:r>
            <a:r>
              <a:rPr spc="-25" dirty="0"/>
              <a:t>Analysis</a:t>
            </a:r>
            <a:r>
              <a:rPr spc="-35" dirty="0"/>
              <a:t> </a:t>
            </a:r>
            <a:r>
              <a:rPr spc="-50" dirty="0"/>
              <a:t>over</a:t>
            </a:r>
            <a:r>
              <a:rPr spc="-35" dirty="0"/>
              <a:t> </a:t>
            </a:r>
            <a:r>
              <a:rPr spc="-20" dirty="0"/>
              <a:t>10</a:t>
            </a:r>
            <a:r>
              <a:rPr spc="-35" dirty="0"/>
              <a:t> </a:t>
            </a:r>
            <a:r>
              <a:rPr spc="-20" dirty="0"/>
              <a:t>days</a:t>
            </a:r>
          </a:p>
        </p:txBody>
      </p:sp>
      <p:grpSp>
        <p:nvGrpSpPr>
          <p:cNvPr id="10" name="object 10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1" name="object 11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4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41</a:t>
            </a:r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93</a:t>
            </a:r>
          </a:p>
        </p:txBody>
      </p:sp>
    </p:spTree>
  </p:cSld>
  <p:clrMapOvr>
    <a:masterClrMapping/>
  </p:clrMapOvr>
  <p:transition>
    <p:cut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Initial</a:t>
            </a:r>
            <a:r>
              <a:rPr spc="35" dirty="0"/>
              <a:t> </a:t>
            </a:r>
            <a:r>
              <a:rPr spc="-55" dirty="0"/>
              <a:t>Conditions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384490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594523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804555"/>
            <a:ext cx="65265" cy="6526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02932" y="1257272"/>
            <a:ext cx="2431415" cy="655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299"/>
              </a:lnSpc>
              <a:spcBef>
                <a:spcPts val="100"/>
              </a:spcBef>
            </a:pPr>
            <a:r>
              <a:rPr sz="1100" b="1" spc="-50" dirty="0">
                <a:solidFill>
                  <a:srgbClr val="191933"/>
                </a:solidFill>
                <a:latin typeface="Arial"/>
                <a:cs typeface="Arial"/>
              </a:rPr>
              <a:t>Susceptible</a:t>
            </a:r>
            <a:r>
              <a:rPr sz="1100" b="1" spc="7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-45" dirty="0">
                <a:solidFill>
                  <a:srgbClr val="191933"/>
                </a:solidFill>
                <a:latin typeface="Arial"/>
                <a:cs typeface="Arial"/>
              </a:rPr>
              <a:t>Computers</a:t>
            </a:r>
            <a:r>
              <a:rPr sz="1100" b="1" spc="8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191933"/>
                </a:solidFill>
                <a:latin typeface="Arial"/>
                <a:cs typeface="Arial"/>
              </a:rPr>
              <a:t>(S):</a:t>
            </a:r>
            <a:r>
              <a:rPr sz="1100" b="1" spc="4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990 </a:t>
            </a:r>
            <a:r>
              <a:rPr sz="1100" b="1" spc="-10" dirty="0">
                <a:solidFill>
                  <a:srgbClr val="191933"/>
                </a:solidFill>
                <a:latin typeface="Arial"/>
                <a:cs typeface="Arial"/>
              </a:rPr>
              <a:t>Infected</a:t>
            </a:r>
            <a:r>
              <a:rPr sz="1100" b="1" spc="3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-45" dirty="0">
                <a:solidFill>
                  <a:srgbClr val="191933"/>
                </a:solidFill>
                <a:latin typeface="Arial"/>
                <a:cs typeface="Arial"/>
              </a:rPr>
              <a:t>Computers</a:t>
            </a:r>
            <a:r>
              <a:rPr sz="1100" b="1" spc="2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55" dirty="0">
                <a:solidFill>
                  <a:srgbClr val="191933"/>
                </a:solidFill>
                <a:latin typeface="Arial"/>
                <a:cs typeface="Arial"/>
              </a:rPr>
              <a:t>(I):</a:t>
            </a:r>
            <a:r>
              <a:rPr sz="1100" b="1" spc="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10 </a:t>
            </a:r>
            <a:r>
              <a:rPr sz="1100" b="1" spc="-30" dirty="0">
                <a:solidFill>
                  <a:srgbClr val="191933"/>
                </a:solidFill>
                <a:latin typeface="Arial"/>
                <a:cs typeface="Arial"/>
              </a:rPr>
              <a:t>Recovered/Patched</a:t>
            </a:r>
            <a:r>
              <a:rPr sz="1100" b="1" spc="12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-45" dirty="0">
                <a:solidFill>
                  <a:srgbClr val="191933"/>
                </a:solidFill>
                <a:latin typeface="Arial"/>
                <a:cs typeface="Arial"/>
              </a:rPr>
              <a:t>Computers</a:t>
            </a:r>
            <a:r>
              <a:rPr sz="1100" b="1" spc="12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191933"/>
                </a:solidFill>
                <a:latin typeface="Arial"/>
                <a:cs typeface="Arial"/>
              </a:rPr>
              <a:t>(R):</a:t>
            </a:r>
            <a:r>
              <a:rPr sz="1100" b="1" spc="7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0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8" name="object 8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4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42</a:t>
            </a:r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93</a:t>
            </a:r>
          </a:p>
        </p:txBody>
      </p:sp>
    </p:spTree>
  </p:cSld>
  <p:clrMapOvr>
    <a:masterClrMapping/>
  </p:clrMapOvr>
  <p:transition>
    <p:cut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1013"/>
            <a:ext cx="3421379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Day</a:t>
            </a:r>
            <a:r>
              <a:rPr spc="15" dirty="0"/>
              <a:t> </a:t>
            </a:r>
            <a:r>
              <a:rPr dirty="0"/>
              <a:t>1:</a:t>
            </a:r>
            <a:r>
              <a:rPr spc="140" dirty="0"/>
              <a:t> </a:t>
            </a:r>
            <a:r>
              <a:rPr dirty="0"/>
              <a:t>Patch</a:t>
            </a:r>
            <a:r>
              <a:rPr spc="20" dirty="0"/>
              <a:t> </a:t>
            </a:r>
            <a:r>
              <a:rPr spc="-10" dirty="0"/>
              <a:t>Management</a:t>
            </a:r>
            <a:r>
              <a:rPr spc="15" dirty="0"/>
              <a:t> </a:t>
            </a:r>
            <a:r>
              <a:rPr spc="-10" dirty="0"/>
              <a:t>and</a:t>
            </a:r>
            <a:r>
              <a:rPr spc="15" dirty="0"/>
              <a:t> </a:t>
            </a:r>
            <a:r>
              <a:rPr spc="-20" dirty="0"/>
              <a:t>Infection</a:t>
            </a:r>
            <a:r>
              <a:rPr spc="20" dirty="0"/>
              <a:t> </a:t>
            </a:r>
            <a:r>
              <a:rPr spc="-40" dirty="0"/>
              <a:t>Spread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072781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867357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2932" y="989328"/>
            <a:ext cx="3842385" cy="12979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b="1" spc="-20" dirty="0">
                <a:solidFill>
                  <a:srgbClr val="191933"/>
                </a:solidFill>
                <a:latin typeface="Arial"/>
                <a:cs typeface="Arial"/>
              </a:rPr>
              <a:t>Infection</a:t>
            </a:r>
            <a:r>
              <a:rPr sz="1100" b="1" spc="3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-40" dirty="0">
                <a:solidFill>
                  <a:srgbClr val="191933"/>
                </a:solidFill>
                <a:latin typeface="Arial"/>
                <a:cs typeface="Arial"/>
              </a:rPr>
              <a:t>Spread:</a:t>
            </a:r>
            <a:r>
              <a:rPr sz="1100" b="1" spc="10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I=10 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infected 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computers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infect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10x2=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20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new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computers</a:t>
            </a:r>
            <a:endParaRPr sz="1100">
              <a:latin typeface="Tahoma"/>
              <a:cs typeface="Tahoma"/>
            </a:endParaRPr>
          </a:p>
          <a:p>
            <a:pPr marL="833119">
              <a:lnSpc>
                <a:spcPct val="100000"/>
              </a:lnSpc>
              <a:spcBef>
                <a:spcPts val="1130"/>
              </a:spcBef>
              <a:tabLst>
                <a:tab pos="2219325" algn="l"/>
              </a:tabLst>
            </a:pPr>
            <a:r>
              <a:rPr sz="1100" i="1" spc="165" dirty="0">
                <a:solidFill>
                  <a:srgbClr val="191933"/>
                </a:solidFill>
                <a:latin typeface="Calibri"/>
                <a:cs typeface="Calibri"/>
              </a:rPr>
              <a:t>S</a:t>
            </a:r>
            <a:r>
              <a:rPr sz="1100" i="1" spc="8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295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1100" spc="4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Calibri"/>
                <a:cs typeface="Calibri"/>
              </a:rPr>
              <a:t>990</a:t>
            </a:r>
            <a:r>
              <a:rPr sz="1100" spc="-2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Lucida Sans Unicode"/>
                <a:cs typeface="Lucida Sans Unicode"/>
              </a:rPr>
              <a:t>−</a:t>
            </a:r>
            <a:r>
              <a:rPr sz="1100" spc="-105" dirty="0">
                <a:solidFill>
                  <a:srgbClr val="191933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191933"/>
                </a:solidFill>
                <a:latin typeface="Calibri"/>
                <a:cs typeface="Calibri"/>
              </a:rPr>
              <a:t>20</a:t>
            </a:r>
            <a:r>
              <a:rPr sz="1100" spc="4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295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1100" spc="4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Calibri"/>
                <a:cs typeface="Calibri"/>
              </a:rPr>
              <a:t>970</a:t>
            </a:r>
            <a:r>
              <a:rPr sz="1100" i="1" spc="-20" dirty="0">
                <a:solidFill>
                  <a:srgbClr val="191933"/>
                </a:solidFill>
                <a:latin typeface="Calibri"/>
                <a:cs typeface="Calibri"/>
              </a:rPr>
              <a:t>,</a:t>
            </a:r>
            <a:r>
              <a:rPr sz="1100" i="1" dirty="0">
                <a:solidFill>
                  <a:srgbClr val="191933"/>
                </a:solidFill>
                <a:latin typeface="Calibri"/>
                <a:cs typeface="Calibri"/>
              </a:rPr>
              <a:t>	</a:t>
            </a:r>
            <a:r>
              <a:rPr sz="1100" i="1" spc="200" dirty="0">
                <a:solidFill>
                  <a:srgbClr val="191933"/>
                </a:solidFill>
                <a:latin typeface="Calibri"/>
                <a:cs typeface="Calibri"/>
              </a:rPr>
              <a:t>I</a:t>
            </a:r>
            <a:r>
              <a:rPr sz="1100" i="1" spc="12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295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1100" spc="4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91933"/>
                </a:solidFill>
                <a:latin typeface="Calibri"/>
                <a:cs typeface="Calibri"/>
              </a:rPr>
              <a:t>10</a:t>
            </a:r>
            <a:r>
              <a:rPr sz="1100" spc="-2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295" dirty="0">
                <a:solidFill>
                  <a:srgbClr val="191933"/>
                </a:solidFill>
                <a:latin typeface="Calibri"/>
                <a:cs typeface="Calibri"/>
              </a:rPr>
              <a:t>+</a:t>
            </a:r>
            <a:r>
              <a:rPr sz="1100" spc="-2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91933"/>
                </a:solidFill>
                <a:latin typeface="Calibri"/>
                <a:cs typeface="Calibri"/>
              </a:rPr>
              <a:t>20</a:t>
            </a:r>
            <a:r>
              <a:rPr sz="1100" spc="3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295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1100" spc="4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Calibri"/>
                <a:cs typeface="Calibri"/>
              </a:rPr>
              <a:t>30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sz="1100" b="1" dirty="0">
                <a:solidFill>
                  <a:srgbClr val="191933"/>
                </a:solidFill>
                <a:latin typeface="Arial"/>
                <a:cs typeface="Arial"/>
              </a:rPr>
              <a:t>Patch</a:t>
            </a:r>
            <a:r>
              <a:rPr sz="1100" b="1" spc="-1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-25" dirty="0">
                <a:solidFill>
                  <a:srgbClr val="191933"/>
                </a:solidFill>
                <a:latin typeface="Arial"/>
                <a:cs typeface="Arial"/>
              </a:rPr>
              <a:t>Deployment:</a:t>
            </a:r>
            <a:r>
              <a:rPr sz="1100" b="1" spc="7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50</a:t>
            </a:r>
            <a:r>
              <a:rPr sz="1100" spc="-6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computers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patched</a:t>
            </a:r>
            <a:endParaRPr sz="1100">
              <a:latin typeface="Tahoma"/>
              <a:cs typeface="Tahoma"/>
            </a:endParaRPr>
          </a:p>
          <a:p>
            <a:pPr marL="850265">
              <a:lnSpc>
                <a:spcPct val="100000"/>
              </a:lnSpc>
              <a:spcBef>
                <a:spcPts val="1135"/>
              </a:spcBef>
              <a:tabLst>
                <a:tab pos="2236470" algn="l"/>
              </a:tabLst>
            </a:pPr>
            <a:r>
              <a:rPr sz="1100" i="1" spc="165" dirty="0">
                <a:solidFill>
                  <a:srgbClr val="191933"/>
                </a:solidFill>
                <a:latin typeface="Calibri"/>
                <a:cs typeface="Calibri"/>
              </a:rPr>
              <a:t>S</a:t>
            </a:r>
            <a:r>
              <a:rPr sz="1100" i="1" spc="8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295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1100" spc="4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Calibri"/>
                <a:cs typeface="Calibri"/>
              </a:rPr>
              <a:t>970</a:t>
            </a:r>
            <a:r>
              <a:rPr sz="1100" spc="-2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Lucida Sans Unicode"/>
                <a:cs typeface="Lucida Sans Unicode"/>
              </a:rPr>
              <a:t>−</a:t>
            </a:r>
            <a:r>
              <a:rPr sz="1100" spc="-105" dirty="0">
                <a:solidFill>
                  <a:srgbClr val="191933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191933"/>
                </a:solidFill>
                <a:latin typeface="Calibri"/>
                <a:cs typeface="Calibri"/>
              </a:rPr>
              <a:t>50</a:t>
            </a:r>
            <a:r>
              <a:rPr sz="1100" spc="4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295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1100" spc="4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Calibri"/>
                <a:cs typeface="Calibri"/>
              </a:rPr>
              <a:t>920</a:t>
            </a:r>
            <a:r>
              <a:rPr sz="1100" i="1" spc="-20" dirty="0">
                <a:solidFill>
                  <a:srgbClr val="191933"/>
                </a:solidFill>
                <a:latin typeface="Calibri"/>
                <a:cs typeface="Calibri"/>
              </a:rPr>
              <a:t>,</a:t>
            </a:r>
            <a:r>
              <a:rPr sz="1100" i="1" dirty="0">
                <a:solidFill>
                  <a:srgbClr val="191933"/>
                </a:solidFill>
                <a:latin typeface="Calibri"/>
                <a:cs typeface="Calibri"/>
              </a:rPr>
              <a:t>	</a:t>
            </a:r>
            <a:r>
              <a:rPr sz="1100" i="1" spc="225" dirty="0">
                <a:solidFill>
                  <a:srgbClr val="191933"/>
                </a:solidFill>
                <a:latin typeface="Calibri"/>
                <a:cs typeface="Calibri"/>
              </a:rPr>
              <a:t>R</a:t>
            </a:r>
            <a:r>
              <a:rPr sz="1100" i="1" spc="4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295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1100" spc="4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91933"/>
                </a:solidFill>
                <a:latin typeface="Calibri"/>
                <a:cs typeface="Calibri"/>
              </a:rPr>
              <a:t>0</a:t>
            </a:r>
            <a:r>
              <a:rPr sz="1100" spc="-1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295" dirty="0">
                <a:solidFill>
                  <a:srgbClr val="191933"/>
                </a:solidFill>
                <a:latin typeface="Calibri"/>
                <a:cs typeface="Calibri"/>
              </a:rPr>
              <a:t>+</a:t>
            </a:r>
            <a:r>
              <a:rPr sz="1100" spc="-2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91933"/>
                </a:solidFill>
                <a:latin typeface="Calibri"/>
                <a:cs typeface="Calibri"/>
              </a:rPr>
              <a:t>50</a:t>
            </a:r>
            <a:r>
              <a:rPr sz="1100" spc="4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295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1100" spc="4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Calibri"/>
                <a:cs typeface="Calibri"/>
              </a:rPr>
              <a:t>50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7" name="object 7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4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43</a:t>
            </a:r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93</a:t>
            </a:r>
          </a:p>
        </p:txBody>
      </p:sp>
    </p:spTree>
  </p:cSld>
  <p:clrMapOvr>
    <a:masterClrMapping/>
  </p:clrMapOvr>
  <p:transition>
    <p:cut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1013"/>
            <a:ext cx="3421379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Day</a:t>
            </a:r>
            <a:r>
              <a:rPr spc="15" dirty="0"/>
              <a:t> </a:t>
            </a:r>
            <a:r>
              <a:rPr dirty="0"/>
              <a:t>2:</a:t>
            </a:r>
            <a:r>
              <a:rPr spc="140" dirty="0"/>
              <a:t> </a:t>
            </a:r>
            <a:r>
              <a:rPr dirty="0"/>
              <a:t>Patch</a:t>
            </a:r>
            <a:r>
              <a:rPr spc="20" dirty="0"/>
              <a:t> </a:t>
            </a:r>
            <a:r>
              <a:rPr spc="-10" dirty="0"/>
              <a:t>Management</a:t>
            </a:r>
            <a:r>
              <a:rPr spc="15" dirty="0"/>
              <a:t> </a:t>
            </a:r>
            <a:r>
              <a:rPr spc="-10" dirty="0"/>
              <a:t>and</a:t>
            </a:r>
            <a:r>
              <a:rPr spc="15" dirty="0"/>
              <a:t> </a:t>
            </a:r>
            <a:r>
              <a:rPr spc="-20" dirty="0"/>
              <a:t>Infection</a:t>
            </a:r>
            <a:r>
              <a:rPr spc="20" dirty="0"/>
              <a:t> </a:t>
            </a:r>
            <a:r>
              <a:rPr spc="-40" dirty="0"/>
              <a:t>Spread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072781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867357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2932" y="989328"/>
            <a:ext cx="3842385" cy="12979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b="1" spc="-20" dirty="0">
                <a:solidFill>
                  <a:srgbClr val="191933"/>
                </a:solidFill>
                <a:latin typeface="Arial"/>
                <a:cs typeface="Arial"/>
              </a:rPr>
              <a:t>Infection</a:t>
            </a:r>
            <a:r>
              <a:rPr sz="1100" b="1" spc="3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-40" dirty="0">
                <a:solidFill>
                  <a:srgbClr val="191933"/>
                </a:solidFill>
                <a:latin typeface="Arial"/>
                <a:cs typeface="Arial"/>
              </a:rPr>
              <a:t>Spread:</a:t>
            </a:r>
            <a:r>
              <a:rPr sz="1100" b="1" spc="10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I=30 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infected 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computers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infect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30x2=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60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new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computers</a:t>
            </a:r>
            <a:endParaRPr sz="1100">
              <a:latin typeface="Tahoma"/>
              <a:cs typeface="Tahoma"/>
            </a:endParaRPr>
          </a:p>
          <a:p>
            <a:pPr marL="833119">
              <a:lnSpc>
                <a:spcPct val="100000"/>
              </a:lnSpc>
              <a:spcBef>
                <a:spcPts val="1130"/>
              </a:spcBef>
              <a:tabLst>
                <a:tab pos="2219325" algn="l"/>
              </a:tabLst>
            </a:pPr>
            <a:r>
              <a:rPr sz="1100" i="1" spc="165" dirty="0">
                <a:solidFill>
                  <a:srgbClr val="191933"/>
                </a:solidFill>
                <a:latin typeface="Calibri"/>
                <a:cs typeface="Calibri"/>
              </a:rPr>
              <a:t>S</a:t>
            </a:r>
            <a:r>
              <a:rPr sz="1100" i="1" spc="8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295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1100" spc="4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Calibri"/>
                <a:cs typeface="Calibri"/>
              </a:rPr>
              <a:t>920</a:t>
            </a:r>
            <a:r>
              <a:rPr sz="1100" spc="-2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Lucida Sans Unicode"/>
                <a:cs typeface="Lucida Sans Unicode"/>
              </a:rPr>
              <a:t>−</a:t>
            </a:r>
            <a:r>
              <a:rPr sz="1100" spc="-105" dirty="0">
                <a:solidFill>
                  <a:srgbClr val="191933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191933"/>
                </a:solidFill>
                <a:latin typeface="Calibri"/>
                <a:cs typeface="Calibri"/>
              </a:rPr>
              <a:t>60</a:t>
            </a:r>
            <a:r>
              <a:rPr sz="1100" spc="4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295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1100" spc="4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Calibri"/>
                <a:cs typeface="Calibri"/>
              </a:rPr>
              <a:t>860</a:t>
            </a:r>
            <a:r>
              <a:rPr sz="1100" i="1" spc="-20" dirty="0">
                <a:solidFill>
                  <a:srgbClr val="191933"/>
                </a:solidFill>
                <a:latin typeface="Calibri"/>
                <a:cs typeface="Calibri"/>
              </a:rPr>
              <a:t>,</a:t>
            </a:r>
            <a:r>
              <a:rPr sz="1100" i="1" dirty="0">
                <a:solidFill>
                  <a:srgbClr val="191933"/>
                </a:solidFill>
                <a:latin typeface="Calibri"/>
                <a:cs typeface="Calibri"/>
              </a:rPr>
              <a:t>	</a:t>
            </a:r>
            <a:r>
              <a:rPr sz="1100" i="1" spc="200" dirty="0">
                <a:solidFill>
                  <a:srgbClr val="191933"/>
                </a:solidFill>
                <a:latin typeface="Calibri"/>
                <a:cs typeface="Calibri"/>
              </a:rPr>
              <a:t>I</a:t>
            </a:r>
            <a:r>
              <a:rPr sz="1100" i="1" spc="12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295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1100" spc="4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91933"/>
                </a:solidFill>
                <a:latin typeface="Calibri"/>
                <a:cs typeface="Calibri"/>
              </a:rPr>
              <a:t>30</a:t>
            </a:r>
            <a:r>
              <a:rPr sz="1100" spc="-2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295" dirty="0">
                <a:solidFill>
                  <a:srgbClr val="191933"/>
                </a:solidFill>
                <a:latin typeface="Calibri"/>
                <a:cs typeface="Calibri"/>
              </a:rPr>
              <a:t>+</a:t>
            </a:r>
            <a:r>
              <a:rPr sz="1100" spc="-2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91933"/>
                </a:solidFill>
                <a:latin typeface="Calibri"/>
                <a:cs typeface="Calibri"/>
              </a:rPr>
              <a:t>60</a:t>
            </a:r>
            <a:r>
              <a:rPr sz="1100" spc="3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295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1100" spc="4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Calibri"/>
                <a:cs typeface="Calibri"/>
              </a:rPr>
              <a:t>90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sz="1100" b="1" dirty="0">
                <a:solidFill>
                  <a:srgbClr val="191933"/>
                </a:solidFill>
                <a:latin typeface="Arial"/>
                <a:cs typeface="Arial"/>
              </a:rPr>
              <a:t>Patch</a:t>
            </a:r>
            <a:r>
              <a:rPr sz="1100" b="1" spc="-25" dirty="0">
                <a:solidFill>
                  <a:srgbClr val="191933"/>
                </a:solidFill>
                <a:latin typeface="Arial"/>
                <a:cs typeface="Arial"/>
              </a:rPr>
              <a:t> Deployment:</a:t>
            </a:r>
            <a:r>
              <a:rPr sz="1100" b="1" spc="8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50</a:t>
            </a:r>
            <a:r>
              <a:rPr sz="1100" spc="-5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191933"/>
                </a:solidFill>
                <a:latin typeface="Tahoma"/>
                <a:cs typeface="Tahoma"/>
              </a:rPr>
              <a:t>more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computers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patched</a:t>
            </a:r>
            <a:endParaRPr sz="1100">
              <a:latin typeface="Tahoma"/>
              <a:cs typeface="Tahoma"/>
            </a:endParaRPr>
          </a:p>
          <a:p>
            <a:pPr marL="781050">
              <a:lnSpc>
                <a:spcPct val="100000"/>
              </a:lnSpc>
              <a:spcBef>
                <a:spcPts val="1135"/>
              </a:spcBef>
              <a:tabLst>
                <a:tab pos="2167255" algn="l"/>
              </a:tabLst>
            </a:pPr>
            <a:r>
              <a:rPr sz="1100" i="1" spc="165" dirty="0">
                <a:solidFill>
                  <a:srgbClr val="191933"/>
                </a:solidFill>
                <a:latin typeface="Calibri"/>
                <a:cs typeface="Calibri"/>
              </a:rPr>
              <a:t>S</a:t>
            </a:r>
            <a:r>
              <a:rPr sz="1100" i="1" spc="8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295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1100" spc="4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Calibri"/>
                <a:cs typeface="Calibri"/>
              </a:rPr>
              <a:t>860</a:t>
            </a:r>
            <a:r>
              <a:rPr sz="1100" spc="-2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Lucida Sans Unicode"/>
                <a:cs typeface="Lucida Sans Unicode"/>
              </a:rPr>
              <a:t>−</a:t>
            </a:r>
            <a:r>
              <a:rPr sz="1100" spc="-105" dirty="0">
                <a:solidFill>
                  <a:srgbClr val="191933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191933"/>
                </a:solidFill>
                <a:latin typeface="Calibri"/>
                <a:cs typeface="Calibri"/>
              </a:rPr>
              <a:t>50</a:t>
            </a:r>
            <a:r>
              <a:rPr sz="1100" spc="4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295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1100" spc="4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Calibri"/>
                <a:cs typeface="Calibri"/>
              </a:rPr>
              <a:t>810</a:t>
            </a:r>
            <a:r>
              <a:rPr sz="1100" i="1" spc="-20" dirty="0">
                <a:solidFill>
                  <a:srgbClr val="191933"/>
                </a:solidFill>
                <a:latin typeface="Calibri"/>
                <a:cs typeface="Calibri"/>
              </a:rPr>
              <a:t>,</a:t>
            </a:r>
            <a:r>
              <a:rPr sz="1100" i="1" dirty="0">
                <a:solidFill>
                  <a:srgbClr val="191933"/>
                </a:solidFill>
                <a:latin typeface="Calibri"/>
                <a:cs typeface="Calibri"/>
              </a:rPr>
              <a:t>	</a:t>
            </a:r>
            <a:r>
              <a:rPr sz="1100" i="1" spc="225" dirty="0">
                <a:solidFill>
                  <a:srgbClr val="191933"/>
                </a:solidFill>
                <a:latin typeface="Calibri"/>
                <a:cs typeface="Calibri"/>
              </a:rPr>
              <a:t>R</a:t>
            </a:r>
            <a:r>
              <a:rPr sz="1100" i="1" spc="4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295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1100" spc="4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91933"/>
                </a:solidFill>
                <a:latin typeface="Calibri"/>
                <a:cs typeface="Calibri"/>
              </a:rPr>
              <a:t>50</a:t>
            </a:r>
            <a:r>
              <a:rPr sz="1100" spc="-2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295" dirty="0">
                <a:solidFill>
                  <a:srgbClr val="191933"/>
                </a:solidFill>
                <a:latin typeface="Calibri"/>
                <a:cs typeface="Calibri"/>
              </a:rPr>
              <a:t>+</a:t>
            </a:r>
            <a:r>
              <a:rPr sz="1100" spc="-2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91933"/>
                </a:solidFill>
                <a:latin typeface="Calibri"/>
                <a:cs typeface="Calibri"/>
              </a:rPr>
              <a:t>50</a:t>
            </a:r>
            <a:r>
              <a:rPr sz="1100" spc="3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295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1100" spc="4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Calibri"/>
                <a:cs typeface="Calibri"/>
              </a:rPr>
              <a:t>100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7" name="object 7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4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44</a:t>
            </a:r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93</a:t>
            </a:r>
          </a:p>
        </p:txBody>
      </p:sp>
    </p:spTree>
  </p:cSld>
  <p:clrMapOvr>
    <a:masterClrMapping/>
  </p:clrMapOvr>
  <p:transition>
    <p:cut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1013"/>
            <a:ext cx="3421379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Day</a:t>
            </a:r>
            <a:r>
              <a:rPr spc="15" dirty="0"/>
              <a:t> </a:t>
            </a:r>
            <a:r>
              <a:rPr dirty="0"/>
              <a:t>3:</a:t>
            </a:r>
            <a:r>
              <a:rPr spc="140" dirty="0"/>
              <a:t> </a:t>
            </a:r>
            <a:r>
              <a:rPr dirty="0"/>
              <a:t>Patch</a:t>
            </a:r>
            <a:r>
              <a:rPr spc="20" dirty="0"/>
              <a:t> </a:t>
            </a:r>
            <a:r>
              <a:rPr spc="-10" dirty="0"/>
              <a:t>Management</a:t>
            </a:r>
            <a:r>
              <a:rPr spc="15" dirty="0"/>
              <a:t> </a:t>
            </a:r>
            <a:r>
              <a:rPr spc="-10" dirty="0"/>
              <a:t>and</a:t>
            </a:r>
            <a:r>
              <a:rPr spc="15" dirty="0"/>
              <a:t> </a:t>
            </a:r>
            <a:r>
              <a:rPr spc="-20" dirty="0"/>
              <a:t>Infection</a:t>
            </a:r>
            <a:r>
              <a:rPr spc="20" dirty="0"/>
              <a:t> </a:t>
            </a:r>
            <a:r>
              <a:rPr spc="-40" dirty="0"/>
              <a:t>Spread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072781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867357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2932" y="989328"/>
            <a:ext cx="3486150" cy="12979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b="1" spc="-20" dirty="0">
                <a:solidFill>
                  <a:srgbClr val="191933"/>
                </a:solidFill>
                <a:latin typeface="Arial"/>
                <a:cs typeface="Arial"/>
              </a:rPr>
              <a:t>Infection</a:t>
            </a:r>
            <a:r>
              <a:rPr sz="1100" b="1" spc="3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-40" dirty="0">
                <a:solidFill>
                  <a:srgbClr val="191933"/>
                </a:solidFill>
                <a:latin typeface="Arial"/>
                <a:cs typeface="Arial"/>
              </a:rPr>
              <a:t>Spread:</a:t>
            </a:r>
            <a:r>
              <a:rPr sz="1100" b="1" spc="10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I=90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 infected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computers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infect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180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new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computers</a:t>
            </a:r>
            <a:endParaRPr sz="1100">
              <a:latin typeface="Tahoma"/>
              <a:cs typeface="Tahoma"/>
            </a:endParaRPr>
          </a:p>
          <a:p>
            <a:pPr marL="728980">
              <a:lnSpc>
                <a:spcPct val="100000"/>
              </a:lnSpc>
              <a:spcBef>
                <a:spcPts val="1130"/>
              </a:spcBef>
              <a:tabLst>
                <a:tab pos="2184400" algn="l"/>
              </a:tabLst>
            </a:pPr>
            <a:r>
              <a:rPr sz="1100" i="1" spc="165" dirty="0">
                <a:solidFill>
                  <a:srgbClr val="191933"/>
                </a:solidFill>
                <a:latin typeface="Calibri"/>
                <a:cs typeface="Calibri"/>
              </a:rPr>
              <a:t>S</a:t>
            </a:r>
            <a:r>
              <a:rPr sz="1100" i="1" spc="7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295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1100" spc="4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Calibri"/>
                <a:cs typeface="Calibri"/>
              </a:rPr>
              <a:t>810</a:t>
            </a:r>
            <a:r>
              <a:rPr sz="1100" spc="-2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Lucida Sans Unicode"/>
                <a:cs typeface="Lucida Sans Unicode"/>
              </a:rPr>
              <a:t>−</a:t>
            </a:r>
            <a:r>
              <a:rPr sz="1100" spc="-105" dirty="0">
                <a:solidFill>
                  <a:srgbClr val="191933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191933"/>
                </a:solidFill>
                <a:latin typeface="Calibri"/>
                <a:cs typeface="Calibri"/>
              </a:rPr>
              <a:t>180</a:t>
            </a:r>
            <a:r>
              <a:rPr sz="1100" spc="3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295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1100" spc="3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Calibri"/>
                <a:cs typeface="Calibri"/>
              </a:rPr>
              <a:t>630</a:t>
            </a:r>
            <a:r>
              <a:rPr sz="1100" i="1" spc="-20" dirty="0">
                <a:solidFill>
                  <a:srgbClr val="191933"/>
                </a:solidFill>
                <a:latin typeface="Calibri"/>
                <a:cs typeface="Calibri"/>
              </a:rPr>
              <a:t>,</a:t>
            </a:r>
            <a:r>
              <a:rPr sz="1100" i="1" dirty="0">
                <a:solidFill>
                  <a:srgbClr val="191933"/>
                </a:solidFill>
                <a:latin typeface="Calibri"/>
                <a:cs typeface="Calibri"/>
              </a:rPr>
              <a:t>	</a:t>
            </a:r>
            <a:r>
              <a:rPr sz="1100" i="1" spc="200" dirty="0">
                <a:solidFill>
                  <a:srgbClr val="191933"/>
                </a:solidFill>
                <a:latin typeface="Calibri"/>
                <a:cs typeface="Calibri"/>
              </a:rPr>
              <a:t>I</a:t>
            </a:r>
            <a:r>
              <a:rPr sz="1100" i="1" spc="114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295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1100" spc="3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91933"/>
                </a:solidFill>
                <a:latin typeface="Calibri"/>
                <a:cs typeface="Calibri"/>
              </a:rPr>
              <a:t>90</a:t>
            </a:r>
            <a:r>
              <a:rPr sz="1100" spc="-2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295" dirty="0">
                <a:solidFill>
                  <a:srgbClr val="191933"/>
                </a:solidFill>
                <a:latin typeface="Calibri"/>
                <a:cs typeface="Calibri"/>
              </a:rPr>
              <a:t>+</a:t>
            </a:r>
            <a:r>
              <a:rPr sz="1100" spc="-2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91933"/>
                </a:solidFill>
                <a:latin typeface="Calibri"/>
                <a:cs typeface="Calibri"/>
              </a:rPr>
              <a:t>180</a:t>
            </a:r>
            <a:r>
              <a:rPr sz="1100" spc="3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295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1100" spc="4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Calibri"/>
                <a:cs typeface="Calibri"/>
              </a:rPr>
              <a:t>270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sz="1100" b="1" dirty="0">
                <a:solidFill>
                  <a:srgbClr val="191933"/>
                </a:solidFill>
                <a:latin typeface="Arial"/>
                <a:cs typeface="Arial"/>
              </a:rPr>
              <a:t>Patch</a:t>
            </a:r>
            <a:r>
              <a:rPr sz="1100" b="1" spc="-25" dirty="0">
                <a:solidFill>
                  <a:srgbClr val="191933"/>
                </a:solidFill>
                <a:latin typeface="Arial"/>
                <a:cs typeface="Arial"/>
              </a:rPr>
              <a:t> Deployment:</a:t>
            </a:r>
            <a:r>
              <a:rPr sz="1100" b="1" spc="8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50</a:t>
            </a:r>
            <a:r>
              <a:rPr sz="1100" spc="-5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191933"/>
                </a:solidFill>
                <a:latin typeface="Tahoma"/>
                <a:cs typeface="Tahoma"/>
              </a:rPr>
              <a:t>more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computers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patched</a:t>
            </a:r>
            <a:endParaRPr sz="1100">
              <a:latin typeface="Tahoma"/>
              <a:cs typeface="Tahoma"/>
            </a:endParaRPr>
          </a:p>
          <a:p>
            <a:pPr marL="746760">
              <a:lnSpc>
                <a:spcPct val="100000"/>
              </a:lnSpc>
              <a:spcBef>
                <a:spcPts val="1135"/>
              </a:spcBef>
              <a:tabLst>
                <a:tab pos="2132965" algn="l"/>
              </a:tabLst>
            </a:pPr>
            <a:r>
              <a:rPr sz="1100" i="1" spc="165" dirty="0">
                <a:solidFill>
                  <a:srgbClr val="191933"/>
                </a:solidFill>
                <a:latin typeface="Calibri"/>
                <a:cs typeface="Calibri"/>
              </a:rPr>
              <a:t>S</a:t>
            </a:r>
            <a:r>
              <a:rPr sz="1100" i="1" spc="8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295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1100" spc="4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Calibri"/>
                <a:cs typeface="Calibri"/>
              </a:rPr>
              <a:t>630</a:t>
            </a:r>
            <a:r>
              <a:rPr sz="1100" spc="-2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Lucida Sans Unicode"/>
                <a:cs typeface="Lucida Sans Unicode"/>
              </a:rPr>
              <a:t>−</a:t>
            </a:r>
            <a:r>
              <a:rPr sz="1100" spc="-105" dirty="0">
                <a:solidFill>
                  <a:srgbClr val="191933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191933"/>
                </a:solidFill>
                <a:latin typeface="Calibri"/>
                <a:cs typeface="Calibri"/>
              </a:rPr>
              <a:t>50</a:t>
            </a:r>
            <a:r>
              <a:rPr sz="1100" spc="4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295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1100" spc="4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Calibri"/>
                <a:cs typeface="Calibri"/>
              </a:rPr>
              <a:t>580</a:t>
            </a:r>
            <a:r>
              <a:rPr sz="1100" i="1" spc="-20" dirty="0">
                <a:solidFill>
                  <a:srgbClr val="191933"/>
                </a:solidFill>
                <a:latin typeface="Calibri"/>
                <a:cs typeface="Calibri"/>
              </a:rPr>
              <a:t>,</a:t>
            </a:r>
            <a:r>
              <a:rPr sz="1100" i="1" dirty="0">
                <a:solidFill>
                  <a:srgbClr val="191933"/>
                </a:solidFill>
                <a:latin typeface="Calibri"/>
                <a:cs typeface="Calibri"/>
              </a:rPr>
              <a:t>	</a:t>
            </a:r>
            <a:r>
              <a:rPr sz="1100" i="1" spc="225" dirty="0">
                <a:solidFill>
                  <a:srgbClr val="191933"/>
                </a:solidFill>
                <a:latin typeface="Calibri"/>
                <a:cs typeface="Calibri"/>
              </a:rPr>
              <a:t>R</a:t>
            </a:r>
            <a:r>
              <a:rPr sz="1100" i="1" spc="4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295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1100" spc="4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Calibri"/>
                <a:cs typeface="Calibri"/>
              </a:rPr>
              <a:t>100</a:t>
            </a:r>
            <a:r>
              <a:rPr sz="1100" spc="-2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295" dirty="0">
                <a:solidFill>
                  <a:srgbClr val="191933"/>
                </a:solidFill>
                <a:latin typeface="Calibri"/>
                <a:cs typeface="Calibri"/>
              </a:rPr>
              <a:t>+</a:t>
            </a:r>
            <a:r>
              <a:rPr sz="1100" spc="-2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91933"/>
                </a:solidFill>
                <a:latin typeface="Calibri"/>
                <a:cs typeface="Calibri"/>
              </a:rPr>
              <a:t>50</a:t>
            </a:r>
            <a:r>
              <a:rPr sz="1100" spc="3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295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1100" spc="4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Calibri"/>
                <a:cs typeface="Calibri"/>
              </a:rPr>
              <a:t>150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7" name="object 7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4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45</a:t>
            </a:r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93</a:t>
            </a:r>
          </a:p>
        </p:txBody>
      </p:sp>
    </p:spTree>
  </p:cSld>
  <p:clrMapOvr>
    <a:masterClrMapping/>
  </p:clrMapOvr>
  <p:transition>
    <p:cut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1013"/>
            <a:ext cx="3421379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Day</a:t>
            </a:r>
            <a:r>
              <a:rPr spc="15" dirty="0"/>
              <a:t> </a:t>
            </a:r>
            <a:r>
              <a:rPr dirty="0"/>
              <a:t>4:</a:t>
            </a:r>
            <a:r>
              <a:rPr spc="140" dirty="0"/>
              <a:t> </a:t>
            </a:r>
            <a:r>
              <a:rPr dirty="0"/>
              <a:t>Patch</a:t>
            </a:r>
            <a:r>
              <a:rPr spc="20" dirty="0"/>
              <a:t> </a:t>
            </a:r>
            <a:r>
              <a:rPr spc="-10" dirty="0"/>
              <a:t>Management</a:t>
            </a:r>
            <a:r>
              <a:rPr spc="15" dirty="0"/>
              <a:t> </a:t>
            </a:r>
            <a:r>
              <a:rPr spc="-10" dirty="0"/>
              <a:t>and</a:t>
            </a:r>
            <a:r>
              <a:rPr spc="15" dirty="0"/>
              <a:t> </a:t>
            </a:r>
            <a:r>
              <a:rPr spc="-20" dirty="0"/>
              <a:t>Infection</a:t>
            </a:r>
            <a:r>
              <a:rPr spc="20" dirty="0"/>
              <a:t> </a:t>
            </a:r>
            <a:r>
              <a:rPr spc="-40" dirty="0"/>
              <a:t>Spread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138529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761032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402932" y="870646"/>
            <a:ext cx="4079240" cy="1298074"/>
          </a:xfrm>
          <a:prstGeom prst="rect">
            <a:avLst/>
          </a:prstGeom>
        </p:spPr>
        <p:txBody>
          <a:bodyPr vert="horz" wrap="square" lIns="0" tIns="195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b="1" spc="-20" dirty="0">
                <a:latin typeface="Arial"/>
                <a:cs typeface="Arial"/>
              </a:rPr>
              <a:t>Infection</a:t>
            </a:r>
            <a:r>
              <a:rPr b="1" spc="25" dirty="0">
                <a:latin typeface="Arial"/>
                <a:cs typeface="Arial"/>
              </a:rPr>
              <a:t> </a:t>
            </a:r>
            <a:r>
              <a:rPr b="1" spc="-40" dirty="0">
                <a:latin typeface="Arial"/>
                <a:cs typeface="Arial"/>
              </a:rPr>
              <a:t>Spread:</a:t>
            </a:r>
            <a:r>
              <a:rPr b="1" spc="105" dirty="0">
                <a:latin typeface="Arial"/>
                <a:cs typeface="Arial"/>
              </a:rPr>
              <a:t> </a:t>
            </a:r>
            <a:r>
              <a:rPr spc="-45" dirty="0"/>
              <a:t>270</a:t>
            </a:r>
            <a:r>
              <a:rPr spc="-35" dirty="0"/>
              <a:t> infected</a:t>
            </a:r>
            <a:r>
              <a:rPr spc="-30" dirty="0"/>
              <a:t> </a:t>
            </a:r>
            <a:r>
              <a:rPr spc="-40" dirty="0"/>
              <a:t>computers</a:t>
            </a:r>
            <a:r>
              <a:rPr spc="-35" dirty="0"/>
              <a:t> </a:t>
            </a:r>
            <a:r>
              <a:rPr spc="-20" dirty="0"/>
              <a:t>infect</a:t>
            </a:r>
            <a:r>
              <a:rPr spc="-35" dirty="0"/>
              <a:t> </a:t>
            </a:r>
            <a:r>
              <a:rPr spc="-40" dirty="0"/>
              <a:t>540</a:t>
            </a:r>
            <a:r>
              <a:rPr spc="-30" dirty="0"/>
              <a:t> </a:t>
            </a:r>
            <a:r>
              <a:rPr spc="-60" dirty="0"/>
              <a:t>new</a:t>
            </a:r>
            <a:r>
              <a:rPr spc="-25" dirty="0"/>
              <a:t> </a:t>
            </a:r>
            <a:r>
              <a:rPr spc="-10" dirty="0"/>
              <a:t>computers</a:t>
            </a:r>
          </a:p>
          <a:p>
            <a:pPr algn="ctr">
              <a:lnSpc>
                <a:spcPct val="100000"/>
              </a:lnSpc>
              <a:spcBef>
                <a:spcPts val="1130"/>
              </a:spcBef>
              <a:tabLst>
                <a:tab pos="1385570" algn="l"/>
              </a:tabLst>
            </a:pPr>
            <a:r>
              <a:rPr i="1" spc="165" dirty="0">
                <a:latin typeface="Calibri"/>
                <a:cs typeface="Calibri"/>
              </a:rPr>
              <a:t>S</a:t>
            </a:r>
            <a:r>
              <a:rPr i="1" spc="75" dirty="0">
                <a:latin typeface="Calibri"/>
                <a:cs typeface="Calibri"/>
              </a:rPr>
              <a:t> </a:t>
            </a:r>
            <a:r>
              <a:rPr spc="295" dirty="0">
                <a:latin typeface="Calibri"/>
                <a:cs typeface="Calibri"/>
              </a:rPr>
              <a:t>=</a:t>
            </a:r>
            <a:r>
              <a:rPr spc="4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580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spc="-35" dirty="0">
                <a:latin typeface="Lucida Sans Unicode"/>
                <a:cs typeface="Lucida Sans Unicode"/>
              </a:rPr>
              <a:t>−</a:t>
            </a:r>
            <a:r>
              <a:rPr spc="-105" dirty="0">
                <a:latin typeface="Lucida Sans Unicode"/>
                <a:cs typeface="Lucida Sans Unicode"/>
              </a:rPr>
              <a:t> </a:t>
            </a:r>
            <a:r>
              <a:rPr dirty="0">
                <a:latin typeface="Calibri"/>
                <a:cs typeface="Calibri"/>
              </a:rPr>
              <a:t>540</a:t>
            </a:r>
            <a:r>
              <a:rPr spc="35" dirty="0">
                <a:latin typeface="Calibri"/>
                <a:cs typeface="Calibri"/>
              </a:rPr>
              <a:t> </a:t>
            </a:r>
            <a:r>
              <a:rPr spc="295" dirty="0">
                <a:latin typeface="Calibri"/>
                <a:cs typeface="Calibri"/>
              </a:rPr>
              <a:t>=</a:t>
            </a:r>
            <a:r>
              <a:rPr spc="30" dirty="0">
                <a:latin typeface="Calibri"/>
                <a:cs typeface="Calibri"/>
              </a:rPr>
              <a:t> </a:t>
            </a:r>
            <a:r>
              <a:rPr spc="-25" dirty="0">
                <a:latin typeface="Calibri"/>
                <a:cs typeface="Calibri"/>
              </a:rPr>
              <a:t>40</a:t>
            </a:r>
            <a:r>
              <a:rPr i="1" spc="-25" dirty="0">
                <a:latin typeface="Calibri"/>
                <a:cs typeface="Calibri"/>
              </a:rPr>
              <a:t>,</a:t>
            </a:r>
            <a:r>
              <a:rPr i="1" dirty="0">
                <a:latin typeface="Calibri"/>
                <a:cs typeface="Calibri"/>
              </a:rPr>
              <a:t>	</a:t>
            </a:r>
            <a:r>
              <a:rPr i="1" spc="200" dirty="0">
                <a:latin typeface="Calibri"/>
                <a:cs typeface="Calibri"/>
              </a:rPr>
              <a:t>I</a:t>
            </a:r>
            <a:r>
              <a:rPr i="1" spc="114" dirty="0">
                <a:latin typeface="Calibri"/>
                <a:cs typeface="Calibri"/>
              </a:rPr>
              <a:t> </a:t>
            </a:r>
            <a:r>
              <a:rPr spc="295" dirty="0">
                <a:latin typeface="Calibri"/>
                <a:cs typeface="Calibri"/>
              </a:rPr>
              <a:t>=</a:t>
            </a:r>
            <a:r>
              <a:rPr spc="4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270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spc="295" dirty="0">
                <a:latin typeface="Calibri"/>
                <a:cs typeface="Calibri"/>
              </a:rPr>
              <a:t>+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540</a:t>
            </a:r>
            <a:r>
              <a:rPr spc="35" dirty="0">
                <a:latin typeface="Calibri"/>
                <a:cs typeface="Calibri"/>
              </a:rPr>
              <a:t> </a:t>
            </a:r>
            <a:r>
              <a:rPr spc="295" dirty="0">
                <a:latin typeface="Calibri"/>
                <a:cs typeface="Calibri"/>
              </a:rPr>
              <a:t>=</a:t>
            </a:r>
            <a:r>
              <a:rPr spc="35" dirty="0">
                <a:latin typeface="Calibri"/>
                <a:cs typeface="Calibri"/>
              </a:rPr>
              <a:t> </a:t>
            </a:r>
            <a:r>
              <a:rPr spc="-25" dirty="0">
                <a:latin typeface="Calibri"/>
                <a:cs typeface="Calibri"/>
              </a:rPr>
              <a:t>810</a:t>
            </a: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b="1" dirty="0">
                <a:latin typeface="Arial"/>
                <a:cs typeface="Arial"/>
              </a:rPr>
              <a:t>Patch</a:t>
            </a:r>
            <a:r>
              <a:rPr b="1" spc="-25" dirty="0">
                <a:latin typeface="Arial"/>
                <a:cs typeface="Arial"/>
              </a:rPr>
              <a:t> Deployment:</a:t>
            </a:r>
            <a:r>
              <a:rPr b="1" spc="80" dirty="0">
                <a:latin typeface="Arial"/>
                <a:cs typeface="Arial"/>
              </a:rPr>
              <a:t> </a:t>
            </a:r>
            <a:r>
              <a:rPr spc="-20" dirty="0"/>
              <a:t>50</a:t>
            </a:r>
            <a:r>
              <a:rPr spc="-55" dirty="0"/>
              <a:t> </a:t>
            </a:r>
            <a:r>
              <a:rPr spc="-60" dirty="0"/>
              <a:t>more</a:t>
            </a:r>
            <a:r>
              <a:rPr spc="-30" dirty="0"/>
              <a:t> </a:t>
            </a:r>
            <a:r>
              <a:rPr spc="-40" dirty="0"/>
              <a:t>computers</a:t>
            </a:r>
            <a:r>
              <a:rPr spc="-45" dirty="0"/>
              <a:t> </a:t>
            </a:r>
            <a:r>
              <a:rPr spc="-10" dirty="0"/>
              <a:t>patched</a:t>
            </a:r>
          </a:p>
          <a:p>
            <a:pPr marL="12700">
              <a:lnSpc>
                <a:spcPct val="100000"/>
              </a:lnSpc>
              <a:spcBef>
                <a:spcPts val="1130"/>
              </a:spcBef>
              <a:tabLst>
                <a:tab pos="2893695" algn="l"/>
              </a:tabLst>
            </a:pPr>
            <a:r>
              <a:rPr i="1" spc="165" dirty="0">
                <a:latin typeface="Calibri"/>
                <a:cs typeface="Calibri"/>
              </a:rPr>
              <a:t>S</a:t>
            </a:r>
            <a:r>
              <a:rPr i="1" spc="65" dirty="0">
                <a:latin typeface="Calibri"/>
                <a:cs typeface="Calibri"/>
              </a:rPr>
              <a:t> </a:t>
            </a:r>
            <a:r>
              <a:rPr spc="295" dirty="0">
                <a:latin typeface="Calibri"/>
                <a:cs typeface="Calibri"/>
              </a:rPr>
              <a:t>=</a:t>
            </a:r>
            <a:r>
              <a:rPr spc="35" dirty="0">
                <a:latin typeface="Calibri"/>
                <a:cs typeface="Calibri"/>
              </a:rPr>
              <a:t> </a:t>
            </a:r>
            <a:r>
              <a:rPr spc="-30" dirty="0">
                <a:latin typeface="Calibri"/>
                <a:cs typeface="Calibri"/>
              </a:rPr>
              <a:t>40</a:t>
            </a:r>
            <a:r>
              <a:rPr spc="-114" dirty="0">
                <a:latin typeface="Calibri"/>
                <a:cs typeface="Calibri"/>
              </a:rPr>
              <a:t> </a:t>
            </a:r>
            <a:r>
              <a:rPr spc="-35" dirty="0">
                <a:latin typeface="Lucida Sans Unicode"/>
                <a:cs typeface="Lucida Sans Unicode"/>
              </a:rPr>
              <a:t>−</a:t>
            </a:r>
            <a:r>
              <a:rPr spc="-215" dirty="0">
                <a:latin typeface="Lucida Sans Unicode"/>
                <a:cs typeface="Lucida Sans Unicode"/>
              </a:rPr>
              <a:t> </a:t>
            </a:r>
            <a:r>
              <a:rPr dirty="0">
                <a:latin typeface="Calibri"/>
                <a:cs typeface="Calibri"/>
              </a:rPr>
              <a:t>50</a:t>
            </a:r>
            <a:r>
              <a:rPr spc="25" dirty="0">
                <a:latin typeface="Calibri"/>
                <a:cs typeface="Calibri"/>
              </a:rPr>
              <a:t> </a:t>
            </a:r>
            <a:r>
              <a:rPr spc="295" dirty="0">
                <a:latin typeface="Calibri"/>
                <a:cs typeface="Calibri"/>
              </a:rPr>
              <a:t>=</a:t>
            </a:r>
            <a:r>
              <a:rPr spc="30" dirty="0">
                <a:latin typeface="Calibri"/>
                <a:cs typeface="Calibri"/>
              </a:rPr>
              <a:t> </a:t>
            </a:r>
            <a:r>
              <a:rPr dirty="0">
                <a:latin typeface="Lucida Sans Unicode"/>
                <a:cs typeface="Lucida Sans Unicode"/>
              </a:rPr>
              <a:t>−</a:t>
            </a:r>
            <a:r>
              <a:rPr dirty="0">
                <a:latin typeface="Calibri"/>
                <a:cs typeface="Calibri"/>
              </a:rPr>
              <a:t>10</a:t>
            </a:r>
            <a:r>
              <a:rPr spc="90" dirty="0">
                <a:latin typeface="Calibri"/>
                <a:cs typeface="Calibri"/>
              </a:rPr>
              <a:t> </a:t>
            </a:r>
            <a:r>
              <a:rPr dirty="0"/>
              <a:t>(No</a:t>
            </a:r>
            <a:r>
              <a:rPr spc="-15" dirty="0"/>
              <a:t> </a:t>
            </a:r>
            <a:r>
              <a:rPr spc="-60" dirty="0"/>
              <a:t>more</a:t>
            </a:r>
            <a:r>
              <a:rPr spc="-5" dirty="0"/>
              <a:t> </a:t>
            </a:r>
            <a:r>
              <a:rPr spc="-40" dirty="0"/>
              <a:t>susceptible</a:t>
            </a:r>
            <a:r>
              <a:rPr spc="-10" dirty="0"/>
              <a:t> left)</a:t>
            </a:r>
            <a:r>
              <a:rPr i="1" spc="-10" dirty="0">
                <a:latin typeface="Calibri"/>
                <a:cs typeface="Calibri"/>
              </a:rPr>
              <a:t>,</a:t>
            </a:r>
            <a:r>
              <a:rPr i="1" dirty="0">
                <a:latin typeface="Calibri"/>
                <a:cs typeface="Calibri"/>
              </a:rPr>
              <a:t>	</a:t>
            </a:r>
            <a:r>
              <a:rPr i="1" spc="225" dirty="0">
                <a:latin typeface="Calibri"/>
                <a:cs typeface="Calibri"/>
              </a:rPr>
              <a:t>R</a:t>
            </a:r>
            <a:r>
              <a:rPr i="1" spc="50" dirty="0">
                <a:latin typeface="Calibri"/>
                <a:cs typeface="Calibri"/>
              </a:rPr>
              <a:t> </a:t>
            </a:r>
            <a:r>
              <a:rPr spc="295" dirty="0">
                <a:latin typeface="Calibri"/>
                <a:cs typeface="Calibri"/>
              </a:rPr>
              <a:t>=</a:t>
            </a:r>
            <a:r>
              <a:rPr spc="55" dirty="0">
                <a:latin typeface="Calibri"/>
                <a:cs typeface="Calibri"/>
              </a:rPr>
              <a:t> </a:t>
            </a:r>
            <a:r>
              <a:rPr spc="-30" dirty="0">
                <a:latin typeface="Calibri"/>
                <a:cs typeface="Calibri"/>
              </a:rPr>
              <a:t>150</a:t>
            </a:r>
            <a:r>
              <a:rPr spc="-114" dirty="0">
                <a:latin typeface="Calibri"/>
                <a:cs typeface="Calibri"/>
              </a:rPr>
              <a:t> </a:t>
            </a:r>
            <a:r>
              <a:rPr spc="295" dirty="0">
                <a:latin typeface="Calibri"/>
                <a:cs typeface="Calibri"/>
              </a:rPr>
              <a:t>+</a:t>
            </a:r>
            <a:r>
              <a:rPr spc="-114" dirty="0">
                <a:latin typeface="Calibri"/>
                <a:cs typeface="Calibri"/>
              </a:rPr>
              <a:t> </a:t>
            </a:r>
            <a:r>
              <a:rPr lang="en-US" spc="-114" dirty="0">
                <a:latin typeface="Calibri"/>
                <a:cs typeface="Calibri"/>
              </a:rPr>
              <a:t>40</a:t>
            </a:r>
            <a:r>
              <a:rPr spc="45" dirty="0">
                <a:latin typeface="Calibri"/>
                <a:cs typeface="Calibri"/>
              </a:rPr>
              <a:t> </a:t>
            </a:r>
            <a:r>
              <a:rPr spc="295" dirty="0">
                <a:latin typeface="Calibri"/>
                <a:cs typeface="Calibri"/>
              </a:rPr>
              <a:t>=</a:t>
            </a:r>
            <a:r>
              <a:rPr spc="55" dirty="0">
                <a:latin typeface="Calibri"/>
                <a:cs typeface="Calibri"/>
              </a:rPr>
              <a:t> </a:t>
            </a:r>
            <a:r>
              <a:rPr lang="en-US" spc="-25" dirty="0">
                <a:latin typeface="Calibri"/>
                <a:cs typeface="Calibri"/>
              </a:rPr>
              <a:t>190</a:t>
            </a:r>
            <a:endParaRPr spc="-25" dirty="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7" name="object 7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4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46</a:t>
            </a:r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93</a:t>
            </a:r>
          </a:p>
        </p:txBody>
      </p:sp>
    </p:spTree>
  </p:cSld>
  <p:clrMapOvr>
    <a:masterClrMapping/>
  </p:clrMapOvr>
  <p:transition>
    <p:cut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1013"/>
            <a:ext cx="132778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5" dirty="0"/>
              <a:t>Analysis</a:t>
            </a:r>
            <a:r>
              <a:rPr spc="10" dirty="0"/>
              <a:t> </a:t>
            </a:r>
            <a:r>
              <a:rPr dirty="0"/>
              <a:t>of</a:t>
            </a:r>
            <a:r>
              <a:rPr spc="10" dirty="0"/>
              <a:t> </a:t>
            </a:r>
            <a:r>
              <a:rPr spc="-55" dirty="0"/>
              <a:t>Results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176680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386713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596745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806778"/>
            <a:ext cx="65265" cy="65265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xfrm>
            <a:off x="402932" y="870646"/>
            <a:ext cx="4079240" cy="1371196"/>
          </a:xfrm>
          <a:prstGeom prst="rect">
            <a:avLst/>
          </a:prstGeom>
        </p:spPr>
        <p:txBody>
          <a:bodyPr vert="horz" wrap="square" lIns="0" tIns="191503" rIns="0" bIns="0" rtlCol="0">
            <a:spAutoFit/>
          </a:bodyPr>
          <a:lstStyle/>
          <a:p>
            <a:pPr marL="12700" marR="126364">
              <a:lnSpc>
                <a:spcPct val="125299"/>
              </a:lnSpc>
              <a:spcBef>
                <a:spcPts val="100"/>
              </a:spcBef>
            </a:pPr>
            <a:r>
              <a:rPr dirty="0"/>
              <a:t>By</a:t>
            </a:r>
            <a:r>
              <a:rPr spc="-35" dirty="0"/>
              <a:t> </a:t>
            </a:r>
            <a:r>
              <a:rPr spc="-10" dirty="0"/>
              <a:t>Day</a:t>
            </a:r>
            <a:r>
              <a:rPr spc="-30" dirty="0"/>
              <a:t> </a:t>
            </a:r>
            <a:r>
              <a:rPr lang="en-US" spc="-30" dirty="0"/>
              <a:t>4</a:t>
            </a:r>
            <a:r>
              <a:rPr dirty="0"/>
              <a:t>,</a:t>
            </a:r>
            <a:r>
              <a:rPr spc="-25" dirty="0"/>
              <a:t> </a:t>
            </a:r>
            <a:r>
              <a:rPr dirty="0"/>
              <a:t>all</a:t>
            </a:r>
            <a:r>
              <a:rPr spc="-30" dirty="0"/>
              <a:t> </a:t>
            </a:r>
            <a:r>
              <a:rPr spc="-40" dirty="0"/>
              <a:t>susceptible</a:t>
            </a:r>
            <a:r>
              <a:rPr spc="-25" dirty="0"/>
              <a:t> </a:t>
            </a:r>
            <a:r>
              <a:rPr spc="-40" dirty="0"/>
              <a:t>computers</a:t>
            </a:r>
            <a:r>
              <a:rPr spc="-30" dirty="0"/>
              <a:t> </a:t>
            </a:r>
            <a:r>
              <a:rPr spc="-60" dirty="0"/>
              <a:t>are</a:t>
            </a:r>
            <a:r>
              <a:rPr spc="-30" dirty="0"/>
              <a:t> </a:t>
            </a:r>
            <a:r>
              <a:rPr spc="-25" dirty="0"/>
              <a:t>either </a:t>
            </a:r>
            <a:r>
              <a:rPr spc="-35" dirty="0"/>
              <a:t>infected</a:t>
            </a:r>
            <a:r>
              <a:rPr spc="-25" dirty="0"/>
              <a:t> </a:t>
            </a:r>
            <a:r>
              <a:rPr spc="-20" dirty="0"/>
              <a:t>or</a:t>
            </a:r>
            <a:r>
              <a:rPr spc="-30" dirty="0"/>
              <a:t> </a:t>
            </a:r>
            <a:r>
              <a:rPr spc="-40" dirty="0"/>
              <a:t>patched. </a:t>
            </a:r>
            <a:r>
              <a:rPr dirty="0"/>
              <a:t>Total</a:t>
            </a:r>
            <a:r>
              <a:rPr spc="-35" dirty="0"/>
              <a:t> infected </a:t>
            </a:r>
            <a:r>
              <a:rPr spc="-40" dirty="0"/>
              <a:t>computers:</a:t>
            </a:r>
            <a:r>
              <a:rPr spc="65" dirty="0"/>
              <a:t> </a:t>
            </a:r>
            <a:r>
              <a:rPr spc="-25" dirty="0"/>
              <a:t>8</a:t>
            </a:r>
            <a:r>
              <a:rPr lang="en-US" spc="-25" dirty="0"/>
              <a:t>10</a:t>
            </a:r>
            <a:endParaRPr spc="-25" dirty="0"/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dirty="0"/>
              <a:t>Total</a:t>
            </a:r>
            <a:r>
              <a:rPr spc="-50" dirty="0"/>
              <a:t> </a:t>
            </a:r>
            <a:r>
              <a:rPr spc="-35" dirty="0"/>
              <a:t>patched</a:t>
            </a:r>
            <a:r>
              <a:rPr spc="-45" dirty="0"/>
              <a:t> </a:t>
            </a:r>
            <a:r>
              <a:rPr spc="-40" dirty="0"/>
              <a:t>computers:</a:t>
            </a:r>
            <a:r>
              <a:rPr spc="55" dirty="0"/>
              <a:t> </a:t>
            </a:r>
            <a:r>
              <a:rPr lang="en-US" spc="-25" dirty="0"/>
              <a:t>190</a:t>
            </a:r>
            <a:endParaRPr spc="-25" dirty="0"/>
          </a:p>
          <a:p>
            <a:pPr marL="12700" marR="5080">
              <a:lnSpc>
                <a:spcPct val="102600"/>
              </a:lnSpc>
              <a:spcBef>
                <a:spcPts val="300"/>
              </a:spcBef>
            </a:pPr>
            <a:r>
              <a:rPr dirty="0"/>
              <a:t>Patch</a:t>
            </a:r>
            <a:r>
              <a:rPr spc="-85" dirty="0"/>
              <a:t> </a:t>
            </a:r>
            <a:r>
              <a:rPr spc="-55" dirty="0"/>
              <a:t>management</a:t>
            </a:r>
            <a:r>
              <a:rPr spc="-30" dirty="0"/>
              <a:t> </a:t>
            </a:r>
            <a:r>
              <a:rPr dirty="0"/>
              <a:t>initially</a:t>
            </a:r>
            <a:r>
              <a:rPr spc="-40" dirty="0"/>
              <a:t> </a:t>
            </a:r>
            <a:r>
              <a:rPr spc="-65" dirty="0"/>
              <a:t>slowed</a:t>
            </a:r>
            <a:r>
              <a:rPr spc="-25" dirty="0"/>
              <a:t> </a:t>
            </a:r>
            <a:r>
              <a:rPr spc="-10" dirty="0"/>
              <a:t>the</a:t>
            </a:r>
            <a:r>
              <a:rPr spc="-35" dirty="0"/>
              <a:t> </a:t>
            </a:r>
            <a:r>
              <a:rPr spc="-65" dirty="0"/>
              <a:t>spread</a:t>
            </a:r>
            <a:r>
              <a:rPr spc="-20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spc="-10" dirty="0"/>
              <a:t>the</a:t>
            </a:r>
            <a:r>
              <a:rPr spc="-35" dirty="0"/>
              <a:t> </a:t>
            </a:r>
            <a:r>
              <a:rPr spc="-65" dirty="0"/>
              <a:t>worm</a:t>
            </a:r>
            <a:r>
              <a:rPr spc="-25" dirty="0"/>
              <a:t> </a:t>
            </a:r>
            <a:r>
              <a:rPr dirty="0"/>
              <a:t>but</a:t>
            </a:r>
            <a:r>
              <a:rPr spc="-35" dirty="0"/>
              <a:t> </a:t>
            </a:r>
            <a:r>
              <a:rPr spc="-25" dirty="0"/>
              <a:t>was </a:t>
            </a:r>
            <a:r>
              <a:rPr dirty="0"/>
              <a:t>not</a:t>
            </a:r>
            <a:r>
              <a:rPr spc="-25" dirty="0"/>
              <a:t> </a:t>
            </a:r>
            <a:r>
              <a:rPr spc="-60" dirty="0"/>
              <a:t>enough</a:t>
            </a:r>
            <a:r>
              <a:rPr spc="-20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spc="-45" dirty="0"/>
              <a:t>prevent</a:t>
            </a:r>
            <a:r>
              <a:rPr spc="-20" dirty="0"/>
              <a:t> </a:t>
            </a:r>
            <a:r>
              <a:rPr spc="-65" dirty="0"/>
              <a:t>widespread</a:t>
            </a:r>
            <a:r>
              <a:rPr spc="-15" dirty="0"/>
              <a:t> </a:t>
            </a:r>
            <a:r>
              <a:rPr spc="-25" dirty="0"/>
              <a:t>infection</a:t>
            </a:r>
            <a:r>
              <a:rPr spc="-20" dirty="0"/>
              <a:t> </a:t>
            </a:r>
            <a:r>
              <a:rPr spc="-50" dirty="0"/>
              <a:t>due</a:t>
            </a:r>
            <a:r>
              <a:rPr spc="-20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spc="-10" dirty="0"/>
              <a:t>the</a:t>
            </a:r>
            <a:r>
              <a:rPr spc="-20" dirty="0"/>
              <a:t> high </a:t>
            </a:r>
            <a:r>
              <a:rPr spc="-30" dirty="0"/>
              <a:t>infection </a:t>
            </a:r>
            <a:r>
              <a:rPr spc="-10" dirty="0"/>
              <a:t>rate.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9" name="object 9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4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48</a:t>
            </a:r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93</a:t>
            </a:r>
          </a:p>
        </p:txBody>
      </p:sp>
    </p:spTree>
  </p:cSld>
  <p:clrMapOvr>
    <a:masterClrMapping/>
  </p:clrMapOvr>
  <p:transition>
    <p:cut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1013"/>
            <a:ext cx="350012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Example</a:t>
            </a:r>
            <a:r>
              <a:rPr spc="15" dirty="0"/>
              <a:t> </a:t>
            </a:r>
            <a:r>
              <a:rPr dirty="0"/>
              <a:t>1:</a:t>
            </a:r>
            <a:r>
              <a:rPr spc="130" dirty="0"/>
              <a:t> </a:t>
            </a:r>
            <a:r>
              <a:rPr spc="-10" dirty="0"/>
              <a:t>Automated</a:t>
            </a:r>
            <a:r>
              <a:rPr spc="15" dirty="0"/>
              <a:t> </a:t>
            </a:r>
            <a:r>
              <a:rPr dirty="0"/>
              <a:t>Patch</a:t>
            </a:r>
            <a:r>
              <a:rPr spc="15" dirty="0"/>
              <a:t> </a:t>
            </a:r>
            <a:r>
              <a:rPr spc="-10" dirty="0"/>
              <a:t>Management</a:t>
            </a:r>
            <a:r>
              <a:rPr spc="15" dirty="0"/>
              <a:t> </a:t>
            </a:r>
            <a:r>
              <a:rPr spc="-25" dirty="0"/>
              <a:t>Tools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507974"/>
            <a:ext cx="4432935" cy="187960"/>
          </a:xfrm>
          <a:custGeom>
            <a:avLst/>
            <a:gdLst/>
            <a:ahLst/>
            <a:cxnLst/>
            <a:rect l="l" t="t" r="r" b="b"/>
            <a:pathLst>
              <a:path w="4432935" h="187959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4432566" y="187823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2672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8544" y="536422"/>
            <a:ext cx="518159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70" dirty="0">
                <a:solidFill>
                  <a:srgbClr val="FFFFFF"/>
                </a:solidFill>
                <a:latin typeface="Tahoma"/>
                <a:cs typeface="Tahoma"/>
              </a:rPr>
              <a:t>Scenario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8544" y="697698"/>
            <a:ext cx="4432935" cy="5359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R="170815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An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organization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with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1,000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computers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is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at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risk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of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infection 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from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a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newly discovered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65" dirty="0">
                <a:solidFill>
                  <a:srgbClr val="191933"/>
                </a:solidFill>
                <a:latin typeface="Tahoma"/>
                <a:cs typeface="Tahoma"/>
              </a:rPr>
              <a:t>worm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exploiting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a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zero-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day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vulnerability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in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a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commonly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used </a:t>
            </a:r>
            <a:r>
              <a:rPr sz="1100" spc="-55" dirty="0">
                <a:solidFill>
                  <a:srgbClr val="191933"/>
                </a:solidFill>
                <a:latin typeface="Tahoma"/>
                <a:cs typeface="Tahoma"/>
              </a:rPr>
              <a:t>software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application.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1" name="object 11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4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195587" y="3351784"/>
            <a:ext cx="28130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</a:rPr>
              <a:t>49</a:t>
            </a:r>
            <a:r>
              <a:rPr sz="6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00" spc="150" dirty="0">
                <a:solidFill>
                  <a:srgbClr val="FFFFFF"/>
                </a:solidFill>
                <a:latin typeface="Arial MT"/>
                <a:cs typeface="Arial MT"/>
              </a:rPr>
              <a:t>/</a:t>
            </a:r>
            <a:r>
              <a:rPr sz="6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Arial MT"/>
                <a:cs typeface="Arial MT"/>
              </a:rPr>
              <a:t>93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1013"/>
            <a:ext cx="350012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Example</a:t>
            </a:r>
            <a:r>
              <a:rPr spc="15" dirty="0"/>
              <a:t> </a:t>
            </a:r>
            <a:r>
              <a:rPr dirty="0"/>
              <a:t>1:</a:t>
            </a:r>
            <a:r>
              <a:rPr spc="130" dirty="0"/>
              <a:t> </a:t>
            </a:r>
            <a:r>
              <a:rPr spc="-10" dirty="0"/>
              <a:t>Automated</a:t>
            </a:r>
            <a:r>
              <a:rPr spc="15" dirty="0"/>
              <a:t> </a:t>
            </a:r>
            <a:r>
              <a:rPr dirty="0"/>
              <a:t>Patch</a:t>
            </a:r>
            <a:r>
              <a:rPr spc="15" dirty="0"/>
              <a:t> </a:t>
            </a:r>
            <a:r>
              <a:rPr spc="-10" dirty="0"/>
              <a:t>Management</a:t>
            </a:r>
            <a:r>
              <a:rPr spc="15" dirty="0"/>
              <a:t> </a:t>
            </a:r>
            <a:r>
              <a:rPr spc="-25" dirty="0"/>
              <a:t>Tools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507974"/>
            <a:ext cx="4432935" cy="187960"/>
          </a:xfrm>
          <a:custGeom>
            <a:avLst/>
            <a:gdLst/>
            <a:ahLst/>
            <a:cxnLst/>
            <a:rect l="l" t="t" r="r" b="b"/>
            <a:pathLst>
              <a:path w="4432935" h="187959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4432566" y="187823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2672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8544" y="536422"/>
            <a:ext cx="518159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70" dirty="0">
                <a:solidFill>
                  <a:srgbClr val="FFFFFF"/>
                </a:solidFill>
                <a:latin typeface="Tahoma"/>
                <a:cs typeface="Tahoma"/>
              </a:rPr>
              <a:t>Scenario</a:t>
            </a:r>
            <a:endParaRPr sz="1200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457350"/>
            <a:ext cx="65265" cy="6526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667383"/>
            <a:ext cx="65265" cy="6526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877415"/>
            <a:ext cx="65265" cy="65265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38544" y="697698"/>
            <a:ext cx="4432935" cy="146050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R="170815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An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organization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with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1,000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computers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is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at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risk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of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infection 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from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a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newly discovered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65" dirty="0">
                <a:solidFill>
                  <a:srgbClr val="191933"/>
                </a:solidFill>
                <a:latin typeface="Tahoma"/>
                <a:cs typeface="Tahoma"/>
              </a:rPr>
              <a:t>worm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exploiting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a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zero-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day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vulnerability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in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a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commonly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used </a:t>
            </a:r>
            <a:r>
              <a:rPr sz="1100" spc="-55" dirty="0">
                <a:solidFill>
                  <a:srgbClr val="191933"/>
                </a:solidFill>
                <a:latin typeface="Tahoma"/>
                <a:cs typeface="Tahoma"/>
              </a:rPr>
              <a:t>software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application.</a:t>
            </a:r>
            <a:endParaRPr lang="en-US" sz="1100" dirty="0">
              <a:latin typeface="Tahoma"/>
              <a:cs typeface="Tahoma"/>
            </a:endParaRPr>
          </a:p>
          <a:p>
            <a:pPr marL="276860">
              <a:lnSpc>
                <a:spcPct val="100000"/>
              </a:lnSpc>
              <a:spcBef>
                <a:spcPts val="1295"/>
              </a:spcBef>
            </a:pPr>
            <a:r>
              <a:rPr lang="en-US" sz="1100" b="1" dirty="0">
                <a:solidFill>
                  <a:srgbClr val="191933"/>
                </a:solidFill>
                <a:latin typeface="Arial"/>
                <a:cs typeface="Arial"/>
              </a:rPr>
              <a:t>Initial</a:t>
            </a:r>
            <a:r>
              <a:rPr lang="en-US" sz="1100" b="1" spc="5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lang="en-US" sz="1100" b="1" spc="-25" dirty="0">
                <a:solidFill>
                  <a:srgbClr val="191933"/>
                </a:solidFill>
                <a:latin typeface="Arial"/>
                <a:cs typeface="Arial"/>
              </a:rPr>
              <a:t>Vulnerability:</a:t>
            </a:r>
            <a:r>
              <a:rPr lang="en-US" sz="1100" b="1" spc="13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lang="en-US" sz="1100" dirty="0">
                <a:solidFill>
                  <a:srgbClr val="191933"/>
                </a:solidFill>
                <a:latin typeface="Tahoma"/>
                <a:cs typeface="Tahoma"/>
              </a:rPr>
              <a:t>All</a:t>
            </a:r>
            <a:r>
              <a:rPr lang="en-US"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lang="en-US" sz="1100" spc="-50" dirty="0">
                <a:solidFill>
                  <a:srgbClr val="191933"/>
                </a:solidFill>
                <a:latin typeface="Tahoma"/>
                <a:cs typeface="Tahoma"/>
              </a:rPr>
              <a:t>1,000</a:t>
            </a:r>
            <a:r>
              <a:rPr lang="en-US"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lang="en-US" sz="1100" spc="-40" dirty="0">
                <a:solidFill>
                  <a:srgbClr val="191933"/>
                </a:solidFill>
                <a:latin typeface="Tahoma"/>
                <a:cs typeface="Tahoma"/>
              </a:rPr>
              <a:t>computers</a:t>
            </a:r>
            <a:r>
              <a:rPr lang="en-US"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lang="en-US" sz="1100" spc="-60" dirty="0">
                <a:solidFill>
                  <a:srgbClr val="191933"/>
                </a:solidFill>
                <a:latin typeface="Tahoma"/>
                <a:cs typeface="Tahoma"/>
              </a:rPr>
              <a:t>are</a:t>
            </a:r>
            <a:r>
              <a:rPr lang="en-US" sz="1100" spc="-1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lang="en-US" sz="1100" dirty="0">
                <a:solidFill>
                  <a:srgbClr val="191933"/>
                </a:solidFill>
                <a:latin typeface="Tahoma"/>
                <a:cs typeface="Tahoma"/>
              </a:rPr>
              <a:t>initially</a:t>
            </a:r>
            <a:r>
              <a:rPr lang="en-US"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lang="en-US" sz="1100" spc="-10" dirty="0">
                <a:solidFill>
                  <a:srgbClr val="191933"/>
                </a:solidFill>
                <a:latin typeface="Tahoma"/>
                <a:cs typeface="Tahoma"/>
              </a:rPr>
              <a:t>vulnerable.</a:t>
            </a:r>
            <a:endParaRPr lang="en-US" sz="1100" dirty="0">
              <a:latin typeface="Tahoma"/>
              <a:cs typeface="Tahoma"/>
            </a:endParaRPr>
          </a:p>
          <a:p>
            <a:pPr marL="276860">
              <a:lnSpc>
                <a:spcPct val="100000"/>
              </a:lnSpc>
              <a:spcBef>
                <a:spcPts val="334"/>
              </a:spcBef>
            </a:pPr>
            <a:r>
              <a:rPr sz="1100" b="1" dirty="0">
                <a:solidFill>
                  <a:srgbClr val="191933"/>
                </a:solidFill>
                <a:latin typeface="Arial"/>
                <a:cs typeface="Arial"/>
              </a:rPr>
              <a:t>Patch</a:t>
            </a:r>
            <a:r>
              <a:rPr sz="1100" b="1" spc="1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-25" dirty="0">
                <a:solidFill>
                  <a:srgbClr val="191933"/>
                </a:solidFill>
                <a:latin typeface="Arial"/>
                <a:cs typeface="Arial"/>
              </a:rPr>
              <a:t>Availability:</a:t>
            </a:r>
            <a:r>
              <a:rPr sz="1100" b="1" spc="9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spc="55" dirty="0">
                <a:solidFill>
                  <a:srgbClr val="191933"/>
                </a:solidFill>
                <a:latin typeface="Tahoma"/>
                <a:cs typeface="Tahoma"/>
              </a:rPr>
              <a:t>A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patch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is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55" dirty="0">
                <a:solidFill>
                  <a:srgbClr val="191933"/>
                </a:solidFill>
                <a:latin typeface="Tahoma"/>
                <a:cs typeface="Tahoma"/>
              </a:rPr>
              <a:t>released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by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the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55" dirty="0">
                <a:solidFill>
                  <a:srgbClr val="191933"/>
                </a:solidFill>
                <a:latin typeface="Tahoma"/>
                <a:cs typeface="Tahoma"/>
              </a:rPr>
              <a:t>software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vendor.</a:t>
            </a:r>
            <a:endParaRPr sz="1100" dirty="0">
              <a:latin typeface="Tahoma"/>
              <a:cs typeface="Tahoma"/>
            </a:endParaRPr>
          </a:p>
          <a:p>
            <a:pPr marL="276860" marR="209550">
              <a:lnSpc>
                <a:spcPct val="102699"/>
              </a:lnSpc>
              <a:spcBef>
                <a:spcPts val="295"/>
              </a:spcBef>
            </a:pPr>
            <a:r>
              <a:rPr sz="1100" b="1" spc="-10" dirty="0">
                <a:solidFill>
                  <a:srgbClr val="191933"/>
                </a:solidFill>
                <a:latin typeface="Arial"/>
                <a:cs typeface="Arial"/>
              </a:rPr>
              <a:t>Automated</a:t>
            </a:r>
            <a:r>
              <a:rPr sz="1100" b="1" spc="1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191933"/>
                </a:solidFill>
                <a:latin typeface="Arial"/>
                <a:cs typeface="Arial"/>
              </a:rPr>
              <a:t>Patch</a:t>
            </a:r>
            <a:r>
              <a:rPr sz="1100" b="1" spc="1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-30" dirty="0">
                <a:solidFill>
                  <a:srgbClr val="191933"/>
                </a:solidFill>
                <a:latin typeface="Arial"/>
                <a:cs typeface="Arial"/>
              </a:rPr>
              <a:t>Deployment</a:t>
            </a:r>
            <a:r>
              <a:rPr sz="1100" b="1" spc="2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191933"/>
                </a:solidFill>
                <a:latin typeface="Arial"/>
                <a:cs typeface="Arial"/>
              </a:rPr>
              <a:t>Rate:</a:t>
            </a:r>
            <a:r>
              <a:rPr sz="1100" b="1" spc="8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Using</a:t>
            </a:r>
            <a:r>
              <a:rPr sz="1100" spc="-5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automated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tools</a:t>
            </a:r>
            <a:r>
              <a:rPr sz="1100" spc="-5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like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Microsoft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SCCM,</a:t>
            </a:r>
            <a:r>
              <a:rPr sz="1100" spc="-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patches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191933"/>
                </a:solidFill>
                <a:latin typeface="Tahoma"/>
                <a:cs typeface="Tahoma"/>
              </a:rPr>
              <a:t>are</a:t>
            </a:r>
            <a:r>
              <a:rPr sz="1100" spc="-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191933"/>
                </a:solidFill>
                <a:latin typeface="Tahoma"/>
                <a:cs typeface="Tahoma"/>
              </a:rPr>
              <a:t>deployed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to</a:t>
            </a:r>
            <a:r>
              <a:rPr sz="1100" spc="-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200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computers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per</a:t>
            </a:r>
            <a:r>
              <a:rPr sz="1100" spc="-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hour.</a:t>
            </a:r>
            <a:endParaRPr sz="1100" dirty="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4" name="object 14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4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4195587" y="3351784"/>
            <a:ext cx="28130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</a:rPr>
              <a:t>49</a:t>
            </a:r>
            <a:r>
              <a:rPr sz="6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00" spc="150" dirty="0">
                <a:solidFill>
                  <a:srgbClr val="FFFFFF"/>
                </a:solidFill>
                <a:latin typeface="Arial MT"/>
                <a:cs typeface="Arial MT"/>
              </a:rPr>
              <a:t>/</a:t>
            </a:r>
            <a:r>
              <a:rPr sz="6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Arial MT"/>
                <a:cs typeface="Arial MT"/>
              </a:rPr>
              <a:t>93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1013"/>
            <a:ext cx="350012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Example</a:t>
            </a:r>
            <a:r>
              <a:rPr spc="15" dirty="0"/>
              <a:t> </a:t>
            </a:r>
            <a:r>
              <a:rPr dirty="0"/>
              <a:t>1:</a:t>
            </a:r>
            <a:r>
              <a:rPr spc="130" dirty="0"/>
              <a:t> </a:t>
            </a:r>
            <a:r>
              <a:rPr spc="-10" dirty="0"/>
              <a:t>Automated</a:t>
            </a:r>
            <a:r>
              <a:rPr spc="15" dirty="0"/>
              <a:t> </a:t>
            </a:r>
            <a:r>
              <a:rPr dirty="0"/>
              <a:t>Patch</a:t>
            </a:r>
            <a:r>
              <a:rPr spc="15" dirty="0"/>
              <a:t> </a:t>
            </a:r>
            <a:r>
              <a:rPr spc="-10" dirty="0"/>
              <a:t>Management</a:t>
            </a:r>
            <a:r>
              <a:rPr spc="15" dirty="0"/>
              <a:t> </a:t>
            </a:r>
            <a:r>
              <a:rPr spc="-25" dirty="0"/>
              <a:t>Tools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507974"/>
            <a:ext cx="4432935" cy="187960"/>
          </a:xfrm>
          <a:custGeom>
            <a:avLst/>
            <a:gdLst/>
            <a:ahLst/>
            <a:cxnLst/>
            <a:rect l="l" t="t" r="r" b="b"/>
            <a:pathLst>
              <a:path w="4432935" h="187959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4432566" y="187823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2672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8544" y="536422"/>
            <a:ext cx="518159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70" dirty="0">
                <a:solidFill>
                  <a:srgbClr val="FFFFFF"/>
                </a:solidFill>
                <a:latin typeface="Tahoma"/>
                <a:cs typeface="Tahoma"/>
              </a:rPr>
              <a:t>Scenario</a:t>
            </a:r>
            <a:endParaRPr sz="1200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457350"/>
            <a:ext cx="65265" cy="6526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667383"/>
            <a:ext cx="65265" cy="6526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877415"/>
            <a:ext cx="65265" cy="65265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38544" y="697698"/>
            <a:ext cx="4432935" cy="146050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R="170815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An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organization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with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1,000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computers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is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at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risk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of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infection 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from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a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newly discovered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65" dirty="0">
                <a:solidFill>
                  <a:srgbClr val="191933"/>
                </a:solidFill>
                <a:latin typeface="Tahoma"/>
                <a:cs typeface="Tahoma"/>
              </a:rPr>
              <a:t>worm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exploiting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a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zero-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day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vulnerability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in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a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commonly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used </a:t>
            </a:r>
            <a:r>
              <a:rPr sz="1100" spc="-55" dirty="0">
                <a:solidFill>
                  <a:srgbClr val="191933"/>
                </a:solidFill>
                <a:latin typeface="Tahoma"/>
                <a:cs typeface="Tahoma"/>
              </a:rPr>
              <a:t>software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application.</a:t>
            </a:r>
            <a:endParaRPr sz="1100">
              <a:latin typeface="Tahoma"/>
              <a:cs typeface="Tahoma"/>
            </a:endParaRPr>
          </a:p>
          <a:p>
            <a:pPr marL="276860">
              <a:lnSpc>
                <a:spcPct val="100000"/>
              </a:lnSpc>
              <a:spcBef>
                <a:spcPts val="1295"/>
              </a:spcBef>
            </a:pPr>
            <a:r>
              <a:rPr sz="1100" b="1" dirty="0">
                <a:solidFill>
                  <a:srgbClr val="191933"/>
                </a:solidFill>
                <a:latin typeface="Arial"/>
                <a:cs typeface="Arial"/>
              </a:rPr>
              <a:t>Initial</a:t>
            </a:r>
            <a:r>
              <a:rPr sz="1100" b="1" spc="5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-25" dirty="0">
                <a:solidFill>
                  <a:srgbClr val="191933"/>
                </a:solidFill>
                <a:latin typeface="Arial"/>
                <a:cs typeface="Arial"/>
              </a:rPr>
              <a:t>Vulnerability:</a:t>
            </a:r>
            <a:r>
              <a:rPr sz="1100" b="1" spc="13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All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1,000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computers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191933"/>
                </a:solidFill>
                <a:latin typeface="Tahoma"/>
                <a:cs typeface="Tahoma"/>
              </a:rPr>
              <a:t>are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initially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vulnerable.</a:t>
            </a:r>
            <a:endParaRPr sz="1100">
              <a:latin typeface="Tahoma"/>
              <a:cs typeface="Tahoma"/>
            </a:endParaRPr>
          </a:p>
          <a:p>
            <a:pPr marL="276860">
              <a:lnSpc>
                <a:spcPct val="100000"/>
              </a:lnSpc>
              <a:spcBef>
                <a:spcPts val="334"/>
              </a:spcBef>
            </a:pPr>
            <a:r>
              <a:rPr sz="1100" b="1" dirty="0">
                <a:solidFill>
                  <a:srgbClr val="191933"/>
                </a:solidFill>
                <a:latin typeface="Arial"/>
                <a:cs typeface="Arial"/>
              </a:rPr>
              <a:t>Patch</a:t>
            </a:r>
            <a:r>
              <a:rPr sz="1100" b="1" spc="1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-25" dirty="0">
                <a:solidFill>
                  <a:srgbClr val="191933"/>
                </a:solidFill>
                <a:latin typeface="Arial"/>
                <a:cs typeface="Arial"/>
              </a:rPr>
              <a:t>Availability:</a:t>
            </a:r>
            <a:r>
              <a:rPr sz="1100" b="1" spc="9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spc="55" dirty="0">
                <a:solidFill>
                  <a:srgbClr val="191933"/>
                </a:solidFill>
                <a:latin typeface="Tahoma"/>
                <a:cs typeface="Tahoma"/>
              </a:rPr>
              <a:t>A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patch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is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55" dirty="0">
                <a:solidFill>
                  <a:srgbClr val="191933"/>
                </a:solidFill>
                <a:latin typeface="Tahoma"/>
                <a:cs typeface="Tahoma"/>
              </a:rPr>
              <a:t>released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by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the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55" dirty="0">
                <a:solidFill>
                  <a:srgbClr val="191933"/>
                </a:solidFill>
                <a:latin typeface="Tahoma"/>
                <a:cs typeface="Tahoma"/>
              </a:rPr>
              <a:t>software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vendor.</a:t>
            </a:r>
            <a:endParaRPr sz="1100">
              <a:latin typeface="Tahoma"/>
              <a:cs typeface="Tahoma"/>
            </a:endParaRPr>
          </a:p>
          <a:p>
            <a:pPr marL="276860" marR="209550">
              <a:lnSpc>
                <a:spcPct val="102699"/>
              </a:lnSpc>
              <a:spcBef>
                <a:spcPts val="295"/>
              </a:spcBef>
            </a:pPr>
            <a:r>
              <a:rPr sz="1100" b="1" spc="-10" dirty="0">
                <a:solidFill>
                  <a:srgbClr val="191933"/>
                </a:solidFill>
                <a:latin typeface="Arial"/>
                <a:cs typeface="Arial"/>
              </a:rPr>
              <a:t>Automated</a:t>
            </a:r>
            <a:r>
              <a:rPr sz="1100" b="1" spc="1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191933"/>
                </a:solidFill>
                <a:latin typeface="Arial"/>
                <a:cs typeface="Arial"/>
              </a:rPr>
              <a:t>Patch</a:t>
            </a:r>
            <a:r>
              <a:rPr sz="1100" b="1" spc="1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-30" dirty="0">
                <a:solidFill>
                  <a:srgbClr val="191933"/>
                </a:solidFill>
                <a:latin typeface="Arial"/>
                <a:cs typeface="Arial"/>
              </a:rPr>
              <a:t>Deployment</a:t>
            </a:r>
            <a:r>
              <a:rPr sz="1100" b="1" spc="2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191933"/>
                </a:solidFill>
                <a:latin typeface="Arial"/>
                <a:cs typeface="Arial"/>
              </a:rPr>
              <a:t>Rate:</a:t>
            </a:r>
            <a:r>
              <a:rPr sz="1100" b="1" spc="8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Using</a:t>
            </a:r>
            <a:r>
              <a:rPr sz="1100" spc="-5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automated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tools</a:t>
            </a:r>
            <a:r>
              <a:rPr sz="1100" spc="-5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like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Microsoft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SCCM,</a:t>
            </a:r>
            <a:r>
              <a:rPr sz="1100" spc="-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patches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191933"/>
                </a:solidFill>
                <a:latin typeface="Tahoma"/>
                <a:cs typeface="Tahoma"/>
              </a:rPr>
              <a:t>are</a:t>
            </a:r>
            <a:r>
              <a:rPr sz="1100" spc="-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191933"/>
                </a:solidFill>
                <a:latin typeface="Tahoma"/>
                <a:cs typeface="Tahoma"/>
              </a:rPr>
              <a:t>deployed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to</a:t>
            </a:r>
            <a:r>
              <a:rPr sz="1100" spc="-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200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computers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per</a:t>
            </a:r>
            <a:r>
              <a:rPr sz="1100" spc="-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hour.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7743" y="2283447"/>
            <a:ext cx="4432935" cy="198755"/>
          </a:xfrm>
          <a:custGeom>
            <a:avLst/>
            <a:gdLst/>
            <a:ahLst/>
            <a:cxnLst/>
            <a:rect l="l" t="t" r="r" b="b"/>
            <a:pathLst>
              <a:path w="4432935" h="198755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4432566" y="198367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2672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38544" y="2311907"/>
            <a:ext cx="425450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75" dirty="0">
                <a:solidFill>
                  <a:srgbClr val="FFFFFF"/>
                </a:solidFill>
                <a:latin typeface="Tahoma"/>
                <a:cs typeface="Tahoma"/>
              </a:rPr>
              <a:t>Impact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38544" y="2458440"/>
            <a:ext cx="4432935" cy="658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6860" marR="967740">
              <a:lnSpc>
                <a:spcPct val="129700"/>
              </a:lnSpc>
              <a:spcBef>
                <a:spcPts val="100"/>
              </a:spcBef>
            </a:pP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After</a:t>
            </a:r>
            <a:r>
              <a:rPr sz="800" b="1" spc="3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1</a:t>
            </a:r>
            <a:r>
              <a:rPr sz="800" b="1" spc="3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20" dirty="0">
                <a:solidFill>
                  <a:srgbClr val="191933"/>
                </a:solidFill>
                <a:latin typeface="Arial"/>
                <a:cs typeface="Arial"/>
              </a:rPr>
              <a:t>hour:</a:t>
            </a:r>
            <a:r>
              <a:rPr sz="800" b="1" spc="11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200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computers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patched,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800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computers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still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vulnerable. </a:t>
            </a: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After</a:t>
            </a:r>
            <a:r>
              <a:rPr sz="800" b="1" spc="3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2</a:t>
            </a:r>
            <a:r>
              <a:rPr sz="800" b="1" spc="3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35" dirty="0">
                <a:solidFill>
                  <a:srgbClr val="191933"/>
                </a:solidFill>
                <a:latin typeface="Arial"/>
                <a:cs typeface="Arial"/>
              </a:rPr>
              <a:t>hours:</a:t>
            </a:r>
            <a:r>
              <a:rPr sz="800" b="1" spc="11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400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computers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patched,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600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computers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still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vulnerable. </a:t>
            </a: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After</a:t>
            </a:r>
            <a:r>
              <a:rPr sz="800" b="1" spc="3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3</a:t>
            </a:r>
            <a:r>
              <a:rPr sz="800" b="1" spc="3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35" dirty="0">
                <a:solidFill>
                  <a:srgbClr val="191933"/>
                </a:solidFill>
                <a:latin typeface="Arial"/>
                <a:cs typeface="Arial"/>
              </a:rPr>
              <a:t>hours:</a:t>
            </a:r>
            <a:r>
              <a:rPr sz="800" b="1" spc="11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600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computers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patched,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400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computers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still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vulnerable. </a:t>
            </a: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After</a:t>
            </a:r>
            <a:r>
              <a:rPr sz="800" b="1" spc="4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5</a:t>
            </a:r>
            <a:r>
              <a:rPr sz="800" b="1" spc="3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35" dirty="0">
                <a:solidFill>
                  <a:srgbClr val="191933"/>
                </a:solidFill>
                <a:latin typeface="Arial"/>
                <a:cs typeface="Arial"/>
              </a:rPr>
              <a:t>hours:</a:t>
            </a:r>
            <a:r>
              <a:rPr sz="800" b="1" spc="12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All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1,000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computers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patched,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no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computers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vulnerable.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25" name="object 25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4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4195587" y="3351784"/>
            <a:ext cx="28130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</a:rPr>
              <a:t>49</a:t>
            </a:r>
            <a:r>
              <a:rPr sz="6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00" spc="150" dirty="0">
                <a:solidFill>
                  <a:srgbClr val="FFFFFF"/>
                </a:solidFill>
                <a:latin typeface="Arial MT"/>
                <a:cs typeface="Arial MT"/>
              </a:rPr>
              <a:t>/</a:t>
            </a:r>
            <a:r>
              <a:rPr sz="6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Arial MT"/>
                <a:cs typeface="Arial MT"/>
              </a:rPr>
              <a:t>93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Example</a:t>
            </a:r>
            <a:r>
              <a:rPr spc="30" dirty="0"/>
              <a:t> </a:t>
            </a:r>
            <a:r>
              <a:rPr dirty="0"/>
              <a:t>2:</a:t>
            </a:r>
            <a:r>
              <a:rPr spc="160" dirty="0"/>
              <a:t> </a:t>
            </a:r>
            <a:r>
              <a:rPr spc="-30" dirty="0"/>
              <a:t>Centralized</a:t>
            </a:r>
            <a:r>
              <a:rPr spc="30" dirty="0"/>
              <a:t> </a:t>
            </a:r>
            <a:r>
              <a:rPr dirty="0"/>
              <a:t>Patch</a:t>
            </a:r>
            <a:r>
              <a:rPr spc="35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422122"/>
            <a:ext cx="4432935" cy="187960"/>
          </a:xfrm>
          <a:custGeom>
            <a:avLst/>
            <a:gdLst/>
            <a:ahLst/>
            <a:cxnLst/>
            <a:rect l="l" t="t" r="r" b="b"/>
            <a:pathLst>
              <a:path w="4432935" h="187959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4432566" y="187823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2672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8544" y="450570"/>
            <a:ext cx="518159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70" dirty="0">
                <a:solidFill>
                  <a:srgbClr val="FFFFFF"/>
                </a:solidFill>
                <a:latin typeface="Tahoma"/>
                <a:cs typeface="Tahoma"/>
              </a:rPr>
              <a:t>Scenario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8544" y="623251"/>
            <a:ext cx="4432935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R="105410">
              <a:lnSpc>
                <a:spcPts val="950"/>
              </a:lnSpc>
              <a:spcBef>
                <a:spcPts val="135"/>
              </a:spcBef>
            </a:pP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8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multinational</a:t>
            </a:r>
            <a:r>
              <a:rPr sz="8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organization</a:t>
            </a:r>
            <a:r>
              <a:rPr sz="800" spc="6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with</a:t>
            </a:r>
            <a:r>
              <a:rPr sz="8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5,000</a:t>
            </a:r>
            <a:r>
              <a:rPr sz="800" spc="6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devices</a:t>
            </a:r>
            <a:r>
              <a:rPr sz="8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distributed</a:t>
            </a:r>
            <a:r>
              <a:rPr sz="8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across</a:t>
            </a:r>
            <a:r>
              <a:rPr sz="800" spc="6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five</a:t>
            </a:r>
            <a:r>
              <a:rPr sz="8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locations</a:t>
            </a:r>
            <a:r>
              <a:rPr sz="800" spc="6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worldwide</a:t>
            </a:r>
            <a:r>
              <a:rPr sz="8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faces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 a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threat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from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worm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exploiting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known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vulnerability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in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its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email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client.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1" name="object 11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4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195587" y="3351784"/>
            <a:ext cx="28130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</a:rPr>
              <a:t>50</a:t>
            </a:r>
            <a:r>
              <a:rPr sz="6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00" spc="150" dirty="0">
                <a:solidFill>
                  <a:srgbClr val="FFFFFF"/>
                </a:solidFill>
                <a:latin typeface="Arial MT"/>
                <a:cs typeface="Arial MT"/>
              </a:rPr>
              <a:t>/</a:t>
            </a:r>
            <a:r>
              <a:rPr sz="6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Arial MT"/>
                <a:cs typeface="Arial MT"/>
              </a:rPr>
              <a:t>93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Example</a:t>
            </a:r>
            <a:r>
              <a:rPr spc="30" dirty="0"/>
              <a:t> </a:t>
            </a:r>
            <a:r>
              <a:rPr dirty="0"/>
              <a:t>2:</a:t>
            </a:r>
            <a:r>
              <a:rPr spc="160" dirty="0"/>
              <a:t> </a:t>
            </a:r>
            <a:r>
              <a:rPr spc="-30" dirty="0"/>
              <a:t>Centralized</a:t>
            </a:r>
            <a:r>
              <a:rPr spc="30" dirty="0"/>
              <a:t> </a:t>
            </a:r>
            <a:r>
              <a:rPr dirty="0"/>
              <a:t>Patch</a:t>
            </a:r>
            <a:r>
              <a:rPr spc="35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422122"/>
            <a:ext cx="4432935" cy="187960"/>
          </a:xfrm>
          <a:custGeom>
            <a:avLst/>
            <a:gdLst/>
            <a:ahLst/>
            <a:cxnLst/>
            <a:rect l="l" t="t" r="r" b="b"/>
            <a:pathLst>
              <a:path w="4432935" h="187959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4432566" y="187823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2672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8544" y="450570"/>
            <a:ext cx="518159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70" dirty="0">
                <a:solidFill>
                  <a:srgbClr val="FFFFFF"/>
                </a:solidFill>
                <a:latin typeface="Tahoma"/>
                <a:cs typeface="Tahoma"/>
              </a:rPr>
              <a:t>Scenario</a:t>
            </a:r>
            <a:endParaRPr sz="1200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025944"/>
            <a:ext cx="65265" cy="6526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152766"/>
            <a:ext cx="65265" cy="6526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279588"/>
            <a:ext cx="65265" cy="65265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38544" y="623251"/>
            <a:ext cx="4432935" cy="87756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R="105410">
              <a:lnSpc>
                <a:spcPts val="950"/>
              </a:lnSpc>
              <a:spcBef>
                <a:spcPts val="135"/>
              </a:spcBef>
            </a:pP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8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multinational</a:t>
            </a:r>
            <a:r>
              <a:rPr sz="8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organization</a:t>
            </a:r>
            <a:r>
              <a:rPr sz="800" spc="6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with</a:t>
            </a:r>
            <a:r>
              <a:rPr sz="8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5,000</a:t>
            </a:r>
            <a:r>
              <a:rPr sz="800" spc="6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devices</a:t>
            </a:r>
            <a:r>
              <a:rPr sz="8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distributed</a:t>
            </a:r>
            <a:r>
              <a:rPr sz="8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across</a:t>
            </a:r>
            <a:r>
              <a:rPr sz="800" spc="6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five</a:t>
            </a:r>
            <a:r>
              <a:rPr sz="8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locations</a:t>
            </a:r>
            <a:r>
              <a:rPr sz="800" spc="6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worldwide</a:t>
            </a:r>
            <a:r>
              <a:rPr sz="8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faces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 a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threat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from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worm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exploiting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known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vulnerability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in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its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email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client.</a:t>
            </a:r>
            <a:endParaRPr sz="800">
              <a:latin typeface="Arial MT"/>
              <a:cs typeface="Arial MT"/>
            </a:endParaRPr>
          </a:p>
          <a:p>
            <a:pPr marL="276860">
              <a:lnSpc>
                <a:spcPct val="100000"/>
              </a:lnSpc>
              <a:spcBef>
                <a:spcPts val="870"/>
              </a:spcBef>
            </a:pP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Initial</a:t>
            </a:r>
            <a:r>
              <a:rPr sz="800" b="1" spc="4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25" dirty="0">
                <a:solidFill>
                  <a:srgbClr val="191933"/>
                </a:solidFill>
                <a:latin typeface="Arial"/>
                <a:cs typeface="Arial"/>
              </a:rPr>
              <a:t>Vulnerability:</a:t>
            </a:r>
            <a:r>
              <a:rPr sz="800" b="1" spc="12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All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5,000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devices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are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vulnerable.</a:t>
            </a:r>
            <a:endParaRPr sz="800">
              <a:latin typeface="Arial MT"/>
              <a:cs typeface="Arial MT"/>
            </a:endParaRPr>
          </a:p>
          <a:p>
            <a:pPr marL="276860">
              <a:lnSpc>
                <a:spcPct val="100000"/>
              </a:lnSpc>
              <a:spcBef>
                <a:spcPts val="35"/>
              </a:spcBef>
            </a:pP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Patch</a:t>
            </a:r>
            <a:r>
              <a:rPr sz="800" b="1" spc="2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20" dirty="0">
                <a:solidFill>
                  <a:srgbClr val="191933"/>
                </a:solidFill>
                <a:latin typeface="Arial"/>
                <a:cs typeface="Arial"/>
              </a:rPr>
              <a:t>Availability:</a:t>
            </a:r>
            <a:r>
              <a:rPr sz="800" b="1" spc="10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patch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is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available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and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40" dirty="0">
                <a:solidFill>
                  <a:srgbClr val="191933"/>
                </a:solidFill>
                <a:latin typeface="Arial MT"/>
                <a:cs typeface="Arial MT"/>
              </a:rPr>
              <a:t>needs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be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deployed.</a:t>
            </a:r>
            <a:endParaRPr sz="800">
              <a:latin typeface="Arial MT"/>
              <a:cs typeface="Arial MT"/>
            </a:endParaRPr>
          </a:p>
          <a:p>
            <a:pPr marL="276860" marR="161925">
              <a:lnSpc>
                <a:spcPts val="950"/>
              </a:lnSpc>
              <a:spcBef>
                <a:spcPts val="80"/>
              </a:spcBef>
            </a:pPr>
            <a:r>
              <a:rPr sz="800" b="1" spc="-20" dirty="0">
                <a:solidFill>
                  <a:srgbClr val="191933"/>
                </a:solidFill>
                <a:latin typeface="Arial"/>
                <a:cs typeface="Arial"/>
              </a:rPr>
              <a:t>Centralized</a:t>
            </a:r>
            <a:r>
              <a:rPr sz="800" b="1" spc="3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Patch</a:t>
            </a:r>
            <a:r>
              <a:rPr sz="800" b="1" spc="4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25" dirty="0">
                <a:solidFill>
                  <a:srgbClr val="191933"/>
                </a:solidFill>
                <a:latin typeface="Arial"/>
                <a:cs typeface="Arial"/>
              </a:rPr>
              <a:t>Deployment</a:t>
            </a:r>
            <a:r>
              <a:rPr sz="800" b="1" spc="3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Rate:</a:t>
            </a:r>
            <a:r>
              <a:rPr sz="800" b="1" spc="114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Using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tools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like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IBM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BigFix,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patches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are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deployed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 to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500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devices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per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location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per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hour.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4" name="object 14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4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4195587" y="3351784"/>
            <a:ext cx="28130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</a:rPr>
              <a:t>50</a:t>
            </a:r>
            <a:r>
              <a:rPr sz="6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00" spc="150" dirty="0">
                <a:solidFill>
                  <a:srgbClr val="FFFFFF"/>
                </a:solidFill>
                <a:latin typeface="Arial MT"/>
                <a:cs typeface="Arial MT"/>
              </a:rPr>
              <a:t>/</a:t>
            </a:r>
            <a:r>
              <a:rPr sz="6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Arial MT"/>
                <a:cs typeface="Arial MT"/>
              </a:rPr>
              <a:t>93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Example</a:t>
            </a:r>
            <a:r>
              <a:rPr spc="30" dirty="0"/>
              <a:t> </a:t>
            </a:r>
            <a:r>
              <a:rPr dirty="0"/>
              <a:t>2:</a:t>
            </a:r>
            <a:r>
              <a:rPr spc="160" dirty="0"/>
              <a:t> </a:t>
            </a:r>
            <a:r>
              <a:rPr spc="-30" dirty="0"/>
              <a:t>Centralized</a:t>
            </a:r>
            <a:r>
              <a:rPr spc="30" dirty="0"/>
              <a:t> </a:t>
            </a:r>
            <a:r>
              <a:rPr dirty="0"/>
              <a:t>Patch</a:t>
            </a:r>
            <a:r>
              <a:rPr spc="35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422122"/>
            <a:ext cx="4432935" cy="187960"/>
          </a:xfrm>
          <a:custGeom>
            <a:avLst/>
            <a:gdLst/>
            <a:ahLst/>
            <a:cxnLst/>
            <a:rect l="l" t="t" r="r" b="b"/>
            <a:pathLst>
              <a:path w="4432935" h="187959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4432566" y="187823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2672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8544" y="450570"/>
            <a:ext cx="518159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70" dirty="0">
                <a:solidFill>
                  <a:srgbClr val="FFFFFF"/>
                </a:solidFill>
                <a:latin typeface="Tahoma"/>
                <a:cs typeface="Tahoma"/>
              </a:rPr>
              <a:t>Scenario</a:t>
            </a:r>
            <a:endParaRPr sz="1200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025944"/>
            <a:ext cx="65265" cy="6526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152766"/>
            <a:ext cx="65265" cy="6526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279588"/>
            <a:ext cx="65265" cy="65265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38544" y="623251"/>
            <a:ext cx="4432935" cy="87756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R="105410">
              <a:lnSpc>
                <a:spcPts val="950"/>
              </a:lnSpc>
              <a:spcBef>
                <a:spcPts val="135"/>
              </a:spcBef>
            </a:pP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8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multinational</a:t>
            </a:r>
            <a:r>
              <a:rPr sz="8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organization</a:t>
            </a:r>
            <a:r>
              <a:rPr sz="800" spc="6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with</a:t>
            </a:r>
            <a:r>
              <a:rPr sz="8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5,000</a:t>
            </a:r>
            <a:r>
              <a:rPr sz="800" spc="6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devices</a:t>
            </a:r>
            <a:r>
              <a:rPr sz="8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distributed</a:t>
            </a:r>
            <a:r>
              <a:rPr sz="8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across</a:t>
            </a:r>
            <a:r>
              <a:rPr sz="800" spc="6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five</a:t>
            </a:r>
            <a:r>
              <a:rPr sz="8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locations</a:t>
            </a:r>
            <a:r>
              <a:rPr sz="800" spc="6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worldwide</a:t>
            </a:r>
            <a:r>
              <a:rPr sz="8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faces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 a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threat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from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worm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exploiting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known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vulnerability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in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its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email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client.</a:t>
            </a:r>
            <a:endParaRPr sz="800">
              <a:latin typeface="Arial MT"/>
              <a:cs typeface="Arial MT"/>
            </a:endParaRPr>
          </a:p>
          <a:p>
            <a:pPr marL="276860">
              <a:lnSpc>
                <a:spcPct val="100000"/>
              </a:lnSpc>
              <a:spcBef>
                <a:spcPts val="870"/>
              </a:spcBef>
            </a:pP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Initial</a:t>
            </a:r>
            <a:r>
              <a:rPr sz="800" b="1" spc="4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25" dirty="0">
                <a:solidFill>
                  <a:srgbClr val="191933"/>
                </a:solidFill>
                <a:latin typeface="Arial"/>
                <a:cs typeface="Arial"/>
              </a:rPr>
              <a:t>Vulnerability:</a:t>
            </a:r>
            <a:r>
              <a:rPr sz="800" b="1" spc="12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All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5,000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devices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are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vulnerable.</a:t>
            </a:r>
            <a:endParaRPr sz="800">
              <a:latin typeface="Arial MT"/>
              <a:cs typeface="Arial MT"/>
            </a:endParaRPr>
          </a:p>
          <a:p>
            <a:pPr marL="276860">
              <a:lnSpc>
                <a:spcPct val="100000"/>
              </a:lnSpc>
              <a:spcBef>
                <a:spcPts val="35"/>
              </a:spcBef>
            </a:pP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Patch</a:t>
            </a:r>
            <a:r>
              <a:rPr sz="800" b="1" spc="2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20" dirty="0">
                <a:solidFill>
                  <a:srgbClr val="191933"/>
                </a:solidFill>
                <a:latin typeface="Arial"/>
                <a:cs typeface="Arial"/>
              </a:rPr>
              <a:t>Availability:</a:t>
            </a:r>
            <a:r>
              <a:rPr sz="800" b="1" spc="10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patch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is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available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and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40" dirty="0">
                <a:solidFill>
                  <a:srgbClr val="191933"/>
                </a:solidFill>
                <a:latin typeface="Arial MT"/>
                <a:cs typeface="Arial MT"/>
              </a:rPr>
              <a:t>needs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be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deployed.</a:t>
            </a:r>
            <a:endParaRPr sz="800">
              <a:latin typeface="Arial MT"/>
              <a:cs typeface="Arial MT"/>
            </a:endParaRPr>
          </a:p>
          <a:p>
            <a:pPr marL="276860" marR="161925">
              <a:lnSpc>
                <a:spcPts val="950"/>
              </a:lnSpc>
              <a:spcBef>
                <a:spcPts val="80"/>
              </a:spcBef>
            </a:pPr>
            <a:r>
              <a:rPr sz="800" b="1" spc="-20" dirty="0">
                <a:solidFill>
                  <a:srgbClr val="191933"/>
                </a:solidFill>
                <a:latin typeface="Arial"/>
                <a:cs typeface="Arial"/>
              </a:rPr>
              <a:t>Centralized</a:t>
            </a:r>
            <a:r>
              <a:rPr sz="800" b="1" spc="3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Patch</a:t>
            </a:r>
            <a:r>
              <a:rPr sz="800" b="1" spc="4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25" dirty="0">
                <a:solidFill>
                  <a:srgbClr val="191933"/>
                </a:solidFill>
                <a:latin typeface="Arial"/>
                <a:cs typeface="Arial"/>
              </a:rPr>
              <a:t>Deployment</a:t>
            </a:r>
            <a:r>
              <a:rPr sz="800" b="1" spc="3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Rate:</a:t>
            </a:r>
            <a:r>
              <a:rPr sz="800" b="1" spc="114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Using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tools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like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IBM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BigFix,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patches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are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deployed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 to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500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devices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per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location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per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hour.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7743" y="1579498"/>
            <a:ext cx="4432935" cy="187960"/>
          </a:xfrm>
          <a:custGeom>
            <a:avLst/>
            <a:gdLst/>
            <a:ahLst/>
            <a:cxnLst/>
            <a:rect l="l" t="t" r="r" b="b"/>
            <a:pathLst>
              <a:path w="4432935" h="187960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4432566" y="187823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2672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38544" y="1607946"/>
            <a:ext cx="68897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40" dirty="0">
                <a:solidFill>
                  <a:srgbClr val="FFFFFF"/>
                </a:solidFill>
                <a:latin typeface="Tahoma"/>
                <a:cs typeface="Tahoma"/>
              </a:rPr>
              <a:t>Calculation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8544" y="1780627"/>
            <a:ext cx="4432935" cy="8242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6860">
              <a:lnSpc>
                <a:spcPct val="100000"/>
              </a:lnSpc>
              <a:spcBef>
                <a:spcPts val="95"/>
              </a:spcBef>
            </a:pP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Total</a:t>
            </a:r>
            <a:r>
              <a:rPr sz="800" b="1" spc="1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35" dirty="0">
                <a:solidFill>
                  <a:srgbClr val="191933"/>
                </a:solidFill>
                <a:latin typeface="Arial"/>
                <a:cs typeface="Arial"/>
              </a:rPr>
              <a:t>Devices</a:t>
            </a:r>
            <a:r>
              <a:rPr sz="800" b="1" spc="1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20" dirty="0">
                <a:solidFill>
                  <a:srgbClr val="191933"/>
                </a:solidFill>
                <a:latin typeface="Arial"/>
                <a:cs typeface="Arial"/>
              </a:rPr>
              <a:t>Patched</a:t>
            </a:r>
            <a:r>
              <a:rPr sz="800" b="1" spc="1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per</a:t>
            </a:r>
            <a:r>
              <a:rPr sz="800" b="1" spc="1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191933"/>
                </a:solidFill>
                <a:latin typeface="Arial"/>
                <a:cs typeface="Arial"/>
              </a:rPr>
              <a:t>Hour:</a:t>
            </a: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800">
              <a:latin typeface="Arial"/>
              <a:cs typeface="Arial"/>
            </a:endParaRPr>
          </a:p>
          <a:p>
            <a:pPr marL="175895" algn="ctr">
              <a:lnSpc>
                <a:spcPct val="100000"/>
              </a:lnSpc>
              <a:spcBef>
                <a:spcPts val="5"/>
              </a:spcBef>
            </a:pPr>
            <a:r>
              <a:rPr sz="800" dirty="0">
                <a:solidFill>
                  <a:srgbClr val="191933"/>
                </a:solidFill>
                <a:latin typeface="Calibri"/>
                <a:cs typeface="Calibri"/>
              </a:rPr>
              <a:t>500</a:t>
            </a:r>
            <a:r>
              <a:rPr sz="800" spc="12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devices/location </a:t>
            </a:r>
            <a:r>
              <a:rPr sz="800" i="1" spc="140" dirty="0">
                <a:solidFill>
                  <a:srgbClr val="191933"/>
                </a:solidFill>
                <a:latin typeface="Georgia"/>
                <a:cs typeface="Georgia"/>
              </a:rPr>
              <a:t>×</a:t>
            </a:r>
            <a:r>
              <a:rPr sz="800" i="1" spc="20" dirty="0">
                <a:solidFill>
                  <a:srgbClr val="191933"/>
                </a:solidFill>
                <a:latin typeface="Georgia"/>
                <a:cs typeface="Georgia"/>
              </a:rPr>
              <a:t> </a:t>
            </a:r>
            <a:r>
              <a:rPr sz="800" dirty="0">
                <a:solidFill>
                  <a:srgbClr val="191933"/>
                </a:solidFill>
                <a:latin typeface="Calibri"/>
                <a:cs typeface="Calibri"/>
              </a:rPr>
              <a:t>5</a:t>
            </a:r>
            <a:r>
              <a:rPr sz="800" spc="12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locations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254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800" spc="8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933"/>
                </a:solidFill>
                <a:latin typeface="Calibri"/>
                <a:cs typeface="Calibri"/>
              </a:rPr>
              <a:t>2</a:t>
            </a:r>
            <a:r>
              <a:rPr sz="800" i="1" dirty="0">
                <a:solidFill>
                  <a:srgbClr val="191933"/>
                </a:solidFill>
                <a:latin typeface="Calibri"/>
                <a:cs typeface="Calibri"/>
              </a:rPr>
              <a:t>,</a:t>
            </a:r>
            <a:r>
              <a:rPr sz="800" i="1" spc="-2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933"/>
                </a:solidFill>
                <a:latin typeface="Calibri"/>
                <a:cs typeface="Calibri"/>
              </a:rPr>
              <a:t>500</a:t>
            </a:r>
            <a:r>
              <a:rPr sz="800" spc="13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devices/hour</a:t>
            </a: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800">
              <a:latin typeface="Arial MT"/>
              <a:cs typeface="Arial MT"/>
            </a:endParaRPr>
          </a:p>
          <a:p>
            <a:pPr marL="276860">
              <a:lnSpc>
                <a:spcPct val="100000"/>
              </a:lnSpc>
            </a:pP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After</a:t>
            </a:r>
            <a:r>
              <a:rPr sz="800" b="1" spc="2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1</a:t>
            </a:r>
            <a:r>
              <a:rPr sz="800" b="1" spc="2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20" dirty="0">
                <a:solidFill>
                  <a:srgbClr val="191933"/>
                </a:solidFill>
                <a:latin typeface="Arial"/>
                <a:cs typeface="Arial"/>
              </a:rPr>
              <a:t>hour:</a:t>
            </a:r>
            <a:r>
              <a:rPr sz="800" b="1" spc="9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2,500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devices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patched,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2,500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vulnerable.</a:t>
            </a:r>
            <a:endParaRPr sz="800">
              <a:latin typeface="Arial MT"/>
              <a:cs typeface="Arial MT"/>
            </a:endParaRPr>
          </a:p>
          <a:p>
            <a:pPr marL="276860">
              <a:lnSpc>
                <a:spcPct val="100000"/>
              </a:lnSpc>
              <a:spcBef>
                <a:spcPts val="285"/>
              </a:spcBef>
            </a:pP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After</a:t>
            </a:r>
            <a:r>
              <a:rPr sz="800" b="1" spc="2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2</a:t>
            </a:r>
            <a:r>
              <a:rPr sz="800" b="1" spc="2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35" dirty="0">
                <a:solidFill>
                  <a:srgbClr val="191933"/>
                </a:solidFill>
                <a:latin typeface="Arial"/>
                <a:cs typeface="Arial"/>
              </a:rPr>
              <a:t>hours:</a:t>
            </a:r>
            <a:r>
              <a:rPr sz="800" b="1" spc="10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5,000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devices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patched,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0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vulnerable.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24" name="object 24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4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4195587" y="3351784"/>
            <a:ext cx="28130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</a:rPr>
              <a:t>50</a:t>
            </a:r>
            <a:r>
              <a:rPr sz="6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00" spc="150" dirty="0">
                <a:solidFill>
                  <a:srgbClr val="FFFFFF"/>
                </a:solidFill>
                <a:latin typeface="Arial MT"/>
                <a:cs typeface="Arial MT"/>
              </a:rPr>
              <a:t>/</a:t>
            </a:r>
            <a:r>
              <a:rPr sz="6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Arial MT"/>
                <a:cs typeface="Arial MT"/>
              </a:rPr>
              <a:t>93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Example</a:t>
            </a:r>
            <a:r>
              <a:rPr spc="30" dirty="0"/>
              <a:t> </a:t>
            </a:r>
            <a:r>
              <a:rPr dirty="0"/>
              <a:t>2:</a:t>
            </a:r>
            <a:r>
              <a:rPr spc="160" dirty="0"/>
              <a:t> </a:t>
            </a:r>
            <a:r>
              <a:rPr spc="-30" dirty="0"/>
              <a:t>Centralized</a:t>
            </a:r>
            <a:r>
              <a:rPr spc="30" dirty="0"/>
              <a:t> </a:t>
            </a:r>
            <a:r>
              <a:rPr dirty="0"/>
              <a:t>Patch</a:t>
            </a:r>
            <a:r>
              <a:rPr spc="35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422122"/>
            <a:ext cx="4432935" cy="187960"/>
          </a:xfrm>
          <a:custGeom>
            <a:avLst/>
            <a:gdLst/>
            <a:ahLst/>
            <a:cxnLst/>
            <a:rect l="l" t="t" r="r" b="b"/>
            <a:pathLst>
              <a:path w="4432935" h="187959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4432566" y="187823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2672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8544" y="450570"/>
            <a:ext cx="518159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70" dirty="0">
                <a:solidFill>
                  <a:srgbClr val="FFFFFF"/>
                </a:solidFill>
                <a:latin typeface="Tahoma"/>
                <a:cs typeface="Tahoma"/>
              </a:rPr>
              <a:t>Scenario</a:t>
            </a:r>
            <a:endParaRPr sz="1200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025944"/>
            <a:ext cx="65265" cy="6526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152766"/>
            <a:ext cx="65265" cy="6526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279588"/>
            <a:ext cx="65265" cy="65265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87743" y="623251"/>
            <a:ext cx="4483735" cy="87756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0800" marR="105410">
              <a:lnSpc>
                <a:spcPts val="950"/>
              </a:lnSpc>
              <a:spcBef>
                <a:spcPts val="135"/>
              </a:spcBef>
            </a:pP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8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multinational</a:t>
            </a:r>
            <a:r>
              <a:rPr sz="8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organization</a:t>
            </a:r>
            <a:r>
              <a:rPr sz="800" spc="6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with</a:t>
            </a:r>
            <a:r>
              <a:rPr sz="8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5,000</a:t>
            </a:r>
            <a:r>
              <a:rPr sz="800" spc="6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devices</a:t>
            </a:r>
            <a:r>
              <a:rPr sz="8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distributed</a:t>
            </a:r>
            <a:r>
              <a:rPr sz="8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across</a:t>
            </a:r>
            <a:r>
              <a:rPr sz="800" spc="6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five</a:t>
            </a:r>
            <a:r>
              <a:rPr sz="8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locations</a:t>
            </a:r>
            <a:r>
              <a:rPr sz="800" spc="6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worldwide</a:t>
            </a:r>
            <a:r>
              <a:rPr sz="8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faces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 a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threat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from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worm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exploiting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known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vulnerability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in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its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email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client.</a:t>
            </a:r>
            <a:endParaRPr sz="800">
              <a:latin typeface="Arial MT"/>
              <a:cs typeface="Arial MT"/>
            </a:endParaRPr>
          </a:p>
          <a:p>
            <a:pPr marL="327660">
              <a:lnSpc>
                <a:spcPct val="100000"/>
              </a:lnSpc>
              <a:spcBef>
                <a:spcPts val="870"/>
              </a:spcBef>
            </a:pP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Initial</a:t>
            </a:r>
            <a:r>
              <a:rPr sz="800" b="1" spc="4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25" dirty="0">
                <a:solidFill>
                  <a:srgbClr val="191933"/>
                </a:solidFill>
                <a:latin typeface="Arial"/>
                <a:cs typeface="Arial"/>
              </a:rPr>
              <a:t>Vulnerability:</a:t>
            </a:r>
            <a:r>
              <a:rPr sz="800" b="1" spc="12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All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5,000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devices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are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vulnerable.</a:t>
            </a:r>
            <a:endParaRPr sz="800">
              <a:latin typeface="Arial MT"/>
              <a:cs typeface="Arial MT"/>
            </a:endParaRPr>
          </a:p>
          <a:p>
            <a:pPr marL="327660">
              <a:lnSpc>
                <a:spcPct val="100000"/>
              </a:lnSpc>
              <a:spcBef>
                <a:spcPts val="35"/>
              </a:spcBef>
            </a:pP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Patch</a:t>
            </a:r>
            <a:r>
              <a:rPr sz="800" b="1" spc="2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20" dirty="0">
                <a:solidFill>
                  <a:srgbClr val="191933"/>
                </a:solidFill>
                <a:latin typeface="Arial"/>
                <a:cs typeface="Arial"/>
              </a:rPr>
              <a:t>Availability:</a:t>
            </a:r>
            <a:r>
              <a:rPr sz="800" b="1" spc="10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patch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is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available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and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40" dirty="0">
                <a:solidFill>
                  <a:srgbClr val="191933"/>
                </a:solidFill>
                <a:latin typeface="Arial MT"/>
                <a:cs typeface="Arial MT"/>
              </a:rPr>
              <a:t>needs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be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deployed.</a:t>
            </a:r>
            <a:endParaRPr sz="800">
              <a:latin typeface="Arial MT"/>
              <a:cs typeface="Arial MT"/>
            </a:endParaRPr>
          </a:p>
          <a:p>
            <a:pPr marL="327660" marR="161925">
              <a:lnSpc>
                <a:spcPts val="950"/>
              </a:lnSpc>
              <a:spcBef>
                <a:spcPts val="80"/>
              </a:spcBef>
            </a:pPr>
            <a:r>
              <a:rPr sz="800" b="1" spc="-20" dirty="0">
                <a:solidFill>
                  <a:srgbClr val="191933"/>
                </a:solidFill>
                <a:latin typeface="Arial"/>
                <a:cs typeface="Arial"/>
              </a:rPr>
              <a:t>Centralized</a:t>
            </a:r>
            <a:r>
              <a:rPr sz="800" b="1" spc="3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Patch</a:t>
            </a:r>
            <a:r>
              <a:rPr sz="800" b="1" spc="4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25" dirty="0">
                <a:solidFill>
                  <a:srgbClr val="191933"/>
                </a:solidFill>
                <a:latin typeface="Arial"/>
                <a:cs typeface="Arial"/>
              </a:rPr>
              <a:t>Deployment</a:t>
            </a:r>
            <a:r>
              <a:rPr sz="800" b="1" spc="3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Rate:</a:t>
            </a:r>
            <a:r>
              <a:rPr sz="800" b="1" spc="114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Using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tools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like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IBM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BigFix,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patches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are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deployed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 to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500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devices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per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location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per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hour.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7743" y="1579498"/>
            <a:ext cx="4432935" cy="187960"/>
          </a:xfrm>
          <a:custGeom>
            <a:avLst/>
            <a:gdLst/>
            <a:ahLst/>
            <a:cxnLst/>
            <a:rect l="l" t="t" r="r" b="b"/>
            <a:pathLst>
              <a:path w="4432935" h="187960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4432566" y="187823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2672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38544" y="1607946"/>
            <a:ext cx="68897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40" dirty="0">
                <a:solidFill>
                  <a:srgbClr val="FFFFFF"/>
                </a:solidFill>
                <a:latin typeface="Tahoma"/>
                <a:cs typeface="Tahoma"/>
              </a:rPr>
              <a:t>Calculation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7743" y="1780627"/>
            <a:ext cx="4483735" cy="8242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27660">
              <a:lnSpc>
                <a:spcPct val="100000"/>
              </a:lnSpc>
              <a:spcBef>
                <a:spcPts val="95"/>
              </a:spcBef>
            </a:pP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Total</a:t>
            </a:r>
            <a:r>
              <a:rPr sz="800" b="1" spc="1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35" dirty="0">
                <a:solidFill>
                  <a:srgbClr val="191933"/>
                </a:solidFill>
                <a:latin typeface="Arial"/>
                <a:cs typeface="Arial"/>
              </a:rPr>
              <a:t>Devices</a:t>
            </a:r>
            <a:r>
              <a:rPr sz="800" b="1" spc="1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20" dirty="0">
                <a:solidFill>
                  <a:srgbClr val="191933"/>
                </a:solidFill>
                <a:latin typeface="Arial"/>
                <a:cs typeface="Arial"/>
              </a:rPr>
              <a:t>Patched</a:t>
            </a:r>
            <a:r>
              <a:rPr sz="800" b="1" spc="1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per</a:t>
            </a:r>
            <a:r>
              <a:rPr sz="800" b="1" spc="1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191933"/>
                </a:solidFill>
                <a:latin typeface="Arial"/>
                <a:cs typeface="Arial"/>
              </a:rPr>
              <a:t>Hour:</a:t>
            </a: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800">
              <a:latin typeface="Arial"/>
              <a:cs typeface="Arial"/>
            </a:endParaRPr>
          </a:p>
          <a:p>
            <a:pPr marL="1078230">
              <a:lnSpc>
                <a:spcPct val="100000"/>
              </a:lnSpc>
              <a:spcBef>
                <a:spcPts val="5"/>
              </a:spcBef>
            </a:pPr>
            <a:r>
              <a:rPr sz="800" dirty="0">
                <a:solidFill>
                  <a:srgbClr val="191933"/>
                </a:solidFill>
                <a:latin typeface="Calibri"/>
                <a:cs typeface="Calibri"/>
              </a:rPr>
              <a:t>500</a:t>
            </a:r>
            <a:r>
              <a:rPr sz="800" spc="12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devices/location </a:t>
            </a:r>
            <a:r>
              <a:rPr sz="800" i="1" spc="140" dirty="0">
                <a:solidFill>
                  <a:srgbClr val="191933"/>
                </a:solidFill>
                <a:latin typeface="Georgia"/>
                <a:cs typeface="Georgia"/>
              </a:rPr>
              <a:t>×</a:t>
            </a:r>
            <a:r>
              <a:rPr sz="800" i="1" spc="20" dirty="0">
                <a:solidFill>
                  <a:srgbClr val="191933"/>
                </a:solidFill>
                <a:latin typeface="Georgia"/>
                <a:cs typeface="Georgia"/>
              </a:rPr>
              <a:t> </a:t>
            </a:r>
            <a:r>
              <a:rPr sz="800" dirty="0">
                <a:solidFill>
                  <a:srgbClr val="191933"/>
                </a:solidFill>
                <a:latin typeface="Calibri"/>
                <a:cs typeface="Calibri"/>
              </a:rPr>
              <a:t>5</a:t>
            </a:r>
            <a:r>
              <a:rPr sz="800" spc="12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locations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254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800" spc="8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933"/>
                </a:solidFill>
                <a:latin typeface="Calibri"/>
                <a:cs typeface="Calibri"/>
              </a:rPr>
              <a:t>2</a:t>
            </a:r>
            <a:r>
              <a:rPr sz="800" i="1" dirty="0">
                <a:solidFill>
                  <a:srgbClr val="191933"/>
                </a:solidFill>
                <a:latin typeface="Calibri"/>
                <a:cs typeface="Calibri"/>
              </a:rPr>
              <a:t>,</a:t>
            </a:r>
            <a:r>
              <a:rPr sz="800" i="1" spc="-2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933"/>
                </a:solidFill>
                <a:latin typeface="Calibri"/>
                <a:cs typeface="Calibri"/>
              </a:rPr>
              <a:t>500</a:t>
            </a:r>
            <a:r>
              <a:rPr sz="800" spc="13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devices/hour</a:t>
            </a: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800">
              <a:latin typeface="Arial MT"/>
              <a:cs typeface="Arial MT"/>
            </a:endParaRPr>
          </a:p>
          <a:p>
            <a:pPr marL="327660">
              <a:lnSpc>
                <a:spcPct val="100000"/>
              </a:lnSpc>
            </a:pP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After</a:t>
            </a:r>
            <a:r>
              <a:rPr sz="800" b="1" spc="2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1</a:t>
            </a:r>
            <a:r>
              <a:rPr sz="800" b="1" spc="2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20" dirty="0">
                <a:solidFill>
                  <a:srgbClr val="191933"/>
                </a:solidFill>
                <a:latin typeface="Arial"/>
                <a:cs typeface="Arial"/>
              </a:rPr>
              <a:t>hour:</a:t>
            </a:r>
            <a:r>
              <a:rPr sz="800" b="1" spc="9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2,500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devices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patched,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2,500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vulnerable.</a:t>
            </a:r>
            <a:endParaRPr sz="800">
              <a:latin typeface="Arial MT"/>
              <a:cs typeface="Arial MT"/>
            </a:endParaRPr>
          </a:p>
          <a:p>
            <a:pPr marL="327660">
              <a:lnSpc>
                <a:spcPct val="100000"/>
              </a:lnSpc>
              <a:spcBef>
                <a:spcPts val="285"/>
              </a:spcBef>
            </a:pP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After</a:t>
            </a:r>
            <a:r>
              <a:rPr sz="800" b="1" spc="2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2</a:t>
            </a:r>
            <a:r>
              <a:rPr sz="800" b="1" spc="2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35" dirty="0">
                <a:solidFill>
                  <a:srgbClr val="191933"/>
                </a:solidFill>
                <a:latin typeface="Arial"/>
                <a:cs typeface="Arial"/>
              </a:rPr>
              <a:t>hours:</a:t>
            </a:r>
            <a:r>
              <a:rPr sz="800" b="1" spc="10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5,000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devices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patched,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0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vulnerable.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7743" y="2756166"/>
            <a:ext cx="4432935" cy="187960"/>
          </a:xfrm>
          <a:custGeom>
            <a:avLst/>
            <a:gdLst/>
            <a:ahLst/>
            <a:cxnLst/>
            <a:rect l="l" t="t" r="r" b="b"/>
            <a:pathLst>
              <a:path w="4432935" h="187960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4432566" y="187823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2672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138544" y="2784614"/>
            <a:ext cx="563880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65" dirty="0">
                <a:solidFill>
                  <a:srgbClr val="FFFFFF"/>
                </a:solidFill>
                <a:latin typeface="Tahoma"/>
                <a:cs typeface="Tahoma"/>
              </a:rPr>
              <a:t>Outcome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7743" y="2957295"/>
            <a:ext cx="4483735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0800" marR="219075">
              <a:lnSpc>
                <a:spcPts val="950"/>
              </a:lnSpc>
              <a:spcBef>
                <a:spcPts val="135"/>
              </a:spcBef>
            </a:pP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Using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centralized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patch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management,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all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devices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across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organization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are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patched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within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50" dirty="0">
                <a:solidFill>
                  <a:srgbClr val="191933"/>
                </a:solidFill>
                <a:latin typeface="Arial MT"/>
                <a:cs typeface="Arial MT"/>
              </a:rPr>
              <a:t>2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 hours,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minimizing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risk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worm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infection.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31" name="object 31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4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4195587" y="3351784"/>
            <a:ext cx="28130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</a:rPr>
              <a:t>50</a:t>
            </a:r>
            <a:r>
              <a:rPr sz="6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00" spc="150" dirty="0">
                <a:solidFill>
                  <a:srgbClr val="FFFFFF"/>
                </a:solidFill>
                <a:latin typeface="Arial MT"/>
                <a:cs typeface="Arial MT"/>
              </a:rPr>
              <a:t>/</a:t>
            </a:r>
            <a:r>
              <a:rPr sz="6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Arial MT"/>
                <a:cs typeface="Arial MT"/>
              </a:rPr>
              <a:t>93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Example</a:t>
            </a:r>
            <a:r>
              <a:rPr spc="10" dirty="0"/>
              <a:t> </a:t>
            </a:r>
            <a:r>
              <a:rPr dirty="0"/>
              <a:t>3:</a:t>
            </a:r>
            <a:r>
              <a:rPr spc="125" dirty="0"/>
              <a:t> </a:t>
            </a:r>
            <a:r>
              <a:rPr dirty="0"/>
              <a:t>Patch</a:t>
            </a:r>
            <a:r>
              <a:rPr spc="10" dirty="0"/>
              <a:t> </a:t>
            </a:r>
            <a:r>
              <a:rPr spc="-20" dirty="0"/>
              <a:t>Prioritization</a:t>
            </a:r>
            <a:r>
              <a:rPr spc="10" dirty="0"/>
              <a:t> </a:t>
            </a:r>
            <a:r>
              <a:rPr spc="-10" dirty="0"/>
              <a:t>and</a:t>
            </a:r>
            <a:r>
              <a:rPr spc="10" dirty="0"/>
              <a:t> </a:t>
            </a:r>
            <a:r>
              <a:rPr spc="-30" dirty="0"/>
              <a:t>Risk</a:t>
            </a:r>
            <a:r>
              <a:rPr spc="15" dirty="0"/>
              <a:t> </a:t>
            </a:r>
            <a:r>
              <a:rPr spc="-65" dirty="0"/>
              <a:t>Assessment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417702"/>
            <a:ext cx="4432935" cy="187960"/>
          </a:xfrm>
          <a:custGeom>
            <a:avLst/>
            <a:gdLst/>
            <a:ahLst/>
            <a:cxnLst/>
            <a:rect l="l" t="t" r="r" b="b"/>
            <a:pathLst>
              <a:path w="4432935" h="187959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4432566" y="187823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2672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8544" y="446150"/>
            <a:ext cx="518159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70" dirty="0">
                <a:solidFill>
                  <a:srgbClr val="FFFFFF"/>
                </a:solidFill>
                <a:latin typeface="Tahoma"/>
                <a:cs typeface="Tahoma"/>
              </a:rPr>
              <a:t>Scenario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8544" y="618831"/>
            <a:ext cx="4432935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R="273685">
              <a:lnSpc>
                <a:spcPts val="950"/>
              </a:lnSpc>
              <a:spcBef>
                <a:spcPts val="135"/>
              </a:spcBef>
            </a:pP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healthcare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organization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with</a:t>
            </a:r>
            <a:r>
              <a:rPr sz="800" spc="5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2,000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devices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has</a:t>
            </a:r>
            <a:r>
              <a:rPr sz="800" spc="5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critical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vulnerability</a:t>
            </a:r>
            <a:r>
              <a:rPr sz="800" spc="5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affecting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its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patient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management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software.</a:t>
            </a:r>
            <a:r>
              <a:rPr sz="800" spc="1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organization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decides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prioritize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patching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high-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risk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devices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first.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1" name="object 11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4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195587" y="3351784"/>
            <a:ext cx="28130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</a:rPr>
              <a:t>51</a:t>
            </a:r>
            <a:r>
              <a:rPr sz="6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00" spc="150" dirty="0">
                <a:solidFill>
                  <a:srgbClr val="FFFFFF"/>
                </a:solidFill>
                <a:latin typeface="Arial MT"/>
                <a:cs typeface="Arial MT"/>
              </a:rPr>
              <a:t>/</a:t>
            </a:r>
            <a:r>
              <a:rPr sz="6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Arial MT"/>
                <a:cs typeface="Arial MT"/>
              </a:rPr>
              <a:t>93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Example</a:t>
            </a:r>
            <a:r>
              <a:rPr spc="10" dirty="0"/>
              <a:t> </a:t>
            </a:r>
            <a:r>
              <a:rPr dirty="0"/>
              <a:t>3:</a:t>
            </a:r>
            <a:r>
              <a:rPr spc="125" dirty="0"/>
              <a:t> </a:t>
            </a:r>
            <a:r>
              <a:rPr dirty="0"/>
              <a:t>Patch</a:t>
            </a:r>
            <a:r>
              <a:rPr spc="10" dirty="0"/>
              <a:t> </a:t>
            </a:r>
            <a:r>
              <a:rPr spc="-20" dirty="0"/>
              <a:t>Prioritization</a:t>
            </a:r>
            <a:r>
              <a:rPr spc="10" dirty="0"/>
              <a:t> </a:t>
            </a:r>
            <a:r>
              <a:rPr spc="-10" dirty="0"/>
              <a:t>and</a:t>
            </a:r>
            <a:r>
              <a:rPr spc="10" dirty="0"/>
              <a:t> </a:t>
            </a:r>
            <a:r>
              <a:rPr spc="-30" dirty="0"/>
              <a:t>Risk</a:t>
            </a:r>
            <a:r>
              <a:rPr spc="15" dirty="0"/>
              <a:t> </a:t>
            </a:r>
            <a:r>
              <a:rPr spc="-65" dirty="0"/>
              <a:t>Assessment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417702"/>
            <a:ext cx="4432935" cy="187960"/>
          </a:xfrm>
          <a:custGeom>
            <a:avLst/>
            <a:gdLst/>
            <a:ahLst/>
            <a:cxnLst/>
            <a:rect l="l" t="t" r="r" b="b"/>
            <a:pathLst>
              <a:path w="4432935" h="187959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4432566" y="187823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2672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8544" y="446150"/>
            <a:ext cx="518159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70" dirty="0">
                <a:solidFill>
                  <a:srgbClr val="FFFFFF"/>
                </a:solidFill>
                <a:latin typeface="Tahoma"/>
                <a:cs typeface="Tahoma"/>
              </a:rPr>
              <a:t>Scenario</a:t>
            </a:r>
            <a:endParaRPr sz="1200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013790"/>
            <a:ext cx="65265" cy="6526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165618"/>
            <a:ext cx="65265" cy="6526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0865" y="1330122"/>
            <a:ext cx="52590" cy="5259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0865" y="1633791"/>
            <a:ext cx="52590" cy="5259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0865" y="1785620"/>
            <a:ext cx="52590" cy="52590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138544" y="618831"/>
            <a:ext cx="4432935" cy="1260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R="273685">
              <a:lnSpc>
                <a:spcPts val="950"/>
              </a:lnSpc>
              <a:spcBef>
                <a:spcPts val="135"/>
              </a:spcBef>
            </a:pP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healthcare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organization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with</a:t>
            </a:r>
            <a:r>
              <a:rPr sz="800" spc="5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2,000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devices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has</a:t>
            </a:r>
            <a:r>
              <a:rPr sz="800" spc="5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critical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vulnerability</a:t>
            </a:r>
            <a:r>
              <a:rPr sz="800" spc="5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affecting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its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patient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management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software.</a:t>
            </a:r>
            <a:r>
              <a:rPr sz="800" spc="1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organization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decides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prioritize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patching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high-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risk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devices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first.</a:t>
            </a:r>
            <a:endParaRPr sz="800">
              <a:latin typeface="Arial MT"/>
              <a:cs typeface="Arial MT"/>
            </a:endParaRPr>
          </a:p>
          <a:p>
            <a:pPr marL="276860">
              <a:lnSpc>
                <a:spcPct val="100000"/>
              </a:lnSpc>
              <a:spcBef>
                <a:spcPts val="805"/>
              </a:spcBef>
            </a:pP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Initial</a:t>
            </a:r>
            <a:r>
              <a:rPr sz="800" b="1" spc="2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25" dirty="0">
                <a:solidFill>
                  <a:srgbClr val="191933"/>
                </a:solidFill>
                <a:latin typeface="Arial"/>
                <a:cs typeface="Arial"/>
              </a:rPr>
              <a:t>Vulnerability:</a:t>
            </a:r>
            <a:r>
              <a:rPr sz="800" b="1" spc="10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2,000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devices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are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vulnerable.</a:t>
            </a:r>
            <a:endParaRPr sz="800">
              <a:latin typeface="Arial MT"/>
              <a:cs typeface="Arial MT"/>
            </a:endParaRPr>
          </a:p>
          <a:p>
            <a:pPr marL="276860">
              <a:lnSpc>
                <a:spcPct val="100000"/>
              </a:lnSpc>
              <a:spcBef>
                <a:spcPts val="240"/>
              </a:spcBef>
            </a:pP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Patch</a:t>
            </a:r>
            <a:r>
              <a:rPr sz="800" b="1" spc="2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25" dirty="0">
                <a:solidFill>
                  <a:srgbClr val="191933"/>
                </a:solidFill>
                <a:latin typeface="Arial"/>
                <a:cs typeface="Arial"/>
              </a:rPr>
              <a:t>Deployment</a:t>
            </a:r>
            <a:r>
              <a:rPr sz="800" b="1" spc="2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191933"/>
                </a:solidFill>
                <a:latin typeface="Arial"/>
                <a:cs typeface="Arial"/>
              </a:rPr>
              <a:t>Plan:</a:t>
            </a:r>
            <a:endParaRPr sz="800">
              <a:latin typeface="Arial"/>
              <a:cs typeface="Arial"/>
            </a:endParaRPr>
          </a:p>
          <a:p>
            <a:pPr marL="553720" marR="281305">
              <a:lnSpc>
                <a:spcPct val="100000"/>
              </a:lnSpc>
              <a:spcBef>
                <a:spcPts val="35"/>
              </a:spcBef>
            </a:pPr>
            <a:r>
              <a:rPr sz="1000" spc="-30" dirty="0">
                <a:solidFill>
                  <a:srgbClr val="191933"/>
                </a:solidFill>
                <a:latin typeface="Tahoma"/>
                <a:cs typeface="Tahoma"/>
              </a:rPr>
              <a:t>High-</a:t>
            </a:r>
            <a:r>
              <a:rPr sz="1000" dirty="0">
                <a:solidFill>
                  <a:srgbClr val="191933"/>
                </a:solidFill>
                <a:latin typeface="Tahoma"/>
                <a:cs typeface="Tahoma"/>
              </a:rPr>
              <a:t>risk</a:t>
            </a: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40" dirty="0">
                <a:solidFill>
                  <a:srgbClr val="191933"/>
                </a:solidFill>
                <a:latin typeface="Tahoma"/>
                <a:cs typeface="Tahoma"/>
              </a:rPr>
              <a:t>devices</a:t>
            </a:r>
            <a:r>
              <a:rPr sz="10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(e.g.,</a:t>
            </a:r>
            <a:r>
              <a:rPr sz="10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40" dirty="0">
                <a:solidFill>
                  <a:srgbClr val="191933"/>
                </a:solidFill>
                <a:latin typeface="Tahoma"/>
                <a:cs typeface="Tahoma"/>
              </a:rPr>
              <a:t>those</a:t>
            </a: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40" dirty="0">
                <a:solidFill>
                  <a:srgbClr val="191933"/>
                </a:solidFill>
                <a:latin typeface="Tahoma"/>
                <a:cs typeface="Tahoma"/>
              </a:rPr>
              <a:t>connected</a:t>
            </a:r>
            <a:r>
              <a:rPr sz="10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191933"/>
                </a:solidFill>
                <a:latin typeface="Tahoma"/>
                <a:cs typeface="Tahoma"/>
              </a:rPr>
              <a:t>to</a:t>
            </a: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191933"/>
                </a:solidFill>
                <a:latin typeface="Tahoma"/>
                <a:cs typeface="Tahoma"/>
              </a:rPr>
              <a:t>critical</a:t>
            </a:r>
            <a:r>
              <a:rPr sz="1000" spc="-20" dirty="0">
                <a:solidFill>
                  <a:srgbClr val="191933"/>
                </a:solidFill>
                <a:latin typeface="Tahoma"/>
                <a:cs typeface="Tahoma"/>
              </a:rPr>
              <a:t> patient </a:t>
            </a:r>
            <a:r>
              <a:rPr sz="1000" spc="-45" dirty="0">
                <a:solidFill>
                  <a:srgbClr val="191933"/>
                </a:solidFill>
                <a:latin typeface="Tahoma"/>
                <a:cs typeface="Tahoma"/>
              </a:rPr>
              <a:t>systems): </a:t>
            </a:r>
            <a:r>
              <a:rPr sz="1000" spc="-40" dirty="0">
                <a:solidFill>
                  <a:srgbClr val="191933"/>
                </a:solidFill>
                <a:latin typeface="Tahoma"/>
                <a:cs typeface="Tahoma"/>
              </a:rPr>
              <a:t>800</a:t>
            </a:r>
            <a:r>
              <a:rPr sz="10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40" dirty="0">
                <a:solidFill>
                  <a:srgbClr val="191933"/>
                </a:solidFill>
                <a:latin typeface="Tahoma"/>
                <a:cs typeface="Tahoma"/>
              </a:rPr>
              <a:t>devices,</a:t>
            </a:r>
            <a:r>
              <a:rPr sz="10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35" dirty="0">
                <a:solidFill>
                  <a:srgbClr val="191933"/>
                </a:solidFill>
                <a:latin typeface="Tahoma"/>
                <a:cs typeface="Tahoma"/>
              </a:rPr>
              <a:t>patched</a:t>
            </a:r>
            <a:r>
              <a:rPr sz="10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191933"/>
                </a:solidFill>
                <a:latin typeface="Tahoma"/>
                <a:cs typeface="Tahoma"/>
              </a:rPr>
              <a:t>within</a:t>
            </a: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191933"/>
                </a:solidFill>
                <a:latin typeface="Tahoma"/>
                <a:cs typeface="Tahoma"/>
              </a:rPr>
              <a:t>1</a:t>
            </a:r>
            <a:r>
              <a:rPr sz="10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20" dirty="0">
                <a:solidFill>
                  <a:srgbClr val="191933"/>
                </a:solidFill>
                <a:latin typeface="Tahoma"/>
                <a:cs typeface="Tahoma"/>
              </a:rPr>
              <a:t>day.</a:t>
            </a:r>
            <a:endParaRPr sz="1000">
              <a:latin typeface="Tahoma"/>
              <a:cs typeface="Tahoma"/>
            </a:endParaRPr>
          </a:p>
          <a:p>
            <a:pPr marL="553720" marR="836294">
              <a:lnSpc>
                <a:spcPts val="1200"/>
              </a:lnSpc>
              <a:spcBef>
                <a:spcPts val="30"/>
              </a:spcBef>
            </a:pPr>
            <a:r>
              <a:rPr sz="1000" spc="-35" dirty="0">
                <a:solidFill>
                  <a:srgbClr val="191933"/>
                </a:solidFill>
                <a:latin typeface="Tahoma"/>
                <a:cs typeface="Tahoma"/>
              </a:rPr>
              <a:t>Medium-</a:t>
            </a:r>
            <a:r>
              <a:rPr sz="1000" dirty="0">
                <a:solidFill>
                  <a:srgbClr val="191933"/>
                </a:solidFill>
                <a:latin typeface="Tahoma"/>
                <a:cs typeface="Tahoma"/>
              </a:rPr>
              <a:t>risk</a:t>
            </a:r>
            <a:r>
              <a:rPr sz="1000" spc="-4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30" dirty="0">
                <a:solidFill>
                  <a:srgbClr val="191933"/>
                </a:solidFill>
                <a:latin typeface="Tahoma"/>
                <a:cs typeface="Tahoma"/>
              </a:rPr>
              <a:t>devices:</a:t>
            </a:r>
            <a:r>
              <a:rPr sz="1000" spc="5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40" dirty="0">
                <a:solidFill>
                  <a:srgbClr val="191933"/>
                </a:solidFill>
                <a:latin typeface="Tahoma"/>
                <a:cs typeface="Tahoma"/>
              </a:rPr>
              <a:t>700 devices,</a:t>
            </a:r>
            <a:r>
              <a:rPr sz="1000" spc="-35" dirty="0">
                <a:solidFill>
                  <a:srgbClr val="191933"/>
                </a:solidFill>
                <a:latin typeface="Tahoma"/>
                <a:cs typeface="Tahoma"/>
              </a:rPr>
              <a:t> patched</a:t>
            </a:r>
            <a:r>
              <a:rPr sz="1000" spc="-4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191933"/>
                </a:solidFill>
                <a:latin typeface="Tahoma"/>
                <a:cs typeface="Tahoma"/>
              </a:rPr>
              <a:t>within</a:t>
            </a:r>
            <a:r>
              <a:rPr sz="10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191933"/>
                </a:solidFill>
                <a:latin typeface="Tahoma"/>
                <a:cs typeface="Tahoma"/>
              </a:rPr>
              <a:t>2</a:t>
            </a:r>
            <a:r>
              <a:rPr sz="1000" spc="-4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30" dirty="0">
                <a:solidFill>
                  <a:srgbClr val="191933"/>
                </a:solidFill>
                <a:latin typeface="Tahoma"/>
                <a:cs typeface="Tahoma"/>
              </a:rPr>
              <a:t>days. </a:t>
            </a:r>
            <a:r>
              <a:rPr sz="1000" spc="-35" dirty="0">
                <a:solidFill>
                  <a:srgbClr val="191933"/>
                </a:solidFill>
                <a:latin typeface="Tahoma"/>
                <a:cs typeface="Tahoma"/>
              </a:rPr>
              <a:t>Low-</a:t>
            </a:r>
            <a:r>
              <a:rPr sz="1000" spc="-10" dirty="0">
                <a:solidFill>
                  <a:srgbClr val="191933"/>
                </a:solidFill>
                <a:latin typeface="Tahoma"/>
                <a:cs typeface="Tahoma"/>
              </a:rPr>
              <a:t>risk</a:t>
            </a:r>
            <a:r>
              <a:rPr sz="1000" spc="-5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30" dirty="0">
                <a:solidFill>
                  <a:srgbClr val="191933"/>
                </a:solidFill>
                <a:latin typeface="Tahoma"/>
                <a:cs typeface="Tahoma"/>
              </a:rPr>
              <a:t>devices:</a:t>
            </a:r>
            <a:r>
              <a:rPr sz="1000" spc="5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40" dirty="0">
                <a:solidFill>
                  <a:srgbClr val="191933"/>
                </a:solidFill>
                <a:latin typeface="Tahoma"/>
                <a:cs typeface="Tahoma"/>
              </a:rPr>
              <a:t>500 devices,</a:t>
            </a:r>
            <a:r>
              <a:rPr sz="1000" spc="-35" dirty="0">
                <a:solidFill>
                  <a:srgbClr val="191933"/>
                </a:solidFill>
                <a:latin typeface="Tahoma"/>
                <a:cs typeface="Tahoma"/>
              </a:rPr>
              <a:t> patched</a:t>
            </a:r>
            <a:r>
              <a:rPr sz="1000" spc="-4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191933"/>
                </a:solidFill>
                <a:latin typeface="Tahoma"/>
                <a:cs typeface="Tahoma"/>
              </a:rPr>
              <a:t>within</a:t>
            </a:r>
            <a:r>
              <a:rPr sz="1000" spc="-4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191933"/>
                </a:solidFill>
                <a:latin typeface="Tahoma"/>
                <a:cs typeface="Tahoma"/>
              </a:rPr>
              <a:t>3</a:t>
            </a:r>
            <a:r>
              <a:rPr sz="1000" spc="-4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191933"/>
                </a:solidFill>
                <a:latin typeface="Tahoma"/>
                <a:cs typeface="Tahoma"/>
              </a:rPr>
              <a:t>days.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6" name="object 16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4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4195587" y="3351784"/>
            <a:ext cx="28130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</a:rPr>
              <a:t>51</a:t>
            </a:r>
            <a:r>
              <a:rPr sz="6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00" spc="150" dirty="0">
                <a:solidFill>
                  <a:srgbClr val="FFFFFF"/>
                </a:solidFill>
                <a:latin typeface="Arial MT"/>
                <a:cs typeface="Arial MT"/>
              </a:rPr>
              <a:t>/</a:t>
            </a:r>
            <a:r>
              <a:rPr sz="6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Arial MT"/>
                <a:cs typeface="Arial MT"/>
              </a:rPr>
              <a:t>93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Example</a:t>
            </a:r>
            <a:r>
              <a:rPr spc="10" dirty="0"/>
              <a:t> </a:t>
            </a:r>
            <a:r>
              <a:rPr dirty="0"/>
              <a:t>3:</a:t>
            </a:r>
            <a:r>
              <a:rPr spc="125" dirty="0"/>
              <a:t> </a:t>
            </a:r>
            <a:r>
              <a:rPr dirty="0"/>
              <a:t>Patch</a:t>
            </a:r>
            <a:r>
              <a:rPr spc="10" dirty="0"/>
              <a:t> </a:t>
            </a:r>
            <a:r>
              <a:rPr spc="-20" dirty="0"/>
              <a:t>Prioritization</a:t>
            </a:r>
            <a:r>
              <a:rPr spc="10" dirty="0"/>
              <a:t> </a:t>
            </a:r>
            <a:r>
              <a:rPr spc="-10" dirty="0"/>
              <a:t>and</a:t>
            </a:r>
            <a:r>
              <a:rPr spc="10" dirty="0"/>
              <a:t> </a:t>
            </a:r>
            <a:r>
              <a:rPr spc="-30" dirty="0"/>
              <a:t>Risk</a:t>
            </a:r>
            <a:r>
              <a:rPr spc="15" dirty="0"/>
              <a:t> </a:t>
            </a:r>
            <a:r>
              <a:rPr spc="-65" dirty="0"/>
              <a:t>Assessment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417702"/>
            <a:ext cx="4432935" cy="187960"/>
          </a:xfrm>
          <a:custGeom>
            <a:avLst/>
            <a:gdLst/>
            <a:ahLst/>
            <a:cxnLst/>
            <a:rect l="l" t="t" r="r" b="b"/>
            <a:pathLst>
              <a:path w="4432935" h="187959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4432566" y="187823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2672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8544" y="446150"/>
            <a:ext cx="518159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70" dirty="0">
                <a:solidFill>
                  <a:srgbClr val="FFFFFF"/>
                </a:solidFill>
                <a:latin typeface="Tahoma"/>
                <a:cs typeface="Tahoma"/>
              </a:rPr>
              <a:t>Scenario</a:t>
            </a:r>
            <a:endParaRPr sz="1200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013790"/>
            <a:ext cx="65265" cy="6526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165618"/>
            <a:ext cx="65265" cy="6526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0865" y="1330122"/>
            <a:ext cx="52590" cy="5259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0865" y="1633791"/>
            <a:ext cx="52590" cy="5259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0865" y="1785620"/>
            <a:ext cx="52590" cy="52590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87743" y="1947633"/>
            <a:ext cx="4432935" cy="187960"/>
          </a:xfrm>
          <a:custGeom>
            <a:avLst/>
            <a:gdLst/>
            <a:ahLst/>
            <a:cxnLst/>
            <a:rect l="l" t="t" r="r" b="b"/>
            <a:pathLst>
              <a:path w="4432935" h="187960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4432566" y="187823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2672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38544" y="1976081"/>
            <a:ext cx="68897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40" dirty="0">
                <a:solidFill>
                  <a:srgbClr val="FFFFFF"/>
                </a:solidFill>
                <a:latin typeface="Tahoma"/>
                <a:cs typeface="Tahoma"/>
              </a:rPr>
              <a:t>Calculation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38544" y="618831"/>
            <a:ext cx="4432935" cy="199326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R="273685">
              <a:lnSpc>
                <a:spcPts val="950"/>
              </a:lnSpc>
              <a:spcBef>
                <a:spcPts val="135"/>
              </a:spcBef>
            </a:pP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healthcare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organization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with</a:t>
            </a:r>
            <a:r>
              <a:rPr sz="800" spc="5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2,000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devices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has</a:t>
            </a:r>
            <a:r>
              <a:rPr sz="800" spc="5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critical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vulnerability</a:t>
            </a:r>
            <a:r>
              <a:rPr sz="800" spc="5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affecting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its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patient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management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software.</a:t>
            </a:r>
            <a:r>
              <a:rPr sz="800" spc="1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organization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decides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prioritize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patching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high-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risk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devices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first.</a:t>
            </a:r>
            <a:endParaRPr sz="800" dirty="0">
              <a:latin typeface="Arial MT"/>
              <a:cs typeface="Arial MT"/>
            </a:endParaRPr>
          </a:p>
          <a:p>
            <a:pPr marL="276860">
              <a:lnSpc>
                <a:spcPct val="100000"/>
              </a:lnSpc>
              <a:spcBef>
                <a:spcPts val="805"/>
              </a:spcBef>
            </a:pP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Initial</a:t>
            </a:r>
            <a:r>
              <a:rPr sz="800" b="1" spc="2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25" dirty="0">
                <a:solidFill>
                  <a:srgbClr val="191933"/>
                </a:solidFill>
                <a:latin typeface="Arial"/>
                <a:cs typeface="Arial"/>
              </a:rPr>
              <a:t>Vulnerability:</a:t>
            </a:r>
            <a:r>
              <a:rPr sz="800" b="1" spc="10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2,000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devices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are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vulnerable.</a:t>
            </a:r>
            <a:endParaRPr sz="800" dirty="0">
              <a:latin typeface="Arial MT"/>
              <a:cs typeface="Arial MT"/>
            </a:endParaRPr>
          </a:p>
          <a:p>
            <a:pPr marL="276860">
              <a:lnSpc>
                <a:spcPct val="100000"/>
              </a:lnSpc>
              <a:spcBef>
                <a:spcPts val="240"/>
              </a:spcBef>
            </a:pP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Patch</a:t>
            </a:r>
            <a:r>
              <a:rPr sz="800" b="1" spc="2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25" dirty="0">
                <a:solidFill>
                  <a:srgbClr val="191933"/>
                </a:solidFill>
                <a:latin typeface="Arial"/>
                <a:cs typeface="Arial"/>
              </a:rPr>
              <a:t>Deployment</a:t>
            </a:r>
            <a:r>
              <a:rPr sz="800" b="1" spc="2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191933"/>
                </a:solidFill>
                <a:latin typeface="Arial"/>
                <a:cs typeface="Arial"/>
              </a:rPr>
              <a:t>Plan:</a:t>
            </a:r>
            <a:endParaRPr sz="800" dirty="0">
              <a:latin typeface="Arial"/>
              <a:cs typeface="Arial"/>
            </a:endParaRPr>
          </a:p>
          <a:p>
            <a:pPr marL="553720" marR="281305">
              <a:lnSpc>
                <a:spcPct val="100000"/>
              </a:lnSpc>
              <a:spcBef>
                <a:spcPts val="35"/>
              </a:spcBef>
            </a:pPr>
            <a:r>
              <a:rPr sz="1000" spc="-30" dirty="0">
                <a:solidFill>
                  <a:srgbClr val="191933"/>
                </a:solidFill>
                <a:latin typeface="Tahoma"/>
                <a:cs typeface="Tahoma"/>
              </a:rPr>
              <a:t>High-</a:t>
            </a:r>
            <a:r>
              <a:rPr sz="1000" dirty="0">
                <a:solidFill>
                  <a:srgbClr val="191933"/>
                </a:solidFill>
                <a:latin typeface="Tahoma"/>
                <a:cs typeface="Tahoma"/>
              </a:rPr>
              <a:t>risk</a:t>
            </a: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40" dirty="0">
                <a:solidFill>
                  <a:srgbClr val="191933"/>
                </a:solidFill>
                <a:latin typeface="Tahoma"/>
                <a:cs typeface="Tahoma"/>
              </a:rPr>
              <a:t>devices</a:t>
            </a:r>
            <a:r>
              <a:rPr sz="10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(e.g.,</a:t>
            </a:r>
            <a:r>
              <a:rPr sz="10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40" dirty="0">
                <a:solidFill>
                  <a:srgbClr val="191933"/>
                </a:solidFill>
                <a:latin typeface="Tahoma"/>
                <a:cs typeface="Tahoma"/>
              </a:rPr>
              <a:t>those</a:t>
            </a: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40" dirty="0">
                <a:solidFill>
                  <a:srgbClr val="191933"/>
                </a:solidFill>
                <a:latin typeface="Tahoma"/>
                <a:cs typeface="Tahoma"/>
              </a:rPr>
              <a:t>connected</a:t>
            </a:r>
            <a:r>
              <a:rPr sz="10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191933"/>
                </a:solidFill>
                <a:latin typeface="Tahoma"/>
                <a:cs typeface="Tahoma"/>
              </a:rPr>
              <a:t>to</a:t>
            </a: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191933"/>
                </a:solidFill>
                <a:latin typeface="Tahoma"/>
                <a:cs typeface="Tahoma"/>
              </a:rPr>
              <a:t>critical</a:t>
            </a:r>
            <a:r>
              <a:rPr sz="1000" spc="-20" dirty="0">
                <a:solidFill>
                  <a:srgbClr val="191933"/>
                </a:solidFill>
                <a:latin typeface="Tahoma"/>
                <a:cs typeface="Tahoma"/>
              </a:rPr>
              <a:t> patient </a:t>
            </a:r>
            <a:r>
              <a:rPr sz="1000" spc="-45" dirty="0">
                <a:solidFill>
                  <a:srgbClr val="191933"/>
                </a:solidFill>
                <a:latin typeface="Tahoma"/>
                <a:cs typeface="Tahoma"/>
              </a:rPr>
              <a:t>systems): </a:t>
            </a:r>
            <a:r>
              <a:rPr sz="1000" spc="-40" dirty="0">
                <a:solidFill>
                  <a:srgbClr val="191933"/>
                </a:solidFill>
                <a:latin typeface="Tahoma"/>
                <a:cs typeface="Tahoma"/>
              </a:rPr>
              <a:t>800</a:t>
            </a:r>
            <a:r>
              <a:rPr sz="10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40" dirty="0">
                <a:solidFill>
                  <a:srgbClr val="191933"/>
                </a:solidFill>
                <a:latin typeface="Tahoma"/>
                <a:cs typeface="Tahoma"/>
              </a:rPr>
              <a:t>devices,</a:t>
            </a:r>
            <a:r>
              <a:rPr sz="10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35" dirty="0">
                <a:solidFill>
                  <a:srgbClr val="191933"/>
                </a:solidFill>
                <a:latin typeface="Tahoma"/>
                <a:cs typeface="Tahoma"/>
              </a:rPr>
              <a:t>patched</a:t>
            </a:r>
            <a:r>
              <a:rPr sz="10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191933"/>
                </a:solidFill>
                <a:latin typeface="Tahoma"/>
                <a:cs typeface="Tahoma"/>
              </a:rPr>
              <a:t>within</a:t>
            </a: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191933"/>
                </a:solidFill>
                <a:latin typeface="Tahoma"/>
                <a:cs typeface="Tahoma"/>
              </a:rPr>
              <a:t>1</a:t>
            </a:r>
            <a:r>
              <a:rPr sz="10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20" dirty="0">
                <a:solidFill>
                  <a:srgbClr val="191933"/>
                </a:solidFill>
                <a:latin typeface="Tahoma"/>
                <a:cs typeface="Tahoma"/>
              </a:rPr>
              <a:t>day.</a:t>
            </a:r>
            <a:endParaRPr sz="1000" dirty="0">
              <a:latin typeface="Tahoma"/>
              <a:cs typeface="Tahoma"/>
            </a:endParaRPr>
          </a:p>
          <a:p>
            <a:pPr marL="553720" marR="836294">
              <a:lnSpc>
                <a:spcPts val="1200"/>
              </a:lnSpc>
              <a:spcBef>
                <a:spcPts val="30"/>
              </a:spcBef>
            </a:pPr>
            <a:r>
              <a:rPr sz="1000" spc="-35" dirty="0">
                <a:solidFill>
                  <a:srgbClr val="191933"/>
                </a:solidFill>
                <a:latin typeface="Tahoma"/>
                <a:cs typeface="Tahoma"/>
              </a:rPr>
              <a:t>Medium-</a:t>
            </a:r>
            <a:r>
              <a:rPr sz="1000" dirty="0">
                <a:solidFill>
                  <a:srgbClr val="191933"/>
                </a:solidFill>
                <a:latin typeface="Tahoma"/>
                <a:cs typeface="Tahoma"/>
              </a:rPr>
              <a:t>risk</a:t>
            </a:r>
            <a:r>
              <a:rPr sz="1000" spc="-4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30" dirty="0">
                <a:solidFill>
                  <a:srgbClr val="191933"/>
                </a:solidFill>
                <a:latin typeface="Tahoma"/>
                <a:cs typeface="Tahoma"/>
              </a:rPr>
              <a:t>devices:</a:t>
            </a:r>
            <a:r>
              <a:rPr sz="1000" spc="5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40" dirty="0">
                <a:solidFill>
                  <a:srgbClr val="191933"/>
                </a:solidFill>
                <a:latin typeface="Tahoma"/>
                <a:cs typeface="Tahoma"/>
              </a:rPr>
              <a:t>700 devices,</a:t>
            </a:r>
            <a:r>
              <a:rPr sz="1000" spc="-35" dirty="0">
                <a:solidFill>
                  <a:srgbClr val="191933"/>
                </a:solidFill>
                <a:latin typeface="Tahoma"/>
                <a:cs typeface="Tahoma"/>
              </a:rPr>
              <a:t> patched</a:t>
            </a:r>
            <a:r>
              <a:rPr sz="1000" spc="-4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191933"/>
                </a:solidFill>
                <a:latin typeface="Tahoma"/>
                <a:cs typeface="Tahoma"/>
              </a:rPr>
              <a:t>within</a:t>
            </a:r>
            <a:r>
              <a:rPr sz="10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191933"/>
                </a:solidFill>
                <a:latin typeface="Tahoma"/>
                <a:cs typeface="Tahoma"/>
              </a:rPr>
              <a:t>2</a:t>
            </a:r>
            <a:r>
              <a:rPr sz="1000" spc="-4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30" dirty="0">
                <a:solidFill>
                  <a:srgbClr val="191933"/>
                </a:solidFill>
                <a:latin typeface="Tahoma"/>
                <a:cs typeface="Tahoma"/>
              </a:rPr>
              <a:t>days. </a:t>
            </a:r>
            <a:r>
              <a:rPr sz="1000" spc="-35" dirty="0">
                <a:solidFill>
                  <a:srgbClr val="191933"/>
                </a:solidFill>
                <a:latin typeface="Tahoma"/>
                <a:cs typeface="Tahoma"/>
              </a:rPr>
              <a:t>Low-</a:t>
            </a:r>
            <a:r>
              <a:rPr sz="1000" spc="-10" dirty="0">
                <a:solidFill>
                  <a:srgbClr val="191933"/>
                </a:solidFill>
                <a:latin typeface="Tahoma"/>
                <a:cs typeface="Tahoma"/>
              </a:rPr>
              <a:t>risk</a:t>
            </a:r>
            <a:r>
              <a:rPr sz="1000" spc="-5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30" dirty="0">
                <a:solidFill>
                  <a:srgbClr val="191933"/>
                </a:solidFill>
                <a:latin typeface="Tahoma"/>
                <a:cs typeface="Tahoma"/>
              </a:rPr>
              <a:t>devices:</a:t>
            </a:r>
            <a:r>
              <a:rPr sz="1000" spc="5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40" dirty="0">
                <a:solidFill>
                  <a:srgbClr val="191933"/>
                </a:solidFill>
                <a:latin typeface="Tahoma"/>
                <a:cs typeface="Tahoma"/>
              </a:rPr>
              <a:t>500 devices,</a:t>
            </a:r>
            <a:r>
              <a:rPr sz="1000" spc="-35" dirty="0">
                <a:solidFill>
                  <a:srgbClr val="191933"/>
                </a:solidFill>
                <a:latin typeface="Tahoma"/>
                <a:cs typeface="Tahoma"/>
              </a:rPr>
              <a:t> patched</a:t>
            </a:r>
            <a:r>
              <a:rPr sz="1000" spc="-4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191933"/>
                </a:solidFill>
                <a:latin typeface="Tahoma"/>
                <a:cs typeface="Tahoma"/>
              </a:rPr>
              <a:t>within</a:t>
            </a:r>
            <a:r>
              <a:rPr sz="1000" spc="-4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191933"/>
                </a:solidFill>
                <a:latin typeface="Tahoma"/>
                <a:cs typeface="Tahoma"/>
              </a:rPr>
              <a:t>3</a:t>
            </a:r>
            <a:r>
              <a:rPr sz="1000" spc="-4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191933"/>
                </a:solidFill>
                <a:latin typeface="Tahoma"/>
                <a:cs typeface="Tahoma"/>
              </a:rPr>
              <a:t>days.</a:t>
            </a:r>
            <a:endParaRPr sz="10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70"/>
              </a:spcBef>
            </a:pPr>
            <a:endParaRPr sz="1000" dirty="0">
              <a:latin typeface="Tahoma"/>
              <a:cs typeface="Tahoma"/>
            </a:endParaRPr>
          </a:p>
          <a:p>
            <a:pPr marL="276860">
              <a:lnSpc>
                <a:spcPct val="100000"/>
              </a:lnSpc>
            </a:pP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Day</a:t>
            </a:r>
            <a:r>
              <a:rPr sz="800" b="1" spc="1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1:</a:t>
            </a:r>
            <a:r>
              <a:rPr sz="800" b="1" spc="9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800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high-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risk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devices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patched,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1,200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devices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remain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vulnerable.</a:t>
            </a:r>
            <a:endParaRPr sz="800" dirty="0">
              <a:latin typeface="Arial MT"/>
              <a:cs typeface="Arial MT"/>
            </a:endParaRPr>
          </a:p>
          <a:p>
            <a:pPr marL="276860">
              <a:lnSpc>
                <a:spcPct val="100000"/>
              </a:lnSpc>
              <a:spcBef>
                <a:spcPts val="285"/>
              </a:spcBef>
            </a:pP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Day</a:t>
            </a:r>
            <a:r>
              <a:rPr sz="800" b="1" spc="2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2:</a:t>
            </a:r>
            <a:r>
              <a:rPr sz="800" b="1" spc="10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Additional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700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medium-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risk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devices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patched,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500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devices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remain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vulnerable.</a:t>
            </a:r>
            <a:endParaRPr sz="800" dirty="0">
              <a:latin typeface="Arial MT"/>
              <a:cs typeface="Arial MT"/>
            </a:endParaRPr>
          </a:p>
          <a:p>
            <a:pPr marL="276860">
              <a:lnSpc>
                <a:spcPct val="100000"/>
              </a:lnSpc>
              <a:spcBef>
                <a:spcPts val="285"/>
              </a:spcBef>
            </a:pP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Day</a:t>
            </a:r>
            <a:r>
              <a:rPr sz="800" b="1" spc="3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3:</a:t>
            </a:r>
            <a:r>
              <a:rPr sz="800" b="1" spc="11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All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500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low-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risk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devices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patched,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0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devices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remain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vulnerable.</a:t>
            </a:r>
            <a:endParaRPr sz="800" dirty="0">
              <a:latin typeface="Arial MT"/>
              <a:cs typeface="Arial MT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25" name="object 25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4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4195587" y="3351784"/>
            <a:ext cx="28130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</a:rPr>
              <a:t>51</a:t>
            </a:r>
            <a:r>
              <a:rPr sz="6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00" spc="150" dirty="0">
                <a:solidFill>
                  <a:srgbClr val="FFFFFF"/>
                </a:solidFill>
                <a:latin typeface="Arial MT"/>
                <a:cs typeface="Arial MT"/>
              </a:rPr>
              <a:t>/</a:t>
            </a:r>
            <a:r>
              <a:rPr sz="6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Arial MT"/>
                <a:cs typeface="Arial MT"/>
              </a:rPr>
              <a:t>93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Example</a:t>
            </a:r>
            <a:r>
              <a:rPr spc="10" dirty="0"/>
              <a:t> </a:t>
            </a:r>
            <a:r>
              <a:rPr dirty="0"/>
              <a:t>3:</a:t>
            </a:r>
            <a:r>
              <a:rPr spc="125" dirty="0"/>
              <a:t> </a:t>
            </a:r>
            <a:r>
              <a:rPr dirty="0"/>
              <a:t>Patch</a:t>
            </a:r>
            <a:r>
              <a:rPr spc="10" dirty="0"/>
              <a:t> </a:t>
            </a:r>
            <a:r>
              <a:rPr spc="-20" dirty="0"/>
              <a:t>Prioritization</a:t>
            </a:r>
            <a:r>
              <a:rPr spc="10" dirty="0"/>
              <a:t> </a:t>
            </a:r>
            <a:r>
              <a:rPr spc="-10" dirty="0"/>
              <a:t>and</a:t>
            </a:r>
            <a:r>
              <a:rPr spc="10" dirty="0"/>
              <a:t> </a:t>
            </a:r>
            <a:r>
              <a:rPr spc="-30" dirty="0"/>
              <a:t>Risk</a:t>
            </a:r>
            <a:r>
              <a:rPr spc="15" dirty="0"/>
              <a:t> </a:t>
            </a:r>
            <a:r>
              <a:rPr spc="-65" dirty="0"/>
              <a:t>Assessment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417702"/>
            <a:ext cx="4432935" cy="187960"/>
          </a:xfrm>
          <a:custGeom>
            <a:avLst/>
            <a:gdLst/>
            <a:ahLst/>
            <a:cxnLst/>
            <a:rect l="l" t="t" r="r" b="b"/>
            <a:pathLst>
              <a:path w="4432935" h="187959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4432566" y="187823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2672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8544" y="446150"/>
            <a:ext cx="518159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70" dirty="0">
                <a:solidFill>
                  <a:srgbClr val="FFFFFF"/>
                </a:solidFill>
                <a:latin typeface="Tahoma"/>
                <a:cs typeface="Tahoma"/>
              </a:rPr>
              <a:t>Scenario</a:t>
            </a:r>
            <a:endParaRPr sz="1200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013790"/>
            <a:ext cx="65265" cy="6526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165618"/>
            <a:ext cx="65265" cy="6526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0865" y="1330122"/>
            <a:ext cx="52590" cy="5259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0865" y="1633791"/>
            <a:ext cx="52590" cy="5259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0865" y="1785620"/>
            <a:ext cx="52590" cy="52590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87743" y="1947633"/>
            <a:ext cx="4432935" cy="187960"/>
          </a:xfrm>
          <a:custGeom>
            <a:avLst/>
            <a:gdLst/>
            <a:ahLst/>
            <a:cxnLst/>
            <a:rect l="l" t="t" r="r" b="b"/>
            <a:pathLst>
              <a:path w="4432935" h="187960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4432566" y="187823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2672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38544" y="1976081"/>
            <a:ext cx="68897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40" dirty="0">
                <a:solidFill>
                  <a:srgbClr val="FFFFFF"/>
                </a:solidFill>
                <a:latin typeface="Tahoma"/>
                <a:cs typeface="Tahoma"/>
              </a:rPr>
              <a:t>Calculation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7743" y="618831"/>
            <a:ext cx="4483735" cy="199326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0800" marR="273685">
              <a:lnSpc>
                <a:spcPts val="950"/>
              </a:lnSpc>
              <a:spcBef>
                <a:spcPts val="135"/>
              </a:spcBef>
            </a:pP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healthcare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organization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with</a:t>
            </a:r>
            <a:r>
              <a:rPr sz="800" spc="5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2,000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devices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has</a:t>
            </a:r>
            <a:r>
              <a:rPr sz="800" spc="5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critical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vulnerability</a:t>
            </a:r>
            <a:r>
              <a:rPr sz="800" spc="5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affecting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its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patient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management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software.</a:t>
            </a:r>
            <a:r>
              <a:rPr sz="800" spc="1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organization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decides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prioritize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patching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high-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risk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devices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first.</a:t>
            </a:r>
            <a:endParaRPr sz="800" dirty="0">
              <a:latin typeface="Arial MT"/>
              <a:cs typeface="Arial MT"/>
            </a:endParaRPr>
          </a:p>
          <a:p>
            <a:pPr marL="327660">
              <a:lnSpc>
                <a:spcPct val="100000"/>
              </a:lnSpc>
              <a:spcBef>
                <a:spcPts val="805"/>
              </a:spcBef>
            </a:pP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Initial</a:t>
            </a:r>
            <a:r>
              <a:rPr sz="800" b="1" spc="2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25" dirty="0">
                <a:solidFill>
                  <a:srgbClr val="191933"/>
                </a:solidFill>
                <a:latin typeface="Arial"/>
                <a:cs typeface="Arial"/>
              </a:rPr>
              <a:t>Vulnerability:</a:t>
            </a:r>
            <a:r>
              <a:rPr sz="800" b="1" spc="10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2,000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devices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are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vulnerable.</a:t>
            </a:r>
            <a:endParaRPr sz="800" dirty="0">
              <a:latin typeface="Arial MT"/>
              <a:cs typeface="Arial MT"/>
            </a:endParaRPr>
          </a:p>
          <a:p>
            <a:pPr marL="327660">
              <a:lnSpc>
                <a:spcPct val="100000"/>
              </a:lnSpc>
              <a:spcBef>
                <a:spcPts val="240"/>
              </a:spcBef>
            </a:pP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Patch</a:t>
            </a:r>
            <a:r>
              <a:rPr sz="800" b="1" spc="2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25" dirty="0">
                <a:solidFill>
                  <a:srgbClr val="191933"/>
                </a:solidFill>
                <a:latin typeface="Arial"/>
                <a:cs typeface="Arial"/>
              </a:rPr>
              <a:t>Deployment</a:t>
            </a:r>
            <a:r>
              <a:rPr sz="800" b="1" spc="2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191933"/>
                </a:solidFill>
                <a:latin typeface="Arial"/>
                <a:cs typeface="Arial"/>
              </a:rPr>
              <a:t>Plan:</a:t>
            </a:r>
            <a:endParaRPr sz="800" dirty="0">
              <a:latin typeface="Arial"/>
              <a:cs typeface="Arial"/>
            </a:endParaRPr>
          </a:p>
          <a:p>
            <a:pPr marL="604520" marR="281305">
              <a:lnSpc>
                <a:spcPct val="100000"/>
              </a:lnSpc>
              <a:spcBef>
                <a:spcPts val="35"/>
              </a:spcBef>
            </a:pPr>
            <a:r>
              <a:rPr sz="1000" spc="-30" dirty="0">
                <a:solidFill>
                  <a:srgbClr val="191933"/>
                </a:solidFill>
                <a:latin typeface="Tahoma"/>
                <a:cs typeface="Tahoma"/>
              </a:rPr>
              <a:t>High-</a:t>
            </a:r>
            <a:r>
              <a:rPr sz="1000" dirty="0">
                <a:solidFill>
                  <a:srgbClr val="191933"/>
                </a:solidFill>
                <a:latin typeface="Tahoma"/>
                <a:cs typeface="Tahoma"/>
              </a:rPr>
              <a:t>risk</a:t>
            </a: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40" dirty="0">
                <a:solidFill>
                  <a:srgbClr val="191933"/>
                </a:solidFill>
                <a:latin typeface="Tahoma"/>
                <a:cs typeface="Tahoma"/>
              </a:rPr>
              <a:t>devices</a:t>
            </a:r>
            <a:r>
              <a:rPr sz="10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(e.g.,</a:t>
            </a:r>
            <a:r>
              <a:rPr sz="10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40" dirty="0">
                <a:solidFill>
                  <a:srgbClr val="191933"/>
                </a:solidFill>
                <a:latin typeface="Tahoma"/>
                <a:cs typeface="Tahoma"/>
              </a:rPr>
              <a:t>those</a:t>
            </a: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40" dirty="0">
                <a:solidFill>
                  <a:srgbClr val="191933"/>
                </a:solidFill>
                <a:latin typeface="Tahoma"/>
                <a:cs typeface="Tahoma"/>
              </a:rPr>
              <a:t>connected</a:t>
            </a:r>
            <a:r>
              <a:rPr sz="10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191933"/>
                </a:solidFill>
                <a:latin typeface="Tahoma"/>
                <a:cs typeface="Tahoma"/>
              </a:rPr>
              <a:t>to</a:t>
            </a: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191933"/>
                </a:solidFill>
                <a:latin typeface="Tahoma"/>
                <a:cs typeface="Tahoma"/>
              </a:rPr>
              <a:t>critical</a:t>
            </a:r>
            <a:r>
              <a:rPr sz="1000" spc="-20" dirty="0">
                <a:solidFill>
                  <a:srgbClr val="191933"/>
                </a:solidFill>
                <a:latin typeface="Tahoma"/>
                <a:cs typeface="Tahoma"/>
              </a:rPr>
              <a:t> patient </a:t>
            </a:r>
            <a:r>
              <a:rPr sz="1000" spc="-45" dirty="0">
                <a:solidFill>
                  <a:srgbClr val="191933"/>
                </a:solidFill>
                <a:latin typeface="Tahoma"/>
                <a:cs typeface="Tahoma"/>
              </a:rPr>
              <a:t>systems): </a:t>
            </a:r>
            <a:r>
              <a:rPr sz="1000" spc="-40" dirty="0">
                <a:solidFill>
                  <a:srgbClr val="191933"/>
                </a:solidFill>
                <a:latin typeface="Tahoma"/>
                <a:cs typeface="Tahoma"/>
              </a:rPr>
              <a:t>800</a:t>
            </a:r>
            <a:r>
              <a:rPr sz="10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40" dirty="0">
                <a:solidFill>
                  <a:srgbClr val="191933"/>
                </a:solidFill>
                <a:latin typeface="Tahoma"/>
                <a:cs typeface="Tahoma"/>
              </a:rPr>
              <a:t>devices,</a:t>
            </a:r>
            <a:r>
              <a:rPr sz="10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35" dirty="0">
                <a:solidFill>
                  <a:srgbClr val="191933"/>
                </a:solidFill>
                <a:latin typeface="Tahoma"/>
                <a:cs typeface="Tahoma"/>
              </a:rPr>
              <a:t>patched</a:t>
            </a:r>
            <a:r>
              <a:rPr sz="10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191933"/>
                </a:solidFill>
                <a:latin typeface="Tahoma"/>
                <a:cs typeface="Tahoma"/>
              </a:rPr>
              <a:t>within</a:t>
            </a: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191933"/>
                </a:solidFill>
                <a:latin typeface="Tahoma"/>
                <a:cs typeface="Tahoma"/>
              </a:rPr>
              <a:t>1</a:t>
            </a:r>
            <a:r>
              <a:rPr sz="10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20" dirty="0">
                <a:solidFill>
                  <a:srgbClr val="191933"/>
                </a:solidFill>
                <a:latin typeface="Tahoma"/>
                <a:cs typeface="Tahoma"/>
              </a:rPr>
              <a:t>day.</a:t>
            </a:r>
            <a:endParaRPr sz="1000" dirty="0">
              <a:latin typeface="Tahoma"/>
              <a:cs typeface="Tahoma"/>
            </a:endParaRPr>
          </a:p>
          <a:p>
            <a:pPr marL="604520" marR="836294">
              <a:lnSpc>
                <a:spcPts val="1200"/>
              </a:lnSpc>
              <a:spcBef>
                <a:spcPts val="30"/>
              </a:spcBef>
            </a:pPr>
            <a:r>
              <a:rPr sz="1000" spc="-35" dirty="0">
                <a:solidFill>
                  <a:srgbClr val="191933"/>
                </a:solidFill>
                <a:latin typeface="Tahoma"/>
                <a:cs typeface="Tahoma"/>
              </a:rPr>
              <a:t>Medium-</a:t>
            </a:r>
            <a:r>
              <a:rPr sz="1000" dirty="0">
                <a:solidFill>
                  <a:srgbClr val="191933"/>
                </a:solidFill>
                <a:latin typeface="Tahoma"/>
                <a:cs typeface="Tahoma"/>
              </a:rPr>
              <a:t>risk</a:t>
            </a:r>
            <a:r>
              <a:rPr sz="1000" spc="-4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30" dirty="0">
                <a:solidFill>
                  <a:srgbClr val="191933"/>
                </a:solidFill>
                <a:latin typeface="Tahoma"/>
                <a:cs typeface="Tahoma"/>
              </a:rPr>
              <a:t>devices:</a:t>
            </a:r>
            <a:r>
              <a:rPr sz="1000" spc="5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40" dirty="0">
                <a:solidFill>
                  <a:srgbClr val="191933"/>
                </a:solidFill>
                <a:latin typeface="Tahoma"/>
                <a:cs typeface="Tahoma"/>
              </a:rPr>
              <a:t>700 devices,</a:t>
            </a:r>
            <a:r>
              <a:rPr sz="1000" spc="-35" dirty="0">
                <a:solidFill>
                  <a:srgbClr val="191933"/>
                </a:solidFill>
                <a:latin typeface="Tahoma"/>
                <a:cs typeface="Tahoma"/>
              </a:rPr>
              <a:t> patched</a:t>
            </a:r>
            <a:r>
              <a:rPr sz="1000" spc="-4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191933"/>
                </a:solidFill>
                <a:latin typeface="Tahoma"/>
                <a:cs typeface="Tahoma"/>
              </a:rPr>
              <a:t>within</a:t>
            </a:r>
            <a:r>
              <a:rPr sz="10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191933"/>
                </a:solidFill>
                <a:latin typeface="Tahoma"/>
                <a:cs typeface="Tahoma"/>
              </a:rPr>
              <a:t>2</a:t>
            </a:r>
            <a:r>
              <a:rPr sz="1000" spc="-4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30" dirty="0">
                <a:solidFill>
                  <a:srgbClr val="191933"/>
                </a:solidFill>
                <a:latin typeface="Tahoma"/>
                <a:cs typeface="Tahoma"/>
              </a:rPr>
              <a:t>days. </a:t>
            </a:r>
            <a:r>
              <a:rPr sz="1000" spc="-35" dirty="0">
                <a:solidFill>
                  <a:srgbClr val="191933"/>
                </a:solidFill>
                <a:latin typeface="Tahoma"/>
                <a:cs typeface="Tahoma"/>
              </a:rPr>
              <a:t>Low-</a:t>
            </a:r>
            <a:r>
              <a:rPr sz="1000" spc="-10" dirty="0">
                <a:solidFill>
                  <a:srgbClr val="191933"/>
                </a:solidFill>
                <a:latin typeface="Tahoma"/>
                <a:cs typeface="Tahoma"/>
              </a:rPr>
              <a:t>risk</a:t>
            </a:r>
            <a:r>
              <a:rPr sz="1000" spc="-5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30" dirty="0">
                <a:solidFill>
                  <a:srgbClr val="191933"/>
                </a:solidFill>
                <a:latin typeface="Tahoma"/>
                <a:cs typeface="Tahoma"/>
              </a:rPr>
              <a:t>devices:</a:t>
            </a:r>
            <a:r>
              <a:rPr sz="1000" spc="5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40" dirty="0">
                <a:solidFill>
                  <a:srgbClr val="191933"/>
                </a:solidFill>
                <a:latin typeface="Tahoma"/>
                <a:cs typeface="Tahoma"/>
              </a:rPr>
              <a:t>500 devices,</a:t>
            </a:r>
            <a:r>
              <a:rPr sz="1000" spc="-35" dirty="0">
                <a:solidFill>
                  <a:srgbClr val="191933"/>
                </a:solidFill>
                <a:latin typeface="Tahoma"/>
                <a:cs typeface="Tahoma"/>
              </a:rPr>
              <a:t> patched</a:t>
            </a:r>
            <a:r>
              <a:rPr sz="1000" spc="-4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191933"/>
                </a:solidFill>
                <a:latin typeface="Tahoma"/>
                <a:cs typeface="Tahoma"/>
              </a:rPr>
              <a:t>within</a:t>
            </a:r>
            <a:r>
              <a:rPr sz="1000" spc="-4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191933"/>
                </a:solidFill>
                <a:latin typeface="Tahoma"/>
                <a:cs typeface="Tahoma"/>
              </a:rPr>
              <a:t>3</a:t>
            </a:r>
            <a:r>
              <a:rPr sz="1000" spc="-4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191933"/>
                </a:solidFill>
                <a:latin typeface="Tahoma"/>
                <a:cs typeface="Tahoma"/>
              </a:rPr>
              <a:t>days.</a:t>
            </a:r>
            <a:endParaRPr sz="10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70"/>
              </a:spcBef>
            </a:pPr>
            <a:endParaRPr sz="1000" dirty="0">
              <a:latin typeface="Tahoma"/>
              <a:cs typeface="Tahoma"/>
            </a:endParaRPr>
          </a:p>
          <a:p>
            <a:pPr marL="327660">
              <a:lnSpc>
                <a:spcPct val="100000"/>
              </a:lnSpc>
            </a:pP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Day</a:t>
            </a:r>
            <a:r>
              <a:rPr sz="800" b="1" spc="1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1:</a:t>
            </a:r>
            <a:r>
              <a:rPr sz="800" b="1" spc="9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800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high-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risk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devices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patched,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1,200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devices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remain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vulnerable.</a:t>
            </a:r>
            <a:endParaRPr sz="800" dirty="0">
              <a:latin typeface="Arial MT"/>
              <a:cs typeface="Arial MT"/>
            </a:endParaRPr>
          </a:p>
          <a:p>
            <a:pPr marL="327660">
              <a:lnSpc>
                <a:spcPct val="100000"/>
              </a:lnSpc>
              <a:spcBef>
                <a:spcPts val="285"/>
              </a:spcBef>
            </a:pP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Day</a:t>
            </a:r>
            <a:r>
              <a:rPr sz="800" b="1" spc="2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2:</a:t>
            </a:r>
            <a:r>
              <a:rPr sz="800" b="1" spc="10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Additional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700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medium-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risk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devices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patched,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500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devices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remain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vulnerable.</a:t>
            </a:r>
            <a:endParaRPr sz="800" dirty="0">
              <a:latin typeface="Arial MT"/>
              <a:cs typeface="Arial MT"/>
            </a:endParaRPr>
          </a:p>
          <a:p>
            <a:pPr marL="327660">
              <a:lnSpc>
                <a:spcPct val="100000"/>
              </a:lnSpc>
              <a:spcBef>
                <a:spcPts val="285"/>
              </a:spcBef>
            </a:pP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Day</a:t>
            </a:r>
            <a:r>
              <a:rPr sz="800" b="1" spc="3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3:</a:t>
            </a:r>
            <a:r>
              <a:rPr sz="800" b="1" spc="11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All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500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low-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risk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devices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patched,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0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devices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remain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vulnerable.</a:t>
            </a:r>
            <a:endParaRPr sz="800" dirty="0">
              <a:latin typeface="Arial MT"/>
              <a:cs typeface="Arial MT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7743" y="2757068"/>
            <a:ext cx="4432935" cy="187960"/>
          </a:xfrm>
          <a:custGeom>
            <a:avLst/>
            <a:gdLst/>
            <a:ahLst/>
            <a:cxnLst/>
            <a:rect l="l" t="t" r="r" b="b"/>
            <a:pathLst>
              <a:path w="4432935" h="187960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4432566" y="187823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2672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138544" y="2785516"/>
            <a:ext cx="563880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65" dirty="0">
                <a:solidFill>
                  <a:srgbClr val="FFFFFF"/>
                </a:solidFill>
                <a:latin typeface="Tahoma"/>
                <a:cs typeface="Tahoma"/>
              </a:rPr>
              <a:t>Outcome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25844" y="2958197"/>
            <a:ext cx="4344670" cy="3873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>
              <a:lnSpc>
                <a:spcPts val="950"/>
              </a:lnSpc>
              <a:spcBef>
                <a:spcPts val="135"/>
              </a:spcBef>
            </a:pP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By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prioritizing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patch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deployment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based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on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risk,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healthcare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organization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reduces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risk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5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 worm</a:t>
            </a:r>
            <a:r>
              <a:rPr sz="800" spc="5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infection</a:t>
            </a:r>
            <a:r>
              <a:rPr sz="8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impacting</a:t>
            </a:r>
            <a:r>
              <a:rPr sz="8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critical</a:t>
            </a:r>
            <a:r>
              <a:rPr sz="8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systems</a:t>
            </a:r>
            <a:r>
              <a:rPr sz="8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within</a:t>
            </a:r>
            <a:r>
              <a:rPr sz="800" spc="5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24</a:t>
            </a:r>
            <a:r>
              <a:rPr sz="8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hours</a:t>
            </a:r>
            <a:r>
              <a:rPr sz="8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while</a:t>
            </a:r>
            <a:r>
              <a:rPr sz="8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fully</a:t>
            </a:r>
            <a:r>
              <a:rPr sz="8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securing</a:t>
            </a:r>
            <a:r>
              <a:rPr sz="800" spc="5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all</a:t>
            </a:r>
            <a:r>
              <a:rPr sz="8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devices</a:t>
            </a:r>
            <a:r>
              <a:rPr sz="8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within</a:t>
            </a:r>
            <a:r>
              <a:rPr sz="800" spc="5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3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days.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32" name="object 32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4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4195587" y="3351784"/>
            <a:ext cx="28130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</a:rPr>
              <a:t>51</a:t>
            </a:r>
            <a:r>
              <a:rPr sz="6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00" spc="150" dirty="0">
                <a:solidFill>
                  <a:srgbClr val="FFFFFF"/>
                </a:solidFill>
                <a:latin typeface="Arial MT"/>
                <a:cs typeface="Arial MT"/>
              </a:rPr>
              <a:t>/</a:t>
            </a:r>
            <a:r>
              <a:rPr sz="6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Arial MT"/>
                <a:cs typeface="Arial MT"/>
              </a:rPr>
              <a:t>93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Example</a:t>
            </a:r>
            <a:r>
              <a:rPr spc="20" dirty="0"/>
              <a:t> </a:t>
            </a:r>
            <a:r>
              <a:rPr dirty="0"/>
              <a:t>4:</a:t>
            </a:r>
            <a:r>
              <a:rPr spc="145" dirty="0"/>
              <a:t> </a:t>
            </a:r>
            <a:r>
              <a:rPr spc="-50" dirty="0"/>
              <a:t>Emergency</a:t>
            </a:r>
            <a:r>
              <a:rPr spc="25" dirty="0"/>
              <a:t> </a:t>
            </a:r>
            <a:r>
              <a:rPr dirty="0"/>
              <a:t>Patch</a:t>
            </a:r>
            <a:r>
              <a:rPr spc="25" dirty="0"/>
              <a:t> </a:t>
            </a:r>
            <a:r>
              <a:rPr spc="-25" dirty="0"/>
              <a:t>Deployment</a:t>
            </a:r>
            <a:r>
              <a:rPr spc="20" dirty="0"/>
              <a:t> </a:t>
            </a:r>
            <a:r>
              <a:rPr spc="-10" dirty="0"/>
              <a:t>Protocol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424179"/>
            <a:ext cx="4432935" cy="187960"/>
          </a:xfrm>
          <a:custGeom>
            <a:avLst/>
            <a:gdLst/>
            <a:ahLst/>
            <a:cxnLst/>
            <a:rect l="l" t="t" r="r" b="b"/>
            <a:pathLst>
              <a:path w="4432935" h="187959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4432566" y="187823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2672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8544" y="452627"/>
            <a:ext cx="518159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70" dirty="0">
                <a:solidFill>
                  <a:srgbClr val="FFFFFF"/>
                </a:solidFill>
                <a:latin typeface="Tahoma"/>
                <a:cs typeface="Tahoma"/>
              </a:rPr>
              <a:t>Scenario</a:t>
            </a:r>
            <a:endParaRPr sz="1200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168527"/>
            <a:ext cx="65265" cy="6526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350327"/>
            <a:ext cx="65265" cy="65265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87743" y="1713991"/>
            <a:ext cx="4432935" cy="187960"/>
          </a:xfrm>
          <a:custGeom>
            <a:avLst/>
            <a:gdLst/>
            <a:ahLst/>
            <a:cxnLst/>
            <a:rect l="l" t="t" r="r" b="b"/>
            <a:pathLst>
              <a:path w="4432935" h="187960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4432566" y="187823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2672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38544" y="1742452"/>
            <a:ext cx="68897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40" dirty="0">
                <a:solidFill>
                  <a:srgbClr val="FFFFFF"/>
                </a:solidFill>
                <a:latin typeface="Tahoma"/>
                <a:cs typeface="Tahoma"/>
              </a:rPr>
              <a:t>Calculation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7743" y="2670085"/>
            <a:ext cx="4432935" cy="187960"/>
          </a:xfrm>
          <a:custGeom>
            <a:avLst/>
            <a:gdLst/>
            <a:ahLst/>
            <a:cxnLst/>
            <a:rect l="l" t="t" r="r" b="b"/>
            <a:pathLst>
              <a:path w="4432935" h="187960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4432566" y="187823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2672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38544" y="2698533"/>
            <a:ext cx="563880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65" dirty="0">
                <a:solidFill>
                  <a:srgbClr val="FFFFFF"/>
                </a:solidFill>
                <a:latin typeface="Tahoma"/>
                <a:cs typeface="Tahoma"/>
              </a:rPr>
              <a:t>Outcome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7743" y="613904"/>
            <a:ext cx="4483735" cy="260985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50800" marR="201295">
              <a:lnSpc>
                <a:spcPct val="102600"/>
              </a:lnSpc>
              <a:spcBef>
                <a:spcPts val="55"/>
              </a:spcBef>
            </a:pPr>
            <a:r>
              <a:rPr sz="1100" spc="55" dirty="0">
                <a:solidFill>
                  <a:srgbClr val="191933"/>
                </a:solidFill>
                <a:latin typeface="Tahoma"/>
                <a:cs typeface="Tahoma"/>
              </a:rPr>
              <a:t>A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financial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institution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with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55" dirty="0">
                <a:solidFill>
                  <a:srgbClr val="191933"/>
                </a:solidFill>
                <a:latin typeface="Tahoma"/>
                <a:cs typeface="Tahoma"/>
              </a:rPr>
              <a:t>10,000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endpoints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detects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a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65" dirty="0">
                <a:solidFill>
                  <a:srgbClr val="191933"/>
                </a:solidFill>
                <a:latin typeface="Tahoma"/>
                <a:cs typeface="Tahoma"/>
              </a:rPr>
              <a:t>worm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exploiting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a zero-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day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vulnerability.</a:t>
            </a:r>
            <a:r>
              <a:rPr sz="1100" spc="9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An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191933"/>
                </a:solidFill>
                <a:latin typeface="Tahoma"/>
                <a:cs typeface="Tahoma"/>
              </a:rPr>
              <a:t>emergency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patch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deployment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is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initiated.</a:t>
            </a:r>
            <a:endParaRPr sz="1100" dirty="0">
              <a:latin typeface="Tahoma"/>
              <a:cs typeface="Tahoma"/>
            </a:endParaRPr>
          </a:p>
          <a:p>
            <a:pPr marL="327660" marR="94615">
              <a:lnSpc>
                <a:spcPct val="105500"/>
              </a:lnSpc>
              <a:spcBef>
                <a:spcPts val="965"/>
              </a:spcBef>
            </a:pPr>
            <a:r>
              <a:rPr sz="1100" b="1" dirty="0">
                <a:solidFill>
                  <a:srgbClr val="191933"/>
                </a:solidFill>
                <a:latin typeface="Arial"/>
                <a:cs typeface="Arial"/>
              </a:rPr>
              <a:t>Initial</a:t>
            </a:r>
            <a:r>
              <a:rPr sz="1100" b="1" spc="7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-25" dirty="0">
                <a:solidFill>
                  <a:srgbClr val="191933"/>
                </a:solidFill>
                <a:latin typeface="Arial"/>
                <a:cs typeface="Arial"/>
              </a:rPr>
              <a:t>Vulnerability:</a:t>
            </a:r>
            <a:r>
              <a:rPr sz="1100" b="1" spc="14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All </a:t>
            </a:r>
            <a:r>
              <a:rPr sz="1100" spc="-55" dirty="0">
                <a:solidFill>
                  <a:srgbClr val="191933"/>
                </a:solidFill>
                <a:latin typeface="Tahoma"/>
                <a:cs typeface="Tahoma"/>
              </a:rPr>
              <a:t>10,000</a:t>
            </a:r>
            <a:r>
              <a:rPr sz="1100" spc="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endpoints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191933"/>
                </a:solidFill>
                <a:latin typeface="Tahoma"/>
                <a:cs typeface="Tahoma"/>
              </a:rPr>
              <a:t>are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vulnerable. </a:t>
            </a:r>
            <a:r>
              <a:rPr sz="1100" b="1" spc="-50" dirty="0">
                <a:solidFill>
                  <a:srgbClr val="191933"/>
                </a:solidFill>
                <a:latin typeface="Arial"/>
                <a:cs typeface="Arial"/>
              </a:rPr>
              <a:t>Emergency</a:t>
            </a:r>
            <a:r>
              <a:rPr sz="1100" b="1" spc="1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-30" dirty="0">
                <a:solidFill>
                  <a:srgbClr val="191933"/>
                </a:solidFill>
                <a:latin typeface="Arial"/>
                <a:cs typeface="Arial"/>
              </a:rPr>
              <a:t>Deployment</a:t>
            </a:r>
            <a:r>
              <a:rPr sz="1100" b="1" spc="3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191933"/>
                </a:solidFill>
                <a:latin typeface="Arial"/>
                <a:cs typeface="Arial"/>
              </a:rPr>
              <a:t>Rate:</a:t>
            </a:r>
            <a:r>
              <a:rPr sz="1100" b="1" spc="10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Using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191933"/>
                </a:solidFill>
                <a:latin typeface="Tahoma"/>
                <a:cs typeface="Tahoma"/>
              </a:rPr>
              <a:t>emergency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protocols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and</a:t>
            </a:r>
            <a:r>
              <a:rPr sz="1100" spc="50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tools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like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Automox, 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patches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191933"/>
                </a:solidFill>
                <a:latin typeface="Tahoma"/>
                <a:cs typeface="Tahoma"/>
              </a:rPr>
              <a:t>are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191933"/>
                </a:solidFill>
                <a:latin typeface="Tahoma"/>
                <a:cs typeface="Tahoma"/>
              </a:rPr>
              <a:t>deployed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to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55" dirty="0">
                <a:solidFill>
                  <a:srgbClr val="191933"/>
                </a:solidFill>
                <a:latin typeface="Tahoma"/>
                <a:cs typeface="Tahoma"/>
              </a:rPr>
              <a:t>1,000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endpoints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per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hour.</a:t>
            </a:r>
            <a:endParaRPr sz="11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10"/>
              </a:spcBef>
            </a:pPr>
            <a:endParaRPr sz="1100" dirty="0">
              <a:latin typeface="Tahoma"/>
              <a:cs typeface="Tahoma"/>
            </a:endParaRPr>
          </a:p>
          <a:p>
            <a:pPr marL="327660">
              <a:lnSpc>
                <a:spcPct val="100000"/>
              </a:lnSpc>
            </a:pPr>
            <a:r>
              <a:rPr sz="1100" b="1" dirty="0">
                <a:solidFill>
                  <a:srgbClr val="191933"/>
                </a:solidFill>
                <a:latin typeface="Arial"/>
                <a:cs typeface="Arial"/>
              </a:rPr>
              <a:t>After</a:t>
            </a:r>
            <a:r>
              <a:rPr sz="1100" b="1" spc="5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191933"/>
                </a:solidFill>
                <a:latin typeface="Arial"/>
                <a:cs typeface="Arial"/>
              </a:rPr>
              <a:t>1</a:t>
            </a:r>
            <a:r>
              <a:rPr sz="1100" b="1" spc="5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-25" dirty="0">
                <a:solidFill>
                  <a:srgbClr val="191933"/>
                </a:solidFill>
                <a:latin typeface="Arial"/>
                <a:cs typeface="Arial"/>
              </a:rPr>
              <a:t>hour:</a:t>
            </a:r>
            <a:r>
              <a:rPr sz="1100" b="1" spc="12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1,000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endpoints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patched,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9,000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vulnerable.</a:t>
            </a:r>
            <a:endParaRPr sz="1100" dirty="0">
              <a:latin typeface="Tahoma"/>
              <a:cs typeface="Tahoma"/>
            </a:endParaRPr>
          </a:p>
          <a:p>
            <a:pPr marL="327660">
              <a:lnSpc>
                <a:spcPct val="100000"/>
              </a:lnSpc>
              <a:spcBef>
                <a:spcPts val="334"/>
              </a:spcBef>
            </a:pPr>
            <a:r>
              <a:rPr sz="1100" b="1" dirty="0">
                <a:solidFill>
                  <a:srgbClr val="191933"/>
                </a:solidFill>
                <a:latin typeface="Arial"/>
                <a:cs typeface="Arial"/>
              </a:rPr>
              <a:t>After</a:t>
            </a:r>
            <a:r>
              <a:rPr sz="1100" b="1" spc="5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191933"/>
                </a:solidFill>
                <a:latin typeface="Arial"/>
                <a:cs typeface="Arial"/>
              </a:rPr>
              <a:t>5</a:t>
            </a:r>
            <a:r>
              <a:rPr sz="1100" b="1" spc="5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-50" dirty="0">
                <a:solidFill>
                  <a:srgbClr val="191933"/>
                </a:solidFill>
                <a:latin typeface="Arial"/>
                <a:cs typeface="Arial"/>
              </a:rPr>
              <a:t>hours:</a:t>
            </a:r>
            <a:r>
              <a:rPr sz="1100" b="1" spc="12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5,000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endpoints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patched,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5,000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vulnerable.</a:t>
            </a:r>
            <a:endParaRPr sz="1100" dirty="0">
              <a:latin typeface="Tahoma"/>
              <a:cs typeface="Tahoma"/>
            </a:endParaRPr>
          </a:p>
          <a:p>
            <a:pPr marL="327660">
              <a:lnSpc>
                <a:spcPct val="100000"/>
              </a:lnSpc>
              <a:spcBef>
                <a:spcPts val="330"/>
              </a:spcBef>
            </a:pPr>
            <a:r>
              <a:rPr sz="1100" b="1" dirty="0">
                <a:solidFill>
                  <a:srgbClr val="191933"/>
                </a:solidFill>
                <a:latin typeface="Arial"/>
                <a:cs typeface="Arial"/>
              </a:rPr>
              <a:t>After</a:t>
            </a:r>
            <a:r>
              <a:rPr sz="1100" b="1" spc="5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191933"/>
                </a:solidFill>
                <a:latin typeface="Arial"/>
                <a:cs typeface="Arial"/>
              </a:rPr>
              <a:t>10</a:t>
            </a:r>
            <a:r>
              <a:rPr sz="1100" b="1" spc="4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-50" dirty="0">
                <a:solidFill>
                  <a:srgbClr val="191933"/>
                </a:solidFill>
                <a:latin typeface="Arial"/>
                <a:cs typeface="Arial"/>
              </a:rPr>
              <a:t>hours:</a:t>
            </a:r>
            <a:r>
              <a:rPr sz="1100" b="1" spc="12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spc="-55" dirty="0">
                <a:solidFill>
                  <a:srgbClr val="191933"/>
                </a:solidFill>
                <a:latin typeface="Tahoma"/>
                <a:cs typeface="Tahoma"/>
              </a:rPr>
              <a:t>10,000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endpoints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patched,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0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vulnerable.</a:t>
            </a:r>
            <a:endParaRPr sz="11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1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1100" dirty="0">
              <a:latin typeface="Tahoma"/>
              <a:cs typeface="Tahoma"/>
            </a:endParaRPr>
          </a:p>
          <a:p>
            <a:pPr marL="50800" marR="102235">
              <a:lnSpc>
                <a:spcPct val="102600"/>
              </a:lnSpc>
              <a:spcBef>
                <a:spcPts val="5"/>
              </a:spcBef>
            </a:pP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The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191933"/>
                </a:solidFill>
                <a:latin typeface="Tahoma"/>
                <a:cs typeface="Tahoma"/>
              </a:rPr>
              <a:t>emergency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patch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deployment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protocol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patches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all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endpoints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within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10 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hours, 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drastically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 reducing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the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potential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impact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of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the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worm.</a:t>
            </a:r>
            <a:endParaRPr sz="1100" dirty="0">
              <a:latin typeface="Tahoma"/>
              <a:cs typeface="Tahoma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28" name="object 28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4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52</a:t>
            </a:r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93</a:t>
            </a:r>
          </a:p>
        </p:txBody>
      </p:sp>
    </p:spTree>
  </p:cSld>
  <p:clrMapOvr>
    <a:masterClrMapping/>
  </p:clrMapOvr>
  <p:transition>
    <p:cut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Example</a:t>
            </a:r>
            <a:r>
              <a:rPr spc="25" dirty="0"/>
              <a:t> </a:t>
            </a:r>
            <a:r>
              <a:rPr dirty="0"/>
              <a:t>5:</a:t>
            </a:r>
            <a:r>
              <a:rPr spc="140" dirty="0"/>
              <a:t> </a:t>
            </a:r>
            <a:r>
              <a:rPr spc="-60" dirty="0"/>
              <a:t>Cloud-</a:t>
            </a:r>
            <a:r>
              <a:rPr spc="-35" dirty="0"/>
              <a:t>Based</a:t>
            </a:r>
            <a:r>
              <a:rPr spc="25" dirty="0"/>
              <a:t> </a:t>
            </a:r>
            <a:r>
              <a:rPr dirty="0"/>
              <a:t>Patch</a:t>
            </a:r>
            <a:r>
              <a:rPr spc="25" dirty="0"/>
              <a:t> </a:t>
            </a:r>
            <a:r>
              <a:rPr spc="-10" dirty="0"/>
              <a:t>Management</a:t>
            </a:r>
            <a:r>
              <a:rPr spc="25" dirty="0"/>
              <a:t> </a:t>
            </a:r>
            <a:r>
              <a:rPr spc="-40" dirty="0"/>
              <a:t>Solutions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501446"/>
            <a:ext cx="4432935" cy="187960"/>
          </a:xfrm>
          <a:custGeom>
            <a:avLst/>
            <a:gdLst/>
            <a:ahLst/>
            <a:cxnLst/>
            <a:rect l="l" t="t" r="r" b="b"/>
            <a:pathLst>
              <a:path w="4432935" h="187959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4432566" y="187823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2672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8544" y="529894"/>
            <a:ext cx="518159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70" dirty="0">
                <a:solidFill>
                  <a:srgbClr val="FFFFFF"/>
                </a:solidFill>
                <a:latin typeface="Tahoma"/>
                <a:cs typeface="Tahoma"/>
              </a:rPr>
              <a:t>Scenario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8544" y="708201"/>
            <a:ext cx="4432935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R="327025">
              <a:lnSpc>
                <a:spcPts val="950"/>
              </a:lnSpc>
              <a:spcBef>
                <a:spcPts val="135"/>
              </a:spcBef>
            </a:pP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tech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company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with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distributed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workforce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(remote)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has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3,000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devices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connected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via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 cloud.</a:t>
            </a:r>
            <a:r>
              <a:rPr sz="800" spc="1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critical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security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patch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is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required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for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newly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identified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worm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threat.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1" name="object 11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4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Adarsh</a:t>
            </a:r>
            <a:r>
              <a:rPr spc="10" dirty="0"/>
              <a:t> </a:t>
            </a:r>
            <a:r>
              <a:rPr spc="-10" dirty="0"/>
              <a:t>Kumar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Adarsh[dot]Kumar[at]ddn[dot]upes[dot]ac[dot]in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3212884" y="3351784"/>
            <a:ext cx="6051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</a:rPr>
              <a:t>January</a:t>
            </a:r>
            <a:r>
              <a:rPr sz="6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</a:rPr>
              <a:t>17,</a:t>
            </a:r>
            <a:r>
              <a:rPr sz="6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Arial MT"/>
                <a:cs typeface="Arial MT"/>
              </a:rPr>
              <a:t>2025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195587" y="3351784"/>
            <a:ext cx="28130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</a:rPr>
              <a:t>53</a:t>
            </a:r>
            <a:r>
              <a:rPr sz="6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00" spc="150" dirty="0">
                <a:solidFill>
                  <a:srgbClr val="FFFFFF"/>
                </a:solidFill>
                <a:latin typeface="Arial MT"/>
                <a:cs typeface="Arial MT"/>
              </a:rPr>
              <a:t>/</a:t>
            </a:r>
            <a:r>
              <a:rPr sz="6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Arial MT"/>
                <a:cs typeface="Arial MT"/>
              </a:rPr>
              <a:t>93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Example</a:t>
            </a:r>
            <a:r>
              <a:rPr spc="25" dirty="0"/>
              <a:t> </a:t>
            </a:r>
            <a:r>
              <a:rPr dirty="0"/>
              <a:t>5:</a:t>
            </a:r>
            <a:r>
              <a:rPr spc="140" dirty="0"/>
              <a:t> </a:t>
            </a:r>
            <a:r>
              <a:rPr spc="-60" dirty="0"/>
              <a:t>Cloud-</a:t>
            </a:r>
            <a:r>
              <a:rPr spc="-35" dirty="0"/>
              <a:t>Based</a:t>
            </a:r>
            <a:r>
              <a:rPr spc="25" dirty="0"/>
              <a:t> </a:t>
            </a:r>
            <a:r>
              <a:rPr dirty="0"/>
              <a:t>Patch</a:t>
            </a:r>
            <a:r>
              <a:rPr spc="25" dirty="0"/>
              <a:t> </a:t>
            </a:r>
            <a:r>
              <a:rPr spc="-10" dirty="0"/>
              <a:t>Management</a:t>
            </a:r>
            <a:r>
              <a:rPr spc="25" dirty="0"/>
              <a:t> </a:t>
            </a:r>
            <a:r>
              <a:rPr spc="-40" dirty="0"/>
              <a:t>Solutions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501446"/>
            <a:ext cx="4432935" cy="187960"/>
          </a:xfrm>
          <a:custGeom>
            <a:avLst/>
            <a:gdLst/>
            <a:ahLst/>
            <a:cxnLst/>
            <a:rect l="l" t="t" r="r" b="b"/>
            <a:pathLst>
              <a:path w="4432935" h="187959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4432566" y="187823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2672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8544" y="529894"/>
            <a:ext cx="518159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70" dirty="0">
                <a:solidFill>
                  <a:srgbClr val="FFFFFF"/>
                </a:solidFill>
                <a:latin typeface="Tahoma"/>
                <a:cs typeface="Tahoma"/>
              </a:rPr>
              <a:t>Scenario</a:t>
            </a:r>
            <a:endParaRPr sz="1200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147444"/>
            <a:ext cx="65265" cy="6526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305598"/>
            <a:ext cx="65265" cy="6526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583956"/>
            <a:ext cx="65265" cy="65265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38544" y="708201"/>
            <a:ext cx="4432935" cy="97663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R="327025">
              <a:lnSpc>
                <a:spcPts val="950"/>
              </a:lnSpc>
              <a:spcBef>
                <a:spcPts val="135"/>
              </a:spcBef>
            </a:pP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tech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company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with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distributed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workforce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(remote)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has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3,000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devices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connected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via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 cloud.</a:t>
            </a:r>
            <a:r>
              <a:rPr sz="800" spc="1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critical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security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patch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is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required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for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newly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identified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worm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threat.</a:t>
            </a: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sz="800">
              <a:latin typeface="Arial MT"/>
              <a:cs typeface="Arial MT"/>
            </a:endParaRPr>
          </a:p>
          <a:p>
            <a:pPr marL="276860">
              <a:lnSpc>
                <a:spcPct val="100000"/>
              </a:lnSpc>
            </a:pP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Initial</a:t>
            </a:r>
            <a:r>
              <a:rPr sz="800" b="1" spc="4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25" dirty="0">
                <a:solidFill>
                  <a:srgbClr val="191933"/>
                </a:solidFill>
                <a:latin typeface="Arial"/>
                <a:cs typeface="Arial"/>
              </a:rPr>
              <a:t>Vulnerability:</a:t>
            </a:r>
            <a:r>
              <a:rPr sz="800" b="1" spc="12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All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3,000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devices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are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vulnerable.</a:t>
            </a:r>
            <a:endParaRPr sz="800">
              <a:latin typeface="Arial MT"/>
              <a:cs typeface="Arial MT"/>
            </a:endParaRPr>
          </a:p>
          <a:p>
            <a:pPr marL="276860" marR="163830">
              <a:lnSpc>
                <a:spcPts val="950"/>
              </a:lnSpc>
              <a:spcBef>
                <a:spcPts val="325"/>
              </a:spcBef>
            </a:pP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Patch</a:t>
            </a:r>
            <a:r>
              <a:rPr sz="800" b="1" spc="2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25" dirty="0">
                <a:solidFill>
                  <a:srgbClr val="191933"/>
                </a:solidFill>
                <a:latin typeface="Arial"/>
                <a:cs typeface="Arial"/>
              </a:rPr>
              <a:t>Deployment</a:t>
            </a:r>
            <a:r>
              <a:rPr sz="800" b="1" spc="1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191933"/>
                </a:solidFill>
                <a:latin typeface="Arial"/>
                <a:cs typeface="Arial"/>
              </a:rPr>
              <a:t>via</a:t>
            </a:r>
            <a:r>
              <a:rPr sz="800" b="1" spc="2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25" dirty="0">
                <a:solidFill>
                  <a:srgbClr val="191933"/>
                </a:solidFill>
                <a:latin typeface="Arial"/>
                <a:cs typeface="Arial"/>
              </a:rPr>
              <a:t>Cloud</a:t>
            </a:r>
            <a:r>
              <a:rPr sz="800" b="1" spc="2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191933"/>
                </a:solidFill>
                <a:latin typeface="Arial"/>
                <a:cs typeface="Arial"/>
              </a:rPr>
              <a:t>Management:</a:t>
            </a:r>
            <a:r>
              <a:rPr sz="800" b="1" spc="9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Using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cloud-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based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solution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like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Microsoft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Intune,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 patches are </a:t>
            </a: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pushed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 remotely.</a:t>
            </a:r>
            <a:endParaRPr sz="800">
              <a:latin typeface="Arial MT"/>
              <a:cs typeface="Arial MT"/>
            </a:endParaRPr>
          </a:p>
          <a:p>
            <a:pPr marL="276860">
              <a:lnSpc>
                <a:spcPct val="100000"/>
              </a:lnSpc>
              <a:spcBef>
                <a:spcPts val="254"/>
              </a:spcBef>
            </a:pPr>
            <a:r>
              <a:rPr sz="800" b="1" spc="-25" dirty="0">
                <a:solidFill>
                  <a:srgbClr val="191933"/>
                </a:solidFill>
                <a:latin typeface="Arial"/>
                <a:cs typeface="Arial"/>
              </a:rPr>
              <a:t>Deployment</a:t>
            </a:r>
            <a:r>
              <a:rPr sz="800" b="1" spc="2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Rate:</a:t>
            </a:r>
            <a:r>
              <a:rPr sz="800" b="1" spc="10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500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devices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per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hour.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4" name="object 14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4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4195587" y="3351784"/>
            <a:ext cx="28130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</a:rPr>
              <a:t>53</a:t>
            </a:r>
            <a:r>
              <a:rPr sz="6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00" spc="150" dirty="0">
                <a:solidFill>
                  <a:srgbClr val="FFFFFF"/>
                </a:solidFill>
                <a:latin typeface="Arial MT"/>
                <a:cs typeface="Arial MT"/>
              </a:rPr>
              <a:t>/</a:t>
            </a:r>
            <a:r>
              <a:rPr sz="6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Arial MT"/>
                <a:cs typeface="Arial MT"/>
              </a:rPr>
              <a:t>93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Example</a:t>
            </a:r>
            <a:r>
              <a:rPr spc="25" dirty="0"/>
              <a:t> </a:t>
            </a:r>
            <a:r>
              <a:rPr dirty="0"/>
              <a:t>5:</a:t>
            </a:r>
            <a:r>
              <a:rPr spc="140" dirty="0"/>
              <a:t> </a:t>
            </a:r>
            <a:r>
              <a:rPr spc="-60" dirty="0"/>
              <a:t>Cloud-</a:t>
            </a:r>
            <a:r>
              <a:rPr spc="-35" dirty="0"/>
              <a:t>Based</a:t>
            </a:r>
            <a:r>
              <a:rPr spc="25" dirty="0"/>
              <a:t> </a:t>
            </a:r>
            <a:r>
              <a:rPr dirty="0"/>
              <a:t>Patch</a:t>
            </a:r>
            <a:r>
              <a:rPr spc="25" dirty="0"/>
              <a:t> </a:t>
            </a:r>
            <a:r>
              <a:rPr spc="-10" dirty="0"/>
              <a:t>Management</a:t>
            </a:r>
            <a:r>
              <a:rPr spc="25" dirty="0"/>
              <a:t> </a:t>
            </a:r>
            <a:r>
              <a:rPr spc="-40" dirty="0"/>
              <a:t>Solutions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501446"/>
            <a:ext cx="4432935" cy="187960"/>
          </a:xfrm>
          <a:custGeom>
            <a:avLst/>
            <a:gdLst/>
            <a:ahLst/>
            <a:cxnLst/>
            <a:rect l="l" t="t" r="r" b="b"/>
            <a:pathLst>
              <a:path w="4432935" h="187959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4432566" y="187823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2672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8544" y="529894"/>
            <a:ext cx="518159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70" dirty="0">
                <a:solidFill>
                  <a:srgbClr val="FFFFFF"/>
                </a:solidFill>
                <a:latin typeface="Tahoma"/>
                <a:cs typeface="Tahoma"/>
              </a:rPr>
              <a:t>Scenario</a:t>
            </a:r>
            <a:endParaRPr sz="1200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147444"/>
            <a:ext cx="65265" cy="6526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305598"/>
            <a:ext cx="65265" cy="6526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583956"/>
            <a:ext cx="65265" cy="65265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38544" y="708201"/>
            <a:ext cx="4432935" cy="97663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R="327025">
              <a:lnSpc>
                <a:spcPts val="950"/>
              </a:lnSpc>
              <a:spcBef>
                <a:spcPts val="135"/>
              </a:spcBef>
            </a:pP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tech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company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with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distributed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workforce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(remote)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has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3,000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devices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connected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via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 cloud.</a:t>
            </a:r>
            <a:r>
              <a:rPr sz="800" spc="1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critical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security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patch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is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required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for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newly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identified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worm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threat.</a:t>
            </a:r>
            <a:endParaRPr sz="8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sz="800" dirty="0">
              <a:latin typeface="Arial MT"/>
              <a:cs typeface="Arial MT"/>
            </a:endParaRPr>
          </a:p>
          <a:p>
            <a:pPr marL="276860">
              <a:lnSpc>
                <a:spcPct val="100000"/>
              </a:lnSpc>
            </a:pP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Initial</a:t>
            </a:r>
            <a:r>
              <a:rPr sz="800" b="1" spc="4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25" dirty="0">
                <a:solidFill>
                  <a:srgbClr val="191933"/>
                </a:solidFill>
                <a:latin typeface="Arial"/>
                <a:cs typeface="Arial"/>
              </a:rPr>
              <a:t>Vulnerability:</a:t>
            </a:r>
            <a:r>
              <a:rPr sz="800" b="1" spc="12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All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3,000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devices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are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vulnerable.</a:t>
            </a:r>
            <a:endParaRPr sz="800" dirty="0">
              <a:latin typeface="Arial MT"/>
              <a:cs typeface="Arial MT"/>
            </a:endParaRPr>
          </a:p>
          <a:p>
            <a:pPr marL="276860" marR="163830">
              <a:lnSpc>
                <a:spcPts val="950"/>
              </a:lnSpc>
              <a:spcBef>
                <a:spcPts val="325"/>
              </a:spcBef>
            </a:pP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Patch</a:t>
            </a:r>
            <a:r>
              <a:rPr sz="800" b="1" spc="2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25" dirty="0">
                <a:solidFill>
                  <a:srgbClr val="191933"/>
                </a:solidFill>
                <a:latin typeface="Arial"/>
                <a:cs typeface="Arial"/>
              </a:rPr>
              <a:t>Deployment</a:t>
            </a:r>
            <a:r>
              <a:rPr sz="800" b="1" spc="1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191933"/>
                </a:solidFill>
                <a:latin typeface="Arial"/>
                <a:cs typeface="Arial"/>
              </a:rPr>
              <a:t>via</a:t>
            </a:r>
            <a:r>
              <a:rPr sz="800" b="1" spc="2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25" dirty="0">
                <a:solidFill>
                  <a:srgbClr val="191933"/>
                </a:solidFill>
                <a:latin typeface="Arial"/>
                <a:cs typeface="Arial"/>
              </a:rPr>
              <a:t>Cloud</a:t>
            </a:r>
            <a:r>
              <a:rPr sz="800" b="1" spc="2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191933"/>
                </a:solidFill>
                <a:latin typeface="Arial"/>
                <a:cs typeface="Arial"/>
              </a:rPr>
              <a:t>Management:</a:t>
            </a:r>
            <a:r>
              <a:rPr sz="800" b="1" spc="9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Using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cloud-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based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solution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like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Microsoft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Intune,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 patches are </a:t>
            </a: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pushed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 remotely.</a:t>
            </a:r>
            <a:endParaRPr sz="800" dirty="0">
              <a:latin typeface="Arial MT"/>
              <a:cs typeface="Arial MT"/>
            </a:endParaRPr>
          </a:p>
          <a:p>
            <a:pPr marL="276860">
              <a:lnSpc>
                <a:spcPct val="100000"/>
              </a:lnSpc>
              <a:spcBef>
                <a:spcPts val="254"/>
              </a:spcBef>
            </a:pPr>
            <a:r>
              <a:rPr sz="800" b="1" spc="-25" dirty="0">
                <a:solidFill>
                  <a:srgbClr val="191933"/>
                </a:solidFill>
                <a:latin typeface="Arial"/>
                <a:cs typeface="Arial"/>
              </a:rPr>
              <a:t>Deployment</a:t>
            </a:r>
            <a:r>
              <a:rPr sz="800" b="1" spc="2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Rate:</a:t>
            </a:r>
            <a:r>
              <a:rPr sz="800" b="1" spc="10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500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devices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per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hour.</a:t>
            </a:r>
            <a:endParaRPr sz="800" dirty="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7743" y="1810664"/>
            <a:ext cx="4432935" cy="187960"/>
          </a:xfrm>
          <a:custGeom>
            <a:avLst/>
            <a:gdLst/>
            <a:ahLst/>
            <a:cxnLst/>
            <a:rect l="l" t="t" r="r" b="b"/>
            <a:pathLst>
              <a:path w="4432935" h="187960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4432566" y="187823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2672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38544" y="1839111"/>
            <a:ext cx="68897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40" dirty="0">
                <a:solidFill>
                  <a:srgbClr val="FFFFFF"/>
                </a:solidFill>
                <a:latin typeface="Tahoma"/>
                <a:cs typeface="Tahoma"/>
              </a:rPr>
              <a:t>Calculation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8544" y="1975104"/>
            <a:ext cx="4432935" cy="50038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76860">
              <a:lnSpc>
                <a:spcPct val="100000"/>
              </a:lnSpc>
              <a:spcBef>
                <a:spcPts val="385"/>
              </a:spcBef>
            </a:pP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After</a:t>
            </a:r>
            <a:r>
              <a:rPr sz="800" b="1" spc="1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1</a:t>
            </a:r>
            <a:r>
              <a:rPr sz="800" b="1" spc="2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20" dirty="0">
                <a:solidFill>
                  <a:srgbClr val="191933"/>
                </a:solidFill>
                <a:latin typeface="Arial"/>
                <a:cs typeface="Arial"/>
              </a:rPr>
              <a:t>hour:</a:t>
            </a:r>
            <a:r>
              <a:rPr sz="800" b="1" spc="9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500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devices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patched,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2,500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vulnerable.</a:t>
            </a:r>
            <a:endParaRPr sz="800">
              <a:latin typeface="Arial MT"/>
              <a:cs typeface="Arial MT"/>
            </a:endParaRPr>
          </a:p>
          <a:p>
            <a:pPr marL="276860">
              <a:lnSpc>
                <a:spcPct val="100000"/>
              </a:lnSpc>
              <a:spcBef>
                <a:spcPts val="285"/>
              </a:spcBef>
            </a:pP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After</a:t>
            </a:r>
            <a:r>
              <a:rPr sz="800" b="1" spc="2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3</a:t>
            </a:r>
            <a:r>
              <a:rPr sz="800" b="1" spc="2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35" dirty="0">
                <a:solidFill>
                  <a:srgbClr val="191933"/>
                </a:solidFill>
                <a:latin typeface="Arial"/>
                <a:cs typeface="Arial"/>
              </a:rPr>
              <a:t>hours:</a:t>
            </a:r>
            <a:r>
              <a:rPr sz="800" b="1" spc="9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1,500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devices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patched,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1,500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vulnerable.</a:t>
            </a:r>
            <a:endParaRPr sz="800">
              <a:latin typeface="Arial MT"/>
              <a:cs typeface="Arial MT"/>
            </a:endParaRPr>
          </a:p>
          <a:p>
            <a:pPr marL="276860">
              <a:lnSpc>
                <a:spcPct val="100000"/>
              </a:lnSpc>
              <a:spcBef>
                <a:spcPts val="285"/>
              </a:spcBef>
            </a:pP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After</a:t>
            </a:r>
            <a:r>
              <a:rPr sz="800" b="1" spc="2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6</a:t>
            </a:r>
            <a:r>
              <a:rPr sz="800" b="1" spc="2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35" dirty="0">
                <a:solidFill>
                  <a:srgbClr val="191933"/>
                </a:solidFill>
                <a:latin typeface="Arial"/>
                <a:cs typeface="Arial"/>
              </a:rPr>
              <a:t>hours:</a:t>
            </a:r>
            <a:r>
              <a:rPr sz="800" b="1" spc="10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3,000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devices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patched,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0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vulnerable.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24" name="object 24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4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4195587" y="3351784"/>
            <a:ext cx="28130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</a:rPr>
              <a:t>53</a:t>
            </a:r>
            <a:r>
              <a:rPr sz="6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00" spc="150" dirty="0">
                <a:solidFill>
                  <a:srgbClr val="FFFFFF"/>
                </a:solidFill>
                <a:latin typeface="Arial MT"/>
                <a:cs typeface="Arial MT"/>
              </a:rPr>
              <a:t>/</a:t>
            </a:r>
            <a:r>
              <a:rPr sz="6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Arial MT"/>
                <a:cs typeface="Arial MT"/>
              </a:rPr>
              <a:t>93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Example</a:t>
            </a:r>
            <a:r>
              <a:rPr spc="25" dirty="0"/>
              <a:t> </a:t>
            </a:r>
            <a:r>
              <a:rPr dirty="0"/>
              <a:t>5:</a:t>
            </a:r>
            <a:r>
              <a:rPr spc="140" dirty="0"/>
              <a:t> </a:t>
            </a:r>
            <a:r>
              <a:rPr spc="-60" dirty="0"/>
              <a:t>Cloud-</a:t>
            </a:r>
            <a:r>
              <a:rPr spc="-35" dirty="0"/>
              <a:t>Based</a:t>
            </a:r>
            <a:r>
              <a:rPr spc="25" dirty="0"/>
              <a:t> </a:t>
            </a:r>
            <a:r>
              <a:rPr dirty="0"/>
              <a:t>Patch</a:t>
            </a:r>
            <a:r>
              <a:rPr spc="25" dirty="0"/>
              <a:t> </a:t>
            </a:r>
            <a:r>
              <a:rPr spc="-10" dirty="0"/>
              <a:t>Management</a:t>
            </a:r>
            <a:r>
              <a:rPr spc="25" dirty="0"/>
              <a:t> </a:t>
            </a:r>
            <a:r>
              <a:rPr spc="-40" dirty="0"/>
              <a:t>Solutions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501446"/>
            <a:ext cx="4432935" cy="187960"/>
          </a:xfrm>
          <a:custGeom>
            <a:avLst/>
            <a:gdLst/>
            <a:ahLst/>
            <a:cxnLst/>
            <a:rect l="l" t="t" r="r" b="b"/>
            <a:pathLst>
              <a:path w="4432935" h="187959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4432566" y="187823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2672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8544" y="529894"/>
            <a:ext cx="518159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70" dirty="0">
                <a:solidFill>
                  <a:srgbClr val="FFFFFF"/>
                </a:solidFill>
                <a:latin typeface="Tahoma"/>
                <a:cs typeface="Tahoma"/>
              </a:rPr>
              <a:t>Scenario</a:t>
            </a:r>
            <a:endParaRPr sz="1200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147444"/>
            <a:ext cx="65265" cy="6526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305598"/>
            <a:ext cx="65265" cy="6526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583956"/>
            <a:ext cx="65265" cy="65265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87743" y="708201"/>
            <a:ext cx="4483735" cy="97663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0800" marR="327025">
              <a:lnSpc>
                <a:spcPts val="950"/>
              </a:lnSpc>
              <a:spcBef>
                <a:spcPts val="135"/>
              </a:spcBef>
            </a:pP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tech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company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with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distributed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workforce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(remote)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has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3,000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devices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connected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via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 cloud.</a:t>
            </a:r>
            <a:r>
              <a:rPr sz="800" spc="1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critical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security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patch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is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required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for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newly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identified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worm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threat.</a:t>
            </a: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sz="800">
              <a:latin typeface="Arial MT"/>
              <a:cs typeface="Arial MT"/>
            </a:endParaRPr>
          </a:p>
          <a:p>
            <a:pPr marL="327660">
              <a:lnSpc>
                <a:spcPct val="100000"/>
              </a:lnSpc>
            </a:pP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Initial</a:t>
            </a:r>
            <a:r>
              <a:rPr sz="800" b="1" spc="4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25" dirty="0">
                <a:solidFill>
                  <a:srgbClr val="191933"/>
                </a:solidFill>
                <a:latin typeface="Arial"/>
                <a:cs typeface="Arial"/>
              </a:rPr>
              <a:t>Vulnerability:</a:t>
            </a:r>
            <a:r>
              <a:rPr sz="800" b="1" spc="12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All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3,000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devices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are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vulnerable.</a:t>
            </a:r>
            <a:endParaRPr sz="800">
              <a:latin typeface="Arial MT"/>
              <a:cs typeface="Arial MT"/>
            </a:endParaRPr>
          </a:p>
          <a:p>
            <a:pPr marL="327660" marR="163830">
              <a:lnSpc>
                <a:spcPts val="950"/>
              </a:lnSpc>
              <a:spcBef>
                <a:spcPts val="325"/>
              </a:spcBef>
            </a:pP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Patch</a:t>
            </a:r>
            <a:r>
              <a:rPr sz="800" b="1" spc="2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25" dirty="0">
                <a:solidFill>
                  <a:srgbClr val="191933"/>
                </a:solidFill>
                <a:latin typeface="Arial"/>
                <a:cs typeface="Arial"/>
              </a:rPr>
              <a:t>Deployment</a:t>
            </a:r>
            <a:r>
              <a:rPr sz="800" b="1" spc="1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191933"/>
                </a:solidFill>
                <a:latin typeface="Arial"/>
                <a:cs typeface="Arial"/>
              </a:rPr>
              <a:t>via</a:t>
            </a:r>
            <a:r>
              <a:rPr sz="800" b="1" spc="2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25" dirty="0">
                <a:solidFill>
                  <a:srgbClr val="191933"/>
                </a:solidFill>
                <a:latin typeface="Arial"/>
                <a:cs typeface="Arial"/>
              </a:rPr>
              <a:t>Cloud</a:t>
            </a:r>
            <a:r>
              <a:rPr sz="800" b="1" spc="2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191933"/>
                </a:solidFill>
                <a:latin typeface="Arial"/>
                <a:cs typeface="Arial"/>
              </a:rPr>
              <a:t>Management:</a:t>
            </a:r>
            <a:r>
              <a:rPr sz="800" b="1" spc="9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Using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cloud-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based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solution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like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Microsoft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Intune,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 patches are </a:t>
            </a: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pushed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 remotely.</a:t>
            </a:r>
            <a:endParaRPr sz="800">
              <a:latin typeface="Arial MT"/>
              <a:cs typeface="Arial MT"/>
            </a:endParaRPr>
          </a:p>
          <a:p>
            <a:pPr marL="327660">
              <a:lnSpc>
                <a:spcPct val="100000"/>
              </a:lnSpc>
              <a:spcBef>
                <a:spcPts val="254"/>
              </a:spcBef>
            </a:pPr>
            <a:r>
              <a:rPr sz="800" b="1" spc="-25" dirty="0">
                <a:solidFill>
                  <a:srgbClr val="191933"/>
                </a:solidFill>
                <a:latin typeface="Arial"/>
                <a:cs typeface="Arial"/>
              </a:rPr>
              <a:t>Deployment</a:t>
            </a:r>
            <a:r>
              <a:rPr sz="800" b="1" spc="2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Rate:</a:t>
            </a:r>
            <a:r>
              <a:rPr sz="800" b="1" spc="10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500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devices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per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hour.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7743" y="1810664"/>
            <a:ext cx="4432935" cy="187960"/>
          </a:xfrm>
          <a:custGeom>
            <a:avLst/>
            <a:gdLst/>
            <a:ahLst/>
            <a:cxnLst/>
            <a:rect l="l" t="t" r="r" b="b"/>
            <a:pathLst>
              <a:path w="4432935" h="187960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4432566" y="187823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2672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38544" y="1839111"/>
            <a:ext cx="68897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40" dirty="0">
                <a:solidFill>
                  <a:srgbClr val="FFFFFF"/>
                </a:solidFill>
                <a:latin typeface="Tahoma"/>
                <a:cs typeface="Tahoma"/>
              </a:rPr>
              <a:t>Calculation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7743" y="1975104"/>
            <a:ext cx="4483735" cy="50038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327660">
              <a:lnSpc>
                <a:spcPct val="100000"/>
              </a:lnSpc>
              <a:spcBef>
                <a:spcPts val="385"/>
              </a:spcBef>
            </a:pP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After</a:t>
            </a:r>
            <a:r>
              <a:rPr sz="800" b="1" spc="1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1</a:t>
            </a:r>
            <a:r>
              <a:rPr sz="800" b="1" spc="2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20" dirty="0">
                <a:solidFill>
                  <a:srgbClr val="191933"/>
                </a:solidFill>
                <a:latin typeface="Arial"/>
                <a:cs typeface="Arial"/>
              </a:rPr>
              <a:t>hour:</a:t>
            </a:r>
            <a:r>
              <a:rPr sz="800" b="1" spc="9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500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devices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patched,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2,500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vulnerable.</a:t>
            </a:r>
            <a:endParaRPr sz="800">
              <a:latin typeface="Arial MT"/>
              <a:cs typeface="Arial MT"/>
            </a:endParaRPr>
          </a:p>
          <a:p>
            <a:pPr marL="327660">
              <a:lnSpc>
                <a:spcPct val="100000"/>
              </a:lnSpc>
              <a:spcBef>
                <a:spcPts val="285"/>
              </a:spcBef>
            </a:pP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After</a:t>
            </a:r>
            <a:r>
              <a:rPr sz="800" b="1" spc="2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3</a:t>
            </a:r>
            <a:r>
              <a:rPr sz="800" b="1" spc="2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35" dirty="0">
                <a:solidFill>
                  <a:srgbClr val="191933"/>
                </a:solidFill>
                <a:latin typeface="Arial"/>
                <a:cs typeface="Arial"/>
              </a:rPr>
              <a:t>hours:</a:t>
            </a:r>
            <a:r>
              <a:rPr sz="800" b="1" spc="9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1,500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devices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patched,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1,500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vulnerable.</a:t>
            </a:r>
            <a:endParaRPr sz="800">
              <a:latin typeface="Arial MT"/>
              <a:cs typeface="Arial MT"/>
            </a:endParaRPr>
          </a:p>
          <a:p>
            <a:pPr marL="327660">
              <a:lnSpc>
                <a:spcPct val="100000"/>
              </a:lnSpc>
              <a:spcBef>
                <a:spcPts val="285"/>
              </a:spcBef>
            </a:pP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After</a:t>
            </a:r>
            <a:r>
              <a:rPr sz="800" b="1" spc="2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6</a:t>
            </a:r>
            <a:r>
              <a:rPr sz="800" b="1" spc="2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35" dirty="0">
                <a:solidFill>
                  <a:srgbClr val="191933"/>
                </a:solidFill>
                <a:latin typeface="Arial"/>
                <a:cs typeface="Arial"/>
              </a:rPr>
              <a:t>hours:</a:t>
            </a:r>
            <a:r>
              <a:rPr sz="800" b="1" spc="10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3,000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devices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patched,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0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vulnerable.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7743" y="2658058"/>
            <a:ext cx="4432935" cy="187960"/>
          </a:xfrm>
          <a:custGeom>
            <a:avLst/>
            <a:gdLst/>
            <a:ahLst/>
            <a:cxnLst/>
            <a:rect l="l" t="t" r="r" b="b"/>
            <a:pathLst>
              <a:path w="4432935" h="187960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4432566" y="187823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2672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138544" y="2686506"/>
            <a:ext cx="563880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65" dirty="0">
                <a:solidFill>
                  <a:srgbClr val="FFFFFF"/>
                </a:solidFill>
                <a:latin typeface="Tahoma"/>
                <a:cs typeface="Tahoma"/>
              </a:rPr>
              <a:t>Outcome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7743" y="2859187"/>
            <a:ext cx="4483735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0800" marR="93345">
              <a:lnSpc>
                <a:spcPts val="950"/>
              </a:lnSpc>
              <a:spcBef>
                <a:spcPts val="135"/>
              </a:spcBef>
            </a:pP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cloud-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based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patch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management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system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40" dirty="0">
                <a:solidFill>
                  <a:srgbClr val="191933"/>
                </a:solidFill>
                <a:latin typeface="Arial MT"/>
                <a:cs typeface="Arial MT"/>
              </a:rPr>
              <a:t>ensures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that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all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remote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devices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are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patched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within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50" dirty="0">
                <a:solidFill>
                  <a:srgbClr val="191933"/>
                </a:solidFill>
                <a:latin typeface="Arial MT"/>
                <a:cs typeface="Arial MT"/>
              </a:rPr>
              <a:t>6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 hours,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providing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effective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and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quick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mitigation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against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worm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threat.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31" name="object 31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4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4195587" y="3351784"/>
            <a:ext cx="28130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</a:rPr>
              <a:t>53</a:t>
            </a:r>
            <a:r>
              <a:rPr sz="6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00" spc="150" dirty="0">
                <a:solidFill>
                  <a:srgbClr val="FFFFFF"/>
                </a:solidFill>
                <a:latin typeface="Arial MT"/>
                <a:cs typeface="Arial MT"/>
              </a:rPr>
              <a:t>/</a:t>
            </a:r>
            <a:r>
              <a:rPr sz="6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Arial MT"/>
                <a:cs typeface="Arial MT"/>
              </a:rPr>
              <a:t>93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Example</a:t>
            </a:r>
            <a:r>
              <a:rPr spc="20" dirty="0"/>
              <a:t> </a:t>
            </a:r>
            <a:r>
              <a:rPr dirty="0"/>
              <a:t>6:</a:t>
            </a:r>
            <a:r>
              <a:rPr spc="140" dirty="0"/>
              <a:t> </a:t>
            </a:r>
            <a:r>
              <a:rPr dirty="0"/>
              <a:t>Third-</a:t>
            </a:r>
            <a:r>
              <a:rPr spc="-10" dirty="0"/>
              <a:t>Party</a:t>
            </a:r>
            <a:r>
              <a:rPr spc="20" dirty="0"/>
              <a:t> </a:t>
            </a:r>
            <a:r>
              <a:rPr dirty="0"/>
              <a:t>Patch</a:t>
            </a:r>
            <a:r>
              <a:rPr spc="20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620381"/>
            <a:ext cx="4432935" cy="187960"/>
          </a:xfrm>
          <a:custGeom>
            <a:avLst/>
            <a:gdLst/>
            <a:ahLst/>
            <a:cxnLst/>
            <a:rect l="l" t="t" r="r" b="b"/>
            <a:pathLst>
              <a:path w="4432935" h="187959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4432566" y="187823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2672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8544" y="648829"/>
            <a:ext cx="518159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70" dirty="0">
                <a:solidFill>
                  <a:srgbClr val="FFFFFF"/>
                </a:solidFill>
                <a:latin typeface="Tahoma"/>
                <a:cs typeface="Tahoma"/>
              </a:rPr>
              <a:t>Scenario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8544" y="821510"/>
            <a:ext cx="4432935" cy="5080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R="93345">
              <a:lnSpc>
                <a:spcPts val="950"/>
              </a:lnSpc>
              <a:spcBef>
                <a:spcPts val="135"/>
              </a:spcBef>
            </a:pP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Initial</a:t>
            </a:r>
            <a:r>
              <a:rPr sz="800" b="1" spc="3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25" dirty="0">
                <a:solidFill>
                  <a:srgbClr val="191933"/>
                </a:solidFill>
                <a:latin typeface="Arial"/>
                <a:cs typeface="Arial"/>
              </a:rPr>
              <a:t>Vulnerability:</a:t>
            </a:r>
            <a:r>
              <a:rPr sz="800" b="1" spc="114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2,000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workstations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are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potentially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vulnerable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worm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infections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due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 outdated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third-party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applications.</a:t>
            </a:r>
            <a:r>
              <a:rPr sz="800" spc="1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Patch</a:t>
            </a:r>
            <a:r>
              <a:rPr sz="800" b="1" spc="4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25" dirty="0">
                <a:solidFill>
                  <a:srgbClr val="191933"/>
                </a:solidFill>
                <a:latin typeface="Arial"/>
                <a:cs typeface="Arial"/>
              </a:rPr>
              <a:t>Deployment</a:t>
            </a:r>
            <a:r>
              <a:rPr sz="800" b="1" spc="4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Rate:</a:t>
            </a:r>
            <a:r>
              <a:rPr sz="800" b="1" spc="114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ManageEngine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Patch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Manager</a:t>
            </a:r>
            <a:r>
              <a:rPr sz="800" spc="5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Plus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can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patch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200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workstations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per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hour.</a:t>
            </a:r>
            <a:r>
              <a:rPr sz="800" spc="9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b="1" spc="-20" dirty="0">
                <a:solidFill>
                  <a:srgbClr val="191933"/>
                </a:solidFill>
                <a:latin typeface="Arial"/>
                <a:cs typeface="Arial"/>
              </a:rPr>
              <a:t>Patching</a:t>
            </a:r>
            <a:r>
              <a:rPr sz="800" b="1" spc="2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35" dirty="0">
                <a:solidFill>
                  <a:srgbClr val="191933"/>
                </a:solidFill>
                <a:latin typeface="Arial"/>
                <a:cs typeface="Arial"/>
              </a:rPr>
              <a:t>Schedule:</a:t>
            </a:r>
            <a:r>
              <a:rPr sz="800" b="1" spc="9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Patches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are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applied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overnight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 minimize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disruption.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1" name="object 11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4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195587" y="3351784"/>
            <a:ext cx="28130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</a:rPr>
              <a:t>54</a:t>
            </a:r>
            <a:r>
              <a:rPr sz="6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00" spc="150" dirty="0">
                <a:solidFill>
                  <a:srgbClr val="FFFFFF"/>
                </a:solidFill>
                <a:latin typeface="Arial MT"/>
                <a:cs typeface="Arial MT"/>
              </a:rPr>
              <a:t>/</a:t>
            </a:r>
            <a:r>
              <a:rPr sz="6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Arial MT"/>
                <a:cs typeface="Arial MT"/>
              </a:rPr>
              <a:t>93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Example</a:t>
            </a:r>
            <a:r>
              <a:rPr spc="20" dirty="0"/>
              <a:t> </a:t>
            </a:r>
            <a:r>
              <a:rPr dirty="0"/>
              <a:t>6:</a:t>
            </a:r>
            <a:r>
              <a:rPr spc="140" dirty="0"/>
              <a:t> </a:t>
            </a:r>
            <a:r>
              <a:rPr dirty="0"/>
              <a:t>Third-</a:t>
            </a:r>
            <a:r>
              <a:rPr spc="-10" dirty="0"/>
              <a:t>Party</a:t>
            </a:r>
            <a:r>
              <a:rPr spc="20" dirty="0"/>
              <a:t> </a:t>
            </a:r>
            <a:r>
              <a:rPr dirty="0"/>
              <a:t>Patch</a:t>
            </a:r>
            <a:r>
              <a:rPr spc="20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620381"/>
            <a:ext cx="4432935" cy="187960"/>
          </a:xfrm>
          <a:custGeom>
            <a:avLst/>
            <a:gdLst/>
            <a:ahLst/>
            <a:cxnLst/>
            <a:rect l="l" t="t" r="r" b="b"/>
            <a:pathLst>
              <a:path w="4432935" h="187959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4432566" y="187823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2672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8544" y="648829"/>
            <a:ext cx="518159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70" dirty="0">
                <a:solidFill>
                  <a:srgbClr val="FFFFFF"/>
                </a:solidFill>
                <a:latin typeface="Tahoma"/>
                <a:cs typeface="Tahoma"/>
              </a:rPr>
              <a:t>Scenario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8544" y="821510"/>
            <a:ext cx="4432935" cy="5080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R="93345">
              <a:lnSpc>
                <a:spcPts val="950"/>
              </a:lnSpc>
              <a:spcBef>
                <a:spcPts val="135"/>
              </a:spcBef>
            </a:pP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Initial</a:t>
            </a:r>
            <a:r>
              <a:rPr sz="800" b="1" spc="3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25" dirty="0">
                <a:solidFill>
                  <a:srgbClr val="191933"/>
                </a:solidFill>
                <a:latin typeface="Arial"/>
                <a:cs typeface="Arial"/>
              </a:rPr>
              <a:t>Vulnerability:</a:t>
            </a:r>
            <a:r>
              <a:rPr sz="800" b="1" spc="114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2,000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workstations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are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potentially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vulnerable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worm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infections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due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 outdated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third-party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applications.</a:t>
            </a:r>
            <a:r>
              <a:rPr sz="800" spc="1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Patch</a:t>
            </a:r>
            <a:r>
              <a:rPr sz="800" b="1" spc="4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25" dirty="0">
                <a:solidFill>
                  <a:srgbClr val="191933"/>
                </a:solidFill>
                <a:latin typeface="Arial"/>
                <a:cs typeface="Arial"/>
              </a:rPr>
              <a:t>Deployment</a:t>
            </a:r>
            <a:r>
              <a:rPr sz="800" b="1" spc="4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Rate:</a:t>
            </a:r>
            <a:r>
              <a:rPr sz="800" b="1" spc="114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ManageEngine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Patch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Manager</a:t>
            </a:r>
            <a:r>
              <a:rPr sz="800" spc="5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Plus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can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patch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200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workstations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per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hour.</a:t>
            </a:r>
            <a:r>
              <a:rPr sz="800" spc="9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b="1" spc="-20" dirty="0">
                <a:solidFill>
                  <a:srgbClr val="191933"/>
                </a:solidFill>
                <a:latin typeface="Arial"/>
                <a:cs typeface="Arial"/>
              </a:rPr>
              <a:t>Patching</a:t>
            </a:r>
            <a:r>
              <a:rPr sz="800" b="1" spc="2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35" dirty="0">
                <a:solidFill>
                  <a:srgbClr val="191933"/>
                </a:solidFill>
                <a:latin typeface="Arial"/>
                <a:cs typeface="Arial"/>
              </a:rPr>
              <a:t>Schedule:</a:t>
            </a:r>
            <a:r>
              <a:rPr sz="800" b="1" spc="9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Patches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are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applied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overnight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 minimize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disruption.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7743" y="1512061"/>
            <a:ext cx="4432935" cy="187960"/>
          </a:xfrm>
          <a:custGeom>
            <a:avLst/>
            <a:gdLst/>
            <a:ahLst/>
            <a:cxnLst/>
            <a:rect l="l" t="t" r="r" b="b"/>
            <a:pathLst>
              <a:path w="4432935" h="187960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4432566" y="187823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2672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38544" y="1540509"/>
            <a:ext cx="68897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40" dirty="0">
                <a:solidFill>
                  <a:srgbClr val="FFFFFF"/>
                </a:solidFill>
                <a:latin typeface="Tahoma"/>
                <a:cs typeface="Tahoma"/>
              </a:rPr>
              <a:t>Calculation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38544" y="1676501"/>
            <a:ext cx="4432935" cy="50038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76860">
              <a:lnSpc>
                <a:spcPct val="100000"/>
              </a:lnSpc>
              <a:spcBef>
                <a:spcPts val="385"/>
              </a:spcBef>
            </a:pP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After</a:t>
            </a:r>
            <a:r>
              <a:rPr sz="800" b="1" spc="2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1</a:t>
            </a:r>
            <a:r>
              <a:rPr sz="800" b="1" spc="2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20" dirty="0">
                <a:solidFill>
                  <a:srgbClr val="191933"/>
                </a:solidFill>
                <a:latin typeface="Arial"/>
                <a:cs typeface="Arial"/>
              </a:rPr>
              <a:t>hour:</a:t>
            </a:r>
            <a:r>
              <a:rPr sz="800" b="1" spc="10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200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workstations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patched,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1,800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vulnerable.</a:t>
            </a:r>
            <a:endParaRPr sz="800">
              <a:latin typeface="Arial MT"/>
              <a:cs typeface="Arial MT"/>
            </a:endParaRPr>
          </a:p>
          <a:p>
            <a:pPr marL="276860">
              <a:lnSpc>
                <a:spcPct val="100000"/>
              </a:lnSpc>
              <a:spcBef>
                <a:spcPts val="285"/>
              </a:spcBef>
            </a:pP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After</a:t>
            </a:r>
            <a:r>
              <a:rPr sz="800" b="1" spc="2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5</a:t>
            </a:r>
            <a:r>
              <a:rPr sz="800" b="1" spc="2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35" dirty="0">
                <a:solidFill>
                  <a:srgbClr val="191933"/>
                </a:solidFill>
                <a:latin typeface="Arial"/>
                <a:cs typeface="Arial"/>
              </a:rPr>
              <a:t>hours:</a:t>
            </a:r>
            <a:r>
              <a:rPr sz="800" b="1" spc="10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1,000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workstations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patched,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1,000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vulnerable.</a:t>
            </a:r>
            <a:endParaRPr sz="800">
              <a:latin typeface="Arial MT"/>
              <a:cs typeface="Arial MT"/>
            </a:endParaRPr>
          </a:p>
          <a:p>
            <a:pPr marL="276860">
              <a:lnSpc>
                <a:spcPct val="100000"/>
              </a:lnSpc>
              <a:spcBef>
                <a:spcPts val="285"/>
              </a:spcBef>
            </a:pP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After</a:t>
            </a:r>
            <a:r>
              <a:rPr sz="800" b="1" spc="3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10</a:t>
            </a:r>
            <a:r>
              <a:rPr sz="800" b="1" spc="2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35" dirty="0">
                <a:solidFill>
                  <a:srgbClr val="191933"/>
                </a:solidFill>
                <a:latin typeface="Arial"/>
                <a:cs typeface="Arial"/>
              </a:rPr>
              <a:t>hours:</a:t>
            </a:r>
            <a:r>
              <a:rPr sz="800" b="1" spc="10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2,000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workstations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patched,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0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vulnerable.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21" name="object 21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4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4195587" y="3351784"/>
            <a:ext cx="28130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</a:rPr>
              <a:t>54</a:t>
            </a:r>
            <a:r>
              <a:rPr sz="6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00" spc="150" dirty="0">
                <a:solidFill>
                  <a:srgbClr val="FFFFFF"/>
                </a:solidFill>
                <a:latin typeface="Arial MT"/>
                <a:cs typeface="Arial MT"/>
              </a:rPr>
              <a:t>/</a:t>
            </a:r>
            <a:r>
              <a:rPr sz="6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Arial MT"/>
                <a:cs typeface="Arial MT"/>
              </a:rPr>
              <a:t>93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Example</a:t>
            </a:r>
            <a:r>
              <a:rPr spc="20" dirty="0"/>
              <a:t> </a:t>
            </a:r>
            <a:r>
              <a:rPr dirty="0"/>
              <a:t>6:</a:t>
            </a:r>
            <a:r>
              <a:rPr spc="140" dirty="0"/>
              <a:t> </a:t>
            </a:r>
            <a:r>
              <a:rPr dirty="0"/>
              <a:t>Third-</a:t>
            </a:r>
            <a:r>
              <a:rPr spc="-10" dirty="0"/>
              <a:t>Party</a:t>
            </a:r>
            <a:r>
              <a:rPr spc="20" dirty="0"/>
              <a:t> </a:t>
            </a:r>
            <a:r>
              <a:rPr dirty="0"/>
              <a:t>Patch</a:t>
            </a:r>
            <a:r>
              <a:rPr spc="20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620381"/>
            <a:ext cx="4432935" cy="187960"/>
          </a:xfrm>
          <a:custGeom>
            <a:avLst/>
            <a:gdLst/>
            <a:ahLst/>
            <a:cxnLst/>
            <a:rect l="l" t="t" r="r" b="b"/>
            <a:pathLst>
              <a:path w="4432935" h="187959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4432566" y="187823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2672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8544" y="648829"/>
            <a:ext cx="518159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70" dirty="0">
                <a:solidFill>
                  <a:srgbClr val="FFFFFF"/>
                </a:solidFill>
                <a:latin typeface="Tahoma"/>
                <a:cs typeface="Tahoma"/>
              </a:rPr>
              <a:t>Scenario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7743" y="821510"/>
            <a:ext cx="4483735" cy="5080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0800" marR="93345">
              <a:lnSpc>
                <a:spcPts val="950"/>
              </a:lnSpc>
              <a:spcBef>
                <a:spcPts val="135"/>
              </a:spcBef>
            </a:pP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Initial</a:t>
            </a:r>
            <a:r>
              <a:rPr sz="800" b="1" spc="3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25" dirty="0">
                <a:solidFill>
                  <a:srgbClr val="191933"/>
                </a:solidFill>
                <a:latin typeface="Arial"/>
                <a:cs typeface="Arial"/>
              </a:rPr>
              <a:t>Vulnerability:</a:t>
            </a:r>
            <a:r>
              <a:rPr sz="800" b="1" spc="114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2,000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workstations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are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potentially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vulnerable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worm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infections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due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 outdated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third-party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applications.</a:t>
            </a:r>
            <a:r>
              <a:rPr sz="800" spc="1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Patch</a:t>
            </a:r>
            <a:r>
              <a:rPr sz="800" b="1" spc="4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25" dirty="0">
                <a:solidFill>
                  <a:srgbClr val="191933"/>
                </a:solidFill>
                <a:latin typeface="Arial"/>
                <a:cs typeface="Arial"/>
              </a:rPr>
              <a:t>Deployment</a:t>
            </a:r>
            <a:r>
              <a:rPr sz="800" b="1" spc="4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Rate:</a:t>
            </a:r>
            <a:r>
              <a:rPr sz="800" b="1" spc="114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ManageEngine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Patch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Manager</a:t>
            </a:r>
            <a:r>
              <a:rPr sz="800" spc="5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Plus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can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patch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200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workstations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per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hour.</a:t>
            </a:r>
            <a:r>
              <a:rPr sz="800" spc="9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b="1" spc="-20" dirty="0">
                <a:solidFill>
                  <a:srgbClr val="191933"/>
                </a:solidFill>
                <a:latin typeface="Arial"/>
                <a:cs typeface="Arial"/>
              </a:rPr>
              <a:t>Patching</a:t>
            </a:r>
            <a:r>
              <a:rPr sz="800" b="1" spc="2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35" dirty="0">
                <a:solidFill>
                  <a:srgbClr val="191933"/>
                </a:solidFill>
                <a:latin typeface="Arial"/>
                <a:cs typeface="Arial"/>
              </a:rPr>
              <a:t>Schedule:</a:t>
            </a:r>
            <a:r>
              <a:rPr sz="800" b="1" spc="9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Patches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are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applied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overnight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 minimize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disruption.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7743" y="1512061"/>
            <a:ext cx="4432935" cy="187960"/>
          </a:xfrm>
          <a:custGeom>
            <a:avLst/>
            <a:gdLst/>
            <a:ahLst/>
            <a:cxnLst/>
            <a:rect l="l" t="t" r="r" b="b"/>
            <a:pathLst>
              <a:path w="4432935" h="187960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4432566" y="187823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2672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38544" y="1540509"/>
            <a:ext cx="68897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40" dirty="0">
                <a:solidFill>
                  <a:srgbClr val="FFFFFF"/>
                </a:solidFill>
                <a:latin typeface="Tahoma"/>
                <a:cs typeface="Tahoma"/>
              </a:rPr>
              <a:t>Calculation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7743" y="1676501"/>
            <a:ext cx="4483735" cy="50038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327660">
              <a:lnSpc>
                <a:spcPct val="100000"/>
              </a:lnSpc>
              <a:spcBef>
                <a:spcPts val="385"/>
              </a:spcBef>
            </a:pP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After</a:t>
            </a:r>
            <a:r>
              <a:rPr sz="800" b="1" spc="2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1</a:t>
            </a:r>
            <a:r>
              <a:rPr sz="800" b="1" spc="2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20" dirty="0">
                <a:solidFill>
                  <a:srgbClr val="191933"/>
                </a:solidFill>
                <a:latin typeface="Arial"/>
                <a:cs typeface="Arial"/>
              </a:rPr>
              <a:t>hour:</a:t>
            </a:r>
            <a:r>
              <a:rPr sz="800" b="1" spc="10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200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workstations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patched,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1,800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vulnerable.</a:t>
            </a:r>
            <a:endParaRPr sz="800">
              <a:latin typeface="Arial MT"/>
              <a:cs typeface="Arial MT"/>
            </a:endParaRPr>
          </a:p>
          <a:p>
            <a:pPr marL="327660">
              <a:lnSpc>
                <a:spcPct val="100000"/>
              </a:lnSpc>
              <a:spcBef>
                <a:spcPts val="285"/>
              </a:spcBef>
            </a:pP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After</a:t>
            </a:r>
            <a:r>
              <a:rPr sz="800" b="1" spc="2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5</a:t>
            </a:r>
            <a:r>
              <a:rPr sz="800" b="1" spc="2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35" dirty="0">
                <a:solidFill>
                  <a:srgbClr val="191933"/>
                </a:solidFill>
                <a:latin typeface="Arial"/>
                <a:cs typeface="Arial"/>
              </a:rPr>
              <a:t>hours:</a:t>
            </a:r>
            <a:r>
              <a:rPr sz="800" b="1" spc="10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1,000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workstations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patched,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1,000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vulnerable.</a:t>
            </a:r>
            <a:endParaRPr sz="800">
              <a:latin typeface="Arial MT"/>
              <a:cs typeface="Arial MT"/>
            </a:endParaRPr>
          </a:p>
          <a:p>
            <a:pPr marL="327660">
              <a:lnSpc>
                <a:spcPct val="100000"/>
              </a:lnSpc>
              <a:spcBef>
                <a:spcPts val="285"/>
              </a:spcBef>
            </a:pP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After</a:t>
            </a:r>
            <a:r>
              <a:rPr sz="800" b="1" spc="3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10</a:t>
            </a:r>
            <a:r>
              <a:rPr sz="800" b="1" spc="2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35" dirty="0">
                <a:solidFill>
                  <a:srgbClr val="191933"/>
                </a:solidFill>
                <a:latin typeface="Arial"/>
                <a:cs typeface="Arial"/>
              </a:rPr>
              <a:t>hours:</a:t>
            </a:r>
            <a:r>
              <a:rPr sz="800" b="1" spc="10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2,000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workstations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patched,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0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vulnerable.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7743" y="2359456"/>
            <a:ext cx="4432935" cy="187960"/>
          </a:xfrm>
          <a:custGeom>
            <a:avLst/>
            <a:gdLst/>
            <a:ahLst/>
            <a:cxnLst/>
            <a:rect l="l" t="t" r="r" b="b"/>
            <a:pathLst>
              <a:path w="4432935" h="187960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4432566" y="187823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2672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38544" y="2387904"/>
            <a:ext cx="563880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65" dirty="0">
                <a:solidFill>
                  <a:srgbClr val="FFFFFF"/>
                </a:solidFill>
                <a:latin typeface="Tahoma"/>
                <a:cs typeface="Tahoma"/>
              </a:rPr>
              <a:t>Outcome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7743" y="2560585"/>
            <a:ext cx="4483735" cy="3873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0800" marR="94615">
              <a:lnSpc>
                <a:spcPts val="950"/>
              </a:lnSpc>
              <a:spcBef>
                <a:spcPts val="135"/>
              </a:spcBef>
            </a:pP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By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using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ManageEngine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Patch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Manager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Plus,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company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can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ensure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that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all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third-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party applications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across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its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2,000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workstations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are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patched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within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10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hours,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reducing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risk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worm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infections</a:t>
            </a:r>
            <a:r>
              <a:rPr sz="800" spc="-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exploiting known</a:t>
            </a:r>
            <a:r>
              <a:rPr sz="800" spc="-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vulnerabilities.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28" name="object 28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4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4195587" y="3351784"/>
            <a:ext cx="28130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</a:rPr>
              <a:t>54</a:t>
            </a:r>
            <a:r>
              <a:rPr sz="6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00" spc="150" dirty="0">
                <a:solidFill>
                  <a:srgbClr val="FFFFFF"/>
                </a:solidFill>
                <a:latin typeface="Arial MT"/>
                <a:cs typeface="Arial MT"/>
              </a:rPr>
              <a:t>/</a:t>
            </a:r>
            <a:r>
              <a:rPr sz="6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Arial MT"/>
                <a:cs typeface="Arial MT"/>
              </a:rPr>
              <a:t>93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Key</a:t>
            </a:r>
            <a:r>
              <a:rPr spc="15" dirty="0"/>
              <a:t> </a:t>
            </a:r>
            <a:r>
              <a:rPr spc="-50" dirty="0"/>
              <a:t>Insights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028242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410347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792452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2174557"/>
            <a:ext cx="65265" cy="65265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1128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b="1" dirty="0">
                <a:latin typeface="Arial"/>
                <a:cs typeface="Arial"/>
              </a:rPr>
              <a:t>Patch</a:t>
            </a:r>
            <a:r>
              <a:rPr b="1" spc="15" dirty="0">
                <a:latin typeface="Arial"/>
                <a:cs typeface="Arial"/>
              </a:rPr>
              <a:t> </a:t>
            </a:r>
            <a:r>
              <a:rPr b="1" spc="-30" dirty="0">
                <a:latin typeface="Arial"/>
                <a:cs typeface="Arial"/>
              </a:rPr>
              <a:t>Deployment</a:t>
            </a:r>
            <a:r>
              <a:rPr b="1" spc="3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Rate:</a:t>
            </a:r>
            <a:r>
              <a:rPr b="1" spc="105" dirty="0">
                <a:latin typeface="Arial"/>
                <a:cs typeface="Arial"/>
              </a:rPr>
              <a:t> </a:t>
            </a:r>
            <a:r>
              <a:rPr dirty="0"/>
              <a:t>Must</a:t>
            </a:r>
            <a:r>
              <a:rPr spc="-40" dirty="0"/>
              <a:t> </a:t>
            </a:r>
            <a:r>
              <a:rPr spc="-20" dirty="0"/>
              <a:t>match</a:t>
            </a:r>
            <a:r>
              <a:rPr spc="-35" dirty="0"/>
              <a:t> </a:t>
            </a:r>
            <a:r>
              <a:rPr spc="-20" dirty="0"/>
              <a:t>or</a:t>
            </a:r>
            <a:r>
              <a:rPr spc="-30" dirty="0"/>
              <a:t> </a:t>
            </a:r>
            <a:r>
              <a:rPr spc="-70" dirty="0"/>
              <a:t>exceed</a:t>
            </a:r>
            <a:r>
              <a:rPr spc="-20" dirty="0"/>
              <a:t> </a:t>
            </a:r>
            <a:r>
              <a:rPr spc="-25" dirty="0"/>
              <a:t>infection</a:t>
            </a:r>
            <a:r>
              <a:rPr spc="-35" dirty="0"/>
              <a:t> </a:t>
            </a:r>
            <a:r>
              <a:rPr spc="-20" dirty="0"/>
              <a:t>rate</a:t>
            </a:r>
            <a:r>
              <a:rPr spc="-30" dirty="0"/>
              <a:t> </a:t>
            </a:r>
            <a:r>
              <a:rPr spc="-25" dirty="0"/>
              <a:t>to </a:t>
            </a:r>
            <a:r>
              <a:rPr spc="-20" dirty="0"/>
              <a:t>control</a:t>
            </a:r>
            <a:r>
              <a:rPr spc="-30" dirty="0"/>
              <a:t> </a:t>
            </a:r>
            <a:r>
              <a:rPr spc="-65" dirty="0"/>
              <a:t>worm</a:t>
            </a:r>
            <a:r>
              <a:rPr spc="-25" dirty="0"/>
              <a:t> </a:t>
            </a:r>
            <a:r>
              <a:rPr spc="-10" dirty="0"/>
              <a:t>spread.</a:t>
            </a:r>
          </a:p>
          <a:p>
            <a:pPr marL="12700" marR="126364">
              <a:lnSpc>
                <a:spcPct val="102699"/>
              </a:lnSpc>
              <a:spcBef>
                <a:spcPts val="300"/>
              </a:spcBef>
            </a:pPr>
            <a:r>
              <a:rPr b="1" spc="-20" dirty="0">
                <a:latin typeface="Arial"/>
                <a:cs typeface="Arial"/>
              </a:rPr>
              <a:t>Infection</a:t>
            </a:r>
            <a:r>
              <a:rPr b="1" spc="3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Rate:</a:t>
            </a:r>
            <a:r>
              <a:rPr b="1" spc="105" dirty="0">
                <a:latin typeface="Arial"/>
                <a:cs typeface="Arial"/>
              </a:rPr>
              <a:t> </a:t>
            </a:r>
            <a:r>
              <a:rPr dirty="0"/>
              <a:t>High</a:t>
            </a:r>
            <a:r>
              <a:rPr spc="-30" dirty="0"/>
              <a:t> </a:t>
            </a:r>
            <a:r>
              <a:rPr spc="-25" dirty="0"/>
              <a:t>infection</a:t>
            </a:r>
            <a:r>
              <a:rPr spc="-35" dirty="0"/>
              <a:t> </a:t>
            </a:r>
            <a:r>
              <a:rPr spc="-30" dirty="0"/>
              <a:t>rates</a:t>
            </a:r>
            <a:r>
              <a:rPr spc="-35" dirty="0"/>
              <a:t> </a:t>
            </a:r>
            <a:r>
              <a:rPr spc="-40" dirty="0"/>
              <a:t>lead</a:t>
            </a:r>
            <a:r>
              <a:rPr spc="-30" dirty="0"/>
              <a:t> </a:t>
            </a:r>
            <a:r>
              <a:rPr dirty="0"/>
              <a:t>to</a:t>
            </a:r>
            <a:r>
              <a:rPr spc="-30" dirty="0"/>
              <a:t> </a:t>
            </a:r>
            <a:r>
              <a:rPr spc="-35" dirty="0"/>
              <a:t>exponential</a:t>
            </a:r>
            <a:r>
              <a:rPr spc="-30" dirty="0"/>
              <a:t> </a:t>
            </a:r>
            <a:r>
              <a:rPr spc="-45" dirty="0"/>
              <a:t>growth; </a:t>
            </a:r>
            <a:r>
              <a:rPr spc="-20" dirty="0"/>
              <a:t>quick</a:t>
            </a:r>
            <a:r>
              <a:rPr spc="-45" dirty="0"/>
              <a:t> </a:t>
            </a:r>
            <a:r>
              <a:rPr spc="-55" dirty="0"/>
              <a:t>response</a:t>
            </a:r>
            <a:r>
              <a:rPr spc="-30" dirty="0"/>
              <a:t> </a:t>
            </a:r>
            <a:r>
              <a:rPr dirty="0"/>
              <a:t>is</a:t>
            </a:r>
            <a:r>
              <a:rPr spc="-40" dirty="0"/>
              <a:t> </a:t>
            </a:r>
            <a:r>
              <a:rPr spc="-10" dirty="0"/>
              <a:t>critical.</a:t>
            </a:r>
          </a:p>
          <a:p>
            <a:pPr marL="12700" marR="38100">
              <a:lnSpc>
                <a:spcPct val="102600"/>
              </a:lnSpc>
              <a:spcBef>
                <a:spcPts val="300"/>
              </a:spcBef>
            </a:pPr>
            <a:r>
              <a:rPr b="1" spc="-20" dirty="0">
                <a:latin typeface="Arial"/>
                <a:cs typeface="Arial"/>
              </a:rPr>
              <a:t>Early</a:t>
            </a:r>
            <a:r>
              <a:rPr b="1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Patch</a:t>
            </a:r>
            <a:r>
              <a:rPr b="1" spc="15" dirty="0">
                <a:latin typeface="Arial"/>
                <a:cs typeface="Arial"/>
              </a:rPr>
              <a:t> </a:t>
            </a:r>
            <a:r>
              <a:rPr b="1" spc="-25" dirty="0">
                <a:latin typeface="Arial"/>
                <a:cs typeface="Arial"/>
              </a:rPr>
              <a:t>Deployment:</a:t>
            </a:r>
            <a:r>
              <a:rPr b="1" spc="85" dirty="0">
                <a:latin typeface="Arial"/>
                <a:cs typeface="Arial"/>
              </a:rPr>
              <a:t> </a:t>
            </a:r>
            <a:r>
              <a:rPr spc="-10" dirty="0"/>
              <a:t>Patching</a:t>
            </a:r>
            <a:r>
              <a:rPr spc="-50" dirty="0"/>
              <a:t> </a:t>
            </a:r>
            <a:r>
              <a:rPr spc="-45" dirty="0"/>
              <a:t>early </a:t>
            </a:r>
            <a:r>
              <a:rPr spc="-20" dirty="0"/>
              <a:t>can</a:t>
            </a:r>
            <a:r>
              <a:rPr spc="-50" dirty="0"/>
              <a:t> </a:t>
            </a:r>
            <a:r>
              <a:rPr spc="-25" dirty="0"/>
              <a:t>significantly</a:t>
            </a:r>
            <a:r>
              <a:rPr spc="-50" dirty="0"/>
              <a:t> </a:t>
            </a:r>
            <a:r>
              <a:rPr spc="-45" dirty="0"/>
              <a:t>reduce </a:t>
            </a:r>
            <a:r>
              <a:rPr spc="-25" dirty="0"/>
              <a:t>infection</a:t>
            </a:r>
            <a:r>
              <a:rPr spc="-5" dirty="0"/>
              <a:t> </a:t>
            </a:r>
            <a:r>
              <a:rPr spc="-10" dirty="0"/>
              <a:t>spread.</a:t>
            </a:r>
          </a:p>
          <a:p>
            <a:pPr marL="12700" marR="55880">
              <a:lnSpc>
                <a:spcPct val="102600"/>
              </a:lnSpc>
              <a:spcBef>
                <a:spcPts val="295"/>
              </a:spcBef>
            </a:pPr>
            <a:r>
              <a:rPr b="1" spc="-25" dirty="0">
                <a:latin typeface="Arial"/>
                <a:cs typeface="Arial"/>
              </a:rPr>
              <a:t>Dynamic</a:t>
            </a:r>
            <a:r>
              <a:rPr b="1" spc="25" dirty="0">
                <a:latin typeface="Arial"/>
                <a:cs typeface="Arial"/>
              </a:rPr>
              <a:t> </a:t>
            </a:r>
            <a:r>
              <a:rPr b="1" spc="-65" dirty="0">
                <a:latin typeface="Arial"/>
                <a:cs typeface="Arial"/>
              </a:rPr>
              <a:t>Response:</a:t>
            </a:r>
            <a:r>
              <a:rPr b="1" spc="95" dirty="0">
                <a:latin typeface="Arial"/>
                <a:cs typeface="Arial"/>
              </a:rPr>
              <a:t> </a:t>
            </a:r>
            <a:r>
              <a:rPr spc="-35" dirty="0"/>
              <a:t>Real-</a:t>
            </a:r>
            <a:r>
              <a:rPr spc="-10" dirty="0"/>
              <a:t>time</a:t>
            </a:r>
            <a:r>
              <a:rPr spc="-45" dirty="0"/>
              <a:t> </a:t>
            </a:r>
            <a:r>
              <a:rPr spc="-35" dirty="0"/>
              <a:t>monitoring</a:t>
            </a:r>
            <a:r>
              <a:rPr spc="-45" dirty="0"/>
              <a:t> </a:t>
            </a:r>
            <a:r>
              <a:rPr spc="-35" dirty="0"/>
              <a:t>and</a:t>
            </a:r>
            <a:r>
              <a:rPr spc="-40" dirty="0"/>
              <a:t> </a:t>
            </a:r>
            <a:r>
              <a:rPr spc="-35" dirty="0"/>
              <a:t>adaptive</a:t>
            </a:r>
            <a:r>
              <a:rPr spc="-45" dirty="0"/>
              <a:t> </a:t>
            </a:r>
            <a:r>
              <a:rPr spc="-20" dirty="0"/>
              <a:t>patching </a:t>
            </a:r>
            <a:r>
              <a:rPr spc="-40" dirty="0"/>
              <a:t>strategies</a:t>
            </a:r>
            <a:r>
              <a:rPr spc="-35" dirty="0"/>
              <a:t> </a:t>
            </a:r>
            <a:r>
              <a:rPr spc="-20" dirty="0"/>
              <a:t>can</a:t>
            </a:r>
            <a:r>
              <a:rPr spc="-30" dirty="0"/>
              <a:t> </a:t>
            </a:r>
            <a:r>
              <a:rPr spc="-45" dirty="0"/>
              <a:t>improve</a:t>
            </a:r>
            <a:r>
              <a:rPr spc="-25" dirty="0"/>
              <a:t> </a:t>
            </a:r>
            <a:r>
              <a:rPr spc="-65" dirty="0"/>
              <a:t>worm</a:t>
            </a:r>
            <a:r>
              <a:rPr spc="-20" dirty="0"/>
              <a:t> </a:t>
            </a:r>
            <a:r>
              <a:rPr spc="-10" dirty="0"/>
              <a:t>prevention.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9" name="object 9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4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55</a:t>
            </a:r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93</a:t>
            </a:r>
          </a:p>
        </p:txBody>
      </p:sp>
    </p:spTree>
  </p:cSld>
  <p:clrMapOvr>
    <a:masterClrMapping/>
  </p:clrMapOvr>
  <p:transition>
    <p:cut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Patch</a:t>
            </a:r>
            <a:r>
              <a:rPr spc="-10" dirty="0"/>
              <a:t> Management </a:t>
            </a:r>
            <a:r>
              <a:rPr spc="-45" dirty="0"/>
              <a:t>Lifecycle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672" y="968549"/>
            <a:ext cx="114214" cy="11421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51929" y="955616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Arial MT"/>
                <a:cs typeface="Arial MT"/>
              </a:rPr>
              <a:t>1</a:t>
            </a:r>
            <a:endParaRPr sz="6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672" y="1178582"/>
            <a:ext cx="114214" cy="11421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51917" y="1165649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Arial MT"/>
                <a:cs typeface="Arial MT"/>
              </a:rPr>
              <a:t>2</a:t>
            </a:r>
            <a:endParaRPr sz="6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7672" y="1388614"/>
            <a:ext cx="114214" cy="11421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51917" y="1375681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Arial MT"/>
                <a:cs typeface="Arial MT"/>
              </a:rPr>
              <a:t>3</a:t>
            </a:r>
            <a:endParaRPr sz="600">
              <a:latin typeface="Arial MT"/>
              <a:cs typeface="Arial MT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7672" y="1598647"/>
            <a:ext cx="114214" cy="11421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51917" y="1585714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Arial MT"/>
                <a:cs typeface="Arial MT"/>
              </a:rPr>
              <a:t>4</a:t>
            </a:r>
            <a:endParaRPr sz="600">
              <a:latin typeface="Arial MT"/>
              <a:cs typeface="Arial MT"/>
            </a:endParaRPr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27672" y="1808680"/>
            <a:ext cx="114214" cy="114214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51917" y="1795747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Arial MT"/>
                <a:cs typeface="Arial MT"/>
              </a:rPr>
              <a:t>5</a:t>
            </a:r>
            <a:endParaRPr sz="600">
              <a:latin typeface="Arial MT"/>
              <a:cs typeface="Arial MT"/>
            </a:endParaRPr>
          </a:p>
        </p:txBody>
      </p: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27672" y="2190784"/>
            <a:ext cx="114214" cy="114214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251917" y="2177851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Arial MT"/>
                <a:cs typeface="Arial MT"/>
              </a:rPr>
              <a:t>6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299"/>
              </a:lnSpc>
              <a:spcBef>
                <a:spcPts val="100"/>
              </a:spcBef>
            </a:pPr>
            <a:r>
              <a:rPr b="1" dirty="0">
                <a:latin typeface="Arial"/>
                <a:cs typeface="Arial"/>
              </a:rPr>
              <a:t>Detection:</a:t>
            </a:r>
            <a:r>
              <a:rPr b="1" spc="90" dirty="0">
                <a:latin typeface="Arial"/>
                <a:cs typeface="Arial"/>
              </a:rPr>
              <a:t> </a:t>
            </a:r>
            <a:r>
              <a:rPr spc="-35" dirty="0"/>
              <a:t>Identify</a:t>
            </a:r>
            <a:r>
              <a:rPr spc="-40" dirty="0"/>
              <a:t> </a:t>
            </a:r>
            <a:r>
              <a:rPr spc="-30" dirty="0"/>
              <a:t>vulnerabilities</a:t>
            </a:r>
            <a:r>
              <a:rPr spc="-40" dirty="0"/>
              <a:t> </a:t>
            </a:r>
            <a:r>
              <a:rPr spc="-35" dirty="0"/>
              <a:t>and</a:t>
            </a:r>
            <a:r>
              <a:rPr spc="-40" dirty="0"/>
              <a:t> </a:t>
            </a:r>
            <a:r>
              <a:rPr spc="-35" dirty="0"/>
              <a:t>available</a:t>
            </a:r>
            <a:r>
              <a:rPr spc="-40" dirty="0"/>
              <a:t> </a:t>
            </a:r>
            <a:r>
              <a:rPr spc="-10" dirty="0"/>
              <a:t>patches. </a:t>
            </a:r>
            <a:r>
              <a:rPr b="1" spc="-65" dirty="0">
                <a:latin typeface="Arial"/>
                <a:cs typeface="Arial"/>
              </a:rPr>
              <a:t>Assessment:</a:t>
            </a:r>
            <a:r>
              <a:rPr b="1" spc="95" dirty="0">
                <a:latin typeface="Arial"/>
                <a:cs typeface="Arial"/>
              </a:rPr>
              <a:t> </a:t>
            </a:r>
            <a:r>
              <a:rPr spc="-25" dirty="0"/>
              <a:t>Evaluate</a:t>
            </a:r>
            <a:r>
              <a:rPr spc="-35" dirty="0"/>
              <a:t> </a:t>
            </a:r>
            <a:r>
              <a:rPr spc="-10" dirty="0"/>
              <a:t>the</a:t>
            </a:r>
            <a:r>
              <a:rPr spc="-35" dirty="0"/>
              <a:t> </a:t>
            </a:r>
            <a:r>
              <a:rPr spc="-60" dirty="0"/>
              <a:t>relevance</a:t>
            </a:r>
            <a:r>
              <a:rPr spc="-25" dirty="0"/>
              <a:t> </a:t>
            </a:r>
            <a:r>
              <a:rPr spc="-35" dirty="0"/>
              <a:t>and </a:t>
            </a:r>
            <a:r>
              <a:rPr spc="-20" dirty="0"/>
              <a:t>impact</a:t>
            </a:r>
            <a:r>
              <a:rPr spc="-35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spc="-10" dirty="0"/>
              <a:t>patches. </a:t>
            </a:r>
            <a:r>
              <a:rPr b="1" spc="-20" dirty="0">
                <a:latin typeface="Arial"/>
                <a:cs typeface="Arial"/>
              </a:rPr>
              <a:t>Prioritization:</a:t>
            </a:r>
            <a:r>
              <a:rPr b="1" spc="110" dirty="0">
                <a:latin typeface="Arial"/>
                <a:cs typeface="Arial"/>
              </a:rPr>
              <a:t> </a:t>
            </a:r>
            <a:r>
              <a:rPr spc="-10" dirty="0"/>
              <a:t>Prioritize</a:t>
            </a:r>
            <a:r>
              <a:rPr spc="-30" dirty="0"/>
              <a:t> </a:t>
            </a:r>
            <a:r>
              <a:rPr spc="-40" dirty="0"/>
              <a:t>patches</a:t>
            </a:r>
            <a:r>
              <a:rPr spc="-25" dirty="0"/>
              <a:t> </a:t>
            </a:r>
            <a:r>
              <a:rPr spc="-60" dirty="0"/>
              <a:t>based</a:t>
            </a:r>
            <a:r>
              <a:rPr spc="-30" dirty="0"/>
              <a:t> </a:t>
            </a:r>
            <a:r>
              <a:rPr spc="-10" dirty="0"/>
              <a:t>on</a:t>
            </a:r>
            <a:r>
              <a:rPr spc="-30" dirty="0"/>
              <a:t> </a:t>
            </a:r>
            <a:r>
              <a:rPr spc="-40" dirty="0"/>
              <a:t>severity</a:t>
            </a:r>
            <a:r>
              <a:rPr spc="-25" dirty="0"/>
              <a:t> </a:t>
            </a:r>
            <a:r>
              <a:rPr spc="-35" dirty="0"/>
              <a:t>and</a:t>
            </a:r>
            <a:r>
              <a:rPr spc="-30" dirty="0"/>
              <a:t> </a:t>
            </a:r>
            <a:r>
              <a:rPr spc="-20" dirty="0"/>
              <a:t>potential</a:t>
            </a:r>
            <a:r>
              <a:rPr spc="-30" dirty="0"/>
              <a:t> </a:t>
            </a:r>
            <a:r>
              <a:rPr spc="-10" dirty="0"/>
              <a:t>risk. </a:t>
            </a:r>
            <a:r>
              <a:rPr b="1" spc="-25" dirty="0">
                <a:latin typeface="Arial"/>
                <a:cs typeface="Arial"/>
              </a:rPr>
              <a:t>Deployment:</a:t>
            </a:r>
            <a:r>
              <a:rPr b="1" spc="100" dirty="0">
                <a:latin typeface="Arial"/>
                <a:cs typeface="Arial"/>
              </a:rPr>
              <a:t> </a:t>
            </a:r>
            <a:r>
              <a:rPr dirty="0"/>
              <a:t>Apply</a:t>
            </a:r>
            <a:r>
              <a:rPr spc="-35" dirty="0"/>
              <a:t> </a:t>
            </a:r>
            <a:r>
              <a:rPr spc="-40" dirty="0"/>
              <a:t>patches</a:t>
            </a:r>
            <a:r>
              <a:rPr spc="-30" dirty="0"/>
              <a:t> </a:t>
            </a:r>
            <a:r>
              <a:rPr dirty="0"/>
              <a:t>to</a:t>
            </a:r>
            <a:r>
              <a:rPr spc="-35" dirty="0"/>
              <a:t> </a:t>
            </a:r>
            <a:r>
              <a:rPr spc="-50" dirty="0"/>
              <a:t>systems</a:t>
            </a:r>
            <a:r>
              <a:rPr spc="-40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a</a:t>
            </a:r>
            <a:r>
              <a:rPr spc="-30" dirty="0"/>
              <a:t> controlled</a:t>
            </a:r>
            <a:r>
              <a:rPr spc="-35" dirty="0"/>
              <a:t> </a:t>
            </a:r>
            <a:r>
              <a:rPr spc="-10" dirty="0"/>
              <a:t>manner.</a:t>
            </a:r>
          </a:p>
          <a:p>
            <a:pPr marL="12700" marR="201930">
              <a:lnSpc>
                <a:spcPct val="102600"/>
              </a:lnSpc>
              <a:spcBef>
                <a:spcPts val="300"/>
              </a:spcBef>
            </a:pPr>
            <a:r>
              <a:rPr b="1" spc="-25" dirty="0">
                <a:latin typeface="Arial"/>
                <a:cs typeface="Arial"/>
              </a:rPr>
              <a:t>Verification:</a:t>
            </a:r>
            <a:r>
              <a:rPr b="1" spc="105" dirty="0">
                <a:latin typeface="Arial"/>
                <a:cs typeface="Arial"/>
              </a:rPr>
              <a:t> </a:t>
            </a:r>
            <a:r>
              <a:rPr spc="-35" dirty="0"/>
              <a:t>Ensure</a:t>
            </a:r>
            <a:r>
              <a:rPr spc="-25" dirty="0"/>
              <a:t> </a:t>
            </a:r>
            <a:r>
              <a:rPr spc="-40" dirty="0"/>
              <a:t>patches</a:t>
            </a:r>
            <a:r>
              <a:rPr spc="-25" dirty="0"/>
              <a:t> </a:t>
            </a:r>
            <a:r>
              <a:rPr spc="-60" dirty="0"/>
              <a:t>are</a:t>
            </a:r>
            <a:r>
              <a:rPr spc="-30" dirty="0"/>
              <a:t> applied</a:t>
            </a:r>
            <a:r>
              <a:rPr spc="-25" dirty="0"/>
              <a:t> </a:t>
            </a:r>
            <a:r>
              <a:rPr spc="-30" dirty="0"/>
              <a:t>correctly</a:t>
            </a:r>
            <a:r>
              <a:rPr spc="-35" dirty="0"/>
              <a:t> and</a:t>
            </a:r>
            <a:r>
              <a:rPr spc="-25" dirty="0"/>
              <a:t> </a:t>
            </a:r>
            <a:r>
              <a:rPr spc="-30" dirty="0"/>
              <a:t>monitor </a:t>
            </a:r>
            <a:r>
              <a:rPr spc="-25" dirty="0"/>
              <a:t>for </a:t>
            </a:r>
            <a:r>
              <a:rPr spc="-10" dirty="0"/>
              <a:t>issues.</a:t>
            </a:r>
          </a:p>
          <a:p>
            <a:pPr marL="12700" marR="76200">
              <a:lnSpc>
                <a:spcPct val="102699"/>
              </a:lnSpc>
              <a:spcBef>
                <a:spcPts val="300"/>
              </a:spcBef>
            </a:pPr>
            <a:r>
              <a:rPr b="1" spc="-25" dirty="0">
                <a:latin typeface="Arial"/>
                <a:cs typeface="Arial"/>
              </a:rPr>
              <a:t>Documentation:</a:t>
            </a:r>
            <a:r>
              <a:rPr b="1" spc="120" dirty="0">
                <a:latin typeface="Arial"/>
                <a:cs typeface="Arial"/>
              </a:rPr>
              <a:t> </a:t>
            </a:r>
            <a:r>
              <a:rPr spc="-35" dirty="0"/>
              <a:t>Record</a:t>
            </a:r>
            <a:r>
              <a:rPr spc="-20" dirty="0"/>
              <a:t> </a:t>
            </a:r>
            <a:r>
              <a:rPr spc="-30" dirty="0"/>
              <a:t>patching</a:t>
            </a:r>
            <a:r>
              <a:rPr spc="-20" dirty="0"/>
              <a:t> activities</a:t>
            </a:r>
            <a:r>
              <a:rPr spc="-25" dirty="0"/>
              <a:t> </a:t>
            </a:r>
            <a:r>
              <a:rPr spc="-20" dirty="0"/>
              <a:t>for </a:t>
            </a:r>
            <a:r>
              <a:rPr spc="-25" dirty="0"/>
              <a:t>future</a:t>
            </a:r>
            <a:r>
              <a:rPr spc="-15" dirty="0"/>
              <a:t> </a:t>
            </a:r>
            <a:r>
              <a:rPr spc="-65" dirty="0"/>
              <a:t>reference</a:t>
            </a:r>
            <a:r>
              <a:rPr spc="-20" dirty="0"/>
              <a:t> </a:t>
            </a:r>
            <a:r>
              <a:rPr spc="-25" dirty="0"/>
              <a:t>and </a:t>
            </a:r>
            <a:r>
              <a:rPr spc="-10" dirty="0"/>
              <a:t>compliance.</a:t>
            </a:r>
          </a:p>
        </p:txBody>
      </p:sp>
      <p:grpSp>
        <p:nvGrpSpPr>
          <p:cNvPr id="16" name="object 16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7" name="object 17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4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56</a:t>
            </a:r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93</a:t>
            </a:r>
          </a:p>
        </p:txBody>
      </p:sp>
    </p:spTree>
  </p:cSld>
  <p:clrMapOvr>
    <a:masterClrMapping/>
  </p:clrMapOvr>
  <p:transition>
    <p:cut/>
  </p:transition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Patch</a:t>
            </a:r>
            <a:r>
              <a:rPr spc="-10" dirty="0"/>
              <a:t> Management </a:t>
            </a:r>
            <a:r>
              <a:rPr spc="-25" dirty="0"/>
              <a:t>Algorithm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578802"/>
            <a:ext cx="4432935" cy="198755"/>
          </a:xfrm>
          <a:custGeom>
            <a:avLst/>
            <a:gdLst/>
            <a:ahLst/>
            <a:cxnLst/>
            <a:rect l="l" t="t" r="r" b="b"/>
            <a:pathLst>
              <a:path w="4432935" h="198754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4432566" y="198367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2672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8544" y="607250"/>
            <a:ext cx="99631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35" dirty="0">
                <a:solidFill>
                  <a:srgbClr val="FFFFFF"/>
                </a:solidFill>
                <a:latin typeface="Tahoma"/>
                <a:cs typeface="Tahoma"/>
              </a:rPr>
              <a:t>Algorithm</a:t>
            </a:r>
            <a:r>
              <a:rPr sz="120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60" dirty="0">
                <a:solidFill>
                  <a:srgbClr val="FFFFFF"/>
                </a:solidFill>
                <a:latin typeface="Tahoma"/>
                <a:cs typeface="Tahoma"/>
              </a:rPr>
              <a:t>Steps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77532" y="786763"/>
            <a:ext cx="3931920" cy="5740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b="1" dirty="0">
                <a:solidFill>
                  <a:srgbClr val="191933"/>
                </a:solidFill>
                <a:latin typeface="Arial"/>
                <a:cs typeface="Arial"/>
              </a:rPr>
              <a:t>Input:</a:t>
            </a:r>
            <a:r>
              <a:rPr sz="1100" b="1" spc="17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List</a:t>
            </a:r>
            <a:r>
              <a:rPr sz="1100" spc="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of</a:t>
            </a:r>
            <a:r>
              <a:rPr sz="1100" spc="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vulnerabilities</a:t>
            </a:r>
            <a:r>
              <a:rPr sz="1100" spc="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i="1" dirty="0">
                <a:solidFill>
                  <a:srgbClr val="191933"/>
                </a:solidFill>
                <a:latin typeface="Calibri"/>
                <a:cs typeface="Calibri"/>
              </a:rPr>
              <a:t>V</a:t>
            </a:r>
            <a:r>
              <a:rPr sz="1100" i="1" spc="30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295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1100" spc="5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75" dirty="0">
                <a:solidFill>
                  <a:srgbClr val="191933"/>
                </a:solidFill>
                <a:latin typeface="Lucida Sans Unicode"/>
                <a:cs typeface="Lucida Sans Unicode"/>
              </a:rPr>
              <a:t>{</a:t>
            </a:r>
            <a:r>
              <a:rPr sz="1100" i="1" spc="75" dirty="0">
                <a:solidFill>
                  <a:srgbClr val="191933"/>
                </a:solidFill>
                <a:latin typeface="Calibri"/>
                <a:cs typeface="Calibri"/>
              </a:rPr>
              <a:t>v</a:t>
            </a:r>
            <a:r>
              <a:rPr sz="1200" spc="112" baseline="-10416" dirty="0">
                <a:solidFill>
                  <a:srgbClr val="191933"/>
                </a:solidFill>
                <a:latin typeface="Calibri"/>
                <a:cs typeface="Calibri"/>
              </a:rPr>
              <a:t>1</a:t>
            </a:r>
            <a:r>
              <a:rPr sz="1100" i="1" spc="75" dirty="0">
                <a:solidFill>
                  <a:srgbClr val="191933"/>
                </a:solidFill>
                <a:latin typeface="Calibri"/>
                <a:cs typeface="Calibri"/>
              </a:rPr>
              <a:t>,</a:t>
            </a:r>
            <a:r>
              <a:rPr sz="1100" i="1" spc="-7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191933"/>
                </a:solidFill>
                <a:latin typeface="Calibri"/>
                <a:cs typeface="Calibri"/>
              </a:rPr>
              <a:t>v</a:t>
            </a:r>
            <a:r>
              <a:rPr sz="1200" baseline="-10416" dirty="0">
                <a:solidFill>
                  <a:srgbClr val="191933"/>
                </a:solidFill>
                <a:latin typeface="Calibri"/>
                <a:cs typeface="Calibri"/>
              </a:rPr>
              <a:t>2</a:t>
            </a:r>
            <a:r>
              <a:rPr sz="1100" i="1" dirty="0">
                <a:solidFill>
                  <a:srgbClr val="191933"/>
                </a:solidFill>
                <a:latin typeface="Calibri"/>
                <a:cs typeface="Calibri"/>
              </a:rPr>
              <a:t>,</a:t>
            </a:r>
            <a:r>
              <a:rPr sz="1100" i="1" spc="-7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191933"/>
                </a:solidFill>
                <a:latin typeface="Calibri"/>
                <a:cs typeface="Calibri"/>
              </a:rPr>
              <a:t>.</a:t>
            </a:r>
            <a:r>
              <a:rPr sz="1100" i="1" spc="-6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191933"/>
                </a:solidFill>
                <a:latin typeface="Calibri"/>
                <a:cs typeface="Calibri"/>
              </a:rPr>
              <a:t>.</a:t>
            </a:r>
            <a:r>
              <a:rPr sz="1100" i="1" spc="-7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191933"/>
                </a:solidFill>
                <a:latin typeface="Calibri"/>
                <a:cs typeface="Calibri"/>
              </a:rPr>
              <a:t>.</a:t>
            </a:r>
            <a:r>
              <a:rPr sz="1100" i="1" spc="-7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191933"/>
                </a:solidFill>
                <a:latin typeface="Calibri"/>
                <a:cs typeface="Calibri"/>
              </a:rPr>
              <a:t>,</a:t>
            </a:r>
            <a:r>
              <a:rPr sz="1100" i="1" spc="-7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i="1" spc="80" dirty="0">
                <a:solidFill>
                  <a:srgbClr val="191933"/>
                </a:solidFill>
                <a:latin typeface="Calibri"/>
                <a:cs typeface="Calibri"/>
              </a:rPr>
              <a:t>v</a:t>
            </a:r>
            <a:r>
              <a:rPr sz="1200" i="1" spc="120" baseline="-10416" dirty="0">
                <a:solidFill>
                  <a:srgbClr val="191933"/>
                </a:solidFill>
                <a:latin typeface="Calibri"/>
                <a:cs typeface="Calibri"/>
              </a:rPr>
              <a:t>n</a:t>
            </a:r>
            <a:r>
              <a:rPr sz="1100" spc="80" dirty="0">
                <a:solidFill>
                  <a:srgbClr val="191933"/>
                </a:solidFill>
                <a:latin typeface="Lucida Sans Unicode"/>
                <a:cs typeface="Lucida Sans Unicode"/>
              </a:rPr>
              <a:t>}</a:t>
            </a:r>
            <a:r>
              <a:rPr sz="1100" spc="80" dirty="0">
                <a:solidFill>
                  <a:srgbClr val="191933"/>
                </a:solidFill>
                <a:latin typeface="Tahoma"/>
                <a:cs typeface="Tahoma"/>
              </a:rPr>
              <a:t>,</a:t>
            </a:r>
            <a:r>
              <a:rPr sz="1100" spc="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Patch</a:t>
            </a:r>
            <a:r>
              <a:rPr sz="1100" spc="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database</a:t>
            </a:r>
            <a:endParaRPr sz="110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sz="1100" i="1" spc="135" dirty="0">
                <a:solidFill>
                  <a:srgbClr val="191933"/>
                </a:solidFill>
                <a:latin typeface="Calibri"/>
                <a:cs typeface="Calibri"/>
              </a:rPr>
              <a:t>P</a:t>
            </a:r>
            <a:r>
              <a:rPr sz="1100" i="1" spc="25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295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1100" spc="8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60" dirty="0">
                <a:solidFill>
                  <a:srgbClr val="191933"/>
                </a:solidFill>
                <a:latin typeface="Lucida Sans Unicode"/>
                <a:cs typeface="Lucida Sans Unicode"/>
              </a:rPr>
              <a:t>{</a:t>
            </a:r>
            <a:r>
              <a:rPr sz="1100" i="1" spc="60" dirty="0">
                <a:solidFill>
                  <a:srgbClr val="191933"/>
                </a:solidFill>
                <a:latin typeface="Calibri"/>
                <a:cs typeface="Calibri"/>
              </a:rPr>
              <a:t>p</a:t>
            </a:r>
            <a:r>
              <a:rPr sz="1200" spc="89" baseline="-10416" dirty="0">
                <a:solidFill>
                  <a:srgbClr val="191933"/>
                </a:solidFill>
                <a:latin typeface="Calibri"/>
                <a:cs typeface="Calibri"/>
              </a:rPr>
              <a:t>1</a:t>
            </a:r>
            <a:r>
              <a:rPr sz="1100" i="1" spc="60" dirty="0">
                <a:solidFill>
                  <a:srgbClr val="191933"/>
                </a:solidFill>
                <a:latin typeface="Calibri"/>
                <a:cs typeface="Calibri"/>
              </a:rPr>
              <a:t>,</a:t>
            </a:r>
            <a:r>
              <a:rPr sz="1100" i="1" spc="-5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191933"/>
                </a:solidFill>
                <a:latin typeface="Calibri"/>
                <a:cs typeface="Calibri"/>
              </a:rPr>
              <a:t>p</a:t>
            </a:r>
            <a:r>
              <a:rPr sz="1200" baseline="-10416" dirty="0">
                <a:solidFill>
                  <a:srgbClr val="191933"/>
                </a:solidFill>
                <a:latin typeface="Calibri"/>
                <a:cs typeface="Calibri"/>
              </a:rPr>
              <a:t>2</a:t>
            </a:r>
            <a:r>
              <a:rPr sz="1100" i="1" dirty="0">
                <a:solidFill>
                  <a:srgbClr val="191933"/>
                </a:solidFill>
                <a:latin typeface="Calibri"/>
                <a:cs typeface="Calibri"/>
              </a:rPr>
              <a:t>,</a:t>
            </a:r>
            <a:r>
              <a:rPr sz="1100" i="1" spc="-5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191933"/>
                </a:solidFill>
                <a:latin typeface="Calibri"/>
                <a:cs typeface="Calibri"/>
              </a:rPr>
              <a:t>.</a:t>
            </a:r>
            <a:r>
              <a:rPr sz="1100" i="1" spc="-5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191933"/>
                </a:solidFill>
                <a:latin typeface="Calibri"/>
                <a:cs typeface="Calibri"/>
              </a:rPr>
              <a:t>.</a:t>
            </a:r>
            <a:r>
              <a:rPr sz="1100" i="1" spc="-5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191933"/>
                </a:solidFill>
                <a:latin typeface="Calibri"/>
                <a:cs typeface="Calibri"/>
              </a:rPr>
              <a:t>.</a:t>
            </a:r>
            <a:r>
              <a:rPr sz="1100" i="1" spc="-5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191933"/>
                </a:solidFill>
                <a:latin typeface="Calibri"/>
                <a:cs typeface="Calibri"/>
              </a:rPr>
              <a:t>,</a:t>
            </a:r>
            <a:r>
              <a:rPr sz="1100" i="1" spc="-5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i="1" spc="50" dirty="0">
                <a:solidFill>
                  <a:srgbClr val="191933"/>
                </a:solidFill>
                <a:latin typeface="Calibri"/>
                <a:cs typeface="Calibri"/>
              </a:rPr>
              <a:t>p</a:t>
            </a:r>
            <a:r>
              <a:rPr sz="1200" i="1" spc="75" baseline="-10416" dirty="0">
                <a:solidFill>
                  <a:srgbClr val="191933"/>
                </a:solidFill>
                <a:latin typeface="Calibri"/>
                <a:cs typeface="Calibri"/>
              </a:rPr>
              <a:t>m</a:t>
            </a:r>
            <a:r>
              <a:rPr sz="1100" spc="50" dirty="0">
                <a:solidFill>
                  <a:srgbClr val="191933"/>
                </a:solidFill>
                <a:latin typeface="Lucida Sans Unicode"/>
                <a:cs typeface="Lucida Sans Unicode"/>
              </a:rPr>
              <a:t>}</a:t>
            </a:r>
            <a:r>
              <a:rPr sz="1100" spc="50" dirty="0">
                <a:solidFill>
                  <a:srgbClr val="191933"/>
                </a:solidFill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334"/>
              </a:spcBef>
            </a:pPr>
            <a:r>
              <a:rPr sz="1100" b="1" dirty="0">
                <a:solidFill>
                  <a:srgbClr val="191933"/>
                </a:solidFill>
                <a:latin typeface="Arial"/>
                <a:cs typeface="Arial"/>
              </a:rPr>
              <a:t>Output:</a:t>
            </a:r>
            <a:r>
              <a:rPr sz="1100" b="1" spc="12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Successfully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patched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systems.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672" y="1470987"/>
            <a:ext cx="114214" cy="114214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251917" y="1458054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Arial MT"/>
                <a:cs typeface="Arial MT"/>
              </a:rPr>
              <a:t>1</a:t>
            </a:r>
            <a:endParaRPr sz="600">
              <a:latin typeface="Arial MT"/>
              <a:cs typeface="Arial MT"/>
            </a:endParaRPr>
          </a:p>
        </p:txBody>
      </p: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672" y="1660775"/>
            <a:ext cx="114214" cy="114214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251917" y="1647842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Arial MT"/>
                <a:cs typeface="Arial MT"/>
              </a:rPr>
              <a:t>2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27672" y="1879917"/>
            <a:ext cx="673100" cy="725170"/>
            <a:chOff x="227672" y="1879917"/>
            <a:chExt cx="673100" cy="725170"/>
          </a:xfrm>
        </p:grpSpPr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0865" y="1879917"/>
              <a:ext cx="52590" cy="5259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0865" y="2019096"/>
              <a:ext cx="52590" cy="5259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47966" y="2183574"/>
              <a:ext cx="52590" cy="5259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47966" y="2322753"/>
              <a:ext cx="52590" cy="5259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27672" y="2490784"/>
              <a:ext cx="114214" cy="114214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251917" y="2477851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Arial MT"/>
                <a:cs typeface="Arial MT"/>
              </a:rPr>
              <a:t>3</a:t>
            </a:r>
            <a:endParaRPr sz="600">
              <a:latin typeface="Arial MT"/>
              <a:cs typeface="Arial MT"/>
            </a:endParaRPr>
          </a:p>
        </p:txBody>
      </p:sp>
      <p:pic>
        <p:nvPicPr>
          <p:cNvPr id="23" name="object 2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27672" y="2700816"/>
            <a:ext cx="114214" cy="114214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251917" y="2687883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Arial MT"/>
                <a:cs typeface="Arial MT"/>
              </a:rPr>
              <a:t>4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77532" y="1393327"/>
            <a:ext cx="3862070" cy="161734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75"/>
              </a:spcBef>
            </a:pPr>
            <a:r>
              <a:rPr sz="1100" b="1" spc="-10" dirty="0">
                <a:solidFill>
                  <a:srgbClr val="191933"/>
                </a:solidFill>
                <a:latin typeface="Arial"/>
                <a:cs typeface="Arial"/>
              </a:rPr>
              <a:t>Initialization:</a:t>
            </a:r>
            <a:r>
              <a:rPr sz="1100" b="1" spc="5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Set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i="1" spc="165" dirty="0">
                <a:solidFill>
                  <a:srgbClr val="191933"/>
                </a:solidFill>
                <a:latin typeface="Calibri"/>
                <a:cs typeface="Calibri"/>
              </a:rPr>
              <a:t>S</a:t>
            </a:r>
            <a:r>
              <a:rPr sz="1100" i="1" spc="7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295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1100" spc="1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-290" dirty="0">
                <a:solidFill>
                  <a:srgbClr val="191933"/>
                </a:solidFill>
                <a:latin typeface="Lucida Sans Unicode"/>
                <a:cs typeface="Lucida Sans Unicode"/>
              </a:rPr>
              <a:t>∅</a:t>
            </a:r>
            <a:r>
              <a:rPr sz="1100" spc="-290" dirty="0">
                <a:solidFill>
                  <a:srgbClr val="191933"/>
                </a:solidFill>
                <a:latin typeface="Tahoma"/>
                <a:cs typeface="Tahoma"/>
              </a:rPr>
              <a:t>,</a:t>
            </a:r>
            <a:r>
              <a:rPr sz="1100" spc="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191933"/>
                </a:solidFill>
                <a:latin typeface="Tahoma"/>
                <a:cs typeface="Tahoma"/>
              </a:rPr>
              <a:t>where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i="1" spc="165" dirty="0">
                <a:solidFill>
                  <a:srgbClr val="191933"/>
                </a:solidFill>
                <a:latin typeface="Calibri"/>
                <a:cs typeface="Calibri"/>
              </a:rPr>
              <a:t>S</a:t>
            </a:r>
            <a:r>
              <a:rPr sz="1100" i="1" spc="12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is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the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set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of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patched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systems.</a:t>
            </a:r>
            <a:endParaRPr sz="110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175"/>
              </a:spcBef>
            </a:pPr>
            <a:r>
              <a:rPr sz="1100" b="1" spc="-25" dirty="0">
                <a:solidFill>
                  <a:srgbClr val="191933"/>
                </a:solidFill>
                <a:latin typeface="Arial"/>
                <a:cs typeface="Arial"/>
              </a:rPr>
              <a:t>For</a:t>
            </a:r>
            <a:r>
              <a:rPr sz="1100" b="1" spc="5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-50" dirty="0">
                <a:solidFill>
                  <a:srgbClr val="191933"/>
                </a:solidFill>
                <a:latin typeface="Arial"/>
                <a:cs typeface="Arial"/>
              </a:rPr>
              <a:t>each</a:t>
            </a:r>
            <a:r>
              <a:rPr sz="1100" b="1" spc="2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vulnerability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i="1" spc="65" dirty="0">
                <a:solidFill>
                  <a:srgbClr val="191933"/>
                </a:solidFill>
                <a:latin typeface="Calibri"/>
                <a:cs typeface="Calibri"/>
              </a:rPr>
              <a:t>v</a:t>
            </a:r>
            <a:r>
              <a:rPr sz="1200" i="1" spc="97" baseline="-10416" dirty="0">
                <a:solidFill>
                  <a:srgbClr val="191933"/>
                </a:solidFill>
                <a:latin typeface="Calibri"/>
                <a:cs typeface="Calibri"/>
              </a:rPr>
              <a:t>i</a:t>
            </a:r>
            <a:r>
              <a:rPr sz="1200" i="1" spc="284" baseline="-10416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in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i="1" dirty="0">
                <a:solidFill>
                  <a:srgbClr val="191933"/>
                </a:solidFill>
                <a:latin typeface="Calibri"/>
                <a:cs typeface="Calibri"/>
              </a:rPr>
              <a:t>V</a:t>
            </a:r>
            <a:r>
              <a:rPr sz="1100" i="1" spc="-3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:</a:t>
            </a:r>
            <a:endParaRPr sz="1100">
              <a:latin typeface="Tahoma"/>
              <a:cs typeface="Tahoma"/>
            </a:endParaRPr>
          </a:p>
          <a:p>
            <a:pPr marL="314960">
              <a:lnSpc>
                <a:spcPts val="1150"/>
              </a:lnSpc>
              <a:spcBef>
                <a:spcPts val="175"/>
              </a:spcBef>
            </a:pPr>
            <a:r>
              <a:rPr sz="1000" dirty="0">
                <a:solidFill>
                  <a:srgbClr val="191933"/>
                </a:solidFill>
                <a:latin typeface="Tahoma"/>
                <a:cs typeface="Tahoma"/>
              </a:rPr>
              <a:t>Find </a:t>
            </a:r>
            <a:r>
              <a:rPr sz="1000" spc="-45" dirty="0">
                <a:solidFill>
                  <a:srgbClr val="191933"/>
                </a:solidFill>
                <a:latin typeface="Tahoma"/>
                <a:cs typeface="Tahoma"/>
              </a:rPr>
              <a:t>corresponding</a:t>
            </a:r>
            <a:r>
              <a:rPr sz="1000" spc="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20" dirty="0">
                <a:solidFill>
                  <a:srgbClr val="191933"/>
                </a:solidFill>
                <a:latin typeface="Tahoma"/>
                <a:cs typeface="Tahoma"/>
              </a:rPr>
              <a:t>patch</a:t>
            </a:r>
            <a:r>
              <a:rPr sz="100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i="1" spc="75" dirty="0">
                <a:solidFill>
                  <a:srgbClr val="191933"/>
                </a:solidFill>
                <a:latin typeface="Calibri"/>
                <a:cs typeface="Calibri"/>
              </a:rPr>
              <a:t>p</a:t>
            </a:r>
            <a:r>
              <a:rPr sz="1050" i="1" spc="112" baseline="-11904" dirty="0">
                <a:solidFill>
                  <a:srgbClr val="191933"/>
                </a:solidFill>
                <a:latin typeface="Calibri"/>
                <a:cs typeface="Calibri"/>
              </a:rPr>
              <a:t>j</a:t>
            </a:r>
            <a:r>
              <a:rPr sz="1050" i="1" spc="375" baseline="-11904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191933"/>
                </a:solidFill>
                <a:latin typeface="Tahoma"/>
                <a:cs typeface="Tahoma"/>
              </a:rPr>
              <a:t>in </a:t>
            </a:r>
            <a:r>
              <a:rPr sz="1000" i="1" spc="120" dirty="0">
                <a:solidFill>
                  <a:srgbClr val="191933"/>
                </a:solidFill>
                <a:latin typeface="Calibri"/>
                <a:cs typeface="Calibri"/>
              </a:rPr>
              <a:t>P</a:t>
            </a:r>
            <a:r>
              <a:rPr sz="1000" i="1" spc="21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000" spc="-45" dirty="0">
                <a:solidFill>
                  <a:srgbClr val="191933"/>
                </a:solidFill>
                <a:latin typeface="Tahoma"/>
                <a:cs typeface="Tahoma"/>
              </a:rPr>
              <a:t>such</a:t>
            </a:r>
            <a:r>
              <a:rPr sz="1000" spc="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191933"/>
                </a:solidFill>
                <a:latin typeface="Tahoma"/>
                <a:cs typeface="Tahoma"/>
              </a:rPr>
              <a:t>that </a:t>
            </a:r>
            <a:r>
              <a:rPr sz="1000" i="1" spc="75" dirty="0">
                <a:solidFill>
                  <a:srgbClr val="191933"/>
                </a:solidFill>
                <a:latin typeface="Calibri"/>
                <a:cs typeface="Calibri"/>
              </a:rPr>
              <a:t>p</a:t>
            </a:r>
            <a:r>
              <a:rPr sz="1050" i="1" spc="112" baseline="-11904" dirty="0">
                <a:solidFill>
                  <a:srgbClr val="191933"/>
                </a:solidFill>
                <a:latin typeface="Calibri"/>
                <a:cs typeface="Calibri"/>
              </a:rPr>
              <a:t>j</a:t>
            </a:r>
            <a:r>
              <a:rPr sz="1050" i="1" spc="375" baseline="-11904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000" spc="-55" dirty="0">
                <a:solidFill>
                  <a:srgbClr val="191933"/>
                </a:solidFill>
                <a:latin typeface="Tahoma"/>
                <a:cs typeface="Tahoma"/>
              </a:rPr>
              <a:t>addresses</a:t>
            </a:r>
            <a:r>
              <a:rPr sz="100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i="1" spc="30" dirty="0">
                <a:solidFill>
                  <a:srgbClr val="191933"/>
                </a:solidFill>
                <a:latin typeface="Calibri"/>
                <a:cs typeface="Calibri"/>
              </a:rPr>
              <a:t>v</a:t>
            </a:r>
            <a:r>
              <a:rPr sz="1050" i="1" spc="44" baseline="-11904" dirty="0">
                <a:solidFill>
                  <a:srgbClr val="191933"/>
                </a:solidFill>
                <a:latin typeface="Calibri"/>
                <a:cs typeface="Calibri"/>
              </a:rPr>
              <a:t>i</a:t>
            </a:r>
            <a:r>
              <a:rPr sz="1000" spc="30" dirty="0">
                <a:solidFill>
                  <a:srgbClr val="191933"/>
                </a:solidFill>
                <a:latin typeface="Tahoma"/>
                <a:cs typeface="Tahoma"/>
              </a:rPr>
              <a:t>.</a:t>
            </a:r>
            <a:endParaRPr sz="1000">
              <a:latin typeface="Tahoma"/>
              <a:cs typeface="Tahoma"/>
            </a:endParaRPr>
          </a:p>
          <a:p>
            <a:pPr marL="314960">
              <a:lnSpc>
                <a:spcPts val="1150"/>
              </a:lnSpc>
            </a:pPr>
            <a:r>
              <a:rPr sz="1000" b="1" dirty="0">
                <a:solidFill>
                  <a:srgbClr val="191933"/>
                </a:solidFill>
                <a:latin typeface="Arial"/>
                <a:cs typeface="Arial"/>
              </a:rPr>
              <a:t>If</a:t>
            </a:r>
            <a:r>
              <a:rPr sz="1000" b="1" spc="10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000" i="1" spc="75" dirty="0">
                <a:solidFill>
                  <a:srgbClr val="191933"/>
                </a:solidFill>
                <a:latin typeface="Calibri"/>
                <a:cs typeface="Calibri"/>
              </a:rPr>
              <a:t>p</a:t>
            </a:r>
            <a:r>
              <a:rPr sz="1050" i="1" spc="112" baseline="-11904" dirty="0">
                <a:solidFill>
                  <a:srgbClr val="191933"/>
                </a:solidFill>
                <a:latin typeface="Calibri"/>
                <a:cs typeface="Calibri"/>
              </a:rPr>
              <a:t>j</a:t>
            </a:r>
            <a:r>
              <a:rPr sz="1050" i="1" spc="359" baseline="-11904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191933"/>
                </a:solidFill>
                <a:latin typeface="Tahoma"/>
                <a:cs typeface="Tahoma"/>
              </a:rPr>
              <a:t>is</a:t>
            </a:r>
            <a:r>
              <a:rPr sz="1000" spc="-1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191933"/>
                </a:solidFill>
                <a:latin typeface="Tahoma"/>
                <a:cs typeface="Tahoma"/>
              </a:rPr>
              <a:t>not </a:t>
            </a:r>
            <a:r>
              <a:rPr sz="1000" spc="-35" dirty="0">
                <a:solidFill>
                  <a:srgbClr val="191933"/>
                </a:solidFill>
                <a:latin typeface="Tahoma"/>
                <a:cs typeface="Tahoma"/>
              </a:rPr>
              <a:t>already</a:t>
            </a:r>
            <a:r>
              <a:rPr sz="1000" spc="-10" dirty="0">
                <a:solidFill>
                  <a:srgbClr val="191933"/>
                </a:solidFill>
                <a:latin typeface="Tahoma"/>
                <a:cs typeface="Tahoma"/>
              </a:rPr>
              <a:t> applied:</a:t>
            </a:r>
            <a:endParaRPr sz="1000">
              <a:latin typeface="Tahoma"/>
              <a:cs typeface="Tahoma"/>
            </a:endParaRPr>
          </a:p>
          <a:p>
            <a:pPr marL="591820" marR="1823720">
              <a:lnSpc>
                <a:spcPts val="1000"/>
              </a:lnSpc>
              <a:spcBef>
                <a:spcPts val="395"/>
              </a:spcBef>
            </a:pPr>
            <a:r>
              <a:rPr sz="1350" baseline="6172" dirty="0">
                <a:solidFill>
                  <a:srgbClr val="191933"/>
                </a:solidFill>
                <a:latin typeface="Arial MT"/>
                <a:cs typeface="Arial MT"/>
              </a:rPr>
              <a:t>Apply</a:t>
            </a:r>
            <a:r>
              <a:rPr sz="1350" spc="67" baseline="6172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350" i="1" spc="120" baseline="6172" dirty="0">
                <a:solidFill>
                  <a:srgbClr val="191933"/>
                </a:solidFill>
                <a:latin typeface="Calibri"/>
                <a:cs typeface="Calibri"/>
              </a:rPr>
              <a:t>p</a:t>
            </a:r>
            <a:r>
              <a:rPr sz="600" i="1" spc="80" dirty="0">
                <a:solidFill>
                  <a:srgbClr val="191933"/>
                </a:solidFill>
                <a:latin typeface="Calibri"/>
                <a:cs typeface="Calibri"/>
              </a:rPr>
              <a:t>j</a:t>
            </a:r>
            <a:r>
              <a:rPr sz="600" i="1" spc="25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350" baseline="6172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1350" spc="67" baseline="6172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350" spc="-30" baseline="6172" dirty="0">
                <a:solidFill>
                  <a:srgbClr val="191933"/>
                </a:solidFill>
                <a:latin typeface="Arial MT"/>
                <a:cs typeface="Arial MT"/>
              </a:rPr>
              <a:t>affected</a:t>
            </a:r>
            <a:r>
              <a:rPr sz="1350" spc="67" baseline="6172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350" spc="-75" baseline="6172" dirty="0">
                <a:solidFill>
                  <a:srgbClr val="191933"/>
                </a:solidFill>
                <a:latin typeface="Arial MT"/>
                <a:cs typeface="Arial MT"/>
              </a:rPr>
              <a:t>systems.</a:t>
            </a:r>
            <a:r>
              <a:rPr sz="1350" baseline="6172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191933"/>
                </a:solidFill>
                <a:latin typeface="Arial MT"/>
                <a:cs typeface="Arial MT"/>
              </a:rPr>
              <a:t>Add</a:t>
            </a:r>
            <a:r>
              <a:rPr sz="9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900" spc="-20" dirty="0">
                <a:solidFill>
                  <a:srgbClr val="191933"/>
                </a:solidFill>
                <a:latin typeface="Arial MT"/>
                <a:cs typeface="Arial MT"/>
              </a:rPr>
              <a:t>affected</a:t>
            </a:r>
            <a:r>
              <a:rPr sz="9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900" spc="-45" dirty="0">
                <a:solidFill>
                  <a:srgbClr val="191933"/>
                </a:solidFill>
                <a:latin typeface="Arial MT"/>
                <a:cs typeface="Arial MT"/>
              </a:rPr>
              <a:t>systems</a:t>
            </a:r>
            <a:r>
              <a:rPr sz="9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9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900" i="1" spc="75" dirty="0">
                <a:solidFill>
                  <a:srgbClr val="191933"/>
                </a:solidFill>
                <a:latin typeface="Calibri"/>
                <a:cs typeface="Calibri"/>
              </a:rPr>
              <a:t>S</a:t>
            </a:r>
            <a:r>
              <a:rPr sz="900" spc="75" dirty="0">
                <a:solidFill>
                  <a:srgbClr val="191933"/>
                </a:solidFill>
                <a:latin typeface="Arial MT"/>
                <a:cs typeface="Arial MT"/>
              </a:rPr>
              <a:t>.</a:t>
            </a:r>
            <a:endParaRPr sz="90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350"/>
              </a:spcBef>
            </a:pPr>
            <a:r>
              <a:rPr sz="1100" b="1" spc="-20" dirty="0">
                <a:solidFill>
                  <a:srgbClr val="191933"/>
                </a:solidFill>
                <a:latin typeface="Arial"/>
                <a:cs typeface="Arial"/>
              </a:rPr>
              <a:t>End </a:t>
            </a:r>
            <a:r>
              <a:rPr sz="1100" b="1" spc="-25" dirty="0">
                <a:solidFill>
                  <a:srgbClr val="191933"/>
                </a:solidFill>
                <a:latin typeface="Arial"/>
                <a:cs typeface="Arial"/>
              </a:rPr>
              <a:t>For</a:t>
            </a:r>
            <a:endParaRPr sz="1100">
              <a:latin typeface="Arial"/>
              <a:cs typeface="Arial"/>
            </a:endParaRPr>
          </a:p>
          <a:p>
            <a:pPr marL="38100" marR="267335">
              <a:lnSpc>
                <a:spcPct val="102600"/>
              </a:lnSpc>
              <a:spcBef>
                <a:spcPts val="300"/>
              </a:spcBef>
            </a:pPr>
            <a:r>
              <a:rPr sz="1100" b="1" spc="-25" dirty="0">
                <a:solidFill>
                  <a:srgbClr val="191933"/>
                </a:solidFill>
                <a:latin typeface="Arial"/>
                <a:cs typeface="Arial"/>
              </a:rPr>
              <a:t>Verification:</a:t>
            </a:r>
            <a:r>
              <a:rPr sz="1100" b="1" spc="12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Check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that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all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systems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in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i="1" spc="165" dirty="0">
                <a:solidFill>
                  <a:srgbClr val="191933"/>
                </a:solidFill>
                <a:latin typeface="Calibri"/>
                <a:cs typeface="Calibri"/>
              </a:rPr>
              <a:t>S</a:t>
            </a:r>
            <a:r>
              <a:rPr sz="1100" i="1" spc="13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-55" dirty="0">
                <a:solidFill>
                  <a:srgbClr val="191933"/>
                </a:solidFill>
                <a:latin typeface="Tahoma"/>
                <a:cs typeface="Tahoma"/>
              </a:rPr>
              <a:t>have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191933"/>
                </a:solidFill>
                <a:latin typeface="Tahoma"/>
                <a:cs typeface="Tahoma"/>
              </a:rPr>
              <a:t>been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patched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correctly.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27" name="object 27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4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57</a:t>
            </a:r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93</a:t>
            </a:r>
          </a:p>
        </p:txBody>
      </p:sp>
    </p:spTree>
  </p:cSld>
  <p:clrMapOvr>
    <a:masterClrMapping/>
  </p:clrMapOvr>
  <p:transition>
    <p:cut/>
  </p:transition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0" dirty="0"/>
              <a:t>Examples</a:t>
            </a:r>
            <a:r>
              <a:rPr dirty="0"/>
              <a:t> of</a:t>
            </a:r>
            <a:r>
              <a:rPr spc="-5" dirty="0"/>
              <a:t> </a:t>
            </a:r>
            <a:r>
              <a:rPr spc="-35" dirty="0"/>
              <a:t>Patches</a:t>
            </a:r>
            <a:r>
              <a:rPr dirty="0"/>
              <a:t> for Worm </a:t>
            </a:r>
            <a:r>
              <a:rPr spc="-25" dirty="0"/>
              <a:t>Prevention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451586"/>
            <a:ext cx="65265" cy="65265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570865" y="582256"/>
            <a:ext cx="52705" cy="229870"/>
            <a:chOff x="570865" y="582256"/>
            <a:chExt cx="52705" cy="22987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0865" y="582256"/>
              <a:ext cx="52590" cy="5259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0865" y="670826"/>
              <a:ext cx="52590" cy="5259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0865" y="759383"/>
              <a:ext cx="52590" cy="52590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1206093"/>
            <a:ext cx="65265" cy="65265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570865" y="1336763"/>
            <a:ext cx="52705" cy="229870"/>
            <a:chOff x="570865" y="1336763"/>
            <a:chExt cx="52705" cy="229870"/>
          </a:xfrm>
        </p:grpSpPr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70865" y="1336763"/>
              <a:ext cx="52590" cy="5259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70865" y="1425321"/>
              <a:ext cx="52590" cy="5259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70865" y="1513890"/>
              <a:ext cx="52590" cy="52590"/>
            </a:xfrm>
            <a:prstGeom prst="rect">
              <a:avLst/>
            </a:prstGeom>
          </p:spPr>
        </p:pic>
      </p:grpSp>
      <p:pic>
        <p:nvPicPr>
          <p:cNvPr id="13" name="object 1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81089" y="1960588"/>
            <a:ext cx="65265" cy="65265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570865" y="2091258"/>
            <a:ext cx="52705" cy="141605"/>
            <a:chOff x="570865" y="2091258"/>
            <a:chExt cx="52705" cy="141605"/>
          </a:xfrm>
        </p:grpSpPr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70865" y="2091258"/>
              <a:ext cx="52590" cy="5259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70865" y="2179828"/>
              <a:ext cx="52590" cy="52590"/>
            </a:xfrm>
            <a:prstGeom prst="rect">
              <a:avLst/>
            </a:prstGeom>
          </p:spPr>
        </p:pic>
      </p:grpSp>
      <p:pic>
        <p:nvPicPr>
          <p:cNvPr id="17" name="object 1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70865" y="2356967"/>
            <a:ext cx="52590" cy="52590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81089" y="2803664"/>
            <a:ext cx="65265" cy="65265"/>
          </a:xfrm>
          <a:prstGeom prst="rect">
            <a:avLst/>
          </a:prstGeom>
        </p:spPr>
      </p:pic>
      <p:grpSp>
        <p:nvGrpSpPr>
          <p:cNvPr id="19" name="object 19"/>
          <p:cNvGrpSpPr/>
          <p:nvPr/>
        </p:nvGrpSpPr>
        <p:grpSpPr>
          <a:xfrm>
            <a:off x="570865" y="2934335"/>
            <a:ext cx="52705" cy="229870"/>
            <a:chOff x="570865" y="2934335"/>
            <a:chExt cx="52705" cy="229870"/>
          </a:xfrm>
        </p:grpSpPr>
        <p:pic>
          <p:nvPicPr>
            <p:cNvPr id="20" name="object 2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70865" y="2934335"/>
              <a:ext cx="52590" cy="5259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70865" y="3022904"/>
              <a:ext cx="52590" cy="5259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70865" y="3111474"/>
              <a:ext cx="52590" cy="52590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402932" y="341906"/>
            <a:ext cx="4079240" cy="2941320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1100" b="1" dirty="0">
                <a:solidFill>
                  <a:srgbClr val="191933"/>
                </a:solidFill>
                <a:latin typeface="Arial"/>
                <a:cs typeface="Arial"/>
              </a:rPr>
              <a:t>MS17-010</a:t>
            </a:r>
            <a:r>
              <a:rPr sz="1100" b="1" spc="14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191933"/>
                </a:solidFill>
                <a:latin typeface="Arial"/>
                <a:cs typeface="Arial"/>
              </a:rPr>
              <a:t>(EternalBlue):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ts val="710"/>
              </a:lnSpc>
              <a:spcBef>
                <a:spcPts val="110"/>
              </a:spcBef>
            </a:pPr>
            <a:r>
              <a:rPr sz="600" spc="-35" dirty="0">
                <a:solidFill>
                  <a:srgbClr val="191933"/>
                </a:solidFill>
                <a:latin typeface="Arial MT"/>
                <a:cs typeface="Arial MT"/>
              </a:rPr>
              <a:t>Released</a:t>
            </a:r>
            <a:r>
              <a:rPr sz="6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by</a:t>
            </a:r>
            <a:r>
              <a:rPr sz="6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Microsoft</a:t>
            </a:r>
            <a:r>
              <a:rPr sz="6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in</a:t>
            </a:r>
            <a:r>
              <a:rPr sz="6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March</a:t>
            </a:r>
            <a:r>
              <a:rPr sz="6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0" dirty="0">
                <a:solidFill>
                  <a:srgbClr val="191933"/>
                </a:solidFill>
                <a:latin typeface="Arial MT"/>
                <a:cs typeface="Arial MT"/>
              </a:rPr>
              <a:t>2017.</a:t>
            </a:r>
            <a:endParaRPr sz="600">
              <a:latin typeface="Arial MT"/>
              <a:cs typeface="Arial MT"/>
            </a:endParaRPr>
          </a:p>
          <a:p>
            <a:pPr marL="289560">
              <a:lnSpc>
                <a:spcPts val="695"/>
              </a:lnSpc>
            </a:pPr>
            <a:r>
              <a:rPr sz="600" spc="-25" dirty="0">
                <a:solidFill>
                  <a:srgbClr val="191933"/>
                </a:solidFill>
                <a:latin typeface="Arial MT"/>
                <a:cs typeface="Arial MT"/>
              </a:rPr>
              <a:t>Addressed</a:t>
            </a:r>
            <a:r>
              <a:rPr sz="6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vulnerabilities</a:t>
            </a:r>
            <a:r>
              <a:rPr sz="6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in</a:t>
            </a:r>
            <a:r>
              <a:rPr sz="6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6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SMBv1</a:t>
            </a:r>
            <a:r>
              <a:rPr sz="6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protocol</a:t>
            </a:r>
            <a:r>
              <a:rPr sz="6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exploited</a:t>
            </a:r>
            <a:r>
              <a:rPr sz="6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by</a:t>
            </a:r>
            <a:r>
              <a:rPr sz="6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6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WannaCry</a:t>
            </a:r>
            <a:r>
              <a:rPr sz="6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5" dirty="0">
                <a:solidFill>
                  <a:srgbClr val="191933"/>
                </a:solidFill>
                <a:latin typeface="Arial MT"/>
                <a:cs typeface="Arial MT"/>
              </a:rPr>
              <a:t>ransomware</a:t>
            </a:r>
            <a:r>
              <a:rPr sz="6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worm.</a:t>
            </a:r>
            <a:endParaRPr sz="600">
              <a:latin typeface="Arial MT"/>
              <a:cs typeface="Arial MT"/>
            </a:endParaRPr>
          </a:p>
          <a:p>
            <a:pPr marL="289560" marR="5080">
              <a:lnSpc>
                <a:spcPts val="700"/>
              </a:lnSpc>
              <a:spcBef>
                <a:spcPts val="30"/>
              </a:spcBef>
            </a:pPr>
            <a:r>
              <a:rPr sz="600" b="1" spc="-10" dirty="0">
                <a:solidFill>
                  <a:srgbClr val="191933"/>
                </a:solidFill>
                <a:latin typeface="Arial"/>
                <a:cs typeface="Arial"/>
              </a:rPr>
              <a:t>Importance:</a:t>
            </a:r>
            <a:r>
              <a:rPr sz="600" b="1" spc="6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Prevented</a:t>
            </a:r>
            <a:r>
              <a:rPr sz="6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6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5" dirty="0">
                <a:solidFill>
                  <a:srgbClr val="191933"/>
                </a:solidFill>
                <a:latin typeface="Arial MT"/>
                <a:cs typeface="Arial MT"/>
              </a:rPr>
              <a:t>spread</a:t>
            </a:r>
            <a:r>
              <a:rPr sz="6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6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WannaCry,</a:t>
            </a:r>
            <a:r>
              <a:rPr sz="6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which</a:t>
            </a:r>
            <a:r>
              <a:rPr sz="6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affected</a:t>
            </a:r>
            <a:r>
              <a:rPr sz="6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over</a:t>
            </a:r>
            <a:r>
              <a:rPr sz="6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200,000</a:t>
            </a:r>
            <a:r>
              <a:rPr sz="6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computers</a:t>
            </a:r>
            <a:r>
              <a:rPr sz="6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worldwide,</a:t>
            </a:r>
            <a:r>
              <a:rPr sz="6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by</a:t>
            </a:r>
            <a:r>
              <a:rPr sz="6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patching</a:t>
            </a:r>
            <a:r>
              <a:rPr sz="600" spc="5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6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exploit.</a:t>
            </a:r>
            <a:endParaRPr sz="6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95"/>
              </a:spcBef>
            </a:pPr>
            <a:endParaRPr sz="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100" b="1" dirty="0">
                <a:solidFill>
                  <a:srgbClr val="191933"/>
                </a:solidFill>
                <a:latin typeface="Arial"/>
                <a:cs typeface="Arial"/>
              </a:rPr>
              <a:t>MS08-067</a:t>
            </a:r>
            <a:r>
              <a:rPr sz="1100" b="1" spc="4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-20" dirty="0">
                <a:solidFill>
                  <a:srgbClr val="191933"/>
                </a:solidFill>
                <a:latin typeface="Arial"/>
                <a:cs typeface="Arial"/>
              </a:rPr>
              <a:t>(Conficker</a:t>
            </a:r>
            <a:r>
              <a:rPr sz="1100" b="1" spc="5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191933"/>
                </a:solidFill>
                <a:latin typeface="Arial"/>
                <a:cs typeface="Arial"/>
              </a:rPr>
              <a:t>Worm):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ts val="710"/>
              </a:lnSpc>
              <a:spcBef>
                <a:spcPts val="110"/>
              </a:spcBef>
            </a:pPr>
            <a:r>
              <a:rPr sz="600" spc="-35" dirty="0">
                <a:solidFill>
                  <a:srgbClr val="191933"/>
                </a:solidFill>
                <a:latin typeface="Arial MT"/>
                <a:cs typeface="Arial MT"/>
              </a:rPr>
              <a:t>Released</a:t>
            </a:r>
            <a:r>
              <a:rPr sz="6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by</a:t>
            </a:r>
            <a:r>
              <a:rPr sz="6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Microsoft</a:t>
            </a:r>
            <a:r>
              <a:rPr sz="6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in</a:t>
            </a:r>
            <a:r>
              <a:rPr sz="6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October</a:t>
            </a:r>
            <a:r>
              <a:rPr sz="6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0" dirty="0">
                <a:solidFill>
                  <a:srgbClr val="191933"/>
                </a:solidFill>
                <a:latin typeface="Arial MT"/>
                <a:cs typeface="Arial MT"/>
              </a:rPr>
              <a:t>2008.</a:t>
            </a:r>
            <a:endParaRPr sz="600">
              <a:latin typeface="Arial MT"/>
              <a:cs typeface="Arial MT"/>
            </a:endParaRPr>
          </a:p>
          <a:p>
            <a:pPr marL="289560">
              <a:lnSpc>
                <a:spcPts val="695"/>
              </a:lnSpc>
            </a:pP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Fixed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vulnerability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in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Windows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0" dirty="0">
                <a:solidFill>
                  <a:srgbClr val="191933"/>
                </a:solidFill>
                <a:latin typeface="Arial MT"/>
                <a:cs typeface="Arial MT"/>
              </a:rPr>
              <a:t>Server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0" dirty="0">
                <a:solidFill>
                  <a:srgbClr val="191933"/>
                </a:solidFill>
                <a:latin typeface="Arial MT"/>
                <a:cs typeface="Arial MT"/>
              </a:rPr>
              <a:t>service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5" dirty="0">
                <a:solidFill>
                  <a:srgbClr val="191933"/>
                </a:solidFill>
                <a:latin typeface="Arial MT"/>
                <a:cs typeface="Arial MT"/>
              </a:rPr>
              <a:t>used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by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Conficker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worm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spread.</a:t>
            </a:r>
            <a:endParaRPr sz="600">
              <a:latin typeface="Arial MT"/>
              <a:cs typeface="Arial MT"/>
            </a:endParaRPr>
          </a:p>
          <a:p>
            <a:pPr marL="289560" marR="245110">
              <a:lnSpc>
                <a:spcPts val="700"/>
              </a:lnSpc>
              <a:spcBef>
                <a:spcPts val="30"/>
              </a:spcBef>
            </a:pPr>
            <a:r>
              <a:rPr sz="600" b="1" spc="-10" dirty="0">
                <a:solidFill>
                  <a:srgbClr val="191933"/>
                </a:solidFill>
                <a:latin typeface="Arial"/>
                <a:cs typeface="Arial"/>
              </a:rPr>
              <a:t>Importance:</a:t>
            </a:r>
            <a:r>
              <a:rPr sz="600" b="1" spc="8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Essential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in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mitigating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5" dirty="0">
                <a:solidFill>
                  <a:srgbClr val="191933"/>
                </a:solidFill>
                <a:latin typeface="Arial MT"/>
                <a:cs typeface="Arial MT"/>
              </a:rPr>
              <a:t>spread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Conficker,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one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most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5" dirty="0">
                <a:solidFill>
                  <a:srgbClr val="191933"/>
                </a:solidFill>
                <a:latin typeface="Arial MT"/>
                <a:cs typeface="Arial MT"/>
              </a:rPr>
              <a:t>widespread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network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worms,</a:t>
            </a:r>
            <a:r>
              <a:rPr sz="600" spc="5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affecting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millions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0" dirty="0">
                <a:solidFill>
                  <a:srgbClr val="191933"/>
                </a:solidFill>
                <a:latin typeface="Arial MT"/>
                <a:cs typeface="Arial MT"/>
              </a:rPr>
              <a:t>systems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globally.</a:t>
            </a:r>
            <a:endParaRPr sz="6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95"/>
              </a:spcBef>
            </a:pPr>
            <a:endParaRPr sz="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100" b="1" dirty="0">
                <a:solidFill>
                  <a:srgbClr val="191933"/>
                </a:solidFill>
                <a:latin typeface="Arial"/>
                <a:cs typeface="Arial"/>
              </a:rPr>
              <a:t>MS04-011</a:t>
            </a:r>
            <a:r>
              <a:rPr sz="1100" b="1" spc="7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-45" dirty="0">
                <a:solidFill>
                  <a:srgbClr val="191933"/>
                </a:solidFill>
                <a:latin typeface="Arial"/>
                <a:cs typeface="Arial"/>
              </a:rPr>
              <a:t>(Sasser</a:t>
            </a:r>
            <a:r>
              <a:rPr sz="1100" b="1" spc="7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191933"/>
                </a:solidFill>
                <a:latin typeface="Arial"/>
                <a:cs typeface="Arial"/>
              </a:rPr>
              <a:t>Worm):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ts val="710"/>
              </a:lnSpc>
              <a:spcBef>
                <a:spcPts val="110"/>
              </a:spcBef>
            </a:pPr>
            <a:r>
              <a:rPr sz="600" spc="-35" dirty="0">
                <a:solidFill>
                  <a:srgbClr val="191933"/>
                </a:solidFill>
                <a:latin typeface="Arial MT"/>
                <a:cs typeface="Arial MT"/>
              </a:rPr>
              <a:t>Released</a:t>
            </a:r>
            <a:r>
              <a:rPr sz="600" spc="5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by</a:t>
            </a:r>
            <a:r>
              <a:rPr sz="600" spc="5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Microsoft</a:t>
            </a:r>
            <a:r>
              <a:rPr sz="600" spc="5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in</a:t>
            </a:r>
            <a:r>
              <a:rPr sz="600" spc="5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April</a:t>
            </a:r>
            <a:r>
              <a:rPr sz="6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2004.</a:t>
            </a:r>
            <a:endParaRPr sz="600">
              <a:latin typeface="Arial MT"/>
              <a:cs typeface="Arial MT"/>
            </a:endParaRPr>
          </a:p>
          <a:p>
            <a:pPr marL="289560" marR="109220">
              <a:lnSpc>
                <a:spcPts val="700"/>
              </a:lnSpc>
              <a:spcBef>
                <a:spcPts val="30"/>
              </a:spcBef>
            </a:pPr>
            <a:r>
              <a:rPr sz="600" spc="-25" dirty="0">
                <a:solidFill>
                  <a:srgbClr val="191933"/>
                </a:solidFill>
                <a:latin typeface="Arial MT"/>
                <a:cs typeface="Arial MT"/>
              </a:rPr>
              <a:t>Addressed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vulnerability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in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Local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Security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Authority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0" dirty="0">
                <a:solidFill>
                  <a:srgbClr val="191933"/>
                </a:solidFill>
                <a:latin typeface="Arial MT"/>
                <a:cs typeface="Arial MT"/>
              </a:rPr>
              <a:t>Subsystem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0" dirty="0">
                <a:solidFill>
                  <a:srgbClr val="191933"/>
                </a:solidFill>
                <a:latin typeface="Arial MT"/>
                <a:cs typeface="Arial MT"/>
              </a:rPr>
              <a:t>Service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(LSASS)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exploited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by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0" dirty="0">
                <a:solidFill>
                  <a:srgbClr val="191933"/>
                </a:solidFill>
                <a:latin typeface="Arial MT"/>
                <a:cs typeface="Arial MT"/>
              </a:rPr>
              <a:t>Sasser</a:t>
            </a:r>
            <a:r>
              <a:rPr sz="600" spc="5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0" dirty="0">
                <a:solidFill>
                  <a:srgbClr val="191933"/>
                </a:solidFill>
                <a:latin typeface="Arial MT"/>
                <a:cs typeface="Arial MT"/>
              </a:rPr>
              <a:t>worm.</a:t>
            </a:r>
            <a:endParaRPr sz="600">
              <a:latin typeface="Arial MT"/>
              <a:cs typeface="Arial MT"/>
            </a:endParaRPr>
          </a:p>
          <a:p>
            <a:pPr marL="289560">
              <a:lnSpc>
                <a:spcPts val="665"/>
              </a:lnSpc>
            </a:pPr>
            <a:r>
              <a:rPr sz="600" b="1" spc="-10" dirty="0">
                <a:solidFill>
                  <a:srgbClr val="191933"/>
                </a:solidFill>
                <a:latin typeface="Arial"/>
                <a:cs typeface="Arial"/>
              </a:rPr>
              <a:t>Importance:</a:t>
            </a:r>
            <a:r>
              <a:rPr sz="600" b="1" spc="8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Helped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prevent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35" dirty="0">
                <a:solidFill>
                  <a:srgbClr val="191933"/>
                </a:solidFill>
                <a:latin typeface="Arial MT"/>
                <a:cs typeface="Arial MT"/>
              </a:rPr>
              <a:t>Sasser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worm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from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infecting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millions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computers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by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exploiting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LSASS</a:t>
            </a:r>
            <a:endParaRPr sz="600">
              <a:latin typeface="Arial MT"/>
              <a:cs typeface="Arial MT"/>
            </a:endParaRPr>
          </a:p>
          <a:p>
            <a:pPr marL="289560">
              <a:lnSpc>
                <a:spcPts val="710"/>
              </a:lnSpc>
            </a:pP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vulnerability,</a:t>
            </a:r>
            <a:r>
              <a:rPr sz="6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0" dirty="0">
                <a:solidFill>
                  <a:srgbClr val="191933"/>
                </a:solidFill>
                <a:latin typeface="Arial MT"/>
                <a:cs typeface="Arial MT"/>
              </a:rPr>
              <a:t>causing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5" dirty="0">
                <a:solidFill>
                  <a:srgbClr val="191933"/>
                </a:solidFill>
                <a:latin typeface="Arial MT"/>
                <a:cs typeface="Arial MT"/>
              </a:rPr>
              <a:t>widespread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network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disruptions.</a:t>
            </a:r>
            <a:endParaRPr sz="6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sz="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100" b="1" dirty="0">
                <a:solidFill>
                  <a:srgbClr val="191933"/>
                </a:solidFill>
                <a:latin typeface="Arial"/>
                <a:cs typeface="Arial"/>
              </a:rPr>
              <a:t>MS03-026</a:t>
            </a:r>
            <a:r>
              <a:rPr sz="1100" b="1" spc="5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191933"/>
                </a:solidFill>
                <a:latin typeface="Arial"/>
                <a:cs typeface="Arial"/>
              </a:rPr>
              <a:t>(Blaster</a:t>
            </a:r>
            <a:r>
              <a:rPr sz="1100" b="1" spc="5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191933"/>
                </a:solidFill>
                <a:latin typeface="Arial"/>
                <a:cs typeface="Arial"/>
              </a:rPr>
              <a:t>Worm):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ts val="710"/>
              </a:lnSpc>
              <a:spcBef>
                <a:spcPts val="110"/>
              </a:spcBef>
            </a:pPr>
            <a:r>
              <a:rPr sz="600" spc="-35" dirty="0">
                <a:solidFill>
                  <a:srgbClr val="191933"/>
                </a:solidFill>
                <a:latin typeface="Arial MT"/>
                <a:cs typeface="Arial MT"/>
              </a:rPr>
              <a:t>Released</a:t>
            </a:r>
            <a:r>
              <a:rPr sz="6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by</a:t>
            </a:r>
            <a:r>
              <a:rPr sz="6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Microsoft</a:t>
            </a:r>
            <a:r>
              <a:rPr sz="6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in</a:t>
            </a:r>
            <a:r>
              <a:rPr sz="6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July</a:t>
            </a:r>
            <a:r>
              <a:rPr sz="6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2003.</a:t>
            </a:r>
            <a:endParaRPr sz="600">
              <a:latin typeface="Arial MT"/>
              <a:cs typeface="Arial MT"/>
            </a:endParaRPr>
          </a:p>
          <a:p>
            <a:pPr marL="289560" marR="207645">
              <a:lnSpc>
                <a:spcPts val="700"/>
              </a:lnSpc>
              <a:spcBef>
                <a:spcPts val="25"/>
              </a:spcBef>
            </a:pPr>
            <a:r>
              <a:rPr sz="600" spc="-25" dirty="0">
                <a:solidFill>
                  <a:srgbClr val="191933"/>
                </a:solidFill>
                <a:latin typeface="Arial MT"/>
                <a:cs typeface="Arial MT"/>
              </a:rPr>
              <a:t>Addressed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critical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vulnerability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in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Windows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DCOM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RPC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interface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exploited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by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Blaster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worm.</a:t>
            </a:r>
            <a:r>
              <a:rPr sz="600" spc="5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b="1" spc="-10" dirty="0">
                <a:solidFill>
                  <a:srgbClr val="191933"/>
                </a:solidFill>
                <a:latin typeface="Arial"/>
                <a:cs typeface="Arial"/>
              </a:rPr>
              <a:t>Importance:</a:t>
            </a:r>
            <a:r>
              <a:rPr sz="600" b="1" spc="7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Critical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in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stopping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5" dirty="0">
                <a:solidFill>
                  <a:srgbClr val="191933"/>
                </a:solidFill>
                <a:latin typeface="Arial MT"/>
                <a:cs typeface="Arial MT"/>
              </a:rPr>
              <a:t>spread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Blaster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worm,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which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affected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hundreds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0" dirty="0">
                <a:solidFill>
                  <a:srgbClr val="191933"/>
                </a:solidFill>
                <a:latin typeface="Arial MT"/>
                <a:cs typeface="Arial MT"/>
              </a:rPr>
              <a:t>thousands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5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600" spc="5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computers,</a:t>
            </a:r>
            <a:r>
              <a:rPr sz="6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0" dirty="0">
                <a:solidFill>
                  <a:srgbClr val="191933"/>
                </a:solidFill>
                <a:latin typeface="Arial MT"/>
                <a:cs typeface="Arial MT"/>
              </a:rPr>
              <a:t>causing</a:t>
            </a:r>
            <a:r>
              <a:rPr sz="6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network</a:t>
            </a:r>
            <a:r>
              <a:rPr sz="6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congestion</a:t>
            </a:r>
            <a:r>
              <a:rPr sz="6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and</a:t>
            </a:r>
            <a:r>
              <a:rPr sz="6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system</a:t>
            </a:r>
            <a:r>
              <a:rPr sz="6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reboots.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25" name="object 25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4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58</a:t>
            </a:r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93</a:t>
            </a:r>
          </a:p>
        </p:txBody>
      </p:sp>
    </p:spTree>
  </p:cSld>
  <p:clrMapOvr>
    <a:masterClrMapping/>
  </p:clrMapOvr>
  <p:transition>
    <p:cut/>
  </p:transition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Best</a:t>
            </a:r>
            <a:r>
              <a:rPr spc="-10" dirty="0"/>
              <a:t> </a:t>
            </a:r>
            <a:r>
              <a:rPr spc="-30" dirty="0"/>
              <a:t>Practices</a:t>
            </a:r>
            <a:r>
              <a:rPr spc="-5" dirty="0"/>
              <a:t> </a:t>
            </a:r>
            <a:r>
              <a:rPr dirty="0"/>
              <a:t>in</a:t>
            </a:r>
            <a:r>
              <a:rPr spc="-5" dirty="0"/>
              <a:t> </a:t>
            </a:r>
            <a:r>
              <a:rPr dirty="0"/>
              <a:t>Patch</a:t>
            </a:r>
            <a:r>
              <a:rPr spc="-10" dirty="0"/>
              <a:t> Management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849084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059116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269149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479181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1689214"/>
            <a:ext cx="65265" cy="6526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1089" y="2109279"/>
            <a:ext cx="65265" cy="6526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1089" y="2319312"/>
            <a:ext cx="65265" cy="6526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81089" y="2701417"/>
            <a:ext cx="65265" cy="65265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25844" y="511820"/>
            <a:ext cx="4288790" cy="247015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Best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Practices: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334"/>
              </a:spcBef>
            </a:pP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Regularly 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scan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systems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for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vulnerabilities.</a:t>
            </a:r>
            <a:endParaRPr sz="1100">
              <a:latin typeface="Tahoma"/>
              <a:cs typeface="Tahoma"/>
            </a:endParaRPr>
          </a:p>
          <a:p>
            <a:pPr marL="289560" marR="5080">
              <a:lnSpc>
                <a:spcPct val="125299"/>
              </a:lnSpc>
            </a:pP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Test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patches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in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a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191933"/>
                </a:solidFill>
                <a:latin typeface="Tahoma"/>
                <a:cs typeface="Tahoma"/>
              </a:rPr>
              <a:t>non-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production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environment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before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deployment. 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Automate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the 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patching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191933"/>
                </a:solidFill>
                <a:latin typeface="Tahoma"/>
                <a:cs typeface="Tahoma"/>
              </a:rPr>
              <a:t>process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191933"/>
                </a:solidFill>
                <a:latin typeface="Tahoma"/>
                <a:cs typeface="Tahoma"/>
              </a:rPr>
              <a:t>where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possible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to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65" dirty="0">
                <a:solidFill>
                  <a:srgbClr val="191933"/>
                </a:solidFill>
                <a:latin typeface="Tahoma"/>
                <a:cs typeface="Tahoma"/>
              </a:rPr>
              <a:t>ensure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consistency. 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Keep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a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backup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before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applying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critical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patches.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330"/>
              </a:spcBef>
            </a:pP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Educate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65" dirty="0">
                <a:solidFill>
                  <a:srgbClr val="191933"/>
                </a:solidFill>
                <a:latin typeface="Tahoma"/>
                <a:cs typeface="Tahoma"/>
              </a:rPr>
              <a:t>users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about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the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importance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of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security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updates.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Advantages: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335"/>
              </a:spcBef>
            </a:pP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Patch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55" dirty="0">
                <a:solidFill>
                  <a:srgbClr val="191933"/>
                </a:solidFill>
                <a:latin typeface="Tahoma"/>
                <a:cs typeface="Tahoma"/>
              </a:rPr>
              <a:t>management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is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a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critical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 component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of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cybersecurity.</a:t>
            </a:r>
            <a:endParaRPr sz="1100">
              <a:latin typeface="Tahoma"/>
              <a:cs typeface="Tahoma"/>
            </a:endParaRPr>
          </a:p>
          <a:p>
            <a:pPr marL="289560" marR="210185">
              <a:lnSpc>
                <a:spcPct val="102600"/>
              </a:lnSpc>
              <a:spcBef>
                <a:spcPts val="300"/>
              </a:spcBef>
            </a:pPr>
            <a:r>
              <a:rPr sz="1100" spc="55" dirty="0">
                <a:solidFill>
                  <a:srgbClr val="191933"/>
                </a:solidFill>
                <a:latin typeface="Tahoma"/>
                <a:cs typeface="Tahoma"/>
              </a:rPr>
              <a:t>A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55" dirty="0">
                <a:solidFill>
                  <a:srgbClr val="191933"/>
                </a:solidFill>
                <a:latin typeface="Tahoma"/>
                <a:cs typeface="Tahoma"/>
              </a:rPr>
              <a:t>well-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defined</a:t>
            </a:r>
            <a:r>
              <a:rPr sz="1100" spc="-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patch</a:t>
            </a:r>
            <a:r>
              <a:rPr sz="1100" spc="-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55" dirty="0">
                <a:solidFill>
                  <a:srgbClr val="191933"/>
                </a:solidFill>
                <a:latin typeface="Tahoma"/>
                <a:cs typeface="Tahoma"/>
              </a:rPr>
              <a:t>management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191933"/>
                </a:solidFill>
                <a:latin typeface="Tahoma"/>
                <a:cs typeface="Tahoma"/>
              </a:rPr>
              <a:t>process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helps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in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mitigating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the risks</a:t>
            </a:r>
            <a:r>
              <a:rPr sz="1100" spc="-6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55" dirty="0">
                <a:solidFill>
                  <a:srgbClr val="191933"/>
                </a:solidFill>
                <a:latin typeface="Tahoma"/>
                <a:cs typeface="Tahoma"/>
              </a:rPr>
              <a:t>posed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by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70" dirty="0">
                <a:solidFill>
                  <a:srgbClr val="191933"/>
                </a:solidFill>
                <a:latin typeface="Tahoma"/>
                <a:cs typeface="Tahoma"/>
              </a:rPr>
              <a:t>worms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and 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other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malware.</a:t>
            </a:r>
            <a:endParaRPr sz="1100">
              <a:latin typeface="Tahoma"/>
              <a:cs typeface="Tahoma"/>
            </a:endParaRPr>
          </a:p>
          <a:p>
            <a:pPr marL="289560" marR="55880">
              <a:lnSpc>
                <a:spcPct val="102600"/>
              </a:lnSpc>
              <a:spcBef>
                <a:spcPts val="300"/>
              </a:spcBef>
            </a:pP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Regular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updates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and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65" dirty="0">
                <a:solidFill>
                  <a:srgbClr val="191933"/>
                </a:solidFill>
                <a:latin typeface="Tahoma"/>
                <a:cs typeface="Tahoma"/>
              </a:rPr>
              <a:t>adherence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to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best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practices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65" dirty="0">
                <a:solidFill>
                  <a:srgbClr val="191933"/>
                </a:solidFill>
                <a:latin typeface="Tahoma"/>
                <a:cs typeface="Tahoma"/>
              </a:rPr>
              <a:t>ensure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the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security and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reliability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of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systems.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3" name="object 13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4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59</a:t>
            </a:r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93</a:t>
            </a:r>
          </a:p>
        </p:txBody>
      </p:sp>
    </p:spTree>
  </p:cSld>
  <p:clrMapOvr>
    <a:masterClrMapping/>
  </p:clrMapOvr>
  <p:transition>
    <p:cut/>
  </p:transition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Introduction</a:t>
            </a:r>
            <a:r>
              <a:rPr spc="35" dirty="0"/>
              <a:t> </a:t>
            </a:r>
            <a:r>
              <a:rPr dirty="0"/>
              <a:t>to</a:t>
            </a:r>
            <a:r>
              <a:rPr spc="40" dirty="0"/>
              <a:t> </a:t>
            </a:r>
            <a:r>
              <a:rPr spc="-80" dirty="0"/>
              <a:t>Access</a:t>
            </a:r>
            <a:r>
              <a:rPr spc="35" dirty="0"/>
              <a:t> </a:t>
            </a:r>
            <a:r>
              <a:rPr spc="-20" dirty="0"/>
              <a:t>Control</a:t>
            </a:r>
            <a:r>
              <a:rPr spc="40" dirty="0"/>
              <a:t> </a:t>
            </a:r>
            <a:r>
              <a:rPr spc="-10" dirty="0"/>
              <a:t>Management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181087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563192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945297"/>
            <a:ext cx="65265" cy="6526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02932" y="1097634"/>
            <a:ext cx="3888740" cy="112839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318135">
              <a:lnSpc>
                <a:spcPct val="102600"/>
              </a:lnSpc>
              <a:spcBef>
                <a:spcPts val="55"/>
              </a:spcBef>
            </a:pP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Access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control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determines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who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is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55" dirty="0">
                <a:solidFill>
                  <a:srgbClr val="191933"/>
                </a:solidFill>
                <a:latin typeface="Tahoma"/>
                <a:cs typeface="Tahoma"/>
              </a:rPr>
              <a:t>allowed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to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55" dirty="0">
                <a:solidFill>
                  <a:srgbClr val="191933"/>
                </a:solidFill>
                <a:latin typeface="Tahoma"/>
                <a:cs typeface="Tahoma"/>
              </a:rPr>
              <a:t>access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or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modify 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information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in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a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system.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02600"/>
              </a:lnSpc>
              <a:spcBef>
                <a:spcPts val="300"/>
              </a:spcBef>
            </a:pP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It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is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a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critical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component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of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cybersecurity,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preventing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 unauthorized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access.</a:t>
            </a:r>
            <a:endParaRPr sz="1100">
              <a:latin typeface="Tahoma"/>
              <a:cs typeface="Tahoma"/>
            </a:endParaRPr>
          </a:p>
          <a:p>
            <a:pPr marL="12700" marR="33655">
              <a:lnSpc>
                <a:spcPct val="102699"/>
              </a:lnSpc>
              <a:spcBef>
                <a:spcPts val="300"/>
              </a:spcBef>
            </a:pP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Helps</a:t>
            </a:r>
            <a:r>
              <a:rPr sz="1100" spc="-6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in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reducing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the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65" dirty="0">
                <a:solidFill>
                  <a:srgbClr val="191933"/>
                </a:solidFill>
                <a:latin typeface="Tahoma"/>
                <a:cs typeface="Tahoma"/>
              </a:rPr>
              <a:t>spread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of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70" dirty="0">
                <a:solidFill>
                  <a:srgbClr val="191933"/>
                </a:solidFill>
                <a:latin typeface="Tahoma"/>
                <a:cs typeface="Tahoma"/>
              </a:rPr>
              <a:t>worms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by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limiting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access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191933"/>
                </a:solidFill>
                <a:latin typeface="Tahoma"/>
                <a:cs typeface="Tahoma"/>
              </a:rPr>
              <a:t>based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on </a:t>
            </a:r>
            <a:r>
              <a:rPr sz="1100" spc="-55" dirty="0">
                <a:solidFill>
                  <a:srgbClr val="191933"/>
                </a:solidFill>
                <a:latin typeface="Tahoma"/>
                <a:cs typeface="Tahoma"/>
              </a:rPr>
              <a:t>user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roles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and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permissions.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8" name="object 8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4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60</a:t>
            </a:r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93</a:t>
            </a:r>
          </a:p>
        </p:txBody>
      </p:sp>
    </p:spTree>
  </p:cSld>
  <p:clrMapOvr>
    <a:masterClrMapping/>
  </p:clrMapOvr>
  <p:transition>
    <p:cut/>
  </p:transition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Importance</a:t>
            </a:r>
            <a:r>
              <a:rPr spc="15" dirty="0"/>
              <a:t> </a:t>
            </a:r>
            <a:r>
              <a:rPr dirty="0"/>
              <a:t>of</a:t>
            </a:r>
            <a:r>
              <a:rPr spc="10" dirty="0"/>
              <a:t> </a:t>
            </a:r>
            <a:r>
              <a:rPr spc="-80" dirty="0"/>
              <a:t>Access</a:t>
            </a:r>
            <a:r>
              <a:rPr spc="20" dirty="0"/>
              <a:t> </a:t>
            </a:r>
            <a:r>
              <a:rPr spc="-20" dirty="0"/>
              <a:t>Control</a:t>
            </a:r>
            <a:r>
              <a:rPr spc="15" dirty="0"/>
              <a:t> </a:t>
            </a:r>
            <a:r>
              <a:rPr dirty="0"/>
              <a:t>in</a:t>
            </a:r>
            <a:r>
              <a:rPr spc="15" dirty="0"/>
              <a:t> </a:t>
            </a:r>
            <a:r>
              <a:rPr dirty="0"/>
              <a:t>Worm</a:t>
            </a:r>
            <a:r>
              <a:rPr spc="20" dirty="0"/>
              <a:t> </a:t>
            </a:r>
            <a:r>
              <a:rPr spc="-25" dirty="0"/>
              <a:t>Prevention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425741"/>
            <a:ext cx="4432935" cy="153035"/>
          </a:xfrm>
          <a:custGeom>
            <a:avLst/>
            <a:gdLst/>
            <a:ahLst/>
            <a:cxnLst/>
            <a:rect l="l" t="t" r="r" b="b"/>
            <a:pathLst>
              <a:path w="4432935" h="153034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52677"/>
                </a:lnTo>
                <a:lnTo>
                  <a:pt x="4432566" y="152677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2672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8544" y="457095"/>
            <a:ext cx="1149350" cy="1028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765"/>
              </a:lnSpc>
            </a:pP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Minimizes</a:t>
            </a:r>
            <a:r>
              <a:rPr sz="800" spc="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Attack</a:t>
            </a:r>
            <a:r>
              <a:rPr sz="800" spc="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spc="-35" dirty="0">
                <a:solidFill>
                  <a:srgbClr val="FFFFFF"/>
                </a:solidFill>
                <a:latin typeface="Arial MT"/>
                <a:cs typeface="Arial MT"/>
              </a:rPr>
              <a:t>Surface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7743" y="591717"/>
            <a:ext cx="4483735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0800" marR="145415">
              <a:lnSpc>
                <a:spcPts val="950"/>
              </a:lnSpc>
              <a:spcBef>
                <a:spcPts val="135"/>
              </a:spcBef>
            </a:pP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Restricting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45" dirty="0">
                <a:solidFill>
                  <a:srgbClr val="191933"/>
                </a:solidFill>
                <a:latin typeface="Arial MT"/>
                <a:cs typeface="Arial MT"/>
              </a:rPr>
              <a:t>access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sensitive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parts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system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reduces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number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potential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entry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points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for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worms,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minimizing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overall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attack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surface.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7743" y="1015974"/>
            <a:ext cx="4432935" cy="153670"/>
          </a:xfrm>
          <a:custGeom>
            <a:avLst/>
            <a:gdLst/>
            <a:ahLst/>
            <a:cxnLst/>
            <a:rect l="l" t="t" r="r" b="b"/>
            <a:pathLst>
              <a:path w="4432935" h="153669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53380"/>
                </a:lnTo>
                <a:lnTo>
                  <a:pt x="4432566" y="153380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2672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38544" y="1047340"/>
            <a:ext cx="1019175" cy="1028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765"/>
              </a:lnSpc>
            </a:pPr>
            <a:r>
              <a:rPr sz="800" spc="-30" dirty="0">
                <a:solidFill>
                  <a:srgbClr val="FFFFFF"/>
                </a:solidFill>
                <a:latin typeface="Arial MT"/>
                <a:cs typeface="Arial MT"/>
              </a:rPr>
              <a:t>Ensures</a:t>
            </a: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Arial MT"/>
                <a:cs typeface="Arial MT"/>
              </a:rPr>
              <a:t>Accountability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7743" y="1182660"/>
            <a:ext cx="4483735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0800" marR="429259">
              <a:lnSpc>
                <a:spcPts val="950"/>
              </a:lnSpc>
              <a:spcBef>
                <a:spcPts val="135"/>
              </a:spcBef>
            </a:pPr>
            <a:r>
              <a:rPr sz="800" spc="-35" dirty="0">
                <a:solidFill>
                  <a:srgbClr val="191933"/>
                </a:solidFill>
                <a:latin typeface="Arial MT"/>
                <a:cs typeface="Arial MT"/>
              </a:rPr>
              <a:t>Access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control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mechanisms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often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include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logging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and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monitoring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features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that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track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user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activities,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helping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quickly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identify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and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isolate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compromised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accounts.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7743" y="1606918"/>
            <a:ext cx="4432935" cy="153670"/>
          </a:xfrm>
          <a:custGeom>
            <a:avLst/>
            <a:gdLst/>
            <a:ahLst/>
            <a:cxnLst/>
            <a:rect l="l" t="t" r="r" b="b"/>
            <a:pathLst>
              <a:path w="4432935" h="153669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53380"/>
                </a:lnTo>
                <a:lnTo>
                  <a:pt x="4432566" y="153380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2672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38544" y="1638284"/>
            <a:ext cx="1492885" cy="1028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765"/>
              </a:lnSpc>
            </a:pPr>
            <a:r>
              <a:rPr sz="800" spc="-25" dirty="0">
                <a:solidFill>
                  <a:srgbClr val="FFFFFF"/>
                </a:solidFill>
                <a:latin typeface="Arial MT"/>
                <a:cs typeface="Arial MT"/>
              </a:rPr>
              <a:t>Enforces</a:t>
            </a:r>
            <a:r>
              <a:rPr sz="8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Arial MT"/>
                <a:cs typeface="Arial MT"/>
              </a:rPr>
              <a:t>Least</a:t>
            </a: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 Privilege</a:t>
            </a:r>
            <a:r>
              <a:rPr sz="8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Arial MT"/>
                <a:cs typeface="Arial MT"/>
              </a:rPr>
              <a:t>Principle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7743" y="1773604"/>
            <a:ext cx="4483735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0800" marR="291465">
              <a:lnSpc>
                <a:spcPts val="950"/>
              </a:lnSpc>
              <a:spcBef>
                <a:spcPts val="135"/>
              </a:spcBef>
            </a:pP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Ensures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that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users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and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applications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have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only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minimal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45" dirty="0">
                <a:solidFill>
                  <a:srgbClr val="191933"/>
                </a:solidFill>
                <a:latin typeface="Arial MT"/>
                <a:cs typeface="Arial MT"/>
              </a:rPr>
              <a:t>access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40" dirty="0">
                <a:solidFill>
                  <a:srgbClr val="191933"/>
                </a:solidFill>
                <a:latin typeface="Arial MT"/>
                <a:cs typeface="Arial MT"/>
              </a:rPr>
              <a:t>necessary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perform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their tasks,</a:t>
            </a:r>
            <a:r>
              <a:rPr sz="800" spc="6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limiting</a:t>
            </a:r>
            <a:r>
              <a:rPr sz="800" spc="6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800" spc="6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ability</a:t>
            </a:r>
            <a:r>
              <a:rPr sz="800" spc="6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800" spc="6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worms</a:t>
            </a:r>
            <a:r>
              <a:rPr sz="800" spc="6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800" spc="6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exploit</a:t>
            </a:r>
            <a:r>
              <a:rPr sz="800" spc="6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privileges</a:t>
            </a:r>
            <a:r>
              <a:rPr sz="800" spc="6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800" spc="6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spread</a:t>
            </a:r>
            <a:r>
              <a:rPr sz="800" spc="6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across</a:t>
            </a:r>
            <a:r>
              <a:rPr sz="800" spc="6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systems.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7743" y="2197848"/>
            <a:ext cx="4432935" cy="153670"/>
          </a:xfrm>
          <a:custGeom>
            <a:avLst/>
            <a:gdLst/>
            <a:ahLst/>
            <a:cxnLst/>
            <a:rect l="l" t="t" r="r" b="b"/>
            <a:pathLst>
              <a:path w="4432935" h="153669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53380"/>
                </a:lnTo>
                <a:lnTo>
                  <a:pt x="4432566" y="153380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2672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138544" y="2229215"/>
            <a:ext cx="1620520" cy="1028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765"/>
              </a:lnSpc>
            </a:pPr>
            <a:r>
              <a:rPr sz="800" spc="-10" dirty="0">
                <a:solidFill>
                  <a:srgbClr val="FFFFFF"/>
                </a:solidFill>
                <a:latin typeface="Arial MT"/>
                <a:cs typeface="Arial MT"/>
              </a:rPr>
              <a:t>Segmentation</a:t>
            </a:r>
            <a:r>
              <a:rPr sz="800" spc="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800" spc="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Network</a:t>
            </a:r>
            <a:r>
              <a:rPr sz="800" spc="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spc="-50" dirty="0">
                <a:solidFill>
                  <a:srgbClr val="FFFFFF"/>
                </a:solidFill>
                <a:latin typeface="Arial MT"/>
                <a:cs typeface="Arial MT"/>
              </a:rPr>
              <a:t>Resources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7743" y="2364548"/>
            <a:ext cx="4483735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0800" marR="306070">
              <a:lnSpc>
                <a:spcPts val="950"/>
              </a:lnSpc>
              <a:spcBef>
                <a:spcPts val="135"/>
              </a:spcBef>
            </a:pPr>
            <a:r>
              <a:rPr sz="800" spc="-35" dirty="0">
                <a:solidFill>
                  <a:srgbClr val="191933"/>
                </a:solidFill>
                <a:latin typeface="Arial MT"/>
                <a:cs typeface="Arial MT"/>
              </a:rPr>
              <a:t>Access</a:t>
            </a:r>
            <a:r>
              <a:rPr sz="8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control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can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segment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network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resources,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creating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isolated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environments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where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worms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cannot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easily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propagate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across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different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segments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network.</a:t>
            </a:r>
            <a:endParaRPr sz="800" dirty="0">
              <a:latin typeface="Arial MT"/>
              <a:cs typeface="Arial MT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87743" y="2788792"/>
            <a:ext cx="4432935" cy="153670"/>
          </a:xfrm>
          <a:custGeom>
            <a:avLst/>
            <a:gdLst/>
            <a:ahLst/>
            <a:cxnLst/>
            <a:rect l="l" t="t" r="r" b="b"/>
            <a:pathLst>
              <a:path w="4432935" h="153669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53380"/>
                </a:lnTo>
                <a:lnTo>
                  <a:pt x="4432566" y="153380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2672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138544" y="2820158"/>
            <a:ext cx="1241425" cy="1028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765"/>
              </a:lnSpc>
            </a:pPr>
            <a:r>
              <a:rPr sz="800" spc="-10" dirty="0">
                <a:solidFill>
                  <a:srgbClr val="FFFFFF"/>
                </a:solidFill>
                <a:latin typeface="Arial MT"/>
                <a:cs typeface="Arial MT"/>
              </a:rPr>
              <a:t>Supports</a:t>
            </a:r>
            <a:r>
              <a:rPr sz="8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Incident</a:t>
            </a:r>
            <a:r>
              <a:rPr sz="8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spc="-55" dirty="0">
                <a:solidFill>
                  <a:srgbClr val="FFFFFF"/>
                </a:solidFill>
                <a:latin typeface="Arial MT"/>
                <a:cs typeface="Arial MT"/>
              </a:rPr>
              <a:t>Response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7743" y="2955479"/>
            <a:ext cx="4483735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0800" marR="212725">
              <a:lnSpc>
                <a:spcPts val="950"/>
              </a:lnSpc>
              <a:spcBef>
                <a:spcPts val="135"/>
              </a:spcBef>
            </a:pPr>
            <a:r>
              <a:rPr sz="800" spc="-35" dirty="0">
                <a:solidFill>
                  <a:srgbClr val="191933"/>
                </a:solidFill>
                <a:latin typeface="Arial MT"/>
                <a:cs typeface="Arial MT"/>
              </a:rPr>
              <a:t>Access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control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can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be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used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quickly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revoke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or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modify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45" dirty="0">
                <a:solidFill>
                  <a:srgbClr val="191933"/>
                </a:solidFill>
                <a:latin typeface="Arial MT"/>
                <a:cs typeface="Arial MT"/>
              </a:rPr>
              <a:t>access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rights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during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worm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infection, helping</a:t>
            </a:r>
            <a:r>
              <a:rPr sz="800" spc="5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800" spc="5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contain</a:t>
            </a:r>
            <a:r>
              <a:rPr sz="8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and</a:t>
            </a:r>
            <a:r>
              <a:rPr sz="800" spc="5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mitigate</a:t>
            </a:r>
            <a:r>
              <a:rPr sz="800" spc="5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8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impact.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39" name="object 39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4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61</a:t>
            </a:r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93</a:t>
            </a:r>
          </a:p>
        </p:txBody>
      </p:sp>
    </p:spTree>
  </p:cSld>
  <p:clrMapOvr>
    <a:masterClrMapping/>
  </p:clrMapOvr>
  <p:transition>
    <p:cut/>
  </p:transition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1013"/>
            <a:ext cx="227203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Types</a:t>
            </a:r>
            <a:r>
              <a:rPr spc="10" dirty="0"/>
              <a:t> </a:t>
            </a:r>
            <a:r>
              <a:rPr dirty="0"/>
              <a:t>of</a:t>
            </a:r>
            <a:r>
              <a:rPr spc="5" dirty="0"/>
              <a:t> </a:t>
            </a:r>
            <a:r>
              <a:rPr spc="-80" dirty="0"/>
              <a:t>Access</a:t>
            </a:r>
            <a:r>
              <a:rPr spc="10" dirty="0"/>
              <a:t> </a:t>
            </a:r>
            <a:r>
              <a:rPr spc="-20" dirty="0"/>
              <a:t>Control</a:t>
            </a:r>
            <a:r>
              <a:rPr spc="10" dirty="0"/>
              <a:t> </a:t>
            </a:r>
            <a:r>
              <a:rPr spc="-10" dirty="0"/>
              <a:t>Models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608101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865" y="797915"/>
            <a:ext cx="52590" cy="5259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0865" y="949744"/>
            <a:ext cx="52590" cy="5259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278686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0865" y="1468501"/>
            <a:ext cx="52590" cy="5259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70865" y="1620329"/>
            <a:ext cx="52590" cy="5259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1089" y="1797443"/>
            <a:ext cx="65265" cy="6526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70865" y="1987245"/>
            <a:ext cx="52590" cy="5259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70865" y="2139086"/>
            <a:ext cx="52590" cy="5259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81089" y="2468029"/>
            <a:ext cx="65265" cy="65265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70865" y="2657830"/>
            <a:ext cx="52590" cy="5259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70865" y="2961500"/>
            <a:ext cx="52590" cy="52590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402932" y="499566"/>
            <a:ext cx="4060190" cy="2555240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100" b="1" spc="-40" dirty="0">
                <a:solidFill>
                  <a:srgbClr val="191933"/>
                </a:solidFill>
                <a:latin typeface="Arial"/>
                <a:cs typeface="Arial"/>
              </a:rPr>
              <a:t>Discretionary</a:t>
            </a:r>
            <a:r>
              <a:rPr sz="1100" b="1" spc="1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-75" dirty="0">
                <a:solidFill>
                  <a:srgbClr val="191933"/>
                </a:solidFill>
                <a:latin typeface="Arial"/>
                <a:cs typeface="Arial"/>
              </a:rPr>
              <a:t>Access</a:t>
            </a:r>
            <a:r>
              <a:rPr sz="1100" b="1" spc="2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-20" dirty="0">
                <a:solidFill>
                  <a:srgbClr val="191933"/>
                </a:solidFill>
                <a:latin typeface="Arial"/>
                <a:cs typeface="Arial"/>
              </a:rPr>
              <a:t>Control</a:t>
            </a:r>
            <a:r>
              <a:rPr sz="1100" b="1" spc="2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191933"/>
                </a:solidFill>
                <a:latin typeface="Arial"/>
                <a:cs typeface="Arial"/>
              </a:rPr>
              <a:t>(DAC):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ts val="1200"/>
              </a:lnSpc>
              <a:spcBef>
                <a:spcPts val="175"/>
              </a:spcBef>
            </a:pP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Access</a:t>
            </a:r>
            <a:r>
              <a:rPr sz="1000" spc="-5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191933"/>
                </a:solidFill>
                <a:latin typeface="Tahoma"/>
                <a:cs typeface="Tahoma"/>
              </a:rPr>
              <a:t>is</a:t>
            </a:r>
            <a:r>
              <a:rPr sz="1000" spc="-4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55" dirty="0">
                <a:solidFill>
                  <a:srgbClr val="191933"/>
                </a:solidFill>
                <a:latin typeface="Tahoma"/>
                <a:cs typeface="Tahoma"/>
              </a:rPr>
              <a:t>based</a:t>
            </a:r>
            <a:r>
              <a:rPr sz="10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191933"/>
                </a:solidFill>
                <a:latin typeface="Tahoma"/>
                <a:cs typeface="Tahoma"/>
              </a:rPr>
              <a:t>on</a:t>
            </a:r>
            <a:r>
              <a:rPr sz="10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191933"/>
                </a:solidFill>
                <a:latin typeface="Tahoma"/>
                <a:cs typeface="Tahoma"/>
              </a:rPr>
              <a:t>the</a:t>
            </a:r>
            <a:r>
              <a:rPr sz="10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20" dirty="0">
                <a:solidFill>
                  <a:srgbClr val="FF0000"/>
                </a:solidFill>
                <a:latin typeface="Tahoma"/>
                <a:cs typeface="Tahoma"/>
              </a:rPr>
              <a:t>identity</a:t>
            </a:r>
            <a:r>
              <a:rPr sz="1000" spc="-3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FF0000"/>
                </a:solidFill>
                <a:latin typeface="Tahoma"/>
                <a:cs typeface="Tahoma"/>
              </a:rPr>
              <a:t>of</a:t>
            </a:r>
            <a:r>
              <a:rPr sz="1000" spc="-3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000" spc="-60" dirty="0">
                <a:solidFill>
                  <a:srgbClr val="FF0000"/>
                </a:solidFill>
                <a:latin typeface="Tahoma"/>
                <a:cs typeface="Tahoma"/>
              </a:rPr>
              <a:t>users</a:t>
            </a:r>
            <a:r>
              <a:rPr sz="1000" spc="-1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000" spc="-25" dirty="0">
                <a:solidFill>
                  <a:srgbClr val="FF0000"/>
                </a:solidFill>
                <a:latin typeface="Tahoma"/>
                <a:cs typeface="Tahoma"/>
              </a:rPr>
              <a:t>and</a:t>
            </a:r>
            <a:r>
              <a:rPr sz="1000" spc="-3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FF0000"/>
                </a:solidFill>
                <a:latin typeface="Tahoma"/>
                <a:cs typeface="Tahoma"/>
              </a:rPr>
              <a:t>groups.</a:t>
            </a:r>
            <a:endParaRPr sz="1000">
              <a:latin typeface="Tahoma"/>
              <a:cs typeface="Tahoma"/>
            </a:endParaRPr>
          </a:p>
          <a:p>
            <a:pPr marL="289560" marR="5080">
              <a:lnSpc>
                <a:spcPts val="1200"/>
              </a:lnSpc>
              <a:spcBef>
                <a:spcPts val="40"/>
              </a:spcBef>
            </a:pPr>
            <a:r>
              <a:rPr sz="1000" dirty="0">
                <a:solidFill>
                  <a:srgbClr val="191933"/>
                </a:solidFill>
                <a:latin typeface="Tahoma"/>
                <a:cs typeface="Tahoma"/>
              </a:rPr>
              <a:t>Each</a:t>
            </a:r>
            <a:r>
              <a:rPr sz="10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55" dirty="0">
                <a:solidFill>
                  <a:srgbClr val="191933"/>
                </a:solidFill>
                <a:latin typeface="Tahoma"/>
                <a:cs typeface="Tahoma"/>
              </a:rPr>
              <a:t>resource</a:t>
            </a:r>
            <a:r>
              <a:rPr sz="1000" spc="-1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45" dirty="0">
                <a:solidFill>
                  <a:srgbClr val="191933"/>
                </a:solidFill>
                <a:latin typeface="Tahoma"/>
                <a:cs typeface="Tahoma"/>
              </a:rPr>
              <a:t>has</a:t>
            </a:r>
            <a:r>
              <a:rPr sz="10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191933"/>
                </a:solidFill>
                <a:latin typeface="Tahoma"/>
                <a:cs typeface="Tahoma"/>
              </a:rPr>
              <a:t>an</a:t>
            </a:r>
            <a:r>
              <a:rPr sz="10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Access</a:t>
            </a:r>
            <a:r>
              <a:rPr sz="1000" spc="-1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191933"/>
                </a:solidFill>
                <a:latin typeface="Tahoma"/>
                <a:cs typeface="Tahoma"/>
              </a:rPr>
              <a:t>Control</a:t>
            </a:r>
            <a:r>
              <a:rPr sz="1000" spc="-1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191933"/>
                </a:solidFill>
                <a:latin typeface="Tahoma"/>
                <a:cs typeface="Tahoma"/>
              </a:rPr>
              <a:t>List</a:t>
            </a:r>
            <a:r>
              <a:rPr sz="10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191933"/>
                </a:solidFill>
                <a:latin typeface="Tahoma"/>
                <a:cs typeface="Tahoma"/>
              </a:rPr>
              <a:t>(ACL)</a:t>
            </a:r>
            <a:r>
              <a:rPr sz="1000" spc="-1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30" dirty="0">
                <a:solidFill>
                  <a:srgbClr val="191933"/>
                </a:solidFill>
                <a:latin typeface="Tahoma"/>
                <a:cs typeface="Tahoma"/>
              </a:rPr>
              <a:t>specifying</a:t>
            </a:r>
            <a:r>
              <a:rPr sz="10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which</a:t>
            </a:r>
            <a:r>
              <a:rPr sz="1000" spc="-1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45" dirty="0">
                <a:solidFill>
                  <a:srgbClr val="191933"/>
                </a:solidFill>
                <a:latin typeface="Tahoma"/>
                <a:cs typeface="Tahoma"/>
              </a:rPr>
              <a:t>users </a:t>
            </a:r>
            <a:r>
              <a:rPr sz="1000" spc="-20" dirty="0">
                <a:solidFill>
                  <a:srgbClr val="191933"/>
                </a:solidFill>
                <a:latin typeface="Tahoma"/>
                <a:cs typeface="Tahoma"/>
              </a:rPr>
              <a:t>can</a:t>
            </a:r>
            <a:r>
              <a:rPr sz="1000" spc="-4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45" dirty="0">
                <a:solidFill>
                  <a:srgbClr val="191933"/>
                </a:solidFill>
                <a:latin typeface="Tahoma"/>
                <a:cs typeface="Tahoma"/>
              </a:rPr>
              <a:t>access</a:t>
            </a:r>
            <a:r>
              <a:rPr sz="10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it.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100" b="1" spc="-10" dirty="0">
                <a:solidFill>
                  <a:srgbClr val="191933"/>
                </a:solidFill>
                <a:latin typeface="Arial"/>
                <a:cs typeface="Arial"/>
              </a:rPr>
              <a:t>Mandatory</a:t>
            </a:r>
            <a:r>
              <a:rPr sz="1100" b="1" spc="-2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-75" dirty="0">
                <a:solidFill>
                  <a:srgbClr val="191933"/>
                </a:solidFill>
                <a:latin typeface="Arial"/>
                <a:cs typeface="Arial"/>
              </a:rPr>
              <a:t>Access</a:t>
            </a:r>
            <a:r>
              <a:rPr sz="1100" b="1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-20" dirty="0">
                <a:solidFill>
                  <a:srgbClr val="191933"/>
                </a:solidFill>
                <a:latin typeface="Arial"/>
                <a:cs typeface="Arial"/>
              </a:rPr>
              <a:t>Control</a:t>
            </a:r>
            <a:r>
              <a:rPr sz="1100" b="1" spc="-1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191933"/>
                </a:solidFill>
                <a:latin typeface="Arial"/>
                <a:cs typeface="Arial"/>
              </a:rPr>
              <a:t>(MAC):</a:t>
            </a:r>
            <a:endParaRPr sz="1100">
              <a:latin typeface="Arial"/>
              <a:cs typeface="Arial"/>
            </a:endParaRPr>
          </a:p>
          <a:p>
            <a:pPr marL="289560" marR="144145">
              <a:lnSpc>
                <a:spcPct val="100000"/>
              </a:lnSpc>
              <a:spcBef>
                <a:spcPts val="175"/>
              </a:spcBef>
            </a:pP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Access</a:t>
            </a:r>
            <a:r>
              <a:rPr sz="10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40" dirty="0">
                <a:solidFill>
                  <a:srgbClr val="191933"/>
                </a:solidFill>
                <a:latin typeface="Tahoma"/>
                <a:cs typeface="Tahoma"/>
              </a:rPr>
              <a:t>decisions</a:t>
            </a: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50" dirty="0">
                <a:solidFill>
                  <a:srgbClr val="191933"/>
                </a:solidFill>
                <a:latin typeface="Tahoma"/>
                <a:cs typeface="Tahoma"/>
              </a:rPr>
              <a:t>are</a:t>
            </a: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55" dirty="0">
                <a:solidFill>
                  <a:srgbClr val="191933"/>
                </a:solidFill>
                <a:latin typeface="Tahoma"/>
                <a:cs typeface="Tahoma"/>
              </a:rPr>
              <a:t>based</a:t>
            </a: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191933"/>
                </a:solidFill>
                <a:latin typeface="Tahoma"/>
                <a:cs typeface="Tahoma"/>
              </a:rPr>
              <a:t>on</a:t>
            </a:r>
            <a:r>
              <a:rPr sz="10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45" dirty="0">
                <a:solidFill>
                  <a:srgbClr val="FF0000"/>
                </a:solidFill>
                <a:latin typeface="Tahoma"/>
                <a:cs typeface="Tahoma"/>
              </a:rPr>
              <a:t>predefined</a:t>
            </a:r>
            <a:r>
              <a:rPr sz="1000" spc="-2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000" spc="-20" dirty="0">
                <a:solidFill>
                  <a:srgbClr val="FF0000"/>
                </a:solidFill>
                <a:latin typeface="Tahoma"/>
                <a:cs typeface="Tahoma"/>
              </a:rPr>
              <a:t>policies </a:t>
            </a:r>
            <a:r>
              <a:rPr sz="1000" spc="-25" dirty="0">
                <a:solidFill>
                  <a:srgbClr val="FF0000"/>
                </a:solidFill>
                <a:latin typeface="Tahoma"/>
                <a:cs typeface="Tahoma"/>
              </a:rPr>
              <a:t>and</a:t>
            </a:r>
            <a:r>
              <a:rPr sz="1000" spc="-2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000" spc="-35" dirty="0">
                <a:solidFill>
                  <a:srgbClr val="FF0000"/>
                </a:solidFill>
                <a:latin typeface="Tahoma"/>
                <a:cs typeface="Tahoma"/>
              </a:rPr>
              <a:t>security</a:t>
            </a:r>
            <a:r>
              <a:rPr sz="1000" spc="-2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FF0000"/>
                </a:solidFill>
                <a:latin typeface="Tahoma"/>
                <a:cs typeface="Tahoma"/>
              </a:rPr>
              <a:t>labels. </a:t>
            </a:r>
            <a:r>
              <a:rPr sz="1000" spc="-10" dirty="0">
                <a:solidFill>
                  <a:srgbClr val="191933"/>
                </a:solidFill>
                <a:latin typeface="Tahoma"/>
                <a:cs typeface="Tahoma"/>
              </a:rPr>
              <a:t>Typically</a:t>
            </a:r>
            <a:r>
              <a:rPr sz="1000" spc="-4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55" dirty="0">
                <a:solidFill>
                  <a:srgbClr val="191933"/>
                </a:solidFill>
                <a:latin typeface="Tahoma"/>
                <a:cs typeface="Tahoma"/>
              </a:rPr>
              <a:t>used</a:t>
            </a: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191933"/>
                </a:solidFill>
                <a:latin typeface="Tahoma"/>
                <a:cs typeface="Tahoma"/>
              </a:rPr>
              <a:t>in</a:t>
            </a:r>
            <a:r>
              <a:rPr sz="10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45" dirty="0">
                <a:solidFill>
                  <a:srgbClr val="191933"/>
                </a:solidFill>
                <a:latin typeface="Tahoma"/>
                <a:cs typeface="Tahoma"/>
              </a:rPr>
              <a:t>government</a:t>
            </a:r>
            <a:r>
              <a:rPr sz="10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and</a:t>
            </a:r>
            <a:r>
              <a:rPr sz="10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191933"/>
                </a:solidFill>
                <a:latin typeface="Tahoma"/>
                <a:cs typeface="Tahoma"/>
              </a:rPr>
              <a:t>military</a:t>
            </a:r>
            <a:r>
              <a:rPr sz="10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191933"/>
                </a:solidFill>
                <a:latin typeface="Tahoma"/>
                <a:cs typeface="Tahoma"/>
              </a:rPr>
              <a:t>applications.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1100" b="1" spc="-50" dirty="0">
                <a:solidFill>
                  <a:srgbClr val="191933"/>
                </a:solidFill>
                <a:latin typeface="Arial"/>
                <a:cs typeface="Arial"/>
              </a:rPr>
              <a:t>Role-</a:t>
            </a:r>
            <a:r>
              <a:rPr sz="1100" b="1" spc="-35" dirty="0">
                <a:solidFill>
                  <a:srgbClr val="191933"/>
                </a:solidFill>
                <a:latin typeface="Arial"/>
                <a:cs typeface="Arial"/>
              </a:rPr>
              <a:t>Based</a:t>
            </a:r>
            <a:r>
              <a:rPr sz="1100" b="1" spc="2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-85" dirty="0">
                <a:solidFill>
                  <a:srgbClr val="191933"/>
                </a:solidFill>
                <a:latin typeface="Arial"/>
                <a:cs typeface="Arial"/>
              </a:rPr>
              <a:t>Access</a:t>
            </a:r>
            <a:r>
              <a:rPr sz="1100" b="1" spc="3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-20" dirty="0">
                <a:solidFill>
                  <a:srgbClr val="191933"/>
                </a:solidFill>
                <a:latin typeface="Arial"/>
                <a:cs typeface="Arial"/>
              </a:rPr>
              <a:t>Control</a:t>
            </a:r>
            <a:r>
              <a:rPr sz="1100" b="1" spc="3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191933"/>
                </a:solidFill>
                <a:latin typeface="Arial"/>
                <a:cs typeface="Arial"/>
              </a:rPr>
              <a:t>(RBAC):</a:t>
            </a:r>
            <a:endParaRPr sz="1100">
              <a:latin typeface="Arial"/>
              <a:cs typeface="Arial"/>
            </a:endParaRPr>
          </a:p>
          <a:p>
            <a:pPr marL="289560" marR="150495">
              <a:lnSpc>
                <a:spcPct val="100000"/>
              </a:lnSpc>
              <a:spcBef>
                <a:spcPts val="175"/>
              </a:spcBef>
            </a:pP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Access</a:t>
            </a:r>
            <a:r>
              <a:rPr sz="1000" spc="-5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191933"/>
                </a:solidFill>
                <a:latin typeface="Tahoma"/>
                <a:cs typeface="Tahoma"/>
              </a:rPr>
              <a:t>is</a:t>
            </a:r>
            <a:r>
              <a:rPr sz="1000" spc="-4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35" dirty="0">
                <a:solidFill>
                  <a:srgbClr val="191933"/>
                </a:solidFill>
                <a:latin typeface="Tahoma"/>
                <a:cs typeface="Tahoma"/>
              </a:rPr>
              <a:t>granted </a:t>
            </a:r>
            <a:r>
              <a:rPr sz="1000" spc="-55" dirty="0">
                <a:solidFill>
                  <a:srgbClr val="191933"/>
                </a:solidFill>
                <a:latin typeface="Tahoma"/>
                <a:cs typeface="Tahoma"/>
              </a:rPr>
              <a:t>based</a:t>
            </a: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191933"/>
                </a:solidFill>
                <a:latin typeface="Tahoma"/>
                <a:cs typeface="Tahoma"/>
              </a:rPr>
              <a:t>on</a:t>
            </a:r>
            <a:r>
              <a:rPr sz="10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50" dirty="0">
                <a:solidFill>
                  <a:srgbClr val="191933"/>
                </a:solidFill>
                <a:latin typeface="Tahoma"/>
                <a:cs typeface="Tahoma"/>
              </a:rPr>
              <a:t>user</a:t>
            </a:r>
            <a:r>
              <a:rPr sz="10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30" dirty="0">
                <a:solidFill>
                  <a:srgbClr val="FF0000"/>
                </a:solidFill>
                <a:latin typeface="Tahoma"/>
                <a:cs typeface="Tahoma"/>
              </a:rPr>
              <a:t>roles</a:t>
            </a:r>
            <a:r>
              <a:rPr sz="1000" spc="-4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FF0000"/>
                </a:solidFill>
                <a:latin typeface="Tahoma"/>
                <a:cs typeface="Tahoma"/>
              </a:rPr>
              <a:t>within</a:t>
            </a:r>
            <a:r>
              <a:rPr sz="1000" spc="-3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FF0000"/>
                </a:solidFill>
                <a:latin typeface="Tahoma"/>
                <a:cs typeface="Tahoma"/>
              </a:rPr>
              <a:t>an</a:t>
            </a:r>
            <a:r>
              <a:rPr sz="1000" spc="-3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FF0000"/>
                </a:solidFill>
                <a:latin typeface="Tahoma"/>
                <a:cs typeface="Tahoma"/>
              </a:rPr>
              <a:t>organization. </a:t>
            </a: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Simplifies</a:t>
            </a:r>
            <a:r>
              <a:rPr sz="10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50" dirty="0">
                <a:solidFill>
                  <a:srgbClr val="191933"/>
                </a:solidFill>
                <a:latin typeface="Tahoma"/>
                <a:cs typeface="Tahoma"/>
              </a:rPr>
              <a:t>management</a:t>
            </a:r>
            <a:r>
              <a:rPr sz="1000" spc="-1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30" dirty="0">
                <a:solidFill>
                  <a:srgbClr val="191933"/>
                </a:solidFill>
                <a:latin typeface="Tahoma"/>
                <a:cs typeface="Tahoma"/>
              </a:rPr>
              <a:t>by</a:t>
            </a:r>
            <a:r>
              <a:rPr sz="10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40" dirty="0">
                <a:solidFill>
                  <a:srgbClr val="191933"/>
                </a:solidFill>
                <a:latin typeface="Tahoma"/>
                <a:cs typeface="Tahoma"/>
              </a:rPr>
              <a:t>assigning</a:t>
            </a:r>
            <a:r>
              <a:rPr sz="1000" spc="-1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40" dirty="0">
                <a:solidFill>
                  <a:srgbClr val="191933"/>
                </a:solidFill>
                <a:latin typeface="Tahoma"/>
                <a:cs typeface="Tahoma"/>
              </a:rPr>
              <a:t>permissions</a:t>
            </a:r>
            <a:r>
              <a:rPr sz="10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191933"/>
                </a:solidFill>
                <a:latin typeface="Tahoma"/>
                <a:cs typeface="Tahoma"/>
              </a:rPr>
              <a:t>to</a:t>
            </a:r>
            <a:r>
              <a:rPr sz="10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30" dirty="0">
                <a:solidFill>
                  <a:srgbClr val="191933"/>
                </a:solidFill>
                <a:latin typeface="Tahoma"/>
                <a:cs typeface="Tahoma"/>
              </a:rPr>
              <a:t>roles</a:t>
            </a:r>
            <a:r>
              <a:rPr sz="10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rather</a:t>
            </a:r>
            <a:r>
              <a:rPr sz="1000" spc="-1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20" dirty="0">
                <a:solidFill>
                  <a:srgbClr val="191933"/>
                </a:solidFill>
                <a:latin typeface="Tahoma"/>
                <a:cs typeface="Tahoma"/>
              </a:rPr>
              <a:t>than </a:t>
            </a:r>
            <a:r>
              <a:rPr sz="1000" spc="-10" dirty="0">
                <a:solidFill>
                  <a:srgbClr val="191933"/>
                </a:solidFill>
                <a:latin typeface="Tahoma"/>
                <a:cs typeface="Tahoma"/>
              </a:rPr>
              <a:t>individuals.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1100" b="1" spc="-25" dirty="0">
                <a:solidFill>
                  <a:srgbClr val="191933"/>
                </a:solidFill>
                <a:latin typeface="Arial"/>
                <a:cs typeface="Arial"/>
              </a:rPr>
              <a:t>Attribute-</a:t>
            </a:r>
            <a:r>
              <a:rPr sz="1100" b="1" spc="-10" dirty="0">
                <a:solidFill>
                  <a:srgbClr val="191933"/>
                </a:solidFill>
                <a:latin typeface="Arial"/>
                <a:cs typeface="Arial"/>
              </a:rPr>
              <a:t>Based</a:t>
            </a:r>
            <a:r>
              <a:rPr sz="1100" b="1" spc="1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-75" dirty="0">
                <a:solidFill>
                  <a:srgbClr val="191933"/>
                </a:solidFill>
                <a:latin typeface="Arial"/>
                <a:cs typeface="Arial"/>
              </a:rPr>
              <a:t>Access</a:t>
            </a:r>
            <a:r>
              <a:rPr sz="1100" b="1" spc="2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-20" dirty="0">
                <a:solidFill>
                  <a:srgbClr val="191933"/>
                </a:solidFill>
                <a:latin typeface="Arial"/>
                <a:cs typeface="Arial"/>
              </a:rPr>
              <a:t>Control</a:t>
            </a:r>
            <a:r>
              <a:rPr sz="1100" b="1" spc="2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191933"/>
                </a:solidFill>
                <a:latin typeface="Arial"/>
                <a:cs typeface="Arial"/>
              </a:rPr>
              <a:t>(ABAC):</a:t>
            </a:r>
            <a:endParaRPr sz="1100">
              <a:latin typeface="Arial"/>
              <a:cs typeface="Arial"/>
            </a:endParaRPr>
          </a:p>
          <a:p>
            <a:pPr marL="289560" marR="219075">
              <a:lnSpc>
                <a:spcPct val="100000"/>
              </a:lnSpc>
              <a:spcBef>
                <a:spcPts val="175"/>
              </a:spcBef>
            </a:pP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Access </a:t>
            </a:r>
            <a:r>
              <a:rPr sz="1000" dirty="0">
                <a:solidFill>
                  <a:srgbClr val="191933"/>
                </a:solidFill>
                <a:latin typeface="Tahoma"/>
                <a:cs typeface="Tahoma"/>
              </a:rPr>
              <a:t>is</a:t>
            </a:r>
            <a:r>
              <a:rPr sz="10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45" dirty="0">
                <a:solidFill>
                  <a:srgbClr val="191933"/>
                </a:solidFill>
                <a:latin typeface="Tahoma"/>
                <a:cs typeface="Tahoma"/>
              </a:rPr>
              <a:t>determined</a:t>
            </a:r>
            <a:r>
              <a:rPr sz="1000" spc="-20" dirty="0">
                <a:solidFill>
                  <a:srgbClr val="191933"/>
                </a:solidFill>
                <a:latin typeface="Tahoma"/>
                <a:cs typeface="Tahoma"/>
              </a:rPr>
              <a:t> by</a:t>
            </a:r>
            <a:r>
              <a:rPr sz="10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35" dirty="0">
                <a:solidFill>
                  <a:srgbClr val="FF0000"/>
                </a:solidFill>
                <a:latin typeface="Tahoma"/>
                <a:cs typeface="Tahoma"/>
              </a:rPr>
              <a:t>evaluating</a:t>
            </a:r>
            <a:r>
              <a:rPr sz="1000" spc="-25" dirty="0">
                <a:solidFill>
                  <a:srgbClr val="FF0000"/>
                </a:solidFill>
                <a:latin typeface="Tahoma"/>
                <a:cs typeface="Tahoma"/>
              </a:rPr>
              <a:t> attributes</a:t>
            </a:r>
            <a:r>
              <a:rPr sz="1000" spc="-2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000" spc="-25" dirty="0">
                <a:solidFill>
                  <a:srgbClr val="FF0000"/>
                </a:solidFill>
                <a:latin typeface="Tahoma"/>
                <a:cs typeface="Tahoma"/>
              </a:rPr>
              <a:t>(e.g.,</a:t>
            </a:r>
            <a:r>
              <a:rPr sz="1000" spc="-1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000" spc="-50" dirty="0">
                <a:solidFill>
                  <a:srgbClr val="FF0000"/>
                </a:solidFill>
                <a:latin typeface="Tahoma"/>
                <a:cs typeface="Tahoma"/>
              </a:rPr>
              <a:t>user</a:t>
            </a:r>
            <a:r>
              <a:rPr sz="1000" spc="-2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FF0000"/>
                </a:solidFill>
                <a:latin typeface="Tahoma"/>
                <a:cs typeface="Tahoma"/>
              </a:rPr>
              <a:t>attributes, </a:t>
            </a:r>
            <a:r>
              <a:rPr sz="1000" spc="-50" dirty="0">
                <a:solidFill>
                  <a:srgbClr val="FF0000"/>
                </a:solidFill>
                <a:latin typeface="Tahoma"/>
                <a:cs typeface="Tahoma"/>
              </a:rPr>
              <a:t>resource</a:t>
            </a:r>
            <a:r>
              <a:rPr sz="1000" spc="-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FF0000"/>
                </a:solidFill>
                <a:latin typeface="Tahoma"/>
                <a:cs typeface="Tahoma"/>
              </a:rPr>
              <a:t>attributes).</a:t>
            </a:r>
            <a:endParaRPr sz="1000">
              <a:latin typeface="Tahoma"/>
              <a:cs typeface="Tahoma"/>
            </a:endParaRPr>
          </a:p>
          <a:p>
            <a:pPr marL="289560">
              <a:lnSpc>
                <a:spcPts val="1190"/>
              </a:lnSpc>
            </a:pPr>
            <a:r>
              <a:rPr sz="1000" spc="-30" dirty="0">
                <a:solidFill>
                  <a:srgbClr val="191933"/>
                </a:solidFill>
                <a:latin typeface="Tahoma"/>
                <a:cs typeface="Tahoma"/>
              </a:rPr>
              <a:t>Offers</a:t>
            </a:r>
            <a:r>
              <a:rPr sz="10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191933"/>
                </a:solidFill>
                <a:latin typeface="Tahoma"/>
                <a:cs typeface="Tahoma"/>
              </a:rPr>
              <a:t>flexibility</a:t>
            </a:r>
            <a:r>
              <a:rPr sz="10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and</a:t>
            </a:r>
            <a:r>
              <a:rPr sz="10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45" dirty="0">
                <a:solidFill>
                  <a:srgbClr val="191933"/>
                </a:solidFill>
                <a:latin typeface="Tahoma"/>
                <a:cs typeface="Tahoma"/>
              </a:rPr>
              <a:t>fine-</a:t>
            </a:r>
            <a:r>
              <a:rPr sz="1000" spc="-35" dirty="0">
                <a:solidFill>
                  <a:srgbClr val="191933"/>
                </a:solidFill>
                <a:latin typeface="Tahoma"/>
                <a:cs typeface="Tahoma"/>
              </a:rPr>
              <a:t>grained</a:t>
            </a:r>
            <a:r>
              <a:rPr sz="1000" spc="-1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55" dirty="0">
                <a:solidFill>
                  <a:srgbClr val="191933"/>
                </a:solidFill>
                <a:latin typeface="Tahoma"/>
                <a:cs typeface="Tahoma"/>
              </a:rPr>
              <a:t>access</a:t>
            </a:r>
            <a:r>
              <a:rPr sz="10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191933"/>
                </a:solidFill>
                <a:latin typeface="Tahoma"/>
                <a:cs typeface="Tahoma"/>
              </a:rPr>
              <a:t>control.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7" name="object 17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4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62</a:t>
            </a:r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93</a:t>
            </a:r>
          </a:p>
        </p:txBody>
      </p:sp>
    </p:spTree>
  </p:cSld>
  <p:clrMapOvr>
    <a:masterClrMapping/>
  </p:clrMapOvr>
  <p:transition>
    <p:cut/>
  </p:transition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80" dirty="0"/>
              <a:t>Access</a:t>
            </a:r>
            <a:r>
              <a:rPr dirty="0"/>
              <a:t> </a:t>
            </a:r>
            <a:r>
              <a:rPr spc="-20" dirty="0"/>
              <a:t>Control</a:t>
            </a:r>
            <a:r>
              <a:rPr dirty="0"/>
              <a:t> </a:t>
            </a:r>
            <a:r>
              <a:rPr spc="-25" dirty="0"/>
              <a:t>Algorithm</a:t>
            </a:r>
            <a:r>
              <a:rPr dirty="0"/>
              <a:t> for Worm</a:t>
            </a:r>
            <a:r>
              <a:rPr spc="5" dirty="0"/>
              <a:t> </a:t>
            </a:r>
            <a:r>
              <a:rPr spc="-20" dirty="0"/>
              <a:t>Prevention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572769"/>
            <a:ext cx="4432935" cy="198755"/>
          </a:xfrm>
          <a:custGeom>
            <a:avLst/>
            <a:gdLst/>
            <a:ahLst/>
            <a:cxnLst/>
            <a:rect l="l" t="t" r="r" b="b"/>
            <a:pathLst>
              <a:path w="4432935" h="198754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4432566" y="198367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2672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8544" y="601217"/>
            <a:ext cx="99631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35" dirty="0">
                <a:solidFill>
                  <a:srgbClr val="FFFFFF"/>
                </a:solidFill>
                <a:latin typeface="Tahoma"/>
                <a:cs typeface="Tahoma"/>
              </a:rPr>
              <a:t>Algorithm</a:t>
            </a:r>
            <a:r>
              <a:rPr sz="120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60" dirty="0">
                <a:solidFill>
                  <a:srgbClr val="FFFFFF"/>
                </a:solidFill>
                <a:latin typeface="Tahoma"/>
                <a:cs typeface="Tahoma"/>
              </a:rPr>
              <a:t>Steps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02932" y="773035"/>
            <a:ext cx="3964304" cy="5740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99"/>
              </a:lnSpc>
              <a:spcBef>
                <a:spcPts val="55"/>
              </a:spcBef>
            </a:pPr>
            <a:r>
              <a:rPr sz="1100" b="1" dirty="0">
                <a:solidFill>
                  <a:srgbClr val="191933"/>
                </a:solidFill>
                <a:latin typeface="Arial"/>
                <a:cs typeface="Arial"/>
              </a:rPr>
              <a:t>Input:</a:t>
            </a:r>
            <a:r>
              <a:rPr sz="1100" b="1" spc="7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User 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request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i="1" spc="95" dirty="0">
                <a:solidFill>
                  <a:srgbClr val="191933"/>
                </a:solidFill>
                <a:latin typeface="Calibri"/>
                <a:cs typeface="Calibri"/>
              </a:rPr>
              <a:t>R</a:t>
            </a:r>
            <a:r>
              <a:rPr sz="1100" spc="95" dirty="0">
                <a:solidFill>
                  <a:srgbClr val="191933"/>
                </a:solidFill>
                <a:latin typeface="Tahoma"/>
                <a:cs typeface="Tahoma"/>
              </a:rPr>
              <a:t>,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Access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Control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Policy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i="1" spc="135" dirty="0">
                <a:solidFill>
                  <a:srgbClr val="191933"/>
                </a:solidFill>
                <a:latin typeface="Calibri"/>
                <a:cs typeface="Calibri"/>
              </a:rPr>
              <a:t>P</a:t>
            </a:r>
            <a:r>
              <a:rPr sz="1100" i="1" spc="-10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,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User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attributes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i="1" dirty="0">
                <a:solidFill>
                  <a:srgbClr val="191933"/>
                </a:solidFill>
                <a:latin typeface="Calibri"/>
                <a:cs typeface="Calibri"/>
              </a:rPr>
              <a:t>U</a:t>
            </a:r>
            <a:r>
              <a:rPr sz="1100" i="1" spc="-13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, 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Resource</a:t>
            </a:r>
            <a:r>
              <a:rPr sz="1100" spc="-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attributes</a:t>
            </a:r>
            <a:r>
              <a:rPr sz="1100" spc="-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i="1" spc="45" dirty="0">
                <a:solidFill>
                  <a:srgbClr val="191933"/>
                </a:solidFill>
                <a:latin typeface="Calibri"/>
                <a:cs typeface="Calibri"/>
              </a:rPr>
              <a:t>Res</a:t>
            </a:r>
            <a:r>
              <a:rPr sz="1100" spc="45" dirty="0">
                <a:solidFill>
                  <a:srgbClr val="191933"/>
                </a:solidFill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sz="1100" b="1" dirty="0">
                <a:solidFill>
                  <a:srgbClr val="191933"/>
                </a:solidFill>
                <a:latin typeface="Arial"/>
                <a:cs typeface="Arial"/>
              </a:rPr>
              <a:t>Output:</a:t>
            </a:r>
            <a:r>
              <a:rPr sz="1100" b="1" spc="9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Access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granted 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or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denied.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672" y="1457258"/>
            <a:ext cx="114214" cy="114214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251917" y="1444325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Arial MT"/>
                <a:cs typeface="Arial MT"/>
              </a:rPr>
              <a:t>1</a:t>
            </a:r>
            <a:endParaRPr sz="600">
              <a:latin typeface="Arial MT"/>
              <a:cs typeface="Arial MT"/>
            </a:endParaRPr>
          </a:p>
        </p:txBody>
      </p: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672" y="1667291"/>
            <a:ext cx="114214" cy="114214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251917" y="1654357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Arial MT"/>
                <a:cs typeface="Arial MT"/>
              </a:rPr>
              <a:t>2</a:t>
            </a:r>
            <a:endParaRPr sz="600">
              <a:latin typeface="Arial MT"/>
              <a:cs typeface="Arial MT"/>
            </a:endParaRPr>
          </a:p>
        </p:txBody>
      </p:sp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7672" y="2049395"/>
            <a:ext cx="114214" cy="114214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251917" y="2036462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Arial MT"/>
                <a:cs typeface="Arial MT"/>
              </a:rPr>
              <a:t>3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02932" y="1359355"/>
            <a:ext cx="3780790" cy="82804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b="1" dirty="0">
                <a:solidFill>
                  <a:srgbClr val="191933"/>
                </a:solidFill>
                <a:latin typeface="Arial"/>
                <a:cs typeface="Arial"/>
              </a:rPr>
              <a:t>Step</a:t>
            </a:r>
            <a:r>
              <a:rPr sz="1100" b="1" spc="5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191933"/>
                </a:solidFill>
                <a:latin typeface="Arial"/>
                <a:cs typeface="Arial"/>
              </a:rPr>
              <a:t>1:</a:t>
            </a:r>
            <a:r>
              <a:rPr sz="1100" b="1" spc="12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Validate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the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55" dirty="0">
                <a:solidFill>
                  <a:srgbClr val="191933"/>
                </a:solidFill>
                <a:latin typeface="Tahoma"/>
                <a:cs typeface="Tahoma"/>
              </a:rPr>
              <a:t>user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identity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i="1" dirty="0">
                <a:solidFill>
                  <a:srgbClr val="191933"/>
                </a:solidFill>
                <a:latin typeface="Calibri"/>
                <a:cs typeface="Calibri"/>
              </a:rPr>
              <a:t>U</a:t>
            </a:r>
            <a:r>
              <a:rPr sz="1100" i="1" spc="18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and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191933"/>
                </a:solidFill>
                <a:latin typeface="Tahoma"/>
                <a:cs typeface="Tahoma"/>
              </a:rPr>
              <a:t>resource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i="1" spc="45" dirty="0">
                <a:solidFill>
                  <a:srgbClr val="191933"/>
                </a:solidFill>
                <a:latin typeface="Calibri"/>
                <a:cs typeface="Calibri"/>
              </a:rPr>
              <a:t>Res</a:t>
            </a:r>
            <a:r>
              <a:rPr sz="1100" spc="45" dirty="0">
                <a:solidFill>
                  <a:srgbClr val="191933"/>
                </a:solidFill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  <a:p>
            <a:pPr marL="12700" marR="123189">
              <a:lnSpc>
                <a:spcPct val="102600"/>
              </a:lnSpc>
              <a:spcBef>
                <a:spcPts val="300"/>
              </a:spcBef>
            </a:pPr>
            <a:r>
              <a:rPr sz="1100" b="1" dirty="0">
                <a:solidFill>
                  <a:srgbClr val="191933"/>
                </a:solidFill>
                <a:latin typeface="Arial"/>
                <a:cs typeface="Arial"/>
              </a:rPr>
              <a:t>Step</a:t>
            </a:r>
            <a:r>
              <a:rPr sz="1100" b="1" spc="3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191933"/>
                </a:solidFill>
                <a:latin typeface="Arial"/>
                <a:cs typeface="Arial"/>
              </a:rPr>
              <a:t>2:</a:t>
            </a:r>
            <a:r>
              <a:rPr sz="1100" b="1" spc="10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Check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the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access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control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policy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i="1" spc="135" dirty="0">
                <a:solidFill>
                  <a:srgbClr val="191933"/>
                </a:solidFill>
                <a:latin typeface="Calibri"/>
                <a:cs typeface="Calibri"/>
              </a:rPr>
              <a:t>P</a:t>
            </a:r>
            <a:r>
              <a:rPr sz="1100" i="1" spc="19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for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user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role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i="1" spc="225" dirty="0">
                <a:solidFill>
                  <a:srgbClr val="191933"/>
                </a:solidFill>
                <a:latin typeface="Calibri"/>
                <a:cs typeface="Calibri"/>
              </a:rPr>
              <a:t>R</a:t>
            </a:r>
            <a:r>
              <a:rPr sz="1100" i="1" spc="7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and 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corresponding</a:t>
            </a:r>
            <a:r>
              <a:rPr sz="1100" spc="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permissions.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1100" b="1" dirty="0">
                <a:solidFill>
                  <a:srgbClr val="191933"/>
                </a:solidFill>
                <a:latin typeface="Arial"/>
                <a:cs typeface="Arial"/>
              </a:rPr>
              <a:t>Step</a:t>
            </a:r>
            <a:r>
              <a:rPr sz="1100" b="1" spc="6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191933"/>
                </a:solidFill>
                <a:latin typeface="Arial"/>
                <a:cs typeface="Arial"/>
              </a:rPr>
              <a:t>3:</a:t>
            </a:r>
            <a:r>
              <a:rPr sz="1100" b="1" spc="14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Evaluate</a:t>
            </a:r>
            <a:r>
              <a:rPr sz="1100" spc="-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conditions</a:t>
            </a:r>
            <a:r>
              <a:rPr sz="1100" spc="-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191933"/>
                </a:solidFill>
                <a:latin typeface="Tahoma"/>
                <a:cs typeface="Tahoma"/>
              </a:rPr>
              <a:t>based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on</a:t>
            </a:r>
            <a:r>
              <a:rPr sz="1100" spc="-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attributes</a:t>
            </a:r>
            <a:r>
              <a:rPr sz="1100" spc="-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(ABAC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model):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101289" y="2455240"/>
            <a:ext cx="41910" cy="0"/>
          </a:xfrm>
          <a:custGeom>
            <a:avLst/>
            <a:gdLst/>
            <a:ahLst/>
            <a:cxnLst/>
            <a:rect l="l" t="t" r="r" b="b"/>
            <a:pathLst>
              <a:path w="41910">
                <a:moveTo>
                  <a:pt x="0" y="0"/>
                </a:moveTo>
                <a:lnTo>
                  <a:pt x="41567" y="0"/>
                </a:lnTo>
              </a:path>
            </a:pathLst>
          </a:custGeom>
          <a:ln w="5054">
            <a:solidFill>
              <a:srgbClr val="1919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55688" y="2306534"/>
            <a:ext cx="3973829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If</a:t>
            </a:r>
            <a:r>
              <a:rPr sz="1100" spc="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Calibri"/>
                <a:cs typeface="Calibri"/>
              </a:rPr>
              <a:t>(</a:t>
            </a:r>
            <a:r>
              <a:rPr sz="1100" i="1" dirty="0">
                <a:solidFill>
                  <a:srgbClr val="191933"/>
                </a:solidFill>
                <a:latin typeface="Calibri"/>
                <a:cs typeface="Calibri"/>
              </a:rPr>
              <a:t>U.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role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295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1100" spc="6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191933"/>
                </a:solidFill>
                <a:latin typeface="Calibri"/>
                <a:cs typeface="Calibri"/>
              </a:rPr>
              <a:t>P.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role</a:t>
            </a:r>
            <a:r>
              <a:rPr sz="1100" dirty="0">
                <a:solidFill>
                  <a:srgbClr val="191933"/>
                </a:solidFill>
                <a:latin typeface="Calibri"/>
                <a:cs typeface="Calibri"/>
              </a:rPr>
              <a:t>) </a:t>
            </a:r>
            <a:r>
              <a:rPr sz="1100" spc="-155" dirty="0">
                <a:solidFill>
                  <a:srgbClr val="191933"/>
                </a:solidFill>
                <a:latin typeface="Lucida Sans Unicode"/>
                <a:cs typeface="Lucida Sans Unicode"/>
              </a:rPr>
              <a:t>∧</a:t>
            </a:r>
            <a:r>
              <a:rPr sz="1100" spc="-100" dirty="0">
                <a:solidFill>
                  <a:srgbClr val="191933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191933"/>
                </a:solidFill>
                <a:latin typeface="Calibri"/>
                <a:cs typeface="Calibri"/>
              </a:rPr>
              <a:t>(</a:t>
            </a:r>
            <a:r>
              <a:rPr sz="1100" i="1" dirty="0">
                <a:solidFill>
                  <a:srgbClr val="191933"/>
                </a:solidFill>
                <a:latin typeface="Calibri"/>
                <a:cs typeface="Calibri"/>
              </a:rPr>
              <a:t>Res.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type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295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1100" spc="6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i="1" spc="-20" dirty="0">
                <a:solidFill>
                  <a:srgbClr val="191933"/>
                </a:solidFill>
                <a:latin typeface="Calibri"/>
                <a:cs typeface="Calibri"/>
              </a:rPr>
              <a:t>P.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resource</a:t>
            </a:r>
            <a:r>
              <a:rPr sz="1100" spc="5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type</a:t>
            </a:r>
            <a:r>
              <a:rPr sz="1100" dirty="0">
                <a:solidFill>
                  <a:srgbClr val="191933"/>
                </a:solidFill>
                <a:latin typeface="Calibri"/>
                <a:cs typeface="Calibri"/>
              </a:rPr>
              <a:t>)</a:t>
            </a:r>
            <a:r>
              <a:rPr sz="1100" spc="6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91933"/>
                </a:solidFill>
                <a:latin typeface="Lucida Sans Unicode"/>
                <a:cs typeface="Lucida Sans Unicode"/>
              </a:rPr>
              <a:t>⇒</a:t>
            </a:r>
            <a:r>
              <a:rPr sz="1100" spc="-35" dirty="0">
                <a:solidFill>
                  <a:srgbClr val="191933"/>
                </a:solidFill>
                <a:latin typeface="Lucida Sans Unicode"/>
                <a:cs typeface="Lucida Sans Unicode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Grant</a:t>
            </a:r>
            <a:r>
              <a:rPr sz="1100" spc="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Access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21" name="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7672" y="2671899"/>
            <a:ext cx="114214" cy="114214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251917" y="2658966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Arial MT"/>
                <a:cs typeface="Arial MT"/>
              </a:rPr>
              <a:t>4</a:t>
            </a:r>
            <a:endParaRPr sz="600">
              <a:latin typeface="Arial MT"/>
              <a:cs typeface="Arial MT"/>
            </a:endParaRPr>
          </a:p>
        </p:txBody>
      </p:sp>
      <p:pic>
        <p:nvPicPr>
          <p:cNvPr id="23" name="object 2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27672" y="2881931"/>
            <a:ext cx="114214" cy="114214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251917" y="2868998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Arial MT"/>
                <a:cs typeface="Arial MT"/>
              </a:rPr>
              <a:t>5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02932" y="2574008"/>
            <a:ext cx="3462020" cy="44577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b="1" dirty="0">
                <a:solidFill>
                  <a:srgbClr val="191933"/>
                </a:solidFill>
                <a:latin typeface="Arial"/>
                <a:cs typeface="Arial"/>
              </a:rPr>
              <a:t>Step</a:t>
            </a:r>
            <a:r>
              <a:rPr sz="1100" b="1" spc="-1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191933"/>
                </a:solidFill>
                <a:latin typeface="Arial"/>
                <a:cs typeface="Arial"/>
              </a:rPr>
              <a:t>4:</a:t>
            </a:r>
            <a:r>
              <a:rPr sz="1100" b="1" spc="8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Log</a:t>
            </a:r>
            <a:r>
              <a:rPr sz="1100" spc="-5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the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 access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request 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and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outcome.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sz="1100" b="1" dirty="0">
                <a:solidFill>
                  <a:srgbClr val="191933"/>
                </a:solidFill>
                <a:latin typeface="Arial"/>
                <a:cs typeface="Arial"/>
              </a:rPr>
              <a:t>Step</a:t>
            </a:r>
            <a:r>
              <a:rPr sz="1100" b="1" spc="3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191933"/>
                </a:solidFill>
                <a:latin typeface="Arial"/>
                <a:cs typeface="Arial"/>
              </a:rPr>
              <a:t>5:</a:t>
            </a:r>
            <a:r>
              <a:rPr sz="1100" b="1" spc="10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191933"/>
                </a:solidFill>
                <a:latin typeface="Arial"/>
                <a:cs typeface="Arial"/>
              </a:rPr>
              <a:t>If</a:t>
            </a:r>
            <a:r>
              <a:rPr sz="1100" b="1" spc="8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spc="-55" dirty="0">
                <a:solidFill>
                  <a:srgbClr val="191933"/>
                </a:solidFill>
                <a:latin typeface="Tahoma"/>
                <a:cs typeface="Tahoma"/>
              </a:rPr>
              <a:t>access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is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denied,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alert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the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system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administrator.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27" name="object 27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4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63</a:t>
            </a:r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93</a:t>
            </a:r>
          </a:p>
        </p:txBody>
      </p:sp>
    </p:spTree>
  </p:cSld>
  <p:clrMapOvr>
    <a:masterClrMapping/>
  </p:clrMapOvr>
  <p:transition>
    <p:cut/>
  </p:transition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1013"/>
            <a:ext cx="106680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0" dirty="0"/>
              <a:t>Scenario</a:t>
            </a:r>
            <a:r>
              <a:rPr spc="5" dirty="0"/>
              <a:t> </a:t>
            </a:r>
            <a:r>
              <a:rPr spc="-25" dirty="0"/>
              <a:t>Setup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694613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884402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0865" y="1074216"/>
            <a:ext cx="52590" cy="5259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0865" y="1226045"/>
            <a:ext cx="52590" cy="5259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0865" y="1377873"/>
            <a:ext cx="52590" cy="5259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1089" y="1554988"/>
            <a:ext cx="65265" cy="6526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70865" y="1744802"/>
            <a:ext cx="52590" cy="52590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1964702" y="179739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7960" y="0"/>
                </a:lnTo>
              </a:path>
            </a:pathLst>
          </a:custGeom>
          <a:ln w="5054">
            <a:solidFill>
              <a:srgbClr val="1919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316022" y="179739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7960" y="0"/>
                </a:lnTo>
              </a:path>
            </a:pathLst>
          </a:custGeom>
          <a:ln w="5054">
            <a:solidFill>
              <a:srgbClr val="1919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70865" y="1896630"/>
            <a:ext cx="52590" cy="5259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70865" y="2048459"/>
            <a:ext cx="52590" cy="5259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81089" y="2225573"/>
            <a:ext cx="65265" cy="65265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70865" y="2415387"/>
            <a:ext cx="52590" cy="52590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70865" y="2567216"/>
            <a:ext cx="52590" cy="52590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70865" y="2719044"/>
            <a:ext cx="52590" cy="52590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570865" y="2870873"/>
            <a:ext cx="52590" cy="52590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402932" y="587626"/>
            <a:ext cx="3602354" cy="237680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sz="1100" b="1" spc="-20" dirty="0">
                <a:solidFill>
                  <a:srgbClr val="191933"/>
                </a:solidFill>
                <a:latin typeface="Arial"/>
                <a:cs typeface="Arial"/>
              </a:rPr>
              <a:t>User</a:t>
            </a:r>
            <a:r>
              <a:rPr sz="1100" b="1" spc="5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-40" dirty="0">
                <a:solidFill>
                  <a:srgbClr val="191933"/>
                </a:solidFill>
                <a:latin typeface="Arial"/>
                <a:cs typeface="Arial"/>
              </a:rPr>
              <a:t>Request</a:t>
            </a:r>
            <a:r>
              <a:rPr sz="1100" b="1" spc="5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191933"/>
                </a:solidFill>
                <a:latin typeface="Arial"/>
                <a:cs typeface="Arial"/>
              </a:rPr>
              <a:t>(R):</a:t>
            </a:r>
            <a:r>
              <a:rPr sz="1100" b="1" spc="2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Alice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attempts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to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55" dirty="0">
                <a:solidFill>
                  <a:srgbClr val="191933"/>
                </a:solidFill>
                <a:latin typeface="Tahoma"/>
                <a:cs typeface="Tahoma"/>
              </a:rPr>
              <a:t>access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a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critical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server.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1100" b="1" spc="-20" dirty="0">
                <a:solidFill>
                  <a:srgbClr val="191933"/>
                </a:solidFill>
                <a:latin typeface="Arial"/>
                <a:cs typeface="Arial"/>
              </a:rPr>
              <a:t>User</a:t>
            </a:r>
            <a:r>
              <a:rPr sz="1100" b="1" spc="-2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191933"/>
                </a:solidFill>
                <a:latin typeface="Arial"/>
                <a:cs typeface="Arial"/>
              </a:rPr>
              <a:t>Attributes</a:t>
            </a:r>
            <a:r>
              <a:rPr sz="1100" b="1" spc="-2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30" dirty="0">
                <a:solidFill>
                  <a:srgbClr val="191933"/>
                </a:solidFill>
                <a:latin typeface="Arial"/>
                <a:cs typeface="Arial"/>
              </a:rPr>
              <a:t>(U):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ts val="1200"/>
              </a:lnSpc>
              <a:spcBef>
                <a:spcPts val="175"/>
              </a:spcBef>
            </a:pP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Name:</a:t>
            </a:r>
            <a:r>
              <a:rPr sz="1000" spc="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191933"/>
                </a:solidFill>
                <a:latin typeface="Tahoma"/>
                <a:cs typeface="Tahoma"/>
              </a:rPr>
              <a:t>Alice</a:t>
            </a:r>
            <a:endParaRPr sz="1000">
              <a:latin typeface="Tahoma"/>
              <a:cs typeface="Tahoma"/>
            </a:endParaRPr>
          </a:p>
          <a:p>
            <a:pPr marL="289560" marR="1837689">
              <a:lnSpc>
                <a:spcPts val="1200"/>
              </a:lnSpc>
              <a:spcBef>
                <a:spcPts val="35"/>
              </a:spcBef>
            </a:pPr>
            <a:r>
              <a:rPr sz="1000" spc="-10" dirty="0">
                <a:solidFill>
                  <a:srgbClr val="191933"/>
                </a:solidFill>
                <a:latin typeface="Tahoma"/>
                <a:cs typeface="Tahoma"/>
              </a:rPr>
              <a:t>Role:</a:t>
            </a:r>
            <a:r>
              <a:rPr sz="100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30" dirty="0">
                <a:solidFill>
                  <a:srgbClr val="191933"/>
                </a:solidFill>
                <a:latin typeface="Tahoma"/>
                <a:cs typeface="Tahoma"/>
              </a:rPr>
              <a:t>System</a:t>
            </a:r>
            <a:r>
              <a:rPr sz="1000" spc="-5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Administrator </a:t>
            </a:r>
            <a:r>
              <a:rPr sz="1000" spc="-30" dirty="0">
                <a:solidFill>
                  <a:srgbClr val="191933"/>
                </a:solidFill>
                <a:latin typeface="Tahoma"/>
                <a:cs typeface="Tahoma"/>
              </a:rPr>
              <a:t>Department:</a:t>
            </a:r>
            <a:r>
              <a:rPr sz="1000" spc="6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IT</a:t>
            </a:r>
            <a:endParaRPr sz="1000">
              <a:latin typeface="Tahoma"/>
              <a:cs typeface="Tahoma"/>
            </a:endParaRPr>
          </a:p>
          <a:p>
            <a:pPr marL="289560" marR="1516380" indent="-277495">
              <a:lnSpc>
                <a:spcPct val="104200"/>
              </a:lnSpc>
              <a:spcBef>
                <a:spcPts val="95"/>
              </a:spcBef>
            </a:pPr>
            <a:r>
              <a:rPr sz="1100" b="1" spc="-60" dirty="0">
                <a:solidFill>
                  <a:srgbClr val="191933"/>
                </a:solidFill>
                <a:latin typeface="Arial"/>
                <a:cs typeface="Arial"/>
              </a:rPr>
              <a:t>Resource</a:t>
            </a:r>
            <a:r>
              <a:rPr sz="1100" b="1" spc="-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191933"/>
                </a:solidFill>
                <a:latin typeface="Arial"/>
                <a:cs typeface="Arial"/>
              </a:rPr>
              <a:t>Attributes</a:t>
            </a:r>
            <a:r>
              <a:rPr sz="1100" b="1" spc="-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191933"/>
                </a:solidFill>
                <a:latin typeface="Arial"/>
                <a:cs typeface="Arial"/>
              </a:rPr>
              <a:t>(Res): </a:t>
            </a:r>
            <a:r>
              <a:rPr sz="1000" spc="-40" dirty="0">
                <a:solidFill>
                  <a:srgbClr val="191933"/>
                </a:solidFill>
                <a:latin typeface="Tahoma"/>
                <a:cs typeface="Tahoma"/>
              </a:rPr>
              <a:t>Resource </a:t>
            </a: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Name:</a:t>
            </a:r>
            <a:r>
              <a:rPr sz="1000" spc="6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191933"/>
                </a:solidFill>
                <a:latin typeface="Tahoma"/>
                <a:cs typeface="Tahoma"/>
              </a:rPr>
              <a:t>critical</a:t>
            </a:r>
            <a:r>
              <a:rPr sz="1000" spc="-1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50" dirty="0">
                <a:solidFill>
                  <a:srgbClr val="191933"/>
                </a:solidFill>
                <a:latin typeface="Tahoma"/>
                <a:cs typeface="Tahoma"/>
              </a:rPr>
              <a:t>server</a:t>
            </a:r>
            <a:r>
              <a:rPr sz="1000" spc="-1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40" dirty="0">
                <a:solidFill>
                  <a:srgbClr val="191933"/>
                </a:solidFill>
                <a:latin typeface="Tahoma"/>
                <a:cs typeface="Tahoma"/>
              </a:rPr>
              <a:t>01 Resource</a:t>
            </a:r>
            <a:r>
              <a:rPr sz="10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20" dirty="0">
                <a:solidFill>
                  <a:srgbClr val="191933"/>
                </a:solidFill>
                <a:latin typeface="Tahoma"/>
                <a:cs typeface="Tahoma"/>
              </a:rPr>
              <a:t>Type:</a:t>
            </a:r>
            <a:r>
              <a:rPr sz="1000" spc="6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191933"/>
                </a:solidFill>
                <a:latin typeface="Tahoma"/>
                <a:cs typeface="Tahoma"/>
              </a:rPr>
              <a:t>Critical</a:t>
            </a: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191933"/>
                </a:solidFill>
                <a:latin typeface="Tahoma"/>
                <a:cs typeface="Tahoma"/>
              </a:rPr>
              <a:t>Server </a:t>
            </a:r>
            <a:r>
              <a:rPr sz="1000" spc="-30" dirty="0">
                <a:solidFill>
                  <a:srgbClr val="191933"/>
                </a:solidFill>
                <a:latin typeface="Tahoma"/>
                <a:cs typeface="Tahoma"/>
              </a:rPr>
              <a:t>Department:</a:t>
            </a:r>
            <a:r>
              <a:rPr sz="1000" spc="6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IT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1100" b="1" spc="-75" dirty="0">
                <a:solidFill>
                  <a:srgbClr val="191933"/>
                </a:solidFill>
                <a:latin typeface="Arial"/>
                <a:cs typeface="Arial"/>
              </a:rPr>
              <a:t>Access</a:t>
            </a:r>
            <a:r>
              <a:rPr sz="1100" b="1" spc="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-20" dirty="0">
                <a:solidFill>
                  <a:srgbClr val="191933"/>
                </a:solidFill>
                <a:latin typeface="Arial"/>
                <a:cs typeface="Arial"/>
              </a:rPr>
              <a:t>Control</a:t>
            </a:r>
            <a:r>
              <a:rPr sz="1100" b="1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-35" dirty="0">
                <a:solidFill>
                  <a:srgbClr val="191933"/>
                </a:solidFill>
                <a:latin typeface="Arial"/>
                <a:cs typeface="Arial"/>
              </a:rPr>
              <a:t>Policy</a:t>
            </a:r>
            <a:r>
              <a:rPr sz="1100" b="1" spc="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30" dirty="0">
                <a:solidFill>
                  <a:srgbClr val="191933"/>
                </a:solidFill>
                <a:latin typeface="Arial"/>
                <a:cs typeface="Arial"/>
              </a:rPr>
              <a:t>(P):</a:t>
            </a:r>
            <a:endParaRPr sz="1100">
              <a:latin typeface="Arial"/>
              <a:cs typeface="Arial"/>
            </a:endParaRPr>
          </a:p>
          <a:p>
            <a:pPr marL="289560" marR="1370330">
              <a:lnSpc>
                <a:spcPct val="100000"/>
              </a:lnSpc>
              <a:spcBef>
                <a:spcPts val="175"/>
              </a:spcBef>
            </a:pPr>
            <a:r>
              <a:rPr sz="1000" spc="-10" dirty="0">
                <a:solidFill>
                  <a:srgbClr val="191933"/>
                </a:solidFill>
                <a:latin typeface="Tahoma"/>
                <a:cs typeface="Tahoma"/>
              </a:rPr>
              <a:t>Role</a:t>
            </a:r>
            <a:r>
              <a:rPr sz="1000" spc="-4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35" dirty="0">
                <a:solidFill>
                  <a:srgbClr val="191933"/>
                </a:solidFill>
                <a:latin typeface="Tahoma"/>
                <a:cs typeface="Tahoma"/>
              </a:rPr>
              <a:t>required:</a:t>
            </a:r>
            <a:r>
              <a:rPr sz="1000" spc="5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35" dirty="0">
                <a:solidFill>
                  <a:srgbClr val="191933"/>
                </a:solidFill>
                <a:latin typeface="Tahoma"/>
                <a:cs typeface="Tahoma"/>
              </a:rPr>
              <a:t>System</a:t>
            </a:r>
            <a:r>
              <a:rPr sz="1000" spc="-4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Administrator </a:t>
            </a:r>
            <a:r>
              <a:rPr sz="1000" spc="-40" dirty="0">
                <a:solidFill>
                  <a:srgbClr val="191933"/>
                </a:solidFill>
                <a:latin typeface="Tahoma"/>
                <a:cs typeface="Tahoma"/>
              </a:rPr>
              <a:t>Resource </a:t>
            </a:r>
            <a:r>
              <a:rPr sz="1000" spc="-20" dirty="0">
                <a:solidFill>
                  <a:srgbClr val="191933"/>
                </a:solidFill>
                <a:latin typeface="Tahoma"/>
                <a:cs typeface="Tahoma"/>
              </a:rPr>
              <a:t>type:</a:t>
            </a:r>
            <a:r>
              <a:rPr sz="1000" spc="6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191933"/>
                </a:solidFill>
                <a:latin typeface="Tahoma"/>
                <a:cs typeface="Tahoma"/>
              </a:rPr>
              <a:t>Critical</a:t>
            </a:r>
            <a:r>
              <a:rPr sz="10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191933"/>
                </a:solidFill>
                <a:latin typeface="Tahoma"/>
                <a:cs typeface="Tahoma"/>
              </a:rPr>
              <a:t>Server </a:t>
            </a:r>
            <a:r>
              <a:rPr sz="1000" spc="-30" dirty="0">
                <a:solidFill>
                  <a:srgbClr val="191933"/>
                </a:solidFill>
                <a:latin typeface="Tahoma"/>
                <a:cs typeface="Tahoma"/>
              </a:rPr>
              <a:t>Department:</a:t>
            </a:r>
            <a:r>
              <a:rPr sz="1000" spc="6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IT</a:t>
            </a:r>
            <a:endParaRPr sz="1000">
              <a:latin typeface="Tahoma"/>
              <a:cs typeface="Tahoma"/>
            </a:endParaRPr>
          </a:p>
          <a:p>
            <a:pPr marL="289560">
              <a:lnSpc>
                <a:spcPts val="1185"/>
              </a:lnSpc>
            </a:pPr>
            <a:r>
              <a:rPr sz="1000" spc="-30" dirty="0">
                <a:solidFill>
                  <a:srgbClr val="191933"/>
                </a:solidFill>
                <a:latin typeface="Tahoma"/>
                <a:cs typeface="Tahoma"/>
              </a:rPr>
              <a:t>Permissions:</a:t>
            </a:r>
            <a:r>
              <a:rPr sz="1000" spc="5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Read,</a:t>
            </a:r>
            <a:r>
              <a:rPr sz="10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191933"/>
                </a:solidFill>
                <a:latin typeface="Tahoma"/>
                <a:cs typeface="Tahoma"/>
              </a:rPr>
              <a:t>Write,</a:t>
            </a:r>
            <a:r>
              <a:rPr sz="10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191933"/>
                </a:solidFill>
                <a:latin typeface="Tahoma"/>
                <a:cs typeface="Tahoma"/>
              </a:rPr>
              <a:t>Execute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21" name="object 21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4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64</a:t>
            </a:r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93</a:t>
            </a:r>
          </a:p>
        </p:txBody>
      </p:sp>
    </p:spTree>
  </p:cSld>
  <p:clrMapOvr>
    <a:masterClrMapping/>
  </p:clrMapOvr>
  <p:transition>
    <p:cut/>
  </p:transition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Algorithm</a:t>
            </a:r>
            <a:r>
              <a:rPr spc="10" dirty="0"/>
              <a:t> </a:t>
            </a:r>
            <a:r>
              <a:rPr spc="-40" dirty="0"/>
              <a:t>Execution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844714"/>
            <a:ext cx="4432935" cy="198755"/>
          </a:xfrm>
          <a:custGeom>
            <a:avLst/>
            <a:gdLst/>
            <a:ahLst/>
            <a:cxnLst/>
            <a:rect l="l" t="t" r="r" b="b"/>
            <a:pathLst>
              <a:path w="4432935" h="198755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4432566" y="198367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2672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8544" y="873162"/>
            <a:ext cx="1450340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60" dirty="0">
                <a:solidFill>
                  <a:srgbClr val="FFFFFF"/>
                </a:solidFill>
                <a:latin typeface="Tahoma"/>
                <a:cs typeface="Tahoma"/>
              </a:rPr>
              <a:t>Step-</a:t>
            </a:r>
            <a:r>
              <a:rPr sz="1200" spc="-70" dirty="0">
                <a:solidFill>
                  <a:srgbClr val="FFFFFF"/>
                </a:solidFill>
                <a:latin typeface="Tahoma"/>
                <a:cs typeface="Tahoma"/>
              </a:rPr>
              <a:t>by-</a:t>
            </a:r>
            <a:r>
              <a:rPr sz="1200" spc="-35" dirty="0">
                <a:solidFill>
                  <a:srgbClr val="FFFFFF"/>
                </a:solidFill>
                <a:latin typeface="Tahoma"/>
                <a:cs typeface="Tahoma"/>
              </a:rPr>
              <a:t>Step</a:t>
            </a:r>
            <a:r>
              <a:rPr sz="1200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50" dirty="0">
                <a:solidFill>
                  <a:srgbClr val="FFFFFF"/>
                </a:solidFill>
                <a:latin typeface="Tahoma"/>
                <a:cs typeface="Tahoma"/>
              </a:rPr>
              <a:t>Execution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4271" y="1087904"/>
            <a:ext cx="114300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830">
              <a:lnSpc>
                <a:spcPts val="715"/>
              </a:lnSpc>
            </a:pPr>
            <a:r>
              <a:rPr sz="600" spc="-50" dirty="0">
                <a:solidFill>
                  <a:srgbClr val="FFFFFF"/>
                </a:solidFill>
                <a:latin typeface="Arial MT"/>
                <a:cs typeface="Arial MT"/>
              </a:rPr>
              <a:t>1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534119" y="1169174"/>
            <a:ext cx="335915" cy="5080"/>
            <a:chOff x="2534119" y="1169174"/>
            <a:chExt cx="335915" cy="5080"/>
          </a:xfrm>
        </p:grpSpPr>
        <p:sp>
          <p:nvSpPr>
            <p:cNvPr id="12" name="object 12"/>
            <p:cNvSpPr/>
            <p:nvPr/>
          </p:nvSpPr>
          <p:spPr>
            <a:xfrm>
              <a:off x="2536659" y="1171714"/>
              <a:ext cx="32384" cy="0"/>
            </a:xfrm>
            <a:custGeom>
              <a:avLst/>
              <a:gdLst/>
              <a:ahLst/>
              <a:cxnLst/>
              <a:rect l="l" t="t" r="r" b="b"/>
              <a:pathLst>
                <a:path w="32385">
                  <a:moveTo>
                    <a:pt x="0" y="0"/>
                  </a:moveTo>
                  <a:lnTo>
                    <a:pt x="32270" y="0"/>
                  </a:lnTo>
                </a:path>
              </a:pathLst>
            </a:custGeom>
            <a:ln w="5054">
              <a:solidFill>
                <a:srgbClr val="1919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835211" y="1171714"/>
              <a:ext cx="32384" cy="0"/>
            </a:xfrm>
            <a:custGeom>
              <a:avLst/>
              <a:gdLst/>
              <a:ahLst/>
              <a:cxnLst/>
              <a:rect l="l" t="t" r="r" b="b"/>
              <a:pathLst>
                <a:path w="32385">
                  <a:moveTo>
                    <a:pt x="0" y="0"/>
                  </a:moveTo>
                  <a:lnTo>
                    <a:pt x="32270" y="0"/>
                  </a:lnTo>
                </a:path>
              </a:pathLst>
            </a:custGeom>
            <a:ln w="5054">
              <a:solidFill>
                <a:srgbClr val="1919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15632" y="1060321"/>
            <a:ext cx="30149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800" b="1" spc="-10" dirty="0">
                <a:solidFill>
                  <a:srgbClr val="191933"/>
                </a:solidFill>
                <a:latin typeface="Arial"/>
                <a:cs typeface="Arial"/>
              </a:rPr>
              <a:t>Validate</a:t>
            </a:r>
            <a:r>
              <a:rPr sz="800" b="1" spc="1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191933"/>
                </a:solidFill>
                <a:latin typeface="Arial"/>
                <a:cs typeface="Arial"/>
              </a:rPr>
              <a:t>User</a:t>
            </a:r>
            <a:r>
              <a:rPr sz="800" b="1" spc="1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191933"/>
                </a:solidFill>
                <a:latin typeface="Arial"/>
                <a:cs typeface="Arial"/>
              </a:rPr>
              <a:t>and</a:t>
            </a:r>
            <a:r>
              <a:rPr sz="800" b="1" spc="1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40" dirty="0">
                <a:solidFill>
                  <a:srgbClr val="191933"/>
                </a:solidFill>
                <a:latin typeface="Arial"/>
                <a:cs typeface="Arial"/>
              </a:rPr>
              <a:t>Resource:</a:t>
            </a:r>
            <a:r>
              <a:rPr sz="800" b="1" spc="9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Alice</a:t>
            </a:r>
            <a:r>
              <a:rPr sz="8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and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critical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server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01</a:t>
            </a:r>
            <a:r>
              <a:rPr sz="8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are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valid.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4271" y="1277692"/>
            <a:ext cx="114214" cy="114214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281216" y="1264760"/>
            <a:ext cx="533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Arial MT"/>
                <a:cs typeface="Arial MT"/>
              </a:rPr>
              <a:t>2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44271" y="1486052"/>
            <a:ext cx="379730" cy="543560"/>
            <a:chOff x="244271" y="1486052"/>
            <a:chExt cx="379730" cy="543560"/>
          </a:xfrm>
        </p:grpSpPr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0864" y="1486052"/>
              <a:ext cx="52590" cy="5259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0864" y="1637881"/>
              <a:ext cx="52590" cy="5259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0864" y="1789709"/>
              <a:ext cx="52590" cy="5259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44271" y="1914953"/>
              <a:ext cx="114214" cy="114214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255816" y="1225814"/>
            <a:ext cx="2909570" cy="808990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59385">
              <a:lnSpc>
                <a:spcPct val="100000"/>
              </a:lnSpc>
              <a:spcBef>
                <a:spcPts val="285"/>
              </a:spcBef>
            </a:pPr>
            <a:r>
              <a:rPr sz="800" b="1" spc="-25" dirty="0">
                <a:solidFill>
                  <a:srgbClr val="191933"/>
                </a:solidFill>
                <a:latin typeface="Arial"/>
                <a:cs typeface="Arial"/>
              </a:rPr>
              <a:t>Check</a:t>
            </a: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55" dirty="0">
                <a:solidFill>
                  <a:srgbClr val="191933"/>
                </a:solidFill>
                <a:latin typeface="Arial"/>
                <a:cs typeface="Arial"/>
              </a:rPr>
              <a:t>Access</a:t>
            </a: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191933"/>
                </a:solidFill>
                <a:latin typeface="Arial"/>
                <a:cs typeface="Arial"/>
              </a:rPr>
              <a:t>Control</a:t>
            </a: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191933"/>
                </a:solidFill>
                <a:latin typeface="Arial"/>
                <a:cs typeface="Arial"/>
              </a:rPr>
              <a:t>Policy:</a:t>
            </a:r>
            <a:endParaRPr sz="800">
              <a:latin typeface="Arial"/>
              <a:cs typeface="Arial"/>
            </a:endParaRPr>
          </a:p>
          <a:p>
            <a:pPr marL="436880" marR="30480">
              <a:lnSpc>
                <a:spcPct val="100000"/>
              </a:lnSpc>
              <a:spcBef>
                <a:spcPts val="235"/>
              </a:spcBef>
            </a:pPr>
            <a:r>
              <a:rPr sz="1000" dirty="0">
                <a:solidFill>
                  <a:srgbClr val="191933"/>
                </a:solidFill>
                <a:latin typeface="Tahoma"/>
                <a:cs typeface="Tahoma"/>
              </a:rPr>
              <a:t>Alice’s</a:t>
            </a:r>
            <a:r>
              <a:rPr sz="1000" spc="-4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191933"/>
                </a:solidFill>
                <a:latin typeface="Tahoma"/>
                <a:cs typeface="Tahoma"/>
              </a:rPr>
              <a:t>Role:</a:t>
            </a:r>
            <a:r>
              <a:rPr sz="1000" spc="6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35" dirty="0">
                <a:solidFill>
                  <a:srgbClr val="191933"/>
                </a:solidFill>
                <a:latin typeface="Tahoma"/>
                <a:cs typeface="Tahoma"/>
              </a:rPr>
              <a:t>System</a:t>
            </a:r>
            <a:r>
              <a:rPr sz="1000" spc="-4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20" dirty="0">
                <a:solidFill>
                  <a:srgbClr val="191933"/>
                </a:solidFill>
                <a:latin typeface="Tahoma"/>
                <a:cs typeface="Tahoma"/>
              </a:rPr>
              <a:t>Administrator</a:t>
            </a:r>
            <a:r>
              <a:rPr sz="10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191933"/>
                </a:solidFill>
                <a:latin typeface="Tahoma"/>
                <a:cs typeface="Tahoma"/>
              </a:rPr>
              <a:t>(Matches) </a:t>
            </a:r>
            <a:r>
              <a:rPr sz="1000" spc="-40" dirty="0">
                <a:solidFill>
                  <a:srgbClr val="191933"/>
                </a:solidFill>
                <a:latin typeface="Tahoma"/>
                <a:cs typeface="Tahoma"/>
              </a:rPr>
              <a:t>Resource</a:t>
            </a:r>
            <a:r>
              <a:rPr sz="10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20" dirty="0">
                <a:solidFill>
                  <a:srgbClr val="191933"/>
                </a:solidFill>
                <a:latin typeface="Tahoma"/>
                <a:cs typeface="Tahoma"/>
              </a:rPr>
              <a:t>Type:</a:t>
            </a:r>
            <a:r>
              <a:rPr sz="1000" spc="7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191933"/>
                </a:solidFill>
                <a:latin typeface="Tahoma"/>
                <a:cs typeface="Tahoma"/>
              </a:rPr>
              <a:t>Critical</a:t>
            </a: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40" dirty="0">
                <a:solidFill>
                  <a:srgbClr val="191933"/>
                </a:solidFill>
                <a:latin typeface="Tahoma"/>
                <a:cs typeface="Tahoma"/>
              </a:rPr>
              <a:t>Server</a:t>
            </a:r>
            <a:r>
              <a:rPr sz="10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191933"/>
                </a:solidFill>
                <a:latin typeface="Tahoma"/>
                <a:cs typeface="Tahoma"/>
              </a:rPr>
              <a:t>(Matches) </a:t>
            </a:r>
            <a:r>
              <a:rPr sz="1000" spc="-30" dirty="0">
                <a:solidFill>
                  <a:srgbClr val="191933"/>
                </a:solidFill>
                <a:latin typeface="Tahoma"/>
                <a:cs typeface="Tahoma"/>
              </a:rPr>
              <a:t>Department:</a:t>
            </a:r>
            <a:r>
              <a:rPr sz="1000" spc="8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191933"/>
                </a:solidFill>
                <a:latin typeface="Tahoma"/>
                <a:cs typeface="Tahoma"/>
              </a:rPr>
              <a:t>IT</a:t>
            </a:r>
            <a:r>
              <a:rPr sz="10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191933"/>
                </a:solidFill>
                <a:latin typeface="Tahoma"/>
                <a:cs typeface="Tahoma"/>
              </a:rPr>
              <a:t>(Matches)</a:t>
            </a:r>
            <a:endParaRPr sz="1000">
              <a:latin typeface="Tahoma"/>
              <a:cs typeface="Tahoma"/>
            </a:endParaRPr>
          </a:p>
          <a:p>
            <a:pPr marL="25400">
              <a:lnSpc>
                <a:spcPct val="100000"/>
              </a:lnSpc>
              <a:spcBef>
                <a:spcPts val="225"/>
              </a:spcBef>
            </a:pPr>
            <a:r>
              <a:rPr sz="900" baseline="9259" dirty="0">
                <a:solidFill>
                  <a:srgbClr val="FFFFFF"/>
                </a:solidFill>
                <a:latin typeface="Arial MT"/>
                <a:cs typeface="Arial MT"/>
              </a:rPr>
              <a:t>3</a:t>
            </a:r>
            <a:r>
              <a:rPr sz="900" spc="262" baseline="9259" dirty="0">
                <a:solidFill>
                  <a:srgbClr val="FFFFFF"/>
                </a:solidFill>
                <a:latin typeface="Arial MT"/>
                <a:cs typeface="Arial MT"/>
              </a:rPr>
              <a:t>  </a:t>
            </a:r>
            <a:r>
              <a:rPr sz="800" b="1" spc="-20" dirty="0">
                <a:solidFill>
                  <a:srgbClr val="191933"/>
                </a:solidFill>
                <a:latin typeface="Arial"/>
                <a:cs typeface="Arial"/>
              </a:rPr>
              <a:t>Evaluate</a:t>
            </a:r>
            <a:r>
              <a:rPr sz="800" b="1" spc="5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191933"/>
                </a:solidFill>
                <a:latin typeface="Arial"/>
                <a:cs typeface="Arial"/>
              </a:rPr>
              <a:t>Conditions: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55511" y="2223985"/>
            <a:ext cx="2120265" cy="394970"/>
            <a:chOff x="255511" y="2223985"/>
            <a:chExt cx="2120265" cy="394970"/>
          </a:xfrm>
        </p:grpSpPr>
        <p:sp>
          <p:nvSpPr>
            <p:cNvPr id="24" name="object 24"/>
            <p:cNvSpPr/>
            <p:nvPr/>
          </p:nvSpPr>
          <p:spPr>
            <a:xfrm>
              <a:off x="2218601" y="2226513"/>
              <a:ext cx="24765" cy="0"/>
            </a:xfrm>
            <a:custGeom>
              <a:avLst/>
              <a:gdLst/>
              <a:ahLst/>
              <a:cxnLst/>
              <a:rect l="l" t="t" r="r" b="b"/>
              <a:pathLst>
                <a:path w="24764">
                  <a:moveTo>
                    <a:pt x="0" y="0"/>
                  </a:moveTo>
                  <a:lnTo>
                    <a:pt x="24193" y="0"/>
                  </a:lnTo>
                </a:path>
              </a:pathLst>
            </a:custGeom>
            <a:ln w="5054">
              <a:solidFill>
                <a:srgbClr val="1919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55511" y="2377754"/>
              <a:ext cx="114214" cy="240744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127351" y="2454262"/>
              <a:ext cx="24765" cy="0"/>
            </a:xfrm>
            <a:custGeom>
              <a:avLst/>
              <a:gdLst/>
              <a:ahLst/>
              <a:cxnLst/>
              <a:rect l="l" t="t" r="r" b="b"/>
              <a:pathLst>
                <a:path w="24764">
                  <a:moveTo>
                    <a:pt x="0" y="0"/>
                  </a:moveTo>
                  <a:lnTo>
                    <a:pt x="24193" y="0"/>
                  </a:lnTo>
                </a:path>
              </a:pathLst>
            </a:custGeom>
            <a:ln w="5054">
              <a:solidFill>
                <a:srgbClr val="1919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351265" y="2454262"/>
              <a:ext cx="24765" cy="0"/>
            </a:xfrm>
            <a:custGeom>
              <a:avLst/>
              <a:gdLst/>
              <a:ahLst/>
              <a:cxnLst/>
              <a:rect l="l" t="t" r="r" b="b"/>
              <a:pathLst>
                <a:path w="24764">
                  <a:moveTo>
                    <a:pt x="0" y="0"/>
                  </a:moveTo>
                  <a:lnTo>
                    <a:pt x="24193" y="0"/>
                  </a:lnTo>
                </a:path>
              </a:pathLst>
            </a:custGeom>
            <a:ln w="5054">
              <a:solidFill>
                <a:srgbClr val="1919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292455" y="2140437"/>
            <a:ext cx="3982720" cy="4711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0200">
              <a:lnSpc>
                <a:spcPct val="100000"/>
              </a:lnSpc>
              <a:spcBef>
                <a:spcPts val="95"/>
              </a:spcBef>
            </a:pPr>
            <a:r>
              <a:rPr sz="600" spc="20" dirty="0">
                <a:solidFill>
                  <a:srgbClr val="191933"/>
                </a:solidFill>
                <a:latin typeface="Calibri"/>
                <a:cs typeface="Calibri"/>
              </a:rPr>
              <a:t>(</a:t>
            </a:r>
            <a:r>
              <a:rPr sz="600" i="1" spc="20" dirty="0">
                <a:solidFill>
                  <a:srgbClr val="191933"/>
                </a:solidFill>
                <a:latin typeface="Calibri"/>
                <a:cs typeface="Calibri"/>
              </a:rPr>
              <a:t>U.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role</a:t>
            </a:r>
            <a:r>
              <a:rPr sz="6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254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600" spc="8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i="1" spc="20" dirty="0">
                <a:solidFill>
                  <a:srgbClr val="191933"/>
                </a:solidFill>
                <a:latin typeface="Calibri"/>
                <a:cs typeface="Calibri"/>
              </a:rPr>
              <a:t>P.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role</a:t>
            </a:r>
            <a:r>
              <a:rPr sz="600" spc="20" dirty="0">
                <a:solidFill>
                  <a:srgbClr val="191933"/>
                </a:solidFill>
                <a:latin typeface="Calibri"/>
                <a:cs typeface="Calibri"/>
              </a:rPr>
              <a:t>)</a:t>
            </a:r>
            <a:r>
              <a:rPr sz="600" spc="4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spc="145" dirty="0">
                <a:solidFill>
                  <a:srgbClr val="191933"/>
                </a:solidFill>
                <a:latin typeface="Cambria"/>
                <a:cs typeface="Cambria"/>
              </a:rPr>
              <a:t>∧</a:t>
            </a:r>
            <a:r>
              <a:rPr sz="600" spc="45" dirty="0">
                <a:solidFill>
                  <a:srgbClr val="191933"/>
                </a:solidFill>
                <a:latin typeface="Cambria"/>
                <a:cs typeface="Cambria"/>
              </a:rPr>
              <a:t> </a:t>
            </a:r>
            <a:r>
              <a:rPr sz="600" spc="60" dirty="0">
                <a:solidFill>
                  <a:srgbClr val="191933"/>
                </a:solidFill>
                <a:latin typeface="Calibri"/>
                <a:cs typeface="Calibri"/>
              </a:rPr>
              <a:t>(</a:t>
            </a:r>
            <a:r>
              <a:rPr sz="600" i="1" spc="60" dirty="0">
                <a:solidFill>
                  <a:srgbClr val="191933"/>
                </a:solidFill>
                <a:latin typeface="Calibri"/>
                <a:cs typeface="Calibri"/>
              </a:rPr>
              <a:t>Res.</a:t>
            </a:r>
            <a:r>
              <a:rPr sz="600" spc="60" dirty="0">
                <a:solidFill>
                  <a:srgbClr val="191933"/>
                </a:solidFill>
                <a:latin typeface="Arial MT"/>
                <a:cs typeface="Arial MT"/>
              </a:rPr>
              <a:t>type</a:t>
            </a:r>
            <a:r>
              <a:rPr sz="6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254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600" spc="8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i="1" spc="10" dirty="0">
                <a:solidFill>
                  <a:srgbClr val="191933"/>
                </a:solidFill>
                <a:latin typeface="Calibri"/>
                <a:cs typeface="Calibri"/>
              </a:rPr>
              <a:t>P.</a:t>
            </a:r>
            <a:r>
              <a:rPr sz="600" spc="10" dirty="0">
                <a:solidFill>
                  <a:srgbClr val="191933"/>
                </a:solidFill>
                <a:latin typeface="Arial MT"/>
                <a:cs typeface="Arial MT"/>
              </a:rPr>
              <a:t>resource</a:t>
            </a:r>
            <a:r>
              <a:rPr sz="600" spc="7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type</a:t>
            </a:r>
            <a:r>
              <a:rPr sz="600" spc="20" dirty="0">
                <a:solidFill>
                  <a:srgbClr val="191933"/>
                </a:solidFill>
                <a:latin typeface="Calibri"/>
                <a:cs typeface="Calibri"/>
              </a:rPr>
              <a:t>)</a:t>
            </a:r>
            <a:r>
              <a:rPr sz="600" spc="3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spc="145" dirty="0">
                <a:solidFill>
                  <a:srgbClr val="191933"/>
                </a:solidFill>
                <a:latin typeface="Cambria"/>
                <a:cs typeface="Cambria"/>
              </a:rPr>
              <a:t>∧</a:t>
            </a:r>
            <a:r>
              <a:rPr sz="600" spc="45" dirty="0">
                <a:solidFill>
                  <a:srgbClr val="191933"/>
                </a:solidFill>
                <a:latin typeface="Cambria"/>
                <a:cs typeface="Cambria"/>
              </a:rPr>
              <a:t> </a:t>
            </a:r>
            <a:r>
              <a:rPr sz="600" spc="20" dirty="0">
                <a:solidFill>
                  <a:srgbClr val="191933"/>
                </a:solidFill>
                <a:latin typeface="Calibri"/>
                <a:cs typeface="Calibri"/>
              </a:rPr>
              <a:t>(</a:t>
            </a:r>
            <a:r>
              <a:rPr sz="600" i="1" spc="20" dirty="0">
                <a:solidFill>
                  <a:srgbClr val="191933"/>
                </a:solidFill>
                <a:latin typeface="Calibri"/>
                <a:cs typeface="Calibri"/>
              </a:rPr>
              <a:t>U.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department</a:t>
            </a:r>
            <a:r>
              <a:rPr sz="6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254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600" spc="9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i="1" spc="20" dirty="0">
                <a:solidFill>
                  <a:srgbClr val="191933"/>
                </a:solidFill>
                <a:latin typeface="Calibri"/>
                <a:cs typeface="Calibri"/>
              </a:rPr>
              <a:t>P.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department</a:t>
            </a:r>
            <a:r>
              <a:rPr sz="600" spc="20" dirty="0">
                <a:solidFill>
                  <a:srgbClr val="191933"/>
                </a:solidFill>
                <a:latin typeface="Calibri"/>
                <a:cs typeface="Calibri"/>
              </a:rPr>
              <a:t>)</a:t>
            </a:r>
            <a:r>
              <a:rPr sz="600" spc="8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spc="200" dirty="0">
                <a:solidFill>
                  <a:srgbClr val="191933"/>
                </a:solidFill>
                <a:latin typeface="Cambria"/>
                <a:cs typeface="Cambria"/>
              </a:rPr>
              <a:t>⇒</a:t>
            </a:r>
            <a:r>
              <a:rPr sz="600" spc="90" dirty="0">
                <a:solidFill>
                  <a:srgbClr val="191933"/>
                </a:solidFill>
                <a:latin typeface="Cambria"/>
                <a:cs typeface="Cambria"/>
              </a:rPr>
              <a:t> </a:t>
            </a:r>
            <a:r>
              <a:rPr sz="600" spc="10" dirty="0">
                <a:solidFill>
                  <a:srgbClr val="191933"/>
                </a:solidFill>
                <a:latin typeface="Arial MT"/>
                <a:cs typeface="Arial MT"/>
              </a:rPr>
              <a:t>Grant</a:t>
            </a:r>
            <a:r>
              <a:rPr sz="600" spc="6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Access</a:t>
            </a:r>
            <a:endParaRPr sz="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85"/>
              </a:spcBef>
            </a:pPr>
            <a:endParaRPr sz="600">
              <a:latin typeface="Arial MT"/>
              <a:cs typeface="Arial MT"/>
            </a:endParaRPr>
          </a:p>
          <a:p>
            <a:pPr marL="120650" indent="-120650">
              <a:lnSpc>
                <a:spcPct val="100000"/>
              </a:lnSpc>
              <a:buClr>
                <a:srgbClr val="FFFFFF"/>
              </a:buClr>
              <a:buFont typeface="Arial MT"/>
              <a:buAutoNum type="arabicPlain" startAt="4"/>
              <a:tabLst>
                <a:tab pos="120650" algn="l"/>
              </a:tabLst>
            </a:pPr>
            <a:r>
              <a:rPr sz="600" b="1" spc="-10" dirty="0">
                <a:solidFill>
                  <a:srgbClr val="191933"/>
                </a:solidFill>
                <a:latin typeface="Arial"/>
                <a:cs typeface="Arial"/>
              </a:rPr>
              <a:t>Log</a:t>
            </a:r>
            <a:r>
              <a:rPr sz="600" b="1" spc="2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b="1" spc="-10" dirty="0">
                <a:solidFill>
                  <a:srgbClr val="191933"/>
                </a:solidFill>
                <a:latin typeface="Arial"/>
                <a:cs typeface="Arial"/>
              </a:rPr>
              <a:t>Outcome:</a:t>
            </a:r>
            <a:r>
              <a:rPr sz="600" b="1" spc="7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”Access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request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by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Alice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critical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0" dirty="0">
                <a:solidFill>
                  <a:srgbClr val="191933"/>
                </a:solidFill>
                <a:latin typeface="Arial MT"/>
                <a:cs typeface="Arial MT"/>
              </a:rPr>
              <a:t>server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01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granted.”</a:t>
            </a:r>
            <a:endParaRPr sz="600">
              <a:latin typeface="Arial MT"/>
              <a:cs typeface="Arial MT"/>
            </a:endParaRPr>
          </a:p>
          <a:p>
            <a:pPr marL="120650" indent="-120650">
              <a:lnSpc>
                <a:spcPct val="100000"/>
              </a:lnSpc>
              <a:spcBef>
                <a:spcPts val="275"/>
              </a:spcBef>
              <a:buClr>
                <a:srgbClr val="FFFFFF"/>
              </a:buClr>
              <a:buFont typeface="Arial MT"/>
              <a:buAutoNum type="arabicPlain" startAt="4"/>
              <a:tabLst>
                <a:tab pos="120650" algn="l"/>
              </a:tabLst>
            </a:pPr>
            <a:r>
              <a:rPr sz="600" b="1" dirty="0">
                <a:solidFill>
                  <a:srgbClr val="191933"/>
                </a:solidFill>
                <a:latin typeface="Arial"/>
                <a:cs typeface="Arial"/>
              </a:rPr>
              <a:t>Alert:</a:t>
            </a:r>
            <a:r>
              <a:rPr sz="600" b="1" spc="8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Not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required,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35" dirty="0">
                <a:solidFill>
                  <a:srgbClr val="191933"/>
                </a:solidFill>
                <a:latin typeface="Arial MT"/>
                <a:cs typeface="Arial MT"/>
              </a:rPr>
              <a:t>access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5" dirty="0">
                <a:solidFill>
                  <a:srgbClr val="191933"/>
                </a:solidFill>
                <a:latin typeface="Arial MT"/>
                <a:cs typeface="Arial MT"/>
              </a:rPr>
              <a:t>was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granted.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30" name="object 30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4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65</a:t>
            </a:r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93</a:t>
            </a:r>
          </a:p>
        </p:txBody>
      </p:sp>
    </p:spTree>
  </p:cSld>
  <p:clrMapOvr>
    <a:masterClrMapping/>
  </p:clrMapOvr>
  <p:transition>
    <p:cut/>
  </p:transition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/>
              <a:t>Result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402753"/>
            <a:ext cx="65265" cy="65265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810336" y="1640103"/>
            <a:ext cx="41910" cy="0"/>
          </a:xfrm>
          <a:custGeom>
            <a:avLst/>
            <a:gdLst/>
            <a:ahLst/>
            <a:cxnLst/>
            <a:rect l="l" t="t" r="r" b="b"/>
            <a:pathLst>
              <a:path w="41909">
                <a:moveTo>
                  <a:pt x="0" y="0"/>
                </a:moveTo>
                <a:lnTo>
                  <a:pt x="41567" y="0"/>
                </a:lnTo>
              </a:path>
            </a:pathLst>
          </a:custGeom>
          <a:ln w="5054">
            <a:solidFill>
              <a:srgbClr val="1919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95031" y="1640103"/>
            <a:ext cx="41910" cy="0"/>
          </a:xfrm>
          <a:custGeom>
            <a:avLst/>
            <a:gdLst/>
            <a:ahLst/>
            <a:cxnLst/>
            <a:rect l="l" t="t" r="r" b="b"/>
            <a:pathLst>
              <a:path w="41909">
                <a:moveTo>
                  <a:pt x="0" y="0"/>
                </a:moveTo>
                <a:lnTo>
                  <a:pt x="41567" y="0"/>
                </a:lnTo>
              </a:path>
            </a:pathLst>
          </a:custGeom>
          <a:ln w="5054">
            <a:solidFill>
              <a:srgbClr val="1919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784870"/>
            <a:ext cx="65265" cy="6526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02932" y="1319312"/>
            <a:ext cx="3855720" cy="5740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Access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granted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to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Alice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for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read,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write,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and 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execute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 operations 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on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critical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55" dirty="0">
                <a:solidFill>
                  <a:srgbClr val="191933"/>
                </a:solidFill>
                <a:latin typeface="Tahoma"/>
                <a:cs typeface="Tahoma"/>
              </a:rPr>
              <a:t>server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01.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Access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request 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and 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outcome </a:t>
            </a:r>
            <a:r>
              <a:rPr sz="1100" spc="-60" dirty="0">
                <a:solidFill>
                  <a:srgbClr val="191933"/>
                </a:solidFill>
                <a:latin typeface="Tahoma"/>
                <a:cs typeface="Tahoma"/>
              </a:rPr>
              <a:t>are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logged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for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audit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purposes.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9" name="object 9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4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Adarsh</a:t>
            </a:r>
            <a:r>
              <a:rPr spc="10" dirty="0"/>
              <a:t> </a:t>
            </a:r>
            <a:r>
              <a:rPr spc="-10" dirty="0"/>
              <a:t>Kumar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Adarsh[dot]Kumar[at]ddn[dot]upes[dot]ac[dot]in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3212884" y="3351784"/>
            <a:ext cx="6051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</a:rPr>
              <a:t>January</a:t>
            </a:r>
            <a:r>
              <a:rPr sz="6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</a:rPr>
              <a:t>17,</a:t>
            </a:r>
            <a:r>
              <a:rPr sz="6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Arial MT"/>
                <a:cs typeface="Arial MT"/>
              </a:rPr>
              <a:t>2025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66</a:t>
            </a:r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93</a:t>
            </a:r>
          </a:p>
        </p:txBody>
      </p:sp>
    </p:spTree>
  </p:cSld>
  <p:clrMapOvr>
    <a:masterClrMapping/>
  </p:clrMapOvr>
  <p:transition>
    <p:cut/>
  </p:transition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80" dirty="0"/>
              <a:t>Access</a:t>
            </a:r>
            <a:r>
              <a:rPr spc="10" dirty="0"/>
              <a:t> </a:t>
            </a:r>
            <a:r>
              <a:rPr spc="-20" dirty="0"/>
              <a:t>Control</a:t>
            </a:r>
            <a:r>
              <a:rPr spc="10" dirty="0"/>
              <a:t> </a:t>
            </a:r>
            <a:r>
              <a:rPr spc="-25" dirty="0"/>
              <a:t>Algorithm</a:t>
            </a:r>
            <a:r>
              <a:rPr spc="15" dirty="0"/>
              <a:t> </a:t>
            </a:r>
            <a:r>
              <a:rPr spc="-30" dirty="0"/>
              <a:t>Example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758049"/>
            <a:ext cx="4432935" cy="198755"/>
          </a:xfrm>
          <a:custGeom>
            <a:avLst/>
            <a:gdLst/>
            <a:ahLst/>
            <a:cxnLst/>
            <a:rect l="l" t="t" r="r" b="b"/>
            <a:pathLst>
              <a:path w="4432935" h="198755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4432566" y="198367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2672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8544" y="786497"/>
            <a:ext cx="109029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50" dirty="0">
                <a:solidFill>
                  <a:srgbClr val="FFFFFF"/>
                </a:solidFill>
                <a:latin typeface="Tahoma"/>
                <a:cs typeface="Tahoma"/>
              </a:rPr>
              <a:t>Example</a:t>
            </a:r>
            <a:r>
              <a:rPr sz="12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65" dirty="0">
                <a:solidFill>
                  <a:srgbClr val="FFFFFF"/>
                </a:solidFill>
                <a:latin typeface="Tahoma"/>
                <a:cs typeface="Tahoma"/>
              </a:rPr>
              <a:t>Scenario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55511" y="957116"/>
            <a:ext cx="3984625" cy="178435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60020">
              <a:lnSpc>
                <a:spcPct val="100000"/>
              </a:lnSpc>
              <a:spcBef>
                <a:spcPts val="375"/>
              </a:spcBef>
            </a:pPr>
            <a:r>
              <a:rPr sz="600" b="1" spc="-20" dirty="0">
                <a:solidFill>
                  <a:srgbClr val="191933"/>
                </a:solidFill>
                <a:latin typeface="Arial"/>
                <a:cs typeface="Arial"/>
              </a:rPr>
              <a:t>User</a:t>
            </a:r>
            <a:r>
              <a:rPr sz="600" b="1" spc="3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b="1" spc="-20" dirty="0">
                <a:solidFill>
                  <a:srgbClr val="191933"/>
                </a:solidFill>
                <a:latin typeface="Arial"/>
                <a:cs typeface="Arial"/>
              </a:rPr>
              <a:t>Request:</a:t>
            </a:r>
            <a:r>
              <a:rPr sz="600" b="1" spc="8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Alice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0" dirty="0">
                <a:solidFill>
                  <a:srgbClr val="191933"/>
                </a:solidFill>
                <a:latin typeface="Arial MT"/>
                <a:cs typeface="Arial MT"/>
              </a:rPr>
              <a:t>requests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35" dirty="0">
                <a:solidFill>
                  <a:srgbClr val="191933"/>
                </a:solidFill>
                <a:latin typeface="Arial MT"/>
                <a:cs typeface="Arial MT"/>
              </a:rPr>
              <a:t>access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financial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report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i="1" spc="90" dirty="0">
                <a:solidFill>
                  <a:srgbClr val="191933"/>
                </a:solidFill>
                <a:latin typeface="Calibri"/>
                <a:cs typeface="Calibri"/>
              </a:rPr>
              <a:t>R</a:t>
            </a:r>
            <a:r>
              <a:rPr sz="600" spc="90" dirty="0">
                <a:solidFill>
                  <a:srgbClr val="191933"/>
                </a:solidFill>
                <a:latin typeface="Arial MT"/>
                <a:cs typeface="Arial MT"/>
              </a:rPr>
              <a:t>.</a:t>
            </a:r>
            <a:endParaRPr sz="600">
              <a:latin typeface="Arial MT"/>
              <a:cs typeface="Arial MT"/>
            </a:endParaRPr>
          </a:p>
          <a:p>
            <a:pPr marL="160020">
              <a:lnSpc>
                <a:spcPct val="100000"/>
              </a:lnSpc>
              <a:spcBef>
                <a:spcPts val="275"/>
              </a:spcBef>
            </a:pPr>
            <a:r>
              <a:rPr sz="600" b="1" spc="-45" dirty="0">
                <a:solidFill>
                  <a:srgbClr val="191933"/>
                </a:solidFill>
                <a:latin typeface="Arial"/>
                <a:cs typeface="Arial"/>
              </a:rPr>
              <a:t>Access</a:t>
            </a:r>
            <a:r>
              <a:rPr sz="600" b="1" spc="4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b="1" spc="-10" dirty="0">
                <a:solidFill>
                  <a:srgbClr val="191933"/>
                </a:solidFill>
                <a:latin typeface="Arial"/>
                <a:cs typeface="Arial"/>
              </a:rPr>
              <a:t>Control</a:t>
            </a:r>
            <a:r>
              <a:rPr sz="600" b="1" spc="4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b="1" spc="-10" dirty="0">
                <a:solidFill>
                  <a:srgbClr val="191933"/>
                </a:solidFill>
                <a:latin typeface="Arial"/>
                <a:cs typeface="Arial"/>
              </a:rPr>
              <a:t>Policy:</a:t>
            </a:r>
            <a:r>
              <a:rPr sz="600" b="1" spc="9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Policy</a:t>
            </a:r>
            <a:r>
              <a:rPr sz="6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i="1" spc="150" dirty="0">
                <a:solidFill>
                  <a:srgbClr val="191933"/>
                </a:solidFill>
                <a:latin typeface="Calibri"/>
                <a:cs typeface="Calibri"/>
              </a:rPr>
              <a:t>P</a:t>
            </a:r>
            <a:r>
              <a:rPr sz="600" i="1" spc="15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spc="-20" dirty="0">
                <a:solidFill>
                  <a:srgbClr val="191933"/>
                </a:solidFill>
                <a:latin typeface="Arial MT"/>
                <a:cs typeface="Arial MT"/>
              </a:rPr>
              <a:t>requires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that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only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30" dirty="0">
                <a:solidFill>
                  <a:srgbClr val="191933"/>
                </a:solidFill>
                <a:latin typeface="Arial MT"/>
                <a:cs typeface="Arial MT"/>
              </a:rPr>
              <a:t>users</a:t>
            </a:r>
            <a:r>
              <a:rPr sz="6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with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role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”Manager”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can</a:t>
            </a:r>
            <a:r>
              <a:rPr sz="6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35" dirty="0">
                <a:solidFill>
                  <a:srgbClr val="191933"/>
                </a:solidFill>
                <a:latin typeface="Arial MT"/>
                <a:cs typeface="Arial MT"/>
              </a:rPr>
              <a:t>access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financial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reports.</a:t>
            </a:r>
            <a:endParaRPr sz="600">
              <a:latin typeface="Arial MT"/>
              <a:cs typeface="Arial MT"/>
            </a:endParaRPr>
          </a:p>
          <a:p>
            <a:pPr marL="160020">
              <a:lnSpc>
                <a:spcPct val="100000"/>
              </a:lnSpc>
              <a:spcBef>
                <a:spcPts val="280"/>
              </a:spcBef>
            </a:pPr>
            <a:r>
              <a:rPr sz="600" b="1" spc="-20" dirty="0">
                <a:solidFill>
                  <a:srgbClr val="191933"/>
                </a:solidFill>
                <a:latin typeface="Arial"/>
                <a:cs typeface="Arial"/>
              </a:rPr>
              <a:t>User</a:t>
            </a:r>
            <a:r>
              <a:rPr sz="600" b="1" spc="2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b="1" spc="-10" dirty="0">
                <a:solidFill>
                  <a:srgbClr val="191933"/>
                </a:solidFill>
                <a:latin typeface="Arial"/>
                <a:cs typeface="Arial"/>
              </a:rPr>
              <a:t>Attributes:</a:t>
            </a:r>
            <a:r>
              <a:rPr sz="600" b="1" spc="7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Alice’s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role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i="1" spc="90" dirty="0">
                <a:solidFill>
                  <a:srgbClr val="191933"/>
                </a:solidFill>
                <a:latin typeface="Calibri"/>
                <a:cs typeface="Calibri"/>
              </a:rPr>
              <a:t>U.role</a:t>
            </a:r>
            <a:r>
              <a:rPr sz="600" i="1" spc="5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spc="254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600" spc="5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”Manager”.</a:t>
            </a:r>
            <a:endParaRPr sz="600">
              <a:latin typeface="Arial MT"/>
              <a:cs typeface="Arial MT"/>
            </a:endParaRPr>
          </a:p>
          <a:p>
            <a:pPr marL="160020">
              <a:lnSpc>
                <a:spcPct val="100000"/>
              </a:lnSpc>
              <a:spcBef>
                <a:spcPts val="275"/>
              </a:spcBef>
            </a:pPr>
            <a:r>
              <a:rPr sz="600" b="1" spc="-35" dirty="0">
                <a:solidFill>
                  <a:srgbClr val="191933"/>
                </a:solidFill>
                <a:latin typeface="Arial"/>
                <a:cs typeface="Arial"/>
              </a:rPr>
              <a:t>Resource</a:t>
            </a:r>
            <a:r>
              <a:rPr sz="600" b="1" spc="4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b="1" spc="-10" dirty="0">
                <a:solidFill>
                  <a:srgbClr val="191933"/>
                </a:solidFill>
                <a:latin typeface="Arial"/>
                <a:cs typeface="Arial"/>
              </a:rPr>
              <a:t>Attributes:</a:t>
            </a:r>
            <a:r>
              <a:rPr sz="600" b="1" spc="10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6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0" dirty="0">
                <a:solidFill>
                  <a:srgbClr val="191933"/>
                </a:solidFill>
                <a:latin typeface="Arial MT"/>
                <a:cs typeface="Arial MT"/>
              </a:rPr>
              <a:t>resource</a:t>
            </a:r>
            <a:r>
              <a:rPr sz="6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type</a:t>
            </a:r>
            <a:r>
              <a:rPr sz="6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i="1" spc="100" dirty="0">
                <a:solidFill>
                  <a:srgbClr val="191933"/>
                </a:solidFill>
                <a:latin typeface="Calibri"/>
                <a:cs typeface="Calibri"/>
              </a:rPr>
              <a:t>Res.type</a:t>
            </a:r>
            <a:r>
              <a:rPr sz="600" i="1" spc="7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spc="254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600" spc="7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”Financial</a:t>
            </a:r>
            <a:r>
              <a:rPr sz="6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Report”.</a:t>
            </a:r>
            <a:endParaRPr sz="600">
              <a:latin typeface="Arial MT"/>
              <a:cs typeface="Arial MT"/>
            </a:endParaRPr>
          </a:p>
          <a:p>
            <a:pPr marL="160020">
              <a:lnSpc>
                <a:spcPct val="100000"/>
              </a:lnSpc>
              <a:spcBef>
                <a:spcPts val="275"/>
              </a:spcBef>
            </a:pPr>
            <a:r>
              <a:rPr sz="600" b="1" dirty="0">
                <a:solidFill>
                  <a:srgbClr val="191933"/>
                </a:solidFill>
                <a:latin typeface="Arial"/>
                <a:cs typeface="Arial"/>
              </a:rPr>
              <a:t>Output:</a:t>
            </a:r>
            <a:r>
              <a:rPr sz="600" b="1" spc="8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spc="-30" dirty="0">
                <a:solidFill>
                  <a:srgbClr val="191933"/>
                </a:solidFill>
                <a:latin typeface="Arial MT"/>
                <a:cs typeface="Arial MT"/>
              </a:rPr>
              <a:t>Access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granted.</a:t>
            </a:r>
            <a:endParaRPr sz="600">
              <a:latin typeface="Arial MT"/>
              <a:cs typeface="Arial MT"/>
            </a:endParaRPr>
          </a:p>
          <a:p>
            <a:pPr marL="157480" indent="-120650">
              <a:lnSpc>
                <a:spcPct val="100000"/>
              </a:lnSpc>
              <a:spcBef>
                <a:spcPts val="575"/>
              </a:spcBef>
              <a:buClr>
                <a:srgbClr val="FFFFFF"/>
              </a:buClr>
              <a:buFont typeface="Arial MT"/>
              <a:buAutoNum type="arabicPlain"/>
              <a:tabLst>
                <a:tab pos="157480" algn="l"/>
              </a:tabLst>
            </a:pPr>
            <a:r>
              <a:rPr sz="600" b="1" dirty="0">
                <a:solidFill>
                  <a:srgbClr val="191933"/>
                </a:solidFill>
                <a:latin typeface="Arial"/>
                <a:cs typeface="Arial"/>
              </a:rPr>
              <a:t>Step</a:t>
            </a:r>
            <a:r>
              <a:rPr sz="600" b="1" spc="2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191933"/>
                </a:solidFill>
                <a:latin typeface="Arial"/>
                <a:cs typeface="Arial"/>
              </a:rPr>
              <a:t>1:</a:t>
            </a:r>
            <a:r>
              <a:rPr sz="600" b="1" spc="8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Validate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Alice’s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identity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i="1" spc="110" dirty="0">
                <a:solidFill>
                  <a:srgbClr val="191933"/>
                </a:solidFill>
                <a:latin typeface="Calibri"/>
                <a:cs typeface="Calibri"/>
              </a:rPr>
              <a:t>U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and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0" dirty="0">
                <a:solidFill>
                  <a:srgbClr val="191933"/>
                </a:solidFill>
                <a:latin typeface="Arial MT"/>
                <a:cs typeface="Arial MT"/>
              </a:rPr>
              <a:t>requested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0" dirty="0">
                <a:solidFill>
                  <a:srgbClr val="191933"/>
                </a:solidFill>
                <a:latin typeface="Arial MT"/>
                <a:cs typeface="Arial MT"/>
              </a:rPr>
              <a:t>resource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i="1" spc="80" dirty="0">
                <a:solidFill>
                  <a:srgbClr val="191933"/>
                </a:solidFill>
                <a:latin typeface="Calibri"/>
                <a:cs typeface="Calibri"/>
              </a:rPr>
              <a:t>Res</a:t>
            </a:r>
            <a:r>
              <a:rPr sz="600" spc="80" dirty="0">
                <a:solidFill>
                  <a:srgbClr val="191933"/>
                </a:solidFill>
                <a:latin typeface="Arial MT"/>
                <a:cs typeface="Arial MT"/>
              </a:rPr>
              <a:t>.</a:t>
            </a:r>
            <a:endParaRPr sz="600">
              <a:latin typeface="Arial MT"/>
              <a:cs typeface="Arial MT"/>
            </a:endParaRPr>
          </a:p>
          <a:p>
            <a:pPr marL="157480" indent="-120650">
              <a:lnSpc>
                <a:spcPct val="100000"/>
              </a:lnSpc>
              <a:spcBef>
                <a:spcPts val="275"/>
              </a:spcBef>
              <a:buClr>
                <a:srgbClr val="FFFFFF"/>
              </a:buClr>
              <a:buFont typeface="Arial MT"/>
              <a:buAutoNum type="arabicPlain"/>
              <a:tabLst>
                <a:tab pos="157480" algn="l"/>
              </a:tabLst>
            </a:pPr>
            <a:r>
              <a:rPr sz="600" b="1" dirty="0">
                <a:solidFill>
                  <a:srgbClr val="191933"/>
                </a:solidFill>
                <a:latin typeface="Arial"/>
                <a:cs typeface="Arial"/>
              </a:rPr>
              <a:t>Step</a:t>
            </a:r>
            <a:r>
              <a:rPr sz="600" b="1" spc="4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191933"/>
                </a:solidFill>
                <a:latin typeface="Arial"/>
                <a:cs typeface="Arial"/>
              </a:rPr>
              <a:t>2:</a:t>
            </a:r>
            <a:r>
              <a:rPr sz="600" b="1" spc="9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Check</a:t>
            </a:r>
            <a:r>
              <a:rPr sz="6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35" dirty="0">
                <a:solidFill>
                  <a:srgbClr val="191933"/>
                </a:solidFill>
                <a:latin typeface="Arial MT"/>
                <a:cs typeface="Arial MT"/>
              </a:rPr>
              <a:t>access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control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policy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i="1" spc="150" dirty="0">
                <a:solidFill>
                  <a:srgbClr val="191933"/>
                </a:solidFill>
                <a:latin typeface="Calibri"/>
                <a:cs typeface="Calibri"/>
              </a:rPr>
              <a:t>P</a:t>
            </a:r>
            <a:r>
              <a:rPr sz="600" i="1" spc="16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for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Alice’s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role</a:t>
            </a:r>
            <a:r>
              <a:rPr sz="6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i="1" spc="90" dirty="0">
                <a:solidFill>
                  <a:srgbClr val="191933"/>
                </a:solidFill>
                <a:latin typeface="Calibri"/>
                <a:cs typeface="Calibri"/>
              </a:rPr>
              <a:t>U.role</a:t>
            </a:r>
            <a:r>
              <a:rPr sz="600" i="1" spc="6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spc="254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600" spc="6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”Manager”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and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0" dirty="0">
                <a:solidFill>
                  <a:srgbClr val="191933"/>
                </a:solidFill>
                <a:latin typeface="Arial MT"/>
                <a:cs typeface="Arial MT"/>
              </a:rPr>
              <a:t>corresponding</a:t>
            </a:r>
            <a:r>
              <a:rPr sz="6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permissions.</a:t>
            </a:r>
            <a:endParaRPr sz="600">
              <a:latin typeface="Arial MT"/>
              <a:cs typeface="Arial MT"/>
            </a:endParaRPr>
          </a:p>
          <a:p>
            <a:pPr marL="157480" indent="-120650">
              <a:lnSpc>
                <a:spcPct val="100000"/>
              </a:lnSpc>
              <a:spcBef>
                <a:spcPts val="280"/>
              </a:spcBef>
              <a:buClr>
                <a:srgbClr val="FFFFFF"/>
              </a:buClr>
              <a:buFont typeface="Arial MT"/>
              <a:buAutoNum type="arabicPlain"/>
              <a:tabLst>
                <a:tab pos="157480" algn="l"/>
              </a:tabLst>
            </a:pPr>
            <a:r>
              <a:rPr sz="600" b="1" dirty="0">
                <a:solidFill>
                  <a:srgbClr val="191933"/>
                </a:solidFill>
                <a:latin typeface="Arial"/>
                <a:cs typeface="Arial"/>
              </a:rPr>
              <a:t>Step</a:t>
            </a:r>
            <a:r>
              <a:rPr sz="600" b="1" spc="2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191933"/>
                </a:solidFill>
                <a:latin typeface="Arial"/>
                <a:cs typeface="Arial"/>
              </a:rPr>
              <a:t>3:</a:t>
            </a:r>
            <a:r>
              <a:rPr sz="600" b="1" spc="7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Evaluate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following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condition:</a:t>
            </a:r>
            <a:endParaRPr sz="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80"/>
              </a:spcBef>
              <a:buClr>
                <a:srgbClr val="FFFFFF"/>
              </a:buClr>
              <a:buFont typeface="Arial MT"/>
              <a:buAutoNum type="arabicPlain"/>
            </a:pPr>
            <a:endParaRPr sz="600">
              <a:latin typeface="Arial MT"/>
              <a:cs typeface="Arial MT"/>
            </a:endParaRPr>
          </a:p>
          <a:p>
            <a:pPr marL="786765">
              <a:lnSpc>
                <a:spcPct val="100000"/>
              </a:lnSpc>
            </a:pPr>
            <a:r>
              <a:rPr sz="600" spc="10" dirty="0">
                <a:solidFill>
                  <a:srgbClr val="191933"/>
                </a:solidFill>
                <a:latin typeface="Arial MT"/>
                <a:cs typeface="Arial MT"/>
              </a:rPr>
              <a:t>If</a:t>
            </a:r>
            <a:r>
              <a:rPr sz="600" spc="6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90" dirty="0">
                <a:solidFill>
                  <a:srgbClr val="191933"/>
                </a:solidFill>
                <a:latin typeface="Calibri"/>
                <a:cs typeface="Calibri"/>
              </a:rPr>
              <a:t>(</a:t>
            </a:r>
            <a:r>
              <a:rPr sz="600" i="1" spc="90" dirty="0">
                <a:solidFill>
                  <a:srgbClr val="191933"/>
                </a:solidFill>
                <a:latin typeface="Calibri"/>
                <a:cs typeface="Calibri"/>
              </a:rPr>
              <a:t>U.role</a:t>
            </a:r>
            <a:r>
              <a:rPr sz="600" i="1" spc="9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spc="254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600" spc="9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spc="10" dirty="0">
                <a:solidFill>
                  <a:srgbClr val="191933"/>
                </a:solidFill>
                <a:latin typeface="Arial MT"/>
                <a:cs typeface="Arial MT"/>
              </a:rPr>
              <a:t>”Manager”</a:t>
            </a:r>
            <a:r>
              <a:rPr sz="600" spc="10" dirty="0">
                <a:solidFill>
                  <a:srgbClr val="191933"/>
                </a:solidFill>
                <a:latin typeface="Calibri"/>
                <a:cs typeface="Calibri"/>
              </a:rPr>
              <a:t>)</a:t>
            </a:r>
            <a:r>
              <a:rPr sz="600" spc="4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spc="145" dirty="0">
                <a:solidFill>
                  <a:srgbClr val="191933"/>
                </a:solidFill>
                <a:latin typeface="Cambria"/>
                <a:cs typeface="Cambria"/>
              </a:rPr>
              <a:t>∧</a:t>
            </a:r>
            <a:r>
              <a:rPr sz="600" spc="55" dirty="0">
                <a:solidFill>
                  <a:srgbClr val="191933"/>
                </a:solidFill>
                <a:latin typeface="Cambria"/>
                <a:cs typeface="Cambria"/>
              </a:rPr>
              <a:t> </a:t>
            </a:r>
            <a:r>
              <a:rPr sz="600" spc="100" dirty="0">
                <a:solidFill>
                  <a:srgbClr val="191933"/>
                </a:solidFill>
                <a:latin typeface="Calibri"/>
                <a:cs typeface="Calibri"/>
              </a:rPr>
              <a:t>(</a:t>
            </a:r>
            <a:r>
              <a:rPr sz="600" i="1" spc="100" dirty="0">
                <a:solidFill>
                  <a:srgbClr val="191933"/>
                </a:solidFill>
                <a:latin typeface="Calibri"/>
                <a:cs typeface="Calibri"/>
              </a:rPr>
              <a:t>Res.type</a:t>
            </a:r>
            <a:r>
              <a:rPr sz="600" i="1" spc="9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spc="254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600" spc="9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spc="10" dirty="0">
                <a:solidFill>
                  <a:srgbClr val="191933"/>
                </a:solidFill>
                <a:latin typeface="Arial MT"/>
                <a:cs typeface="Arial MT"/>
              </a:rPr>
              <a:t>”Financial</a:t>
            </a:r>
            <a:r>
              <a:rPr sz="600" spc="6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10" dirty="0">
                <a:solidFill>
                  <a:srgbClr val="191933"/>
                </a:solidFill>
                <a:latin typeface="Arial MT"/>
                <a:cs typeface="Arial MT"/>
              </a:rPr>
              <a:t>Report”</a:t>
            </a:r>
            <a:r>
              <a:rPr sz="600" spc="10" dirty="0">
                <a:solidFill>
                  <a:srgbClr val="191933"/>
                </a:solidFill>
                <a:latin typeface="Calibri"/>
                <a:cs typeface="Calibri"/>
              </a:rPr>
              <a:t>)</a:t>
            </a:r>
            <a:r>
              <a:rPr sz="600" spc="9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spc="200" dirty="0">
                <a:solidFill>
                  <a:srgbClr val="191933"/>
                </a:solidFill>
                <a:latin typeface="Cambria"/>
                <a:cs typeface="Cambria"/>
              </a:rPr>
              <a:t>⇒</a:t>
            </a:r>
            <a:r>
              <a:rPr sz="600" spc="100" dirty="0">
                <a:solidFill>
                  <a:srgbClr val="191933"/>
                </a:solidFill>
                <a:latin typeface="Cambria"/>
                <a:cs typeface="Cambria"/>
              </a:rPr>
              <a:t> </a:t>
            </a:r>
            <a:r>
              <a:rPr sz="600" spc="10" dirty="0">
                <a:solidFill>
                  <a:srgbClr val="191933"/>
                </a:solidFill>
                <a:latin typeface="Arial MT"/>
                <a:cs typeface="Arial MT"/>
              </a:rPr>
              <a:t>Grant</a:t>
            </a:r>
            <a:r>
              <a:rPr sz="600" spc="6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Access</a:t>
            </a:r>
            <a:endParaRPr sz="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85"/>
              </a:spcBef>
            </a:pPr>
            <a:endParaRPr sz="600">
              <a:latin typeface="Arial MT"/>
              <a:cs typeface="Arial MT"/>
            </a:endParaRPr>
          </a:p>
          <a:p>
            <a:pPr marL="160020">
              <a:lnSpc>
                <a:spcPct val="100000"/>
              </a:lnSpc>
            </a:pP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Since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Alice’s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role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is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”Manager”</a:t>
            </a:r>
            <a:r>
              <a:rPr sz="6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and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0" dirty="0">
                <a:solidFill>
                  <a:srgbClr val="191933"/>
                </a:solidFill>
                <a:latin typeface="Arial MT"/>
                <a:cs typeface="Arial MT"/>
              </a:rPr>
              <a:t>resource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type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is</a:t>
            </a:r>
            <a:r>
              <a:rPr sz="6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”Financial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Report”,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condition</a:t>
            </a:r>
            <a:r>
              <a:rPr sz="6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is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true.</a:t>
            </a:r>
            <a:endParaRPr sz="600">
              <a:latin typeface="Arial MT"/>
              <a:cs typeface="Arial MT"/>
            </a:endParaRPr>
          </a:p>
          <a:p>
            <a:pPr marL="157480" indent="-120650">
              <a:lnSpc>
                <a:spcPct val="100000"/>
              </a:lnSpc>
              <a:spcBef>
                <a:spcPts val="275"/>
              </a:spcBef>
              <a:buClr>
                <a:srgbClr val="FFFFFF"/>
              </a:buClr>
              <a:buFont typeface="Arial MT"/>
              <a:buAutoNum type="arabicPlain" startAt="4"/>
              <a:tabLst>
                <a:tab pos="157480" algn="l"/>
              </a:tabLst>
            </a:pPr>
            <a:r>
              <a:rPr sz="600" b="1" dirty="0">
                <a:solidFill>
                  <a:srgbClr val="191933"/>
                </a:solidFill>
                <a:latin typeface="Arial"/>
                <a:cs typeface="Arial"/>
              </a:rPr>
              <a:t>Step</a:t>
            </a:r>
            <a:r>
              <a:rPr sz="600" b="1" spc="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191933"/>
                </a:solidFill>
                <a:latin typeface="Arial"/>
                <a:cs typeface="Arial"/>
              </a:rPr>
              <a:t>4:</a:t>
            </a:r>
            <a:r>
              <a:rPr sz="600" b="1" spc="5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Log</a:t>
            </a:r>
            <a:r>
              <a:rPr sz="6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Alice’s</a:t>
            </a:r>
            <a:r>
              <a:rPr sz="6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35" dirty="0">
                <a:solidFill>
                  <a:srgbClr val="191933"/>
                </a:solidFill>
                <a:latin typeface="Arial MT"/>
                <a:cs typeface="Arial MT"/>
              </a:rPr>
              <a:t>access</a:t>
            </a:r>
            <a:r>
              <a:rPr sz="6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request</a:t>
            </a:r>
            <a:r>
              <a:rPr sz="6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and</a:t>
            </a:r>
            <a:r>
              <a:rPr sz="6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6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outcome</a:t>
            </a:r>
            <a:r>
              <a:rPr sz="6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0" dirty="0">
                <a:solidFill>
                  <a:srgbClr val="191933"/>
                </a:solidFill>
                <a:latin typeface="Arial MT"/>
                <a:cs typeface="Arial MT"/>
              </a:rPr>
              <a:t>(Access</a:t>
            </a:r>
            <a:r>
              <a:rPr sz="6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granted).</a:t>
            </a:r>
            <a:endParaRPr sz="600">
              <a:latin typeface="Arial MT"/>
              <a:cs typeface="Arial MT"/>
            </a:endParaRPr>
          </a:p>
          <a:p>
            <a:pPr marL="157480" indent="-120650">
              <a:lnSpc>
                <a:spcPct val="100000"/>
              </a:lnSpc>
              <a:spcBef>
                <a:spcPts val="275"/>
              </a:spcBef>
              <a:buClr>
                <a:srgbClr val="FFFFFF"/>
              </a:buClr>
              <a:buFont typeface="Arial MT"/>
              <a:buAutoNum type="arabicPlain" startAt="4"/>
              <a:tabLst>
                <a:tab pos="157480" algn="l"/>
              </a:tabLst>
            </a:pPr>
            <a:r>
              <a:rPr sz="600" b="1" dirty="0">
                <a:solidFill>
                  <a:srgbClr val="191933"/>
                </a:solidFill>
                <a:latin typeface="Arial"/>
                <a:cs typeface="Arial"/>
              </a:rPr>
              <a:t>Step</a:t>
            </a:r>
            <a:r>
              <a:rPr sz="600" b="1" spc="1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191933"/>
                </a:solidFill>
                <a:latin typeface="Arial"/>
                <a:cs typeface="Arial"/>
              </a:rPr>
              <a:t>5:</a:t>
            </a:r>
            <a:r>
              <a:rPr sz="600" b="1" spc="7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No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alert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is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35" dirty="0">
                <a:solidFill>
                  <a:srgbClr val="191933"/>
                </a:solidFill>
                <a:latin typeface="Arial MT"/>
                <a:cs typeface="Arial MT"/>
              </a:rPr>
              <a:t>necessary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0" dirty="0">
                <a:solidFill>
                  <a:srgbClr val="191933"/>
                </a:solidFill>
                <a:latin typeface="Arial MT"/>
                <a:cs typeface="Arial MT"/>
              </a:rPr>
              <a:t>as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35" dirty="0">
                <a:solidFill>
                  <a:srgbClr val="191933"/>
                </a:solidFill>
                <a:latin typeface="Arial MT"/>
                <a:cs typeface="Arial MT"/>
              </a:rPr>
              <a:t>access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is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granted.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8" name="object 18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4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67</a:t>
            </a:r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93</a:t>
            </a:r>
          </a:p>
        </p:txBody>
      </p:sp>
    </p:spTree>
  </p:cSld>
  <p:clrMapOvr>
    <a:masterClrMapping/>
  </p:clrMapOvr>
  <p:transition>
    <p:cut/>
  </p:transition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Detailed ABAC </a:t>
            </a:r>
            <a:r>
              <a:rPr spc="-25" dirty="0"/>
              <a:t>Algorithm</a:t>
            </a:r>
            <a:r>
              <a:rPr spc="5" dirty="0"/>
              <a:t> </a:t>
            </a:r>
            <a:r>
              <a:rPr dirty="0"/>
              <a:t>for Worm</a:t>
            </a:r>
            <a:r>
              <a:rPr spc="5" dirty="0"/>
              <a:t> </a:t>
            </a:r>
            <a:r>
              <a:rPr spc="-25" dirty="0"/>
              <a:t>Prevention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828903"/>
            <a:ext cx="4432935" cy="198755"/>
          </a:xfrm>
          <a:custGeom>
            <a:avLst/>
            <a:gdLst/>
            <a:ahLst/>
            <a:cxnLst/>
            <a:rect l="l" t="t" r="r" b="b"/>
            <a:pathLst>
              <a:path w="4432935" h="198755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4432566" y="198367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2672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8544" y="857351"/>
            <a:ext cx="99631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35" dirty="0">
                <a:solidFill>
                  <a:srgbClr val="FFFFFF"/>
                </a:solidFill>
                <a:latin typeface="Tahoma"/>
                <a:cs typeface="Tahoma"/>
              </a:rPr>
              <a:t>Algorithm</a:t>
            </a:r>
            <a:r>
              <a:rPr sz="120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60" dirty="0">
                <a:solidFill>
                  <a:srgbClr val="FFFFFF"/>
                </a:solidFill>
                <a:latin typeface="Tahoma"/>
                <a:cs typeface="Tahoma"/>
              </a:rPr>
              <a:t>Steps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55511" y="2401490"/>
            <a:ext cx="114300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830">
              <a:lnSpc>
                <a:spcPts val="715"/>
              </a:lnSpc>
            </a:pPr>
            <a:r>
              <a:rPr sz="600" spc="-50" dirty="0">
                <a:solidFill>
                  <a:srgbClr val="FFFFFF"/>
                </a:solidFill>
                <a:latin typeface="Arial MT"/>
                <a:cs typeface="Arial MT"/>
              </a:rPr>
              <a:t>4</a:t>
            </a:r>
            <a:endParaRPr sz="600">
              <a:latin typeface="Arial MT"/>
              <a:cs typeface="Arial MT"/>
            </a:endParaRPr>
          </a:p>
          <a:p>
            <a:pPr marL="36830">
              <a:lnSpc>
                <a:spcPct val="100000"/>
              </a:lnSpc>
              <a:spcBef>
                <a:spcPts val="275"/>
              </a:spcBef>
            </a:pPr>
            <a:r>
              <a:rPr sz="600" spc="-50" dirty="0">
                <a:solidFill>
                  <a:srgbClr val="FFFFFF"/>
                </a:solidFill>
                <a:latin typeface="Arial MT"/>
                <a:cs typeface="Arial MT"/>
              </a:rPr>
              <a:t>5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38544" y="885819"/>
            <a:ext cx="4432935" cy="18313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600">
              <a:latin typeface="Times New Roman"/>
              <a:cs typeface="Times New Roman"/>
            </a:endParaRPr>
          </a:p>
          <a:p>
            <a:pPr marL="276860">
              <a:lnSpc>
                <a:spcPct val="100000"/>
              </a:lnSpc>
            </a:pPr>
            <a:r>
              <a:rPr sz="600" b="1" dirty="0">
                <a:solidFill>
                  <a:srgbClr val="191933"/>
                </a:solidFill>
                <a:latin typeface="Arial"/>
                <a:cs typeface="Arial"/>
              </a:rPr>
              <a:t>Input:</a:t>
            </a:r>
            <a:r>
              <a:rPr sz="600" b="1" spc="9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User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request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i="1" spc="114" dirty="0">
                <a:solidFill>
                  <a:srgbClr val="191933"/>
                </a:solidFill>
                <a:latin typeface="Calibri"/>
                <a:cs typeface="Calibri"/>
              </a:rPr>
              <a:t>R</a:t>
            </a:r>
            <a:r>
              <a:rPr sz="600" spc="114" dirty="0">
                <a:solidFill>
                  <a:srgbClr val="191933"/>
                </a:solidFill>
                <a:latin typeface="Arial MT"/>
                <a:cs typeface="Arial MT"/>
              </a:rPr>
              <a:t>,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ABAC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Policy</a:t>
            </a:r>
            <a:r>
              <a:rPr sz="6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i="1" spc="90" dirty="0">
                <a:solidFill>
                  <a:srgbClr val="191933"/>
                </a:solidFill>
                <a:latin typeface="Calibri"/>
                <a:cs typeface="Calibri"/>
              </a:rPr>
              <a:t>P</a:t>
            </a:r>
            <a:r>
              <a:rPr sz="750" i="1" spc="135" baseline="-16666" dirty="0">
                <a:solidFill>
                  <a:srgbClr val="191933"/>
                </a:solidFill>
                <a:latin typeface="Georgia"/>
                <a:cs typeface="Georgia"/>
              </a:rPr>
              <a:t>abac</a:t>
            </a:r>
            <a:r>
              <a:rPr sz="600" spc="90" dirty="0">
                <a:solidFill>
                  <a:srgbClr val="191933"/>
                </a:solidFill>
                <a:latin typeface="Arial MT"/>
                <a:cs typeface="Arial MT"/>
              </a:rPr>
              <a:t>,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User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attributes</a:t>
            </a:r>
            <a:r>
              <a:rPr sz="6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i="1" spc="110" dirty="0">
                <a:solidFill>
                  <a:srgbClr val="191933"/>
                </a:solidFill>
                <a:latin typeface="Calibri"/>
                <a:cs typeface="Calibri"/>
              </a:rPr>
              <a:t>U</a:t>
            </a:r>
            <a:r>
              <a:rPr sz="600" i="1" spc="-7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,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30" dirty="0">
                <a:solidFill>
                  <a:srgbClr val="191933"/>
                </a:solidFill>
                <a:latin typeface="Arial MT"/>
                <a:cs typeface="Arial MT"/>
              </a:rPr>
              <a:t>Resource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attributes</a:t>
            </a:r>
            <a:r>
              <a:rPr sz="6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i="1" spc="80" dirty="0">
                <a:solidFill>
                  <a:srgbClr val="191933"/>
                </a:solidFill>
                <a:latin typeface="Calibri"/>
                <a:cs typeface="Calibri"/>
              </a:rPr>
              <a:t>Res</a:t>
            </a:r>
            <a:r>
              <a:rPr sz="600" spc="80" dirty="0">
                <a:solidFill>
                  <a:srgbClr val="191933"/>
                </a:solidFill>
                <a:latin typeface="Arial MT"/>
                <a:cs typeface="Arial MT"/>
              </a:rPr>
              <a:t>.</a:t>
            </a:r>
            <a:endParaRPr sz="600">
              <a:latin typeface="Arial MT"/>
              <a:cs typeface="Arial MT"/>
            </a:endParaRPr>
          </a:p>
          <a:p>
            <a:pPr marL="276860">
              <a:lnSpc>
                <a:spcPct val="100000"/>
              </a:lnSpc>
              <a:spcBef>
                <a:spcPts val="275"/>
              </a:spcBef>
            </a:pPr>
            <a:r>
              <a:rPr sz="600" b="1" dirty="0">
                <a:solidFill>
                  <a:srgbClr val="191933"/>
                </a:solidFill>
                <a:latin typeface="Arial"/>
                <a:cs typeface="Arial"/>
              </a:rPr>
              <a:t>Output:</a:t>
            </a:r>
            <a:r>
              <a:rPr sz="600" b="1" spc="6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spc="-30" dirty="0">
                <a:solidFill>
                  <a:srgbClr val="191933"/>
                </a:solidFill>
                <a:latin typeface="Arial MT"/>
                <a:cs typeface="Arial MT"/>
              </a:rPr>
              <a:t>Access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granted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or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denied.</a:t>
            </a:r>
            <a:endParaRPr sz="600">
              <a:latin typeface="Arial MT"/>
              <a:cs typeface="Arial MT"/>
            </a:endParaRPr>
          </a:p>
          <a:p>
            <a:pPr marL="274320" indent="-120650">
              <a:lnSpc>
                <a:spcPct val="100000"/>
              </a:lnSpc>
              <a:spcBef>
                <a:spcPts val="575"/>
              </a:spcBef>
              <a:buClr>
                <a:srgbClr val="FFFFFF"/>
              </a:buClr>
              <a:buFont typeface="Arial MT"/>
              <a:buAutoNum type="arabicPlain"/>
              <a:tabLst>
                <a:tab pos="274320" algn="l"/>
              </a:tabLst>
            </a:pPr>
            <a:r>
              <a:rPr sz="600" b="1" dirty="0">
                <a:solidFill>
                  <a:srgbClr val="191933"/>
                </a:solidFill>
                <a:latin typeface="Arial"/>
                <a:cs typeface="Arial"/>
              </a:rPr>
              <a:t>Step</a:t>
            </a:r>
            <a:r>
              <a:rPr sz="600" b="1" spc="12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191933"/>
                </a:solidFill>
                <a:latin typeface="Arial"/>
                <a:cs typeface="Arial"/>
              </a:rPr>
              <a:t>1:</a:t>
            </a:r>
            <a:r>
              <a:rPr sz="600" b="1" spc="19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Extract</a:t>
            </a:r>
            <a:r>
              <a:rPr sz="600" spc="114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attributes:</a:t>
            </a:r>
            <a:r>
              <a:rPr sz="600" spc="2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Cambria"/>
                <a:cs typeface="Cambria"/>
              </a:rPr>
              <a:t>{</a:t>
            </a:r>
            <a:r>
              <a:rPr sz="600" i="1" dirty="0">
                <a:solidFill>
                  <a:srgbClr val="191933"/>
                </a:solidFill>
                <a:latin typeface="Calibri"/>
                <a:cs typeface="Calibri"/>
              </a:rPr>
              <a:t>U.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role</a:t>
            </a:r>
            <a:r>
              <a:rPr sz="600" i="1" dirty="0">
                <a:solidFill>
                  <a:srgbClr val="191933"/>
                </a:solidFill>
                <a:latin typeface="Calibri"/>
                <a:cs typeface="Calibri"/>
              </a:rPr>
              <a:t>,</a:t>
            </a:r>
            <a:r>
              <a:rPr sz="600" i="1" spc="3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i="1" dirty="0">
                <a:solidFill>
                  <a:srgbClr val="191933"/>
                </a:solidFill>
                <a:latin typeface="Calibri"/>
                <a:cs typeface="Calibri"/>
              </a:rPr>
              <a:t>U.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department</a:t>
            </a:r>
            <a:r>
              <a:rPr sz="600" i="1" dirty="0">
                <a:solidFill>
                  <a:srgbClr val="191933"/>
                </a:solidFill>
                <a:latin typeface="Calibri"/>
                <a:cs typeface="Calibri"/>
              </a:rPr>
              <a:t>,</a:t>
            </a:r>
            <a:r>
              <a:rPr sz="600" i="1" spc="3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i="1" dirty="0">
                <a:solidFill>
                  <a:srgbClr val="191933"/>
                </a:solidFill>
                <a:latin typeface="Calibri"/>
                <a:cs typeface="Calibri"/>
              </a:rPr>
              <a:t>U.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security</a:t>
            </a:r>
            <a:r>
              <a:rPr sz="600" spc="1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level</a:t>
            </a:r>
            <a:r>
              <a:rPr sz="600" i="1" dirty="0">
                <a:solidFill>
                  <a:srgbClr val="191933"/>
                </a:solidFill>
                <a:latin typeface="Calibri"/>
                <a:cs typeface="Calibri"/>
              </a:rPr>
              <a:t>,</a:t>
            </a:r>
            <a:r>
              <a:rPr sz="600" i="1" spc="3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i="1" spc="75" dirty="0">
                <a:solidFill>
                  <a:srgbClr val="191933"/>
                </a:solidFill>
                <a:latin typeface="Calibri"/>
                <a:cs typeface="Calibri"/>
              </a:rPr>
              <a:t>.</a:t>
            </a:r>
            <a:r>
              <a:rPr sz="600" i="1" spc="3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i="1" spc="75" dirty="0">
                <a:solidFill>
                  <a:srgbClr val="191933"/>
                </a:solidFill>
                <a:latin typeface="Calibri"/>
                <a:cs typeface="Calibri"/>
              </a:rPr>
              <a:t>.</a:t>
            </a:r>
            <a:r>
              <a:rPr sz="600" i="1" spc="3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i="1" spc="105" dirty="0">
                <a:solidFill>
                  <a:srgbClr val="191933"/>
                </a:solidFill>
                <a:latin typeface="Calibri"/>
                <a:cs typeface="Calibri"/>
              </a:rPr>
              <a:t>.</a:t>
            </a:r>
            <a:r>
              <a:rPr sz="600" spc="105" dirty="0">
                <a:solidFill>
                  <a:srgbClr val="191933"/>
                </a:solidFill>
                <a:latin typeface="Cambria"/>
                <a:cs typeface="Cambria"/>
              </a:rPr>
              <a:t>}</a:t>
            </a:r>
            <a:r>
              <a:rPr sz="600" spc="155" dirty="0">
                <a:solidFill>
                  <a:srgbClr val="191933"/>
                </a:solidFill>
                <a:latin typeface="Cambria"/>
                <a:cs typeface="Cambria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and</a:t>
            </a:r>
            <a:r>
              <a:rPr sz="600" spc="114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65" dirty="0">
                <a:solidFill>
                  <a:srgbClr val="191933"/>
                </a:solidFill>
                <a:latin typeface="Cambria"/>
                <a:cs typeface="Cambria"/>
              </a:rPr>
              <a:t>{</a:t>
            </a:r>
            <a:r>
              <a:rPr sz="600" i="1" spc="65" dirty="0">
                <a:solidFill>
                  <a:srgbClr val="191933"/>
                </a:solidFill>
                <a:latin typeface="Calibri"/>
                <a:cs typeface="Calibri"/>
              </a:rPr>
              <a:t>Res.</a:t>
            </a:r>
            <a:r>
              <a:rPr sz="600" spc="65" dirty="0">
                <a:solidFill>
                  <a:srgbClr val="191933"/>
                </a:solidFill>
                <a:latin typeface="Arial MT"/>
                <a:cs typeface="Arial MT"/>
              </a:rPr>
              <a:t>type</a:t>
            </a:r>
            <a:r>
              <a:rPr sz="600" i="1" spc="65" dirty="0">
                <a:solidFill>
                  <a:srgbClr val="191933"/>
                </a:solidFill>
                <a:latin typeface="Calibri"/>
                <a:cs typeface="Calibri"/>
              </a:rPr>
              <a:t>,</a:t>
            </a:r>
            <a:r>
              <a:rPr sz="600" i="1" spc="3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i="1" dirty="0">
                <a:solidFill>
                  <a:srgbClr val="191933"/>
                </a:solidFill>
                <a:latin typeface="Calibri"/>
                <a:cs typeface="Calibri"/>
              </a:rPr>
              <a:t>Res.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sensitivity</a:t>
            </a:r>
            <a:r>
              <a:rPr sz="600" spc="1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level</a:t>
            </a:r>
            <a:r>
              <a:rPr sz="600" i="1" dirty="0">
                <a:solidFill>
                  <a:srgbClr val="191933"/>
                </a:solidFill>
                <a:latin typeface="Calibri"/>
                <a:cs typeface="Calibri"/>
              </a:rPr>
              <a:t>,</a:t>
            </a:r>
            <a:r>
              <a:rPr sz="600" i="1" spc="3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i="1" spc="75" dirty="0">
                <a:solidFill>
                  <a:srgbClr val="191933"/>
                </a:solidFill>
                <a:latin typeface="Calibri"/>
                <a:cs typeface="Calibri"/>
              </a:rPr>
              <a:t>.</a:t>
            </a:r>
            <a:r>
              <a:rPr sz="600" i="1" spc="3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i="1" spc="75" dirty="0">
                <a:solidFill>
                  <a:srgbClr val="191933"/>
                </a:solidFill>
                <a:latin typeface="Calibri"/>
                <a:cs typeface="Calibri"/>
              </a:rPr>
              <a:t>.</a:t>
            </a:r>
            <a:r>
              <a:rPr sz="600" i="1" spc="3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i="1" spc="50" dirty="0">
                <a:solidFill>
                  <a:srgbClr val="191933"/>
                </a:solidFill>
                <a:latin typeface="Calibri"/>
                <a:cs typeface="Calibri"/>
              </a:rPr>
              <a:t>.</a:t>
            </a:r>
            <a:r>
              <a:rPr sz="600" spc="50" dirty="0">
                <a:solidFill>
                  <a:srgbClr val="191933"/>
                </a:solidFill>
                <a:latin typeface="Cambria"/>
                <a:cs typeface="Cambria"/>
              </a:rPr>
              <a:t>}</a:t>
            </a:r>
            <a:r>
              <a:rPr sz="600" spc="50" dirty="0">
                <a:solidFill>
                  <a:srgbClr val="191933"/>
                </a:solidFill>
                <a:latin typeface="Arial MT"/>
                <a:cs typeface="Arial MT"/>
              </a:rPr>
              <a:t>.</a:t>
            </a:r>
            <a:endParaRPr sz="600">
              <a:latin typeface="Arial MT"/>
              <a:cs typeface="Arial MT"/>
            </a:endParaRPr>
          </a:p>
          <a:p>
            <a:pPr marL="274320" indent="-120650">
              <a:lnSpc>
                <a:spcPct val="100000"/>
              </a:lnSpc>
              <a:spcBef>
                <a:spcPts val="275"/>
              </a:spcBef>
              <a:buClr>
                <a:srgbClr val="FFFFFF"/>
              </a:buClr>
              <a:buFont typeface="Arial MT"/>
              <a:buAutoNum type="arabicPlain"/>
              <a:tabLst>
                <a:tab pos="274320" algn="l"/>
              </a:tabLst>
            </a:pPr>
            <a:r>
              <a:rPr sz="600" b="1" dirty="0">
                <a:solidFill>
                  <a:srgbClr val="191933"/>
                </a:solidFill>
                <a:latin typeface="Arial"/>
                <a:cs typeface="Arial"/>
              </a:rPr>
              <a:t>Step</a:t>
            </a:r>
            <a:r>
              <a:rPr sz="600" b="1" spc="3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191933"/>
                </a:solidFill>
                <a:latin typeface="Arial"/>
                <a:cs typeface="Arial"/>
              </a:rPr>
              <a:t>2:</a:t>
            </a:r>
            <a:r>
              <a:rPr sz="600" b="1" spc="9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Match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user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attributes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against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policy:</a:t>
            </a:r>
            <a:endParaRPr sz="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85"/>
              </a:spcBef>
              <a:buClr>
                <a:srgbClr val="FFFFFF"/>
              </a:buClr>
              <a:buFont typeface="Arial MT"/>
              <a:buAutoNum type="arabicPlain"/>
            </a:pPr>
            <a:endParaRPr sz="600">
              <a:latin typeface="Arial MT"/>
              <a:cs typeface="Arial MT"/>
            </a:endParaRPr>
          </a:p>
          <a:p>
            <a:pPr marL="175260" algn="ctr">
              <a:lnSpc>
                <a:spcPct val="100000"/>
              </a:lnSpc>
            </a:pP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If</a:t>
            </a:r>
            <a:r>
              <a:rPr sz="600" spc="17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Calibri"/>
                <a:cs typeface="Calibri"/>
              </a:rPr>
              <a:t>(</a:t>
            </a:r>
            <a:r>
              <a:rPr sz="600" i="1" dirty="0">
                <a:solidFill>
                  <a:srgbClr val="191933"/>
                </a:solidFill>
                <a:latin typeface="Calibri"/>
                <a:cs typeface="Calibri"/>
              </a:rPr>
              <a:t>U.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department</a:t>
            </a:r>
            <a:r>
              <a:rPr sz="600" spc="17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254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600" spc="204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i="1" dirty="0">
                <a:solidFill>
                  <a:srgbClr val="191933"/>
                </a:solidFill>
                <a:latin typeface="Calibri"/>
                <a:cs typeface="Calibri"/>
              </a:rPr>
              <a:t>P</a:t>
            </a:r>
            <a:r>
              <a:rPr sz="750" i="1" baseline="-16666" dirty="0">
                <a:solidFill>
                  <a:srgbClr val="191933"/>
                </a:solidFill>
                <a:latin typeface="Georgia"/>
                <a:cs typeface="Georgia"/>
              </a:rPr>
              <a:t>abac</a:t>
            </a:r>
            <a:r>
              <a:rPr sz="600" i="1" dirty="0">
                <a:solidFill>
                  <a:srgbClr val="191933"/>
                </a:solidFill>
                <a:latin typeface="Calibri"/>
                <a:cs typeface="Calibri"/>
              </a:rPr>
              <a:t>.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department</a:t>
            </a:r>
            <a:r>
              <a:rPr sz="600" dirty="0">
                <a:solidFill>
                  <a:srgbClr val="191933"/>
                </a:solidFill>
                <a:latin typeface="Calibri"/>
                <a:cs typeface="Calibri"/>
              </a:rPr>
              <a:t>)</a:t>
            </a:r>
            <a:r>
              <a:rPr sz="600" spc="13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spc="145" dirty="0">
                <a:solidFill>
                  <a:srgbClr val="191933"/>
                </a:solidFill>
                <a:latin typeface="Cambria"/>
                <a:cs typeface="Cambria"/>
              </a:rPr>
              <a:t>∧</a:t>
            </a:r>
            <a:r>
              <a:rPr sz="600" spc="140" dirty="0">
                <a:solidFill>
                  <a:srgbClr val="191933"/>
                </a:solidFill>
                <a:latin typeface="Cambria"/>
                <a:cs typeface="Cambria"/>
              </a:rPr>
              <a:t> </a:t>
            </a:r>
            <a:r>
              <a:rPr sz="600" dirty="0">
                <a:solidFill>
                  <a:srgbClr val="191933"/>
                </a:solidFill>
                <a:latin typeface="Calibri"/>
                <a:cs typeface="Calibri"/>
              </a:rPr>
              <a:t>(</a:t>
            </a:r>
            <a:r>
              <a:rPr sz="600" i="1" dirty="0">
                <a:solidFill>
                  <a:srgbClr val="191933"/>
                </a:solidFill>
                <a:latin typeface="Calibri"/>
                <a:cs typeface="Calibri"/>
              </a:rPr>
              <a:t>U.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security</a:t>
            </a:r>
            <a:r>
              <a:rPr sz="600" spc="19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level</a:t>
            </a:r>
            <a:r>
              <a:rPr sz="600" spc="17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235" dirty="0">
                <a:solidFill>
                  <a:srgbClr val="191933"/>
                </a:solidFill>
                <a:latin typeface="Cambria"/>
                <a:cs typeface="Cambria"/>
              </a:rPr>
              <a:t>≥</a:t>
            </a:r>
            <a:r>
              <a:rPr sz="600" spc="210" dirty="0">
                <a:solidFill>
                  <a:srgbClr val="191933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191933"/>
                </a:solidFill>
                <a:latin typeface="Calibri"/>
                <a:cs typeface="Calibri"/>
              </a:rPr>
              <a:t>Res.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sensitivity</a:t>
            </a:r>
            <a:r>
              <a:rPr sz="600" spc="19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level</a:t>
            </a:r>
            <a:r>
              <a:rPr sz="600" dirty="0">
                <a:solidFill>
                  <a:srgbClr val="191933"/>
                </a:solidFill>
                <a:latin typeface="Calibri"/>
                <a:cs typeface="Calibri"/>
              </a:rPr>
              <a:t>)</a:t>
            </a:r>
            <a:r>
              <a:rPr sz="600" spc="204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spc="200" dirty="0">
                <a:solidFill>
                  <a:srgbClr val="191933"/>
                </a:solidFill>
                <a:latin typeface="Cambria"/>
                <a:cs typeface="Cambria"/>
              </a:rPr>
              <a:t>⇒</a:t>
            </a:r>
            <a:r>
              <a:rPr sz="600" spc="210" dirty="0">
                <a:solidFill>
                  <a:srgbClr val="191933"/>
                </a:solidFill>
                <a:latin typeface="Cambria"/>
                <a:cs typeface="Cambria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Grant</a:t>
            </a:r>
            <a:r>
              <a:rPr sz="600" spc="17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Access</a:t>
            </a:r>
            <a:endParaRPr sz="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85"/>
              </a:spcBef>
            </a:pPr>
            <a:endParaRPr sz="600">
              <a:latin typeface="Arial MT"/>
              <a:cs typeface="Arial MT"/>
            </a:endParaRPr>
          </a:p>
          <a:p>
            <a:pPr marL="274320" indent="-120650">
              <a:lnSpc>
                <a:spcPct val="100000"/>
              </a:lnSpc>
              <a:buClr>
                <a:srgbClr val="FFFFFF"/>
              </a:buClr>
              <a:buFont typeface="Arial MT"/>
              <a:buAutoNum type="arabicPlain" startAt="3"/>
              <a:tabLst>
                <a:tab pos="274320" algn="l"/>
              </a:tabLst>
            </a:pPr>
            <a:r>
              <a:rPr sz="600" b="1" dirty="0">
                <a:solidFill>
                  <a:srgbClr val="191933"/>
                </a:solidFill>
                <a:latin typeface="Arial"/>
                <a:cs typeface="Arial"/>
              </a:rPr>
              <a:t>Step</a:t>
            </a:r>
            <a:r>
              <a:rPr sz="600" b="1" spc="1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191933"/>
                </a:solidFill>
                <a:latin typeface="Arial"/>
                <a:cs typeface="Arial"/>
              </a:rPr>
              <a:t>3:</a:t>
            </a:r>
            <a:r>
              <a:rPr sz="600" b="1" spc="5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Evaluate</a:t>
            </a:r>
            <a:r>
              <a:rPr sz="6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any</a:t>
            </a:r>
            <a:r>
              <a:rPr sz="6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additional</a:t>
            </a:r>
            <a:r>
              <a:rPr sz="6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conditions</a:t>
            </a:r>
            <a:r>
              <a:rPr sz="6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defined</a:t>
            </a:r>
            <a:r>
              <a:rPr sz="6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in</a:t>
            </a:r>
            <a:r>
              <a:rPr sz="6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i="1" spc="80" dirty="0">
                <a:solidFill>
                  <a:srgbClr val="191933"/>
                </a:solidFill>
                <a:latin typeface="Calibri"/>
                <a:cs typeface="Calibri"/>
              </a:rPr>
              <a:t>P</a:t>
            </a:r>
            <a:r>
              <a:rPr sz="750" i="1" spc="120" baseline="-16666" dirty="0">
                <a:solidFill>
                  <a:srgbClr val="191933"/>
                </a:solidFill>
                <a:latin typeface="Georgia"/>
                <a:cs typeface="Georgia"/>
              </a:rPr>
              <a:t>abac</a:t>
            </a:r>
            <a:r>
              <a:rPr sz="600" spc="80" dirty="0">
                <a:solidFill>
                  <a:srgbClr val="191933"/>
                </a:solidFill>
                <a:latin typeface="Arial MT"/>
                <a:cs typeface="Arial MT"/>
              </a:rPr>
              <a:t>:</a:t>
            </a:r>
            <a:endParaRPr sz="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80"/>
              </a:spcBef>
            </a:pPr>
            <a:endParaRPr sz="600">
              <a:latin typeface="Arial MT"/>
              <a:cs typeface="Arial MT"/>
            </a:endParaRPr>
          </a:p>
          <a:p>
            <a:pPr marL="1302385">
              <a:lnSpc>
                <a:spcPct val="100000"/>
              </a:lnSpc>
            </a:pP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If</a:t>
            </a:r>
            <a:r>
              <a:rPr sz="600" spc="7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85" dirty="0">
                <a:solidFill>
                  <a:srgbClr val="191933"/>
                </a:solidFill>
                <a:latin typeface="Cambria"/>
                <a:cs typeface="Cambria"/>
              </a:rPr>
              <a:t>∀</a:t>
            </a:r>
            <a:r>
              <a:rPr sz="600" i="1" spc="85" dirty="0">
                <a:solidFill>
                  <a:srgbClr val="191933"/>
                </a:solidFill>
                <a:latin typeface="Calibri"/>
                <a:cs typeface="Calibri"/>
              </a:rPr>
              <a:t>i</a:t>
            </a:r>
            <a:r>
              <a:rPr sz="600" i="1" spc="11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spc="20" dirty="0">
                <a:solidFill>
                  <a:srgbClr val="191933"/>
                </a:solidFill>
                <a:latin typeface="Calibri"/>
                <a:cs typeface="Calibri"/>
              </a:rPr>
              <a:t>(</a:t>
            </a:r>
            <a:r>
              <a:rPr sz="600" i="1" spc="20" dirty="0">
                <a:solidFill>
                  <a:srgbClr val="191933"/>
                </a:solidFill>
                <a:latin typeface="Calibri"/>
                <a:cs typeface="Calibri"/>
              </a:rPr>
              <a:t>U.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attribute</a:t>
            </a:r>
            <a:r>
              <a:rPr sz="750" i="1" spc="30" baseline="-16666" dirty="0">
                <a:solidFill>
                  <a:srgbClr val="191933"/>
                </a:solidFill>
                <a:latin typeface="Georgia"/>
                <a:cs typeface="Georgia"/>
              </a:rPr>
              <a:t>i</a:t>
            </a:r>
            <a:r>
              <a:rPr sz="750" i="1" spc="284" baseline="-16666" dirty="0">
                <a:solidFill>
                  <a:srgbClr val="191933"/>
                </a:solidFill>
                <a:latin typeface="Georgia"/>
                <a:cs typeface="Georgia"/>
              </a:rPr>
              <a:t> </a:t>
            </a:r>
            <a:r>
              <a:rPr sz="600" spc="254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600" spc="11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i="1" spc="55" dirty="0">
                <a:solidFill>
                  <a:srgbClr val="191933"/>
                </a:solidFill>
                <a:latin typeface="Calibri"/>
                <a:cs typeface="Calibri"/>
              </a:rPr>
              <a:t>P</a:t>
            </a:r>
            <a:r>
              <a:rPr sz="750" i="1" spc="82" baseline="-16666" dirty="0">
                <a:solidFill>
                  <a:srgbClr val="191933"/>
                </a:solidFill>
                <a:latin typeface="Georgia"/>
                <a:cs typeface="Georgia"/>
              </a:rPr>
              <a:t>abac</a:t>
            </a:r>
            <a:r>
              <a:rPr sz="600" i="1" spc="55" dirty="0">
                <a:solidFill>
                  <a:srgbClr val="191933"/>
                </a:solidFill>
                <a:latin typeface="Calibri"/>
                <a:cs typeface="Calibri"/>
              </a:rPr>
              <a:t>.</a:t>
            </a:r>
            <a:r>
              <a:rPr sz="600" spc="55" dirty="0">
                <a:solidFill>
                  <a:srgbClr val="191933"/>
                </a:solidFill>
                <a:latin typeface="Arial MT"/>
                <a:cs typeface="Arial MT"/>
              </a:rPr>
              <a:t>attribute</a:t>
            </a:r>
            <a:r>
              <a:rPr sz="750" i="1" spc="82" baseline="-16666" dirty="0">
                <a:solidFill>
                  <a:srgbClr val="191933"/>
                </a:solidFill>
                <a:latin typeface="Georgia"/>
                <a:cs typeface="Georgia"/>
              </a:rPr>
              <a:t>i</a:t>
            </a:r>
            <a:r>
              <a:rPr sz="600" spc="55" dirty="0">
                <a:solidFill>
                  <a:srgbClr val="191933"/>
                </a:solidFill>
                <a:latin typeface="Calibri"/>
                <a:cs typeface="Calibri"/>
              </a:rPr>
              <a:t>)</a:t>
            </a:r>
            <a:r>
              <a:rPr sz="600" spc="11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spc="200" dirty="0">
                <a:solidFill>
                  <a:srgbClr val="191933"/>
                </a:solidFill>
                <a:latin typeface="Cambria"/>
                <a:cs typeface="Cambria"/>
              </a:rPr>
              <a:t>⇒</a:t>
            </a:r>
            <a:r>
              <a:rPr sz="600" spc="114" dirty="0">
                <a:solidFill>
                  <a:srgbClr val="191933"/>
                </a:solidFill>
                <a:latin typeface="Cambria"/>
                <a:cs typeface="Cambria"/>
              </a:rPr>
              <a:t> </a:t>
            </a:r>
            <a:r>
              <a:rPr sz="600" spc="10" dirty="0">
                <a:solidFill>
                  <a:srgbClr val="191933"/>
                </a:solidFill>
                <a:latin typeface="Arial MT"/>
                <a:cs typeface="Arial MT"/>
              </a:rPr>
              <a:t>Grant</a:t>
            </a:r>
            <a:r>
              <a:rPr sz="600" spc="8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Access</a:t>
            </a:r>
            <a:endParaRPr sz="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85"/>
              </a:spcBef>
            </a:pPr>
            <a:endParaRPr sz="600">
              <a:latin typeface="Arial MT"/>
              <a:cs typeface="Arial MT"/>
            </a:endParaRPr>
          </a:p>
          <a:p>
            <a:pPr marL="276860">
              <a:lnSpc>
                <a:spcPct val="100000"/>
              </a:lnSpc>
            </a:pPr>
            <a:r>
              <a:rPr sz="600" b="1" dirty="0">
                <a:solidFill>
                  <a:srgbClr val="191933"/>
                </a:solidFill>
                <a:latin typeface="Arial"/>
                <a:cs typeface="Arial"/>
              </a:rPr>
              <a:t>Step</a:t>
            </a:r>
            <a:r>
              <a:rPr sz="600" b="1" spc="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191933"/>
                </a:solidFill>
                <a:latin typeface="Arial"/>
                <a:cs typeface="Arial"/>
              </a:rPr>
              <a:t>4:</a:t>
            </a:r>
            <a:r>
              <a:rPr sz="600" b="1" spc="4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Log </a:t>
            </a:r>
            <a:r>
              <a:rPr sz="600" spc="-35" dirty="0">
                <a:solidFill>
                  <a:srgbClr val="191933"/>
                </a:solidFill>
                <a:latin typeface="Arial MT"/>
                <a:cs typeface="Arial MT"/>
              </a:rPr>
              <a:t>access</a:t>
            </a:r>
            <a:r>
              <a:rPr sz="6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request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 and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decision.</a:t>
            </a:r>
            <a:endParaRPr sz="600">
              <a:latin typeface="Arial MT"/>
              <a:cs typeface="Arial MT"/>
            </a:endParaRPr>
          </a:p>
          <a:p>
            <a:pPr marL="276860">
              <a:lnSpc>
                <a:spcPct val="100000"/>
              </a:lnSpc>
              <a:spcBef>
                <a:spcPts val="275"/>
              </a:spcBef>
            </a:pPr>
            <a:r>
              <a:rPr sz="600" b="1" dirty="0">
                <a:solidFill>
                  <a:srgbClr val="191933"/>
                </a:solidFill>
                <a:latin typeface="Arial"/>
                <a:cs typeface="Arial"/>
              </a:rPr>
              <a:t>Step</a:t>
            </a:r>
            <a:r>
              <a:rPr sz="600" b="1" spc="4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191933"/>
                </a:solidFill>
                <a:latin typeface="Arial"/>
                <a:cs typeface="Arial"/>
              </a:rPr>
              <a:t>5:</a:t>
            </a:r>
            <a:r>
              <a:rPr sz="600" b="1" spc="10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191933"/>
                </a:solidFill>
                <a:latin typeface="Arial"/>
                <a:cs typeface="Arial"/>
              </a:rPr>
              <a:t>If</a:t>
            </a:r>
            <a:r>
              <a:rPr sz="600" b="1" spc="7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denied,</a:t>
            </a:r>
            <a:r>
              <a:rPr sz="6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notify</a:t>
            </a:r>
            <a:r>
              <a:rPr sz="6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security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monitoring</a:t>
            </a:r>
            <a:r>
              <a:rPr sz="6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system.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21" name="object 21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4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68</a:t>
            </a:r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93</a:t>
            </a:r>
          </a:p>
        </p:txBody>
      </p:sp>
    </p:spTree>
  </p:cSld>
  <p:clrMapOvr>
    <a:masterClrMapping/>
  </p:clrMapOvr>
  <p:transition>
    <p:cut/>
  </p:transition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1013"/>
            <a:ext cx="106680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0" dirty="0"/>
              <a:t>Scenario</a:t>
            </a:r>
            <a:r>
              <a:rPr spc="5" dirty="0"/>
              <a:t> </a:t>
            </a:r>
            <a:r>
              <a:rPr spc="-25" dirty="0"/>
              <a:t>Setup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630364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820153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0865" y="1009967"/>
            <a:ext cx="52590" cy="5259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0865" y="1161796"/>
            <a:ext cx="52590" cy="5259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0865" y="1313624"/>
            <a:ext cx="52590" cy="5259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70865" y="1465453"/>
            <a:ext cx="52590" cy="5259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1089" y="1642567"/>
            <a:ext cx="65265" cy="6526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70865" y="1832381"/>
            <a:ext cx="52590" cy="52590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2218448" y="1884972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7960" y="0"/>
                </a:lnTo>
              </a:path>
            </a:pathLst>
          </a:custGeom>
          <a:ln w="5054">
            <a:solidFill>
              <a:srgbClr val="1919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70865" y="1984210"/>
            <a:ext cx="52590" cy="5259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70865" y="2136038"/>
            <a:ext cx="52590" cy="5259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70865" y="2287879"/>
            <a:ext cx="52590" cy="52590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281089" y="2464993"/>
            <a:ext cx="65265" cy="65265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70865" y="2654795"/>
            <a:ext cx="52590" cy="52590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570865" y="2806623"/>
            <a:ext cx="52590" cy="52590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570865" y="2958465"/>
            <a:ext cx="52590" cy="52590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377532" y="523390"/>
            <a:ext cx="3717290" cy="252857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75"/>
              </a:spcBef>
            </a:pPr>
            <a:r>
              <a:rPr sz="1100" b="1" spc="-20" dirty="0">
                <a:solidFill>
                  <a:srgbClr val="191933"/>
                </a:solidFill>
                <a:latin typeface="Arial"/>
                <a:cs typeface="Arial"/>
              </a:rPr>
              <a:t>User</a:t>
            </a:r>
            <a:r>
              <a:rPr sz="1100" b="1" spc="6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-40" dirty="0">
                <a:solidFill>
                  <a:srgbClr val="191933"/>
                </a:solidFill>
                <a:latin typeface="Arial"/>
                <a:cs typeface="Arial"/>
              </a:rPr>
              <a:t>Request</a:t>
            </a:r>
            <a:r>
              <a:rPr sz="1100" b="1" spc="6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191933"/>
                </a:solidFill>
                <a:latin typeface="Arial"/>
                <a:cs typeface="Arial"/>
              </a:rPr>
              <a:t>(R):</a:t>
            </a:r>
            <a:r>
              <a:rPr sz="1100" b="1" spc="3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Bob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attempts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to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55" dirty="0">
                <a:solidFill>
                  <a:srgbClr val="191933"/>
                </a:solidFill>
                <a:latin typeface="Tahoma"/>
                <a:cs typeface="Tahoma"/>
              </a:rPr>
              <a:t>access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a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confidential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 file.</a:t>
            </a:r>
            <a:endParaRPr sz="110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175"/>
              </a:spcBef>
            </a:pPr>
            <a:r>
              <a:rPr sz="1100" b="1" spc="-20" dirty="0">
                <a:solidFill>
                  <a:srgbClr val="191933"/>
                </a:solidFill>
                <a:latin typeface="Arial"/>
                <a:cs typeface="Arial"/>
              </a:rPr>
              <a:t>User</a:t>
            </a:r>
            <a:r>
              <a:rPr sz="1100" b="1" spc="-2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191933"/>
                </a:solidFill>
                <a:latin typeface="Arial"/>
                <a:cs typeface="Arial"/>
              </a:rPr>
              <a:t>Attributes</a:t>
            </a:r>
            <a:r>
              <a:rPr sz="1100" b="1" spc="-2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30" dirty="0">
                <a:solidFill>
                  <a:srgbClr val="191933"/>
                </a:solidFill>
                <a:latin typeface="Arial"/>
                <a:cs typeface="Arial"/>
              </a:rPr>
              <a:t>(U):</a:t>
            </a:r>
            <a:endParaRPr sz="1100">
              <a:latin typeface="Arial"/>
              <a:cs typeface="Arial"/>
            </a:endParaRPr>
          </a:p>
          <a:p>
            <a:pPr marL="314960" marR="2505710">
              <a:lnSpc>
                <a:spcPct val="100000"/>
              </a:lnSpc>
              <a:spcBef>
                <a:spcPts val="175"/>
              </a:spcBef>
            </a:pP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Name:</a:t>
            </a:r>
            <a:r>
              <a:rPr sz="1000" spc="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Bob</a:t>
            </a:r>
            <a:r>
              <a:rPr sz="1000" spc="-10" dirty="0">
                <a:solidFill>
                  <a:srgbClr val="191933"/>
                </a:solidFill>
                <a:latin typeface="Tahoma"/>
                <a:cs typeface="Tahoma"/>
              </a:rPr>
              <a:t> Role:</a:t>
            </a:r>
            <a:r>
              <a:rPr sz="1000" spc="-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191933"/>
                </a:solidFill>
                <a:latin typeface="Tahoma"/>
                <a:cs typeface="Tahoma"/>
              </a:rPr>
              <a:t>Manager </a:t>
            </a:r>
            <a:r>
              <a:rPr sz="1000" spc="-30" dirty="0">
                <a:solidFill>
                  <a:srgbClr val="191933"/>
                </a:solidFill>
                <a:latin typeface="Tahoma"/>
                <a:cs typeface="Tahoma"/>
              </a:rPr>
              <a:t>Department:</a:t>
            </a:r>
            <a:r>
              <a:rPr sz="1000" spc="6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IT Security</a:t>
            </a:r>
            <a:r>
              <a:rPr sz="10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Level:</a:t>
            </a:r>
            <a:r>
              <a:rPr sz="1000" spc="6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60" dirty="0">
                <a:solidFill>
                  <a:srgbClr val="191933"/>
                </a:solidFill>
                <a:latin typeface="Tahoma"/>
                <a:cs typeface="Tahoma"/>
              </a:rPr>
              <a:t>6</a:t>
            </a:r>
            <a:endParaRPr sz="1000">
              <a:latin typeface="Tahoma"/>
              <a:cs typeface="Tahoma"/>
            </a:endParaRPr>
          </a:p>
          <a:p>
            <a:pPr marL="314960" marR="1490980" indent="-277495">
              <a:lnSpc>
                <a:spcPct val="106400"/>
              </a:lnSpc>
              <a:spcBef>
                <a:spcPts val="95"/>
              </a:spcBef>
            </a:pPr>
            <a:r>
              <a:rPr sz="1100" b="1" spc="-60" dirty="0">
                <a:solidFill>
                  <a:srgbClr val="191933"/>
                </a:solidFill>
                <a:latin typeface="Arial"/>
                <a:cs typeface="Arial"/>
              </a:rPr>
              <a:t>Resource</a:t>
            </a:r>
            <a:r>
              <a:rPr sz="1100" b="1" spc="-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191933"/>
                </a:solidFill>
                <a:latin typeface="Arial"/>
                <a:cs typeface="Arial"/>
              </a:rPr>
              <a:t>Attributes</a:t>
            </a:r>
            <a:r>
              <a:rPr sz="1100" b="1" spc="-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191933"/>
                </a:solidFill>
                <a:latin typeface="Arial"/>
                <a:cs typeface="Arial"/>
              </a:rPr>
              <a:t>(Res):</a:t>
            </a:r>
            <a:r>
              <a:rPr sz="1100" b="1" spc="50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000" spc="-40" dirty="0">
                <a:solidFill>
                  <a:srgbClr val="191933"/>
                </a:solidFill>
                <a:latin typeface="Tahoma"/>
                <a:cs typeface="Tahoma"/>
              </a:rPr>
              <a:t>Resource</a:t>
            </a:r>
            <a:r>
              <a:rPr sz="10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Name:</a:t>
            </a:r>
            <a:r>
              <a:rPr sz="1000" spc="7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confidential</a:t>
            </a:r>
            <a:r>
              <a:rPr sz="1000" spc="-10" dirty="0">
                <a:solidFill>
                  <a:srgbClr val="191933"/>
                </a:solidFill>
                <a:latin typeface="Tahoma"/>
                <a:cs typeface="Tahoma"/>
              </a:rPr>
              <a:t> file.txt </a:t>
            </a:r>
            <a:r>
              <a:rPr sz="1000" spc="-40" dirty="0">
                <a:solidFill>
                  <a:srgbClr val="191933"/>
                </a:solidFill>
                <a:latin typeface="Tahoma"/>
                <a:cs typeface="Tahoma"/>
              </a:rPr>
              <a:t>Resource </a:t>
            </a:r>
            <a:r>
              <a:rPr sz="1000" spc="-20" dirty="0">
                <a:solidFill>
                  <a:srgbClr val="191933"/>
                </a:solidFill>
                <a:latin typeface="Tahoma"/>
                <a:cs typeface="Tahoma"/>
              </a:rPr>
              <a:t>Type:</a:t>
            </a:r>
            <a:r>
              <a:rPr sz="1000" spc="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20" dirty="0">
                <a:solidFill>
                  <a:srgbClr val="191933"/>
                </a:solidFill>
                <a:latin typeface="Tahoma"/>
                <a:cs typeface="Tahoma"/>
              </a:rPr>
              <a:t>File</a:t>
            </a:r>
            <a:endParaRPr sz="1000">
              <a:latin typeface="Tahoma"/>
              <a:cs typeface="Tahoma"/>
            </a:endParaRPr>
          </a:p>
          <a:p>
            <a:pPr marL="314960" marR="2073275">
              <a:lnSpc>
                <a:spcPts val="1200"/>
              </a:lnSpc>
              <a:spcBef>
                <a:spcPts val="35"/>
              </a:spcBef>
            </a:pP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Sensitivity</a:t>
            </a:r>
            <a:r>
              <a:rPr sz="10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20" dirty="0">
                <a:solidFill>
                  <a:srgbClr val="191933"/>
                </a:solidFill>
                <a:latin typeface="Tahoma"/>
                <a:cs typeface="Tahoma"/>
              </a:rPr>
              <a:t>Level:</a:t>
            </a:r>
            <a:r>
              <a:rPr sz="1000" spc="6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50" dirty="0">
                <a:solidFill>
                  <a:srgbClr val="191933"/>
                </a:solidFill>
                <a:latin typeface="Tahoma"/>
                <a:cs typeface="Tahoma"/>
              </a:rPr>
              <a:t>5 </a:t>
            </a:r>
            <a:r>
              <a:rPr sz="1000" spc="-10" dirty="0">
                <a:solidFill>
                  <a:srgbClr val="191933"/>
                </a:solidFill>
                <a:latin typeface="Tahoma"/>
                <a:cs typeface="Tahoma"/>
              </a:rPr>
              <a:t>Location:</a:t>
            </a:r>
            <a:r>
              <a:rPr sz="1000" spc="5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40" dirty="0">
                <a:solidFill>
                  <a:srgbClr val="191933"/>
                </a:solidFill>
                <a:latin typeface="Tahoma"/>
                <a:cs typeface="Tahoma"/>
              </a:rPr>
              <a:t>Internal</a:t>
            </a:r>
            <a:r>
              <a:rPr sz="10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45" dirty="0">
                <a:solidFill>
                  <a:srgbClr val="191933"/>
                </a:solidFill>
                <a:latin typeface="Tahoma"/>
                <a:cs typeface="Tahoma"/>
              </a:rPr>
              <a:t>Server</a:t>
            </a:r>
            <a:endParaRPr sz="1000">
              <a:latin typeface="Tahoma"/>
              <a:cs typeface="Tahoma"/>
            </a:endParaRPr>
          </a:p>
          <a:p>
            <a:pPr marL="314960" marR="1960245" indent="-277495">
              <a:lnSpc>
                <a:spcPct val="106400"/>
              </a:lnSpc>
              <a:spcBef>
                <a:spcPts val="65"/>
              </a:spcBef>
            </a:pPr>
            <a:r>
              <a:rPr sz="1100" b="1" dirty="0">
                <a:solidFill>
                  <a:srgbClr val="191933"/>
                </a:solidFill>
                <a:latin typeface="Arial"/>
                <a:cs typeface="Arial"/>
              </a:rPr>
              <a:t>ABAC </a:t>
            </a:r>
            <a:r>
              <a:rPr sz="1100" b="1" spc="-35" dirty="0">
                <a:solidFill>
                  <a:srgbClr val="191933"/>
                </a:solidFill>
                <a:latin typeface="Arial"/>
                <a:cs typeface="Arial"/>
              </a:rPr>
              <a:t>Policy</a:t>
            </a:r>
            <a:r>
              <a:rPr sz="1100" b="1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40" dirty="0">
                <a:solidFill>
                  <a:srgbClr val="191933"/>
                </a:solidFill>
                <a:latin typeface="Arial"/>
                <a:cs typeface="Arial"/>
              </a:rPr>
              <a:t>(</a:t>
            </a:r>
            <a:r>
              <a:rPr sz="1100" i="1" spc="40" dirty="0">
                <a:solidFill>
                  <a:srgbClr val="191933"/>
                </a:solidFill>
                <a:latin typeface="Calibri"/>
                <a:cs typeface="Calibri"/>
              </a:rPr>
              <a:t>P</a:t>
            </a:r>
            <a:r>
              <a:rPr sz="1200" i="1" spc="60" baseline="-13888" dirty="0">
                <a:solidFill>
                  <a:srgbClr val="191933"/>
                </a:solidFill>
                <a:latin typeface="Calibri"/>
                <a:cs typeface="Calibri"/>
              </a:rPr>
              <a:t>abac</a:t>
            </a:r>
            <a:r>
              <a:rPr sz="1100" b="1" spc="40" dirty="0">
                <a:solidFill>
                  <a:srgbClr val="191933"/>
                </a:solidFill>
                <a:latin typeface="Arial"/>
                <a:cs typeface="Arial"/>
              </a:rPr>
              <a:t>): </a:t>
            </a:r>
            <a:r>
              <a:rPr sz="1000" spc="-35" dirty="0">
                <a:solidFill>
                  <a:srgbClr val="191933"/>
                </a:solidFill>
                <a:latin typeface="Tahoma"/>
                <a:cs typeface="Tahoma"/>
              </a:rPr>
              <a:t>Required</a:t>
            </a:r>
            <a:r>
              <a:rPr sz="1000" spc="-4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30" dirty="0">
                <a:solidFill>
                  <a:srgbClr val="191933"/>
                </a:solidFill>
                <a:latin typeface="Tahoma"/>
                <a:cs typeface="Tahoma"/>
              </a:rPr>
              <a:t>Department:</a:t>
            </a:r>
            <a:r>
              <a:rPr sz="1000" spc="5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35" dirty="0">
                <a:solidFill>
                  <a:srgbClr val="191933"/>
                </a:solidFill>
                <a:latin typeface="Tahoma"/>
                <a:cs typeface="Tahoma"/>
              </a:rPr>
              <a:t>IT </a:t>
            </a:r>
            <a:r>
              <a:rPr sz="1000" dirty="0">
                <a:solidFill>
                  <a:srgbClr val="191933"/>
                </a:solidFill>
                <a:latin typeface="Tahoma"/>
                <a:cs typeface="Tahoma"/>
              </a:rPr>
              <a:t>Minimum</a:t>
            </a:r>
            <a:r>
              <a:rPr sz="1000" spc="-5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Security</a:t>
            </a:r>
            <a:r>
              <a:rPr sz="1000" spc="-5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20" dirty="0">
                <a:solidFill>
                  <a:srgbClr val="191933"/>
                </a:solidFill>
                <a:latin typeface="Tahoma"/>
                <a:cs typeface="Tahoma"/>
              </a:rPr>
              <a:t>Level:</a:t>
            </a:r>
            <a:r>
              <a:rPr sz="1000" spc="4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50" dirty="0">
                <a:solidFill>
                  <a:srgbClr val="191933"/>
                </a:solidFill>
                <a:latin typeface="Tahoma"/>
                <a:cs typeface="Tahoma"/>
              </a:rPr>
              <a:t>5</a:t>
            </a:r>
            <a:endParaRPr sz="1000">
              <a:latin typeface="Tahoma"/>
              <a:cs typeface="Tahoma"/>
            </a:endParaRPr>
          </a:p>
          <a:p>
            <a:pPr marL="314960">
              <a:lnSpc>
                <a:spcPts val="1195"/>
              </a:lnSpc>
            </a:pPr>
            <a:r>
              <a:rPr sz="1000" dirty="0">
                <a:solidFill>
                  <a:srgbClr val="191933"/>
                </a:solidFill>
                <a:latin typeface="Tahoma"/>
                <a:cs typeface="Tahoma"/>
              </a:rPr>
              <a:t>Additional</a:t>
            </a:r>
            <a:r>
              <a:rPr sz="1000" spc="-7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191933"/>
                </a:solidFill>
                <a:latin typeface="Tahoma"/>
                <a:cs typeface="Tahoma"/>
              </a:rPr>
              <a:t>Condition:</a:t>
            </a:r>
            <a:r>
              <a:rPr sz="1000" spc="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20" dirty="0">
                <a:solidFill>
                  <a:srgbClr val="191933"/>
                </a:solidFill>
                <a:latin typeface="Tahoma"/>
                <a:cs typeface="Tahoma"/>
              </a:rPr>
              <a:t>User</a:t>
            </a:r>
            <a:r>
              <a:rPr sz="1000" spc="-6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20" dirty="0">
                <a:solidFill>
                  <a:srgbClr val="191933"/>
                </a:solidFill>
                <a:latin typeface="Tahoma"/>
                <a:cs typeface="Tahoma"/>
              </a:rPr>
              <a:t>role</a:t>
            </a:r>
            <a:r>
              <a:rPr sz="1000" spc="-5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20" dirty="0">
                <a:solidFill>
                  <a:srgbClr val="191933"/>
                </a:solidFill>
                <a:latin typeface="Tahoma"/>
                <a:cs typeface="Tahoma"/>
              </a:rPr>
              <a:t>must</a:t>
            </a:r>
            <a:r>
              <a:rPr sz="1000" spc="-6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191933"/>
                </a:solidFill>
                <a:latin typeface="Tahoma"/>
                <a:cs typeface="Tahoma"/>
              </a:rPr>
              <a:t>be</a:t>
            </a:r>
            <a:r>
              <a:rPr sz="1000" spc="-6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25" dirty="0">
                <a:solidFill>
                  <a:srgbClr val="191933"/>
                </a:solidFill>
                <a:latin typeface="Tahoma"/>
                <a:cs typeface="Tahoma"/>
              </a:rPr>
              <a:t>Manager</a:t>
            </a:r>
            <a:r>
              <a:rPr sz="1000" spc="-5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191933"/>
                </a:solidFill>
                <a:latin typeface="Tahoma"/>
                <a:cs typeface="Tahoma"/>
              </a:rPr>
              <a:t>or</a:t>
            </a:r>
            <a:r>
              <a:rPr sz="1000" spc="-6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191933"/>
                </a:solidFill>
                <a:latin typeface="Tahoma"/>
                <a:cs typeface="Tahoma"/>
              </a:rPr>
              <a:t>above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21" name="object 21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4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69</a:t>
            </a:r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93</a:t>
            </a:r>
          </a:p>
        </p:txBody>
      </p:sp>
    </p:spTree>
  </p:cSld>
  <p:clrMapOvr>
    <a:masterClrMapping/>
  </p:clrMapOvr>
  <p:transition>
    <p:cut/>
  </p:transition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Algorithm</a:t>
            </a:r>
            <a:r>
              <a:rPr spc="10" dirty="0"/>
              <a:t> </a:t>
            </a:r>
            <a:r>
              <a:rPr spc="-40" dirty="0"/>
              <a:t>Execution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639635"/>
            <a:ext cx="4432935" cy="198755"/>
          </a:xfrm>
          <a:custGeom>
            <a:avLst/>
            <a:gdLst/>
            <a:ahLst/>
            <a:cxnLst/>
            <a:rect l="l" t="t" r="r" b="b"/>
            <a:pathLst>
              <a:path w="4432935" h="198755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4432566" y="198367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2672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8544" y="668083"/>
            <a:ext cx="1450340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60" dirty="0">
                <a:solidFill>
                  <a:srgbClr val="FFFFFF"/>
                </a:solidFill>
                <a:latin typeface="Tahoma"/>
                <a:cs typeface="Tahoma"/>
              </a:rPr>
              <a:t>Step-</a:t>
            </a:r>
            <a:r>
              <a:rPr sz="1200" spc="-70" dirty="0">
                <a:solidFill>
                  <a:srgbClr val="FFFFFF"/>
                </a:solidFill>
                <a:latin typeface="Tahoma"/>
                <a:cs typeface="Tahoma"/>
              </a:rPr>
              <a:t>by-</a:t>
            </a:r>
            <a:r>
              <a:rPr sz="1200" spc="-35" dirty="0">
                <a:solidFill>
                  <a:srgbClr val="FFFFFF"/>
                </a:solidFill>
                <a:latin typeface="Tahoma"/>
                <a:cs typeface="Tahoma"/>
              </a:rPr>
              <a:t>Step</a:t>
            </a:r>
            <a:r>
              <a:rPr sz="1200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50" dirty="0">
                <a:solidFill>
                  <a:srgbClr val="FFFFFF"/>
                </a:solidFill>
                <a:latin typeface="Tahoma"/>
                <a:cs typeface="Tahoma"/>
              </a:rPr>
              <a:t>Execution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4271" y="882824"/>
            <a:ext cx="114300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830">
              <a:lnSpc>
                <a:spcPts val="715"/>
              </a:lnSpc>
            </a:pPr>
            <a:r>
              <a:rPr sz="600" spc="-50" dirty="0">
                <a:solidFill>
                  <a:srgbClr val="FFFFFF"/>
                </a:solidFill>
                <a:latin typeface="Arial MT"/>
                <a:cs typeface="Arial MT"/>
              </a:rPr>
              <a:t>1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02932" y="855242"/>
            <a:ext cx="89725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Extract</a:t>
            </a:r>
            <a:r>
              <a:rPr sz="800" b="1" spc="-1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191933"/>
                </a:solidFill>
                <a:latin typeface="Arial"/>
                <a:cs typeface="Arial"/>
              </a:rPr>
              <a:t>Attributes:</a:t>
            </a:r>
            <a:endParaRPr sz="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88998" y="1114614"/>
            <a:ext cx="106934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55" dirty="0">
                <a:solidFill>
                  <a:srgbClr val="191933"/>
                </a:solidFill>
                <a:latin typeface="Calibri"/>
                <a:cs typeface="Calibri"/>
              </a:rPr>
              <a:t>U</a:t>
            </a:r>
            <a:r>
              <a:rPr sz="800" i="1" spc="15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spc="254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800" spc="6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i="1" dirty="0">
                <a:solidFill>
                  <a:srgbClr val="191933"/>
                </a:solidFill>
                <a:latin typeface="Georgia"/>
                <a:cs typeface="Georgia"/>
              </a:rPr>
              <a:t>{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Manager,</a:t>
            </a:r>
            <a:r>
              <a:rPr sz="800" spc="7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IT,</a:t>
            </a:r>
            <a:r>
              <a:rPr sz="800" spc="8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6</a:t>
            </a:r>
            <a:r>
              <a:rPr sz="800" i="1" spc="-25" dirty="0">
                <a:solidFill>
                  <a:srgbClr val="191933"/>
                </a:solidFill>
                <a:latin typeface="Georgia"/>
                <a:cs typeface="Georgia"/>
              </a:rPr>
              <a:t>}</a:t>
            </a:r>
            <a:r>
              <a:rPr sz="800" i="1" spc="-25" dirty="0">
                <a:solidFill>
                  <a:srgbClr val="191933"/>
                </a:solidFill>
                <a:latin typeface="Calibri"/>
                <a:cs typeface="Calibri"/>
              </a:rPr>
              <a:t>,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658426" y="1114614"/>
            <a:ext cx="73787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90" dirty="0">
                <a:solidFill>
                  <a:srgbClr val="191933"/>
                </a:solidFill>
                <a:latin typeface="Calibri"/>
                <a:cs typeface="Calibri"/>
              </a:rPr>
              <a:t>Res</a:t>
            </a:r>
            <a:r>
              <a:rPr sz="800" i="1" spc="7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spc="254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800" spc="7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i="1" dirty="0">
                <a:solidFill>
                  <a:srgbClr val="191933"/>
                </a:solidFill>
                <a:latin typeface="Georgia"/>
                <a:cs typeface="Georgia"/>
              </a:rPr>
              <a:t>{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File,</a:t>
            </a:r>
            <a:r>
              <a:rPr sz="800" spc="8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5</a:t>
            </a:r>
            <a:r>
              <a:rPr sz="800" i="1" spc="-25" dirty="0">
                <a:solidFill>
                  <a:srgbClr val="191933"/>
                </a:solidFill>
                <a:latin typeface="Georgia"/>
                <a:cs typeface="Georgia"/>
              </a:rPr>
              <a:t>}</a:t>
            </a:r>
            <a:endParaRPr sz="800">
              <a:latin typeface="Georgia"/>
              <a:cs typeface="Georgia"/>
            </a:endParaRP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4271" y="1401568"/>
            <a:ext cx="114214" cy="114214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268516" y="1388648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Arial MT"/>
                <a:cs typeface="Arial MT"/>
              </a:rPr>
              <a:t>2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02932" y="1373999"/>
            <a:ext cx="180403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Match</a:t>
            </a:r>
            <a:r>
              <a:rPr sz="800" b="1" spc="3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20" dirty="0">
                <a:solidFill>
                  <a:srgbClr val="191933"/>
                </a:solidFill>
                <a:latin typeface="Arial"/>
                <a:cs typeface="Arial"/>
              </a:rPr>
              <a:t>User</a:t>
            </a:r>
            <a:r>
              <a:rPr sz="800" b="1" spc="2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191933"/>
                </a:solidFill>
                <a:latin typeface="Arial"/>
                <a:cs typeface="Arial"/>
              </a:rPr>
              <a:t>Attributes</a:t>
            </a:r>
            <a:r>
              <a:rPr sz="800" b="1" spc="3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20" dirty="0">
                <a:solidFill>
                  <a:srgbClr val="191933"/>
                </a:solidFill>
                <a:latin typeface="Arial"/>
                <a:cs typeface="Arial"/>
              </a:rPr>
              <a:t>Against</a:t>
            </a:r>
            <a:r>
              <a:rPr sz="800" b="1" spc="3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20" dirty="0">
                <a:solidFill>
                  <a:srgbClr val="191933"/>
                </a:solidFill>
                <a:latin typeface="Arial"/>
                <a:cs typeface="Arial"/>
              </a:rPr>
              <a:t>Policy: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815464" y="2001596"/>
            <a:ext cx="1063625" cy="5080"/>
            <a:chOff x="1815464" y="2001596"/>
            <a:chExt cx="1063625" cy="5080"/>
          </a:xfrm>
        </p:grpSpPr>
        <p:sp>
          <p:nvSpPr>
            <p:cNvPr id="18" name="object 18"/>
            <p:cNvSpPr/>
            <p:nvPr/>
          </p:nvSpPr>
          <p:spPr>
            <a:xfrm>
              <a:off x="1818004" y="2004136"/>
              <a:ext cx="32384" cy="0"/>
            </a:xfrm>
            <a:custGeom>
              <a:avLst/>
              <a:gdLst/>
              <a:ahLst/>
              <a:cxnLst/>
              <a:rect l="l" t="t" r="r" b="b"/>
              <a:pathLst>
                <a:path w="32385">
                  <a:moveTo>
                    <a:pt x="0" y="0"/>
                  </a:moveTo>
                  <a:lnTo>
                    <a:pt x="32270" y="0"/>
                  </a:lnTo>
                </a:path>
              </a:pathLst>
            </a:custGeom>
            <a:ln w="5054">
              <a:solidFill>
                <a:srgbClr val="1919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844266" y="2004136"/>
              <a:ext cx="32384" cy="0"/>
            </a:xfrm>
            <a:custGeom>
              <a:avLst/>
              <a:gdLst/>
              <a:ahLst/>
              <a:cxnLst/>
              <a:rect l="l" t="t" r="r" b="b"/>
              <a:pathLst>
                <a:path w="32385">
                  <a:moveTo>
                    <a:pt x="0" y="0"/>
                  </a:moveTo>
                  <a:lnTo>
                    <a:pt x="32270" y="0"/>
                  </a:lnTo>
                </a:path>
              </a:pathLst>
            </a:custGeom>
            <a:ln w="5054">
              <a:solidFill>
                <a:srgbClr val="1919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194282" y="1633371"/>
            <a:ext cx="249682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800" i="1" dirty="0">
                <a:solidFill>
                  <a:srgbClr val="191933"/>
                </a:solidFill>
                <a:latin typeface="Calibri"/>
                <a:cs typeface="Calibri"/>
              </a:rPr>
              <a:t>U.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department</a:t>
            </a:r>
            <a:r>
              <a:rPr sz="800" spc="5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254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800" spc="9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i="1" dirty="0">
                <a:solidFill>
                  <a:srgbClr val="191933"/>
                </a:solidFill>
                <a:latin typeface="Calibri"/>
                <a:cs typeface="Calibri"/>
              </a:rPr>
              <a:t>P</a:t>
            </a:r>
            <a:r>
              <a:rPr sz="900" i="1" baseline="-13888" dirty="0">
                <a:solidFill>
                  <a:srgbClr val="191933"/>
                </a:solidFill>
                <a:latin typeface="Calibri"/>
                <a:cs typeface="Calibri"/>
              </a:rPr>
              <a:t>abac</a:t>
            </a:r>
            <a:r>
              <a:rPr sz="800" i="1" dirty="0">
                <a:solidFill>
                  <a:srgbClr val="191933"/>
                </a:solidFill>
                <a:latin typeface="Calibri"/>
                <a:cs typeface="Calibri"/>
              </a:rPr>
              <a:t>.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department</a:t>
            </a:r>
            <a:r>
              <a:rPr sz="800" spc="275" dirty="0">
                <a:solidFill>
                  <a:srgbClr val="191933"/>
                </a:solidFill>
                <a:latin typeface="Arial MT"/>
                <a:cs typeface="Arial MT"/>
              </a:rPr>
              <a:t>  </a:t>
            </a:r>
            <a:r>
              <a:rPr sz="800" spc="55" dirty="0">
                <a:solidFill>
                  <a:srgbClr val="191933"/>
                </a:solidFill>
                <a:latin typeface="Arial MT"/>
                <a:cs typeface="Arial MT"/>
              </a:rPr>
              <a:t>(IT</a:t>
            </a:r>
            <a:r>
              <a:rPr sz="800" spc="1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matches</a:t>
            </a:r>
            <a:r>
              <a:rPr sz="800" spc="1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IT)</a:t>
            </a: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8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800" i="1" dirty="0">
                <a:solidFill>
                  <a:srgbClr val="191933"/>
                </a:solidFill>
                <a:latin typeface="Calibri"/>
                <a:cs typeface="Calibri"/>
              </a:rPr>
              <a:t>U.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security</a:t>
            </a:r>
            <a:r>
              <a:rPr sz="800" spc="9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level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i="1" spc="140" dirty="0">
                <a:solidFill>
                  <a:srgbClr val="191933"/>
                </a:solidFill>
                <a:latin typeface="Georgia"/>
                <a:cs typeface="Georgia"/>
              </a:rPr>
              <a:t>≥</a:t>
            </a:r>
            <a:r>
              <a:rPr sz="800" i="1" spc="50" dirty="0">
                <a:solidFill>
                  <a:srgbClr val="191933"/>
                </a:solidFill>
                <a:latin typeface="Georgia"/>
                <a:cs typeface="Georgia"/>
              </a:rPr>
              <a:t> </a:t>
            </a:r>
            <a:r>
              <a:rPr sz="800" i="1" dirty="0">
                <a:solidFill>
                  <a:srgbClr val="191933"/>
                </a:solidFill>
                <a:latin typeface="Calibri"/>
                <a:cs typeface="Calibri"/>
              </a:rPr>
              <a:t>Res.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sensitivity</a:t>
            </a:r>
            <a:r>
              <a:rPr sz="800" spc="9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level</a:t>
            </a:r>
            <a:r>
              <a:rPr sz="800" spc="220" dirty="0">
                <a:solidFill>
                  <a:srgbClr val="191933"/>
                </a:solidFill>
                <a:latin typeface="Arial MT"/>
                <a:cs typeface="Arial MT"/>
              </a:rPr>
              <a:t>  </a:t>
            </a:r>
            <a:r>
              <a:rPr sz="800" spc="55" dirty="0">
                <a:solidFill>
                  <a:srgbClr val="191933"/>
                </a:solidFill>
                <a:latin typeface="Calibri"/>
                <a:cs typeface="Calibri"/>
              </a:rPr>
              <a:t>(6</a:t>
            </a:r>
            <a:r>
              <a:rPr sz="800" spc="6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i="1" spc="140" dirty="0">
                <a:solidFill>
                  <a:srgbClr val="191933"/>
                </a:solidFill>
                <a:latin typeface="Georgia"/>
                <a:cs typeface="Georgia"/>
              </a:rPr>
              <a:t>≥</a:t>
            </a:r>
            <a:r>
              <a:rPr sz="800" i="1" spc="50" dirty="0">
                <a:solidFill>
                  <a:srgbClr val="191933"/>
                </a:solidFill>
                <a:latin typeface="Georgia"/>
                <a:cs typeface="Georgia"/>
              </a:rPr>
              <a:t> </a:t>
            </a:r>
            <a:r>
              <a:rPr sz="800" spc="30" dirty="0">
                <a:solidFill>
                  <a:srgbClr val="191933"/>
                </a:solidFill>
                <a:latin typeface="Calibri"/>
                <a:cs typeface="Calibri"/>
              </a:rPr>
              <a:t>5)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21" name="object 2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4271" y="2122763"/>
            <a:ext cx="114214" cy="114214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268516" y="2109843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Arial MT"/>
                <a:cs typeface="Arial MT"/>
              </a:rPr>
              <a:t>3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02932" y="2095194"/>
            <a:ext cx="14890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20" dirty="0">
                <a:solidFill>
                  <a:srgbClr val="191933"/>
                </a:solidFill>
                <a:latin typeface="Arial"/>
                <a:cs typeface="Arial"/>
              </a:rPr>
              <a:t>Evaluate</a:t>
            </a:r>
            <a:r>
              <a:rPr sz="800" b="1" spc="3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20" dirty="0">
                <a:solidFill>
                  <a:srgbClr val="191933"/>
                </a:solidFill>
                <a:latin typeface="Arial"/>
                <a:cs typeface="Arial"/>
              </a:rPr>
              <a:t>Additional</a:t>
            </a:r>
            <a:r>
              <a:rPr sz="800" b="1" spc="3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30" dirty="0">
                <a:solidFill>
                  <a:srgbClr val="191933"/>
                </a:solidFill>
                <a:latin typeface="Arial"/>
                <a:cs typeface="Arial"/>
              </a:rPr>
              <a:t>Conditions:</a:t>
            </a:r>
            <a:endParaRPr sz="8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279715" y="2354566"/>
            <a:ext cx="23260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User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role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254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800" spc="3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Manager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i="1" spc="140" dirty="0">
                <a:solidFill>
                  <a:srgbClr val="191933"/>
                </a:solidFill>
                <a:latin typeface="Georgia"/>
                <a:cs typeface="Georgia"/>
              </a:rPr>
              <a:t>≥</a:t>
            </a:r>
            <a:r>
              <a:rPr sz="800" i="1" spc="20" dirty="0">
                <a:solidFill>
                  <a:srgbClr val="191933"/>
                </a:solidFill>
                <a:latin typeface="Georgia"/>
                <a:cs typeface="Georgia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Manager</a:t>
            </a:r>
            <a:r>
              <a:rPr sz="800" spc="165" dirty="0">
                <a:solidFill>
                  <a:srgbClr val="191933"/>
                </a:solidFill>
                <a:latin typeface="Arial MT"/>
                <a:cs typeface="Arial MT"/>
              </a:rPr>
              <a:t> 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(Condition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met)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25" name="object 2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4271" y="2641520"/>
            <a:ext cx="114214" cy="114214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268516" y="2628600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Arial MT"/>
                <a:cs typeface="Arial MT"/>
              </a:rPr>
              <a:t>4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244271" y="2722803"/>
            <a:ext cx="2691765" cy="191135"/>
            <a:chOff x="244271" y="2722803"/>
            <a:chExt cx="2691765" cy="191135"/>
          </a:xfrm>
        </p:grpSpPr>
        <p:sp>
          <p:nvSpPr>
            <p:cNvPr id="28" name="object 28"/>
            <p:cNvSpPr/>
            <p:nvPr/>
          </p:nvSpPr>
          <p:spPr>
            <a:xfrm>
              <a:off x="2903702" y="2725331"/>
              <a:ext cx="32384" cy="0"/>
            </a:xfrm>
            <a:custGeom>
              <a:avLst/>
              <a:gdLst/>
              <a:ahLst/>
              <a:cxnLst/>
              <a:rect l="l" t="t" r="r" b="b"/>
              <a:pathLst>
                <a:path w="32385">
                  <a:moveTo>
                    <a:pt x="0" y="0"/>
                  </a:moveTo>
                  <a:lnTo>
                    <a:pt x="32270" y="0"/>
                  </a:lnTo>
                </a:path>
              </a:pathLst>
            </a:custGeom>
            <a:ln w="5054">
              <a:solidFill>
                <a:srgbClr val="1919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4271" y="2799686"/>
              <a:ext cx="114214" cy="114214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268516" y="2786753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Arial MT"/>
                <a:cs typeface="Arial MT"/>
              </a:rPr>
              <a:t>5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02932" y="2577262"/>
            <a:ext cx="3493135" cy="34226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800" b="1" spc="-10" dirty="0">
                <a:solidFill>
                  <a:srgbClr val="191933"/>
                </a:solidFill>
                <a:latin typeface="Arial"/>
                <a:cs typeface="Arial"/>
              </a:rPr>
              <a:t>Log</a:t>
            </a:r>
            <a:r>
              <a:rPr sz="800" b="1" spc="2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191933"/>
                </a:solidFill>
                <a:latin typeface="Arial"/>
                <a:cs typeface="Arial"/>
              </a:rPr>
              <a:t>Outcome:</a:t>
            </a:r>
            <a:r>
              <a:rPr sz="800" b="1" spc="10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”Access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request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by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Bob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for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confidential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file.txt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was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granted.”</a:t>
            </a:r>
            <a:endParaRPr sz="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Notify</a:t>
            </a:r>
            <a:r>
              <a:rPr sz="800" b="1" spc="3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if</a:t>
            </a:r>
            <a:r>
              <a:rPr sz="800" b="1" spc="3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191933"/>
                </a:solidFill>
                <a:latin typeface="Arial"/>
                <a:cs typeface="Arial"/>
              </a:rPr>
              <a:t>Denied:</a:t>
            </a:r>
            <a:r>
              <a:rPr sz="800" b="1" spc="114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Not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required,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45" dirty="0">
                <a:solidFill>
                  <a:srgbClr val="191933"/>
                </a:solidFill>
                <a:latin typeface="Arial MT"/>
                <a:cs typeface="Arial MT"/>
              </a:rPr>
              <a:t>access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was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granted.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33" name="object 33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4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70</a:t>
            </a:r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93</a:t>
            </a:r>
          </a:p>
        </p:txBody>
      </p:sp>
    </p:spTree>
  </p:cSld>
  <p:clrMapOvr>
    <a:masterClrMapping/>
  </p:clrMapOvr>
  <p:transition>
    <p:cut/>
  </p:transition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/>
              <a:t>Result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387576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597609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807641"/>
            <a:ext cx="65265" cy="6526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02932" y="1260345"/>
            <a:ext cx="3194685" cy="655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33375">
              <a:lnSpc>
                <a:spcPct val="125299"/>
              </a:lnSpc>
              <a:spcBef>
                <a:spcPts val="100"/>
              </a:spcBef>
            </a:pP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Access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is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granted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to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Bob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for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the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confidential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file.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The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55" dirty="0">
                <a:solidFill>
                  <a:srgbClr val="191933"/>
                </a:solidFill>
                <a:latin typeface="Tahoma"/>
                <a:cs typeface="Tahoma"/>
              </a:rPr>
              <a:t>access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request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and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outcome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191933"/>
                </a:solidFill>
                <a:latin typeface="Tahoma"/>
                <a:cs typeface="Tahoma"/>
              </a:rPr>
              <a:t>are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logged.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No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notification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sent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to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the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security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monitoring 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system.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8" name="object 8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4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71</a:t>
            </a:r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93</a:t>
            </a:r>
          </a:p>
        </p:txBody>
      </p:sp>
    </p:spTree>
  </p:cSld>
  <p:clrMapOvr>
    <a:masterClrMapping/>
  </p:clrMapOvr>
  <p:transition>
    <p:cut/>
  </p:transition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Detailed</a:t>
            </a:r>
            <a:r>
              <a:rPr spc="10" dirty="0"/>
              <a:t> </a:t>
            </a:r>
            <a:r>
              <a:rPr dirty="0"/>
              <a:t>ABAC</a:t>
            </a:r>
            <a:r>
              <a:rPr spc="15" dirty="0"/>
              <a:t> </a:t>
            </a:r>
            <a:r>
              <a:rPr spc="-25" dirty="0"/>
              <a:t>Algorithm</a:t>
            </a:r>
            <a:r>
              <a:rPr spc="15" dirty="0"/>
              <a:t> </a:t>
            </a:r>
            <a:r>
              <a:rPr spc="-30" dirty="0"/>
              <a:t>Example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417702"/>
            <a:ext cx="4432935" cy="198755"/>
          </a:xfrm>
          <a:custGeom>
            <a:avLst/>
            <a:gdLst/>
            <a:ahLst/>
            <a:cxnLst/>
            <a:rect l="l" t="t" r="r" b="b"/>
            <a:pathLst>
              <a:path w="4432935" h="198754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4432566" y="198367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2672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8544" y="446150"/>
            <a:ext cx="109029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50" dirty="0">
                <a:solidFill>
                  <a:srgbClr val="FFFFFF"/>
                </a:solidFill>
                <a:latin typeface="Tahoma"/>
                <a:cs typeface="Tahoma"/>
              </a:rPr>
              <a:t>Example</a:t>
            </a:r>
            <a:r>
              <a:rPr sz="12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65" dirty="0">
                <a:solidFill>
                  <a:srgbClr val="FFFFFF"/>
                </a:solidFill>
                <a:latin typeface="Tahoma"/>
                <a:cs typeface="Tahoma"/>
              </a:rPr>
              <a:t>Scenario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16255" y="616769"/>
            <a:ext cx="4380230" cy="263842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98755">
              <a:lnSpc>
                <a:spcPct val="100000"/>
              </a:lnSpc>
              <a:spcBef>
                <a:spcPts val="375"/>
              </a:spcBef>
            </a:pPr>
            <a:r>
              <a:rPr sz="600" b="1" spc="-20" dirty="0">
                <a:solidFill>
                  <a:srgbClr val="191933"/>
                </a:solidFill>
                <a:latin typeface="Arial"/>
                <a:cs typeface="Arial"/>
              </a:rPr>
              <a:t>User</a:t>
            </a:r>
            <a:r>
              <a:rPr sz="600" b="1" spc="3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b="1" spc="-20" dirty="0">
                <a:solidFill>
                  <a:srgbClr val="191933"/>
                </a:solidFill>
                <a:latin typeface="Arial"/>
                <a:cs typeface="Arial"/>
              </a:rPr>
              <a:t>Request:</a:t>
            </a:r>
            <a:r>
              <a:rPr sz="600" b="1" spc="9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Bob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0" dirty="0">
                <a:solidFill>
                  <a:srgbClr val="191933"/>
                </a:solidFill>
                <a:latin typeface="Arial MT"/>
                <a:cs typeface="Arial MT"/>
              </a:rPr>
              <a:t>requests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35" dirty="0">
                <a:solidFill>
                  <a:srgbClr val="191933"/>
                </a:solidFill>
                <a:latin typeface="Arial MT"/>
                <a:cs typeface="Arial MT"/>
              </a:rPr>
              <a:t>access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0" dirty="0">
                <a:solidFill>
                  <a:srgbClr val="191933"/>
                </a:solidFill>
                <a:latin typeface="Arial MT"/>
                <a:cs typeface="Arial MT"/>
              </a:rPr>
              <a:t>classified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project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file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i="1" spc="90" dirty="0">
                <a:solidFill>
                  <a:srgbClr val="191933"/>
                </a:solidFill>
                <a:latin typeface="Calibri"/>
                <a:cs typeface="Calibri"/>
              </a:rPr>
              <a:t>R</a:t>
            </a:r>
            <a:r>
              <a:rPr sz="600" spc="90" dirty="0">
                <a:solidFill>
                  <a:srgbClr val="191933"/>
                </a:solidFill>
                <a:latin typeface="Arial MT"/>
                <a:cs typeface="Arial MT"/>
              </a:rPr>
              <a:t>.</a:t>
            </a:r>
            <a:endParaRPr sz="600">
              <a:latin typeface="Arial MT"/>
              <a:cs typeface="Arial MT"/>
            </a:endParaRPr>
          </a:p>
          <a:p>
            <a:pPr marL="198755" marR="119380">
              <a:lnSpc>
                <a:spcPts val="700"/>
              </a:lnSpc>
              <a:spcBef>
                <a:spcPts val="315"/>
              </a:spcBef>
            </a:pPr>
            <a:r>
              <a:rPr sz="600" b="1" dirty="0">
                <a:solidFill>
                  <a:srgbClr val="191933"/>
                </a:solidFill>
                <a:latin typeface="Arial"/>
                <a:cs typeface="Arial"/>
              </a:rPr>
              <a:t>ABAC</a:t>
            </a:r>
            <a:r>
              <a:rPr sz="600" b="1" spc="2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b="1" spc="-10" dirty="0">
                <a:solidFill>
                  <a:srgbClr val="191933"/>
                </a:solidFill>
                <a:latin typeface="Arial"/>
                <a:cs typeface="Arial"/>
              </a:rPr>
              <a:t>Policy:</a:t>
            </a:r>
            <a:r>
              <a:rPr sz="600" b="1" spc="7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Policy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i="1" spc="95" dirty="0">
                <a:solidFill>
                  <a:srgbClr val="191933"/>
                </a:solidFill>
                <a:latin typeface="Calibri"/>
                <a:cs typeface="Calibri"/>
              </a:rPr>
              <a:t>P</a:t>
            </a:r>
            <a:r>
              <a:rPr sz="750" i="1" spc="142" baseline="-16666" dirty="0">
                <a:solidFill>
                  <a:srgbClr val="191933"/>
                </a:solidFill>
                <a:latin typeface="Georgia"/>
                <a:cs typeface="Georgia"/>
              </a:rPr>
              <a:t>abac</a:t>
            </a:r>
            <a:r>
              <a:rPr sz="750" i="1" spc="165" baseline="-16666" dirty="0">
                <a:solidFill>
                  <a:srgbClr val="191933"/>
                </a:solidFill>
                <a:latin typeface="Georgia"/>
                <a:cs typeface="Georgia"/>
              </a:rPr>
              <a:t> </a:t>
            </a:r>
            <a:r>
              <a:rPr sz="600" spc="-20" dirty="0">
                <a:solidFill>
                  <a:srgbClr val="191933"/>
                </a:solidFill>
                <a:latin typeface="Arial MT"/>
                <a:cs typeface="Arial MT"/>
              </a:rPr>
              <a:t>requires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that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0" dirty="0">
                <a:solidFill>
                  <a:srgbClr val="191933"/>
                </a:solidFill>
                <a:latin typeface="Arial MT"/>
                <a:cs typeface="Arial MT"/>
              </a:rPr>
              <a:t>user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must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be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in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”Research”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department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and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0" dirty="0">
                <a:solidFill>
                  <a:srgbClr val="191933"/>
                </a:solidFill>
                <a:latin typeface="Arial MT"/>
                <a:cs typeface="Arial MT"/>
              </a:rPr>
              <a:t>have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security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level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50" dirty="0">
                <a:solidFill>
                  <a:srgbClr val="191933"/>
                </a:solidFill>
                <a:latin typeface="Arial MT"/>
                <a:cs typeface="Arial MT"/>
              </a:rPr>
              <a:t>5</a:t>
            </a:r>
            <a:r>
              <a:rPr sz="600" spc="5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or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higher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35" dirty="0">
                <a:solidFill>
                  <a:srgbClr val="191933"/>
                </a:solidFill>
                <a:latin typeface="Arial MT"/>
                <a:cs typeface="Arial MT"/>
              </a:rPr>
              <a:t>access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0" dirty="0">
                <a:solidFill>
                  <a:srgbClr val="191933"/>
                </a:solidFill>
                <a:latin typeface="Arial MT"/>
                <a:cs typeface="Arial MT"/>
              </a:rPr>
              <a:t>classified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project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files.</a:t>
            </a:r>
            <a:endParaRPr sz="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600">
              <a:latin typeface="Arial MT"/>
              <a:cs typeface="Arial MT"/>
            </a:endParaRPr>
          </a:p>
          <a:p>
            <a:pPr marL="198755">
              <a:lnSpc>
                <a:spcPct val="100000"/>
              </a:lnSpc>
              <a:spcBef>
                <a:spcPts val="5"/>
              </a:spcBef>
            </a:pPr>
            <a:r>
              <a:rPr sz="600" b="1" spc="-20" dirty="0">
                <a:solidFill>
                  <a:srgbClr val="191933"/>
                </a:solidFill>
                <a:latin typeface="Arial"/>
                <a:cs typeface="Arial"/>
              </a:rPr>
              <a:t>User</a:t>
            </a:r>
            <a:r>
              <a:rPr sz="600" b="1" spc="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b="1" spc="-10" dirty="0">
                <a:solidFill>
                  <a:srgbClr val="191933"/>
                </a:solidFill>
                <a:latin typeface="Arial"/>
                <a:cs typeface="Arial"/>
              </a:rPr>
              <a:t>Attributes:</a:t>
            </a:r>
            <a:endParaRPr sz="600">
              <a:latin typeface="Arial"/>
              <a:cs typeface="Arial"/>
            </a:endParaRPr>
          </a:p>
          <a:p>
            <a:pPr marL="476250" marR="2919730">
              <a:lnSpc>
                <a:spcPts val="700"/>
              </a:lnSpc>
              <a:spcBef>
                <a:spcPts val="215"/>
              </a:spcBef>
            </a:pPr>
            <a:r>
              <a:rPr sz="600" i="1" dirty="0">
                <a:solidFill>
                  <a:srgbClr val="191933"/>
                </a:solidFill>
                <a:latin typeface="Calibri"/>
                <a:cs typeface="Calibri"/>
              </a:rPr>
              <a:t>U.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role</a:t>
            </a:r>
            <a:r>
              <a:rPr sz="600" spc="10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254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600" spc="14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”Researcher”</a:t>
            </a:r>
            <a:r>
              <a:rPr sz="600" spc="5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i="1" dirty="0">
                <a:solidFill>
                  <a:srgbClr val="191933"/>
                </a:solidFill>
                <a:latin typeface="Calibri"/>
                <a:cs typeface="Calibri"/>
              </a:rPr>
              <a:t>U.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department</a:t>
            </a:r>
            <a:r>
              <a:rPr sz="600" spc="1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254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600" spc="14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”Research”</a:t>
            </a:r>
            <a:r>
              <a:rPr sz="600" spc="5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i="1" dirty="0">
                <a:solidFill>
                  <a:srgbClr val="191933"/>
                </a:solidFill>
                <a:latin typeface="Calibri"/>
                <a:cs typeface="Calibri"/>
              </a:rPr>
              <a:t>U.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security</a:t>
            </a:r>
            <a:r>
              <a:rPr sz="600" spc="7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level</a:t>
            </a:r>
            <a:r>
              <a:rPr sz="6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254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600" spc="9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spc="10" dirty="0">
                <a:solidFill>
                  <a:srgbClr val="191933"/>
                </a:solidFill>
                <a:latin typeface="Calibri"/>
                <a:cs typeface="Calibri"/>
              </a:rPr>
              <a:t>5</a:t>
            </a:r>
            <a:endParaRPr sz="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600">
              <a:latin typeface="Calibri"/>
              <a:cs typeface="Calibri"/>
            </a:endParaRPr>
          </a:p>
          <a:p>
            <a:pPr marL="198755">
              <a:lnSpc>
                <a:spcPct val="100000"/>
              </a:lnSpc>
            </a:pPr>
            <a:r>
              <a:rPr sz="600" b="1" spc="-35" dirty="0">
                <a:solidFill>
                  <a:srgbClr val="191933"/>
                </a:solidFill>
                <a:latin typeface="Arial"/>
                <a:cs typeface="Arial"/>
              </a:rPr>
              <a:t>Resource</a:t>
            </a:r>
            <a:r>
              <a:rPr sz="600" b="1" spc="2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b="1" spc="-10" dirty="0">
                <a:solidFill>
                  <a:srgbClr val="191933"/>
                </a:solidFill>
                <a:latin typeface="Arial"/>
                <a:cs typeface="Arial"/>
              </a:rPr>
              <a:t>Attributes:</a:t>
            </a:r>
            <a:endParaRPr sz="600">
              <a:latin typeface="Arial"/>
              <a:cs typeface="Arial"/>
            </a:endParaRPr>
          </a:p>
          <a:p>
            <a:pPr marL="476250">
              <a:lnSpc>
                <a:spcPts val="710"/>
              </a:lnSpc>
              <a:spcBef>
                <a:spcPts val="180"/>
              </a:spcBef>
            </a:pPr>
            <a:r>
              <a:rPr sz="600" i="1" spc="55" dirty="0">
                <a:solidFill>
                  <a:srgbClr val="191933"/>
                </a:solidFill>
                <a:latin typeface="Calibri"/>
                <a:cs typeface="Calibri"/>
              </a:rPr>
              <a:t>Res.</a:t>
            </a:r>
            <a:r>
              <a:rPr sz="600" spc="55" dirty="0">
                <a:solidFill>
                  <a:srgbClr val="191933"/>
                </a:solidFill>
                <a:latin typeface="Arial MT"/>
                <a:cs typeface="Arial MT"/>
              </a:rPr>
              <a:t>type </a:t>
            </a:r>
            <a:r>
              <a:rPr sz="600" spc="254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600" spc="9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”Classified</a:t>
            </a:r>
            <a:r>
              <a:rPr sz="600" spc="6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Project</a:t>
            </a:r>
            <a:r>
              <a:rPr sz="600" spc="6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File”</a:t>
            </a:r>
            <a:endParaRPr sz="600">
              <a:latin typeface="Arial MT"/>
              <a:cs typeface="Arial MT"/>
            </a:endParaRPr>
          </a:p>
          <a:p>
            <a:pPr marL="476250">
              <a:lnSpc>
                <a:spcPts val="710"/>
              </a:lnSpc>
            </a:pPr>
            <a:r>
              <a:rPr sz="600" i="1" dirty="0">
                <a:solidFill>
                  <a:srgbClr val="191933"/>
                </a:solidFill>
                <a:latin typeface="Calibri"/>
                <a:cs typeface="Calibri"/>
              </a:rPr>
              <a:t>Res.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sensitivity</a:t>
            </a:r>
            <a:r>
              <a:rPr sz="600" spc="18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level</a:t>
            </a:r>
            <a:r>
              <a:rPr sz="600" spc="16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254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600" spc="19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spc="10" dirty="0">
                <a:solidFill>
                  <a:srgbClr val="191933"/>
                </a:solidFill>
                <a:latin typeface="Calibri"/>
                <a:cs typeface="Calibri"/>
              </a:rPr>
              <a:t>4</a:t>
            </a:r>
            <a:endParaRPr sz="600">
              <a:latin typeface="Calibri"/>
              <a:cs typeface="Calibri"/>
            </a:endParaRPr>
          </a:p>
          <a:p>
            <a:pPr marL="198755">
              <a:lnSpc>
                <a:spcPct val="100000"/>
              </a:lnSpc>
              <a:spcBef>
                <a:spcPts val="275"/>
              </a:spcBef>
            </a:pPr>
            <a:r>
              <a:rPr sz="600" b="1" dirty="0">
                <a:solidFill>
                  <a:srgbClr val="191933"/>
                </a:solidFill>
                <a:latin typeface="Arial"/>
                <a:cs typeface="Arial"/>
              </a:rPr>
              <a:t>Output:</a:t>
            </a:r>
            <a:r>
              <a:rPr sz="600" b="1" spc="8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spc="-30" dirty="0">
                <a:solidFill>
                  <a:srgbClr val="191933"/>
                </a:solidFill>
                <a:latin typeface="Arial MT"/>
                <a:cs typeface="Arial MT"/>
              </a:rPr>
              <a:t>Access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granted.</a:t>
            </a:r>
            <a:endParaRPr sz="600">
              <a:latin typeface="Arial MT"/>
              <a:cs typeface="Arial MT"/>
            </a:endParaRPr>
          </a:p>
          <a:p>
            <a:pPr marL="196850" indent="-120650">
              <a:lnSpc>
                <a:spcPct val="100000"/>
              </a:lnSpc>
              <a:spcBef>
                <a:spcPts val="575"/>
              </a:spcBef>
              <a:buClr>
                <a:srgbClr val="FFFFFF"/>
              </a:buClr>
              <a:buFont typeface="Arial MT"/>
              <a:buAutoNum type="arabicPlain"/>
              <a:tabLst>
                <a:tab pos="196850" algn="l"/>
              </a:tabLst>
            </a:pPr>
            <a:r>
              <a:rPr sz="600" b="1" dirty="0">
                <a:solidFill>
                  <a:srgbClr val="191933"/>
                </a:solidFill>
                <a:latin typeface="Arial"/>
                <a:cs typeface="Arial"/>
              </a:rPr>
              <a:t>Step</a:t>
            </a:r>
            <a:r>
              <a:rPr sz="600" b="1" spc="3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191933"/>
                </a:solidFill>
                <a:latin typeface="Arial"/>
                <a:cs typeface="Arial"/>
              </a:rPr>
              <a:t>1:</a:t>
            </a:r>
            <a:r>
              <a:rPr sz="600" b="1" spc="9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Extract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attributes:</a:t>
            </a:r>
            <a:endParaRPr sz="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80"/>
              </a:spcBef>
              <a:buClr>
                <a:srgbClr val="FFFFFF"/>
              </a:buClr>
              <a:buFont typeface="Arial MT"/>
              <a:buAutoNum type="arabicPlain"/>
            </a:pPr>
            <a:endParaRPr sz="600">
              <a:latin typeface="Arial MT"/>
              <a:cs typeface="Arial MT"/>
            </a:endParaRPr>
          </a:p>
          <a:p>
            <a:pPr marL="71755" algn="ctr">
              <a:lnSpc>
                <a:spcPct val="100000"/>
              </a:lnSpc>
              <a:spcBef>
                <a:spcPts val="5"/>
              </a:spcBef>
            </a:pPr>
            <a:r>
              <a:rPr sz="600" dirty="0">
                <a:solidFill>
                  <a:srgbClr val="191933"/>
                </a:solidFill>
                <a:latin typeface="Cambria"/>
                <a:cs typeface="Cambria"/>
              </a:rPr>
              <a:t>{</a:t>
            </a:r>
            <a:r>
              <a:rPr sz="600" i="1" dirty="0">
                <a:solidFill>
                  <a:srgbClr val="191933"/>
                </a:solidFill>
                <a:latin typeface="Calibri"/>
                <a:cs typeface="Calibri"/>
              </a:rPr>
              <a:t>U.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role</a:t>
            </a:r>
            <a:r>
              <a:rPr sz="600" spc="1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254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600" spc="13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”Researcher”</a:t>
            </a:r>
            <a:r>
              <a:rPr sz="600" i="1" dirty="0">
                <a:solidFill>
                  <a:srgbClr val="191933"/>
                </a:solidFill>
                <a:latin typeface="Calibri"/>
                <a:cs typeface="Calibri"/>
              </a:rPr>
              <a:t>,</a:t>
            </a:r>
            <a:r>
              <a:rPr sz="600" i="1" spc="2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i="1" dirty="0">
                <a:solidFill>
                  <a:srgbClr val="191933"/>
                </a:solidFill>
                <a:latin typeface="Calibri"/>
                <a:cs typeface="Calibri"/>
              </a:rPr>
              <a:t>U.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department</a:t>
            </a:r>
            <a:r>
              <a:rPr sz="600" spc="10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254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600" spc="13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”Research”</a:t>
            </a:r>
            <a:r>
              <a:rPr sz="600" i="1" dirty="0">
                <a:solidFill>
                  <a:srgbClr val="191933"/>
                </a:solidFill>
                <a:latin typeface="Calibri"/>
                <a:cs typeface="Calibri"/>
              </a:rPr>
              <a:t>,</a:t>
            </a:r>
            <a:r>
              <a:rPr sz="600" i="1" spc="2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i="1" dirty="0">
                <a:solidFill>
                  <a:srgbClr val="191933"/>
                </a:solidFill>
                <a:latin typeface="Calibri"/>
                <a:cs typeface="Calibri"/>
              </a:rPr>
              <a:t>U.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security</a:t>
            </a:r>
            <a:r>
              <a:rPr sz="600" spc="1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level</a:t>
            </a:r>
            <a:r>
              <a:rPr sz="600" spc="1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254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600" spc="13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spc="75" dirty="0">
                <a:solidFill>
                  <a:srgbClr val="191933"/>
                </a:solidFill>
                <a:latin typeface="Calibri"/>
                <a:cs typeface="Calibri"/>
              </a:rPr>
              <a:t>5</a:t>
            </a:r>
            <a:r>
              <a:rPr sz="600" spc="75" dirty="0">
                <a:solidFill>
                  <a:srgbClr val="191933"/>
                </a:solidFill>
                <a:latin typeface="Cambria"/>
                <a:cs typeface="Cambria"/>
              </a:rPr>
              <a:t>}</a:t>
            </a:r>
            <a:endParaRPr sz="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z="600">
              <a:latin typeface="Cambria"/>
              <a:cs typeface="Cambria"/>
            </a:endParaRPr>
          </a:p>
          <a:p>
            <a:pPr marL="71755" algn="ctr">
              <a:lnSpc>
                <a:spcPct val="100000"/>
              </a:lnSpc>
              <a:spcBef>
                <a:spcPts val="5"/>
              </a:spcBef>
            </a:pPr>
            <a:r>
              <a:rPr sz="600" spc="65" dirty="0">
                <a:solidFill>
                  <a:srgbClr val="191933"/>
                </a:solidFill>
                <a:latin typeface="Cambria"/>
                <a:cs typeface="Cambria"/>
              </a:rPr>
              <a:t>{</a:t>
            </a:r>
            <a:r>
              <a:rPr sz="600" i="1" spc="65" dirty="0">
                <a:solidFill>
                  <a:srgbClr val="191933"/>
                </a:solidFill>
                <a:latin typeface="Calibri"/>
                <a:cs typeface="Calibri"/>
              </a:rPr>
              <a:t>Res.</a:t>
            </a:r>
            <a:r>
              <a:rPr sz="600" spc="65" dirty="0">
                <a:solidFill>
                  <a:srgbClr val="191933"/>
                </a:solidFill>
                <a:latin typeface="Arial MT"/>
                <a:cs typeface="Arial MT"/>
              </a:rPr>
              <a:t>type</a:t>
            </a:r>
            <a:r>
              <a:rPr sz="600" spc="1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254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600" spc="15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”Classified</a:t>
            </a:r>
            <a:r>
              <a:rPr sz="600" spc="1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Project</a:t>
            </a:r>
            <a:r>
              <a:rPr sz="600" spc="1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File”</a:t>
            </a:r>
            <a:r>
              <a:rPr sz="600" i="1" dirty="0">
                <a:solidFill>
                  <a:srgbClr val="191933"/>
                </a:solidFill>
                <a:latin typeface="Calibri"/>
                <a:cs typeface="Calibri"/>
              </a:rPr>
              <a:t>,</a:t>
            </a:r>
            <a:r>
              <a:rPr sz="600" i="1" spc="3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i="1" dirty="0">
                <a:solidFill>
                  <a:srgbClr val="191933"/>
                </a:solidFill>
                <a:latin typeface="Calibri"/>
                <a:cs typeface="Calibri"/>
              </a:rPr>
              <a:t>Res.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sensitivity</a:t>
            </a:r>
            <a:r>
              <a:rPr sz="600" spc="1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level</a:t>
            </a:r>
            <a:r>
              <a:rPr sz="600" spc="1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254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600" spc="15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spc="75" dirty="0">
                <a:solidFill>
                  <a:srgbClr val="191933"/>
                </a:solidFill>
                <a:latin typeface="Calibri"/>
                <a:cs typeface="Calibri"/>
              </a:rPr>
              <a:t>4</a:t>
            </a:r>
            <a:r>
              <a:rPr sz="600" spc="75" dirty="0">
                <a:solidFill>
                  <a:srgbClr val="191933"/>
                </a:solidFill>
                <a:latin typeface="Cambria"/>
                <a:cs typeface="Cambria"/>
              </a:rPr>
              <a:t>}</a:t>
            </a:r>
            <a:endParaRPr sz="600">
              <a:latin typeface="Cambria"/>
              <a:cs typeface="Cambria"/>
            </a:endParaRPr>
          </a:p>
          <a:p>
            <a:pPr marL="196850" indent="-120650">
              <a:lnSpc>
                <a:spcPct val="100000"/>
              </a:lnSpc>
              <a:spcBef>
                <a:spcPts val="625"/>
              </a:spcBef>
              <a:buClr>
                <a:srgbClr val="FFFFFF"/>
              </a:buClr>
              <a:buFont typeface="Arial MT"/>
              <a:buAutoNum type="arabicPlain" startAt="2"/>
              <a:tabLst>
                <a:tab pos="196850" algn="l"/>
              </a:tabLst>
            </a:pPr>
            <a:r>
              <a:rPr sz="600" b="1" dirty="0">
                <a:solidFill>
                  <a:srgbClr val="191933"/>
                </a:solidFill>
                <a:latin typeface="Arial"/>
                <a:cs typeface="Arial"/>
              </a:rPr>
              <a:t>Step</a:t>
            </a:r>
            <a:r>
              <a:rPr sz="600" b="1" spc="3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191933"/>
                </a:solidFill>
                <a:latin typeface="Arial"/>
                <a:cs typeface="Arial"/>
              </a:rPr>
              <a:t>2:</a:t>
            </a:r>
            <a:r>
              <a:rPr sz="600" b="1" spc="9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Match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user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attributes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against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policy:</a:t>
            </a:r>
            <a:endParaRPr sz="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80"/>
              </a:spcBef>
            </a:pPr>
            <a:endParaRPr sz="600">
              <a:latin typeface="Arial MT"/>
              <a:cs typeface="Arial MT"/>
            </a:endParaRPr>
          </a:p>
          <a:p>
            <a:pPr marR="1210310" algn="r">
              <a:lnSpc>
                <a:spcPct val="100000"/>
              </a:lnSpc>
            </a:pP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If</a:t>
            </a:r>
            <a:r>
              <a:rPr sz="600" spc="5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20" dirty="0">
                <a:solidFill>
                  <a:srgbClr val="191933"/>
                </a:solidFill>
                <a:latin typeface="Calibri"/>
                <a:cs typeface="Calibri"/>
              </a:rPr>
              <a:t>(</a:t>
            </a:r>
            <a:r>
              <a:rPr sz="600" i="1" spc="20" dirty="0">
                <a:solidFill>
                  <a:srgbClr val="191933"/>
                </a:solidFill>
                <a:latin typeface="Calibri"/>
                <a:cs typeface="Calibri"/>
              </a:rPr>
              <a:t>U.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department</a:t>
            </a:r>
            <a:r>
              <a:rPr sz="6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254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600" spc="8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i="1" spc="30" dirty="0">
                <a:solidFill>
                  <a:srgbClr val="191933"/>
                </a:solidFill>
                <a:latin typeface="Calibri"/>
                <a:cs typeface="Calibri"/>
              </a:rPr>
              <a:t>P</a:t>
            </a:r>
            <a:r>
              <a:rPr sz="750" i="1" spc="44" baseline="-16666" dirty="0">
                <a:solidFill>
                  <a:srgbClr val="191933"/>
                </a:solidFill>
                <a:latin typeface="Georgia"/>
                <a:cs typeface="Georgia"/>
              </a:rPr>
              <a:t>abac</a:t>
            </a:r>
            <a:r>
              <a:rPr sz="600" i="1" spc="30" dirty="0">
                <a:solidFill>
                  <a:srgbClr val="191933"/>
                </a:solidFill>
                <a:latin typeface="Calibri"/>
                <a:cs typeface="Calibri"/>
              </a:rPr>
              <a:t>.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department</a:t>
            </a:r>
            <a:r>
              <a:rPr sz="600" spc="5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254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600" spc="8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”Research”</a:t>
            </a:r>
            <a:r>
              <a:rPr sz="600" spc="-10" dirty="0">
                <a:solidFill>
                  <a:srgbClr val="191933"/>
                </a:solidFill>
                <a:latin typeface="Calibri"/>
                <a:cs typeface="Calibri"/>
              </a:rPr>
              <a:t>)</a:t>
            </a:r>
            <a:endParaRPr sz="600">
              <a:latin typeface="Calibri"/>
              <a:cs typeface="Calibri"/>
            </a:endParaRPr>
          </a:p>
          <a:p>
            <a:pPr marR="1177290" algn="r">
              <a:lnSpc>
                <a:spcPct val="100000"/>
              </a:lnSpc>
              <a:spcBef>
                <a:spcPts val="275"/>
              </a:spcBef>
            </a:pPr>
            <a:r>
              <a:rPr sz="600" spc="145" dirty="0">
                <a:solidFill>
                  <a:srgbClr val="191933"/>
                </a:solidFill>
                <a:latin typeface="Cambria"/>
                <a:cs typeface="Cambria"/>
              </a:rPr>
              <a:t>∧</a:t>
            </a:r>
            <a:r>
              <a:rPr sz="600" spc="80" dirty="0">
                <a:solidFill>
                  <a:srgbClr val="191933"/>
                </a:solidFill>
                <a:latin typeface="Cambria"/>
                <a:cs typeface="Cambria"/>
              </a:rPr>
              <a:t> </a:t>
            </a:r>
            <a:r>
              <a:rPr sz="600" dirty="0">
                <a:solidFill>
                  <a:srgbClr val="191933"/>
                </a:solidFill>
                <a:latin typeface="Calibri"/>
                <a:cs typeface="Calibri"/>
              </a:rPr>
              <a:t>(</a:t>
            </a:r>
            <a:r>
              <a:rPr sz="600" i="1" dirty="0">
                <a:solidFill>
                  <a:srgbClr val="191933"/>
                </a:solidFill>
                <a:latin typeface="Calibri"/>
                <a:cs typeface="Calibri"/>
              </a:rPr>
              <a:t>U.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security</a:t>
            </a:r>
            <a:r>
              <a:rPr sz="600" spc="1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level</a:t>
            </a:r>
            <a:r>
              <a:rPr sz="600" spc="10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254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600" spc="13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spc="60" dirty="0">
                <a:solidFill>
                  <a:srgbClr val="191933"/>
                </a:solidFill>
                <a:latin typeface="Calibri"/>
                <a:cs typeface="Calibri"/>
              </a:rPr>
              <a:t>5</a:t>
            </a:r>
            <a:r>
              <a:rPr sz="600" spc="13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spc="235" dirty="0">
                <a:solidFill>
                  <a:srgbClr val="191933"/>
                </a:solidFill>
                <a:latin typeface="Cambria"/>
                <a:cs typeface="Cambria"/>
              </a:rPr>
              <a:t>≥</a:t>
            </a:r>
            <a:r>
              <a:rPr sz="600" spc="140" dirty="0">
                <a:solidFill>
                  <a:srgbClr val="191933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191933"/>
                </a:solidFill>
                <a:latin typeface="Calibri"/>
                <a:cs typeface="Calibri"/>
              </a:rPr>
              <a:t>Res.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sensitivity</a:t>
            </a:r>
            <a:r>
              <a:rPr sz="600" spc="1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level</a:t>
            </a:r>
            <a:r>
              <a:rPr sz="600" spc="10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254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600" spc="13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spc="55" dirty="0">
                <a:solidFill>
                  <a:srgbClr val="191933"/>
                </a:solidFill>
                <a:latin typeface="Calibri"/>
                <a:cs typeface="Calibri"/>
              </a:rPr>
              <a:t>4)</a:t>
            </a:r>
            <a:endParaRPr sz="600">
              <a:latin typeface="Calibri"/>
              <a:cs typeface="Calibri"/>
            </a:endParaRPr>
          </a:p>
          <a:p>
            <a:pPr marL="1358265">
              <a:lnSpc>
                <a:spcPct val="100000"/>
              </a:lnSpc>
              <a:spcBef>
                <a:spcPts val="280"/>
              </a:spcBef>
            </a:pPr>
            <a:r>
              <a:rPr sz="600" spc="200" dirty="0">
                <a:solidFill>
                  <a:srgbClr val="191933"/>
                </a:solidFill>
                <a:latin typeface="Cambria"/>
                <a:cs typeface="Cambria"/>
              </a:rPr>
              <a:t>⇒</a:t>
            </a:r>
            <a:r>
              <a:rPr sz="600" spc="80" dirty="0">
                <a:solidFill>
                  <a:srgbClr val="191933"/>
                </a:solidFill>
                <a:latin typeface="Cambria"/>
                <a:cs typeface="Cambria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Grant</a:t>
            </a:r>
            <a:r>
              <a:rPr sz="6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Access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29" name="object 29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4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72</a:t>
            </a:r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93</a:t>
            </a:r>
          </a:p>
        </p:txBody>
      </p:sp>
    </p:spTree>
  </p:cSld>
  <p:clrMapOvr>
    <a:masterClrMapping/>
  </p:clrMapOvr>
  <p:transition>
    <p:cut/>
  </p:transition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Detailed</a:t>
            </a:r>
            <a:r>
              <a:rPr spc="10" dirty="0"/>
              <a:t> </a:t>
            </a:r>
            <a:r>
              <a:rPr dirty="0"/>
              <a:t>ABAC</a:t>
            </a:r>
            <a:r>
              <a:rPr spc="15" dirty="0"/>
              <a:t> </a:t>
            </a:r>
            <a:r>
              <a:rPr spc="-25" dirty="0"/>
              <a:t>Algorithm</a:t>
            </a:r>
            <a:r>
              <a:rPr spc="15" dirty="0"/>
              <a:t> </a:t>
            </a:r>
            <a:r>
              <a:rPr spc="-30" dirty="0"/>
              <a:t>Example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1182966"/>
            <a:ext cx="4432935" cy="198755"/>
          </a:xfrm>
          <a:custGeom>
            <a:avLst/>
            <a:gdLst/>
            <a:ahLst/>
            <a:cxnLst/>
            <a:rect l="l" t="t" r="r" b="b"/>
            <a:pathLst>
              <a:path w="4432935" h="198755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4432566" y="198367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2672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8544" y="1211414"/>
            <a:ext cx="109029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50" dirty="0">
                <a:solidFill>
                  <a:srgbClr val="FFFFFF"/>
                </a:solidFill>
                <a:latin typeface="Tahoma"/>
                <a:cs typeface="Tahoma"/>
              </a:rPr>
              <a:t>Example</a:t>
            </a:r>
            <a:r>
              <a:rPr sz="12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65" dirty="0">
                <a:solidFill>
                  <a:srgbClr val="FFFFFF"/>
                </a:solidFill>
                <a:latin typeface="Tahoma"/>
                <a:cs typeface="Tahoma"/>
              </a:rPr>
              <a:t>Scenario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5511" y="1414903"/>
            <a:ext cx="114300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830">
              <a:lnSpc>
                <a:spcPts val="715"/>
              </a:lnSpc>
            </a:pPr>
            <a:r>
              <a:rPr sz="600" spc="-50" dirty="0">
                <a:solidFill>
                  <a:srgbClr val="FFFFFF"/>
                </a:solidFill>
                <a:latin typeface="Arial MT"/>
                <a:cs typeface="Arial MT"/>
              </a:rPr>
              <a:t>3</a:t>
            </a:r>
            <a:endParaRPr sz="600">
              <a:latin typeface="Arial MT"/>
              <a:cs typeface="Arial MT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5511" y="1870389"/>
            <a:ext cx="114214" cy="240744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55511" y="1870389"/>
            <a:ext cx="114300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830">
              <a:lnSpc>
                <a:spcPts val="715"/>
              </a:lnSpc>
            </a:pPr>
            <a:r>
              <a:rPr sz="600" spc="-50" dirty="0">
                <a:solidFill>
                  <a:srgbClr val="FFFFFF"/>
                </a:solidFill>
                <a:latin typeface="Arial MT"/>
                <a:cs typeface="Arial MT"/>
              </a:rPr>
              <a:t>4</a:t>
            </a:r>
            <a:endParaRPr sz="600">
              <a:latin typeface="Arial MT"/>
              <a:cs typeface="Arial MT"/>
            </a:endParaRPr>
          </a:p>
          <a:p>
            <a:pPr marL="36830">
              <a:lnSpc>
                <a:spcPct val="100000"/>
              </a:lnSpc>
              <a:spcBef>
                <a:spcPts val="275"/>
              </a:spcBef>
            </a:pPr>
            <a:r>
              <a:rPr sz="600" spc="-50" dirty="0">
                <a:solidFill>
                  <a:srgbClr val="FFFFFF"/>
                </a:solidFill>
                <a:latin typeface="Arial MT"/>
                <a:cs typeface="Arial MT"/>
              </a:rPr>
              <a:t>5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8544" y="1239885"/>
            <a:ext cx="4432935" cy="946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600">
              <a:latin typeface="Times New Roman"/>
              <a:cs typeface="Times New Roman"/>
            </a:endParaRPr>
          </a:p>
          <a:p>
            <a:pPr marL="276860">
              <a:lnSpc>
                <a:spcPct val="100000"/>
              </a:lnSpc>
            </a:pPr>
            <a:r>
              <a:rPr sz="600" b="1" dirty="0">
                <a:solidFill>
                  <a:srgbClr val="191933"/>
                </a:solidFill>
                <a:latin typeface="Arial"/>
                <a:cs typeface="Arial"/>
              </a:rPr>
              <a:t>Step</a:t>
            </a:r>
            <a:r>
              <a:rPr sz="600" b="1" spc="1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191933"/>
                </a:solidFill>
                <a:latin typeface="Arial"/>
                <a:cs typeface="Arial"/>
              </a:rPr>
              <a:t>3:</a:t>
            </a:r>
            <a:r>
              <a:rPr sz="600" b="1" spc="5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Evaluate</a:t>
            </a:r>
            <a:r>
              <a:rPr sz="6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any</a:t>
            </a:r>
            <a:r>
              <a:rPr sz="6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additional</a:t>
            </a:r>
            <a:r>
              <a:rPr sz="6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conditions</a:t>
            </a:r>
            <a:r>
              <a:rPr sz="6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defined</a:t>
            </a:r>
            <a:r>
              <a:rPr sz="6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in</a:t>
            </a:r>
            <a:r>
              <a:rPr sz="6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i="1" spc="80" dirty="0">
                <a:solidFill>
                  <a:srgbClr val="191933"/>
                </a:solidFill>
                <a:latin typeface="Calibri"/>
                <a:cs typeface="Calibri"/>
              </a:rPr>
              <a:t>P</a:t>
            </a:r>
            <a:r>
              <a:rPr sz="750" i="1" spc="120" baseline="-16666" dirty="0">
                <a:solidFill>
                  <a:srgbClr val="191933"/>
                </a:solidFill>
                <a:latin typeface="Georgia"/>
                <a:cs typeface="Georgia"/>
              </a:rPr>
              <a:t>abac</a:t>
            </a:r>
            <a:r>
              <a:rPr sz="600" spc="80" dirty="0">
                <a:solidFill>
                  <a:srgbClr val="191933"/>
                </a:solidFill>
                <a:latin typeface="Arial MT"/>
                <a:cs typeface="Arial MT"/>
              </a:rPr>
              <a:t>:</a:t>
            </a:r>
            <a:endParaRPr sz="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80"/>
              </a:spcBef>
            </a:pPr>
            <a:endParaRPr sz="600">
              <a:latin typeface="Arial MT"/>
              <a:cs typeface="Arial MT"/>
            </a:endParaRPr>
          </a:p>
          <a:p>
            <a:pPr marL="1499870">
              <a:lnSpc>
                <a:spcPct val="100000"/>
              </a:lnSpc>
            </a:pP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No</a:t>
            </a:r>
            <a:r>
              <a:rPr sz="6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additional</a:t>
            </a:r>
            <a:r>
              <a:rPr sz="6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conditions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apply,</a:t>
            </a:r>
            <a:r>
              <a:rPr sz="6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so</a:t>
            </a:r>
            <a:r>
              <a:rPr sz="6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Grant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Access</a:t>
            </a:r>
            <a:endParaRPr sz="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85"/>
              </a:spcBef>
            </a:pPr>
            <a:endParaRPr sz="600">
              <a:latin typeface="Arial MT"/>
              <a:cs typeface="Arial MT"/>
            </a:endParaRPr>
          </a:p>
          <a:p>
            <a:pPr marL="276860">
              <a:lnSpc>
                <a:spcPct val="100000"/>
              </a:lnSpc>
            </a:pPr>
            <a:r>
              <a:rPr sz="600" b="1" dirty="0">
                <a:solidFill>
                  <a:srgbClr val="191933"/>
                </a:solidFill>
                <a:latin typeface="Arial"/>
                <a:cs typeface="Arial"/>
              </a:rPr>
              <a:t>Step</a:t>
            </a:r>
            <a:r>
              <a:rPr sz="600" b="1" spc="1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191933"/>
                </a:solidFill>
                <a:latin typeface="Arial"/>
                <a:cs typeface="Arial"/>
              </a:rPr>
              <a:t>4:</a:t>
            </a:r>
            <a:r>
              <a:rPr sz="600" b="1" spc="7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Log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Bob’s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35" dirty="0">
                <a:solidFill>
                  <a:srgbClr val="191933"/>
                </a:solidFill>
                <a:latin typeface="Arial MT"/>
                <a:cs typeface="Arial MT"/>
              </a:rPr>
              <a:t>access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request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and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0" dirty="0">
                <a:solidFill>
                  <a:srgbClr val="191933"/>
                </a:solidFill>
                <a:latin typeface="Arial MT"/>
                <a:cs typeface="Arial MT"/>
              </a:rPr>
              <a:t>decision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0" dirty="0">
                <a:solidFill>
                  <a:srgbClr val="191933"/>
                </a:solidFill>
                <a:latin typeface="Arial MT"/>
                <a:cs typeface="Arial MT"/>
              </a:rPr>
              <a:t>(Access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granted).</a:t>
            </a:r>
            <a:endParaRPr sz="600">
              <a:latin typeface="Arial MT"/>
              <a:cs typeface="Arial MT"/>
            </a:endParaRPr>
          </a:p>
          <a:p>
            <a:pPr marL="276860">
              <a:lnSpc>
                <a:spcPct val="100000"/>
              </a:lnSpc>
              <a:spcBef>
                <a:spcPts val="275"/>
              </a:spcBef>
            </a:pPr>
            <a:r>
              <a:rPr sz="600" b="1" dirty="0">
                <a:solidFill>
                  <a:srgbClr val="191933"/>
                </a:solidFill>
                <a:latin typeface="Arial"/>
                <a:cs typeface="Arial"/>
              </a:rPr>
              <a:t>Step</a:t>
            </a:r>
            <a:r>
              <a:rPr sz="600" b="1" spc="2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191933"/>
                </a:solidFill>
                <a:latin typeface="Arial"/>
                <a:cs typeface="Arial"/>
              </a:rPr>
              <a:t>5:</a:t>
            </a:r>
            <a:r>
              <a:rPr sz="600" b="1" spc="8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Since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35" dirty="0">
                <a:solidFill>
                  <a:srgbClr val="191933"/>
                </a:solidFill>
                <a:latin typeface="Arial MT"/>
                <a:cs typeface="Arial MT"/>
              </a:rPr>
              <a:t>access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is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granted,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no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notification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security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monitoring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system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is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needed.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5" name="object 15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4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73</a:t>
            </a:r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93</a:t>
            </a:r>
          </a:p>
        </p:txBody>
      </p:sp>
    </p:spTree>
  </p:cSld>
  <p:clrMapOvr>
    <a:masterClrMapping/>
  </p:clrMapOvr>
  <p:transition>
    <p:cut/>
  </p:transition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Detailed</a:t>
            </a:r>
            <a:r>
              <a:rPr spc="-5" dirty="0"/>
              <a:t> </a:t>
            </a:r>
            <a:r>
              <a:rPr dirty="0"/>
              <a:t>RBAC</a:t>
            </a:r>
            <a:r>
              <a:rPr spc="-5" dirty="0"/>
              <a:t> </a:t>
            </a:r>
            <a:r>
              <a:rPr spc="-25" dirty="0"/>
              <a:t>Algorithm</a:t>
            </a:r>
            <a:r>
              <a:rPr dirty="0"/>
              <a:t> for</a:t>
            </a:r>
            <a:r>
              <a:rPr spc="-5" dirty="0"/>
              <a:t> </a:t>
            </a:r>
            <a:r>
              <a:rPr dirty="0"/>
              <a:t>Worm</a:t>
            </a:r>
            <a:r>
              <a:rPr spc="-5" dirty="0"/>
              <a:t> </a:t>
            </a:r>
            <a:r>
              <a:rPr spc="-25" dirty="0"/>
              <a:t>Prevention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710424"/>
            <a:ext cx="4432935" cy="198755"/>
          </a:xfrm>
          <a:custGeom>
            <a:avLst/>
            <a:gdLst/>
            <a:ahLst/>
            <a:cxnLst/>
            <a:rect l="l" t="t" r="r" b="b"/>
            <a:pathLst>
              <a:path w="4432935" h="198755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4432566" y="198367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2672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8544" y="738885"/>
            <a:ext cx="99631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35" dirty="0">
                <a:solidFill>
                  <a:srgbClr val="FFFFFF"/>
                </a:solidFill>
                <a:latin typeface="Tahoma"/>
                <a:cs typeface="Tahoma"/>
              </a:rPr>
              <a:t>Algorithm</a:t>
            </a:r>
            <a:r>
              <a:rPr sz="120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60" dirty="0">
                <a:solidFill>
                  <a:srgbClr val="FFFFFF"/>
                </a:solidFill>
                <a:latin typeface="Tahoma"/>
                <a:cs typeface="Tahoma"/>
              </a:rPr>
              <a:t>Steps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77532" y="866925"/>
            <a:ext cx="2636520" cy="44577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sz="1100" b="1" dirty="0">
                <a:solidFill>
                  <a:srgbClr val="191933"/>
                </a:solidFill>
                <a:latin typeface="Arial"/>
                <a:cs typeface="Arial"/>
              </a:rPr>
              <a:t>Input:</a:t>
            </a:r>
            <a:r>
              <a:rPr sz="1100" b="1" spc="11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User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role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i="1" spc="-10" dirty="0">
                <a:solidFill>
                  <a:srgbClr val="191933"/>
                </a:solidFill>
                <a:latin typeface="Calibri"/>
                <a:cs typeface="Calibri"/>
              </a:rPr>
              <a:t>U.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role,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RBAC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Policy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i="1" spc="-10" dirty="0">
                <a:solidFill>
                  <a:srgbClr val="191933"/>
                </a:solidFill>
                <a:latin typeface="Calibri"/>
                <a:cs typeface="Calibri"/>
              </a:rPr>
              <a:t>P</a:t>
            </a:r>
            <a:r>
              <a:rPr sz="1200" i="1" spc="-15" baseline="-13888" dirty="0">
                <a:solidFill>
                  <a:srgbClr val="191933"/>
                </a:solidFill>
                <a:latin typeface="Calibri"/>
                <a:cs typeface="Calibri"/>
              </a:rPr>
              <a:t>rbac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334"/>
              </a:spcBef>
            </a:pPr>
            <a:r>
              <a:rPr sz="1100" b="1" dirty="0">
                <a:solidFill>
                  <a:srgbClr val="191933"/>
                </a:solidFill>
                <a:latin typeface="Arial"/>
                <a:cs typeface="Arial"/>
              </a:rPr>
              <a:t>Output:</a:t>
            </a:r>
            <a:r>
              <a:rPr sz="1100" b="1" spc="9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Access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granted 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or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denied.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672" y="1422841"/>
            <a:ext cx="114214" cy="114214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251917" y="1409908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Arial MT"/>
                <a:cs typeface="Arial MT"/>
              </a:rPr>
              <a:t>1</a:t>
            </a:r>
            <a:endParaRPr sz="600">
              <a:latin typeface="Arial MT"/>
              <a:cs typeface="Arial MT"/>
            </a:endParaRPr>
          </a:p>
        </p:txBody>
      </p: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672" y="1632873"/>
            <a:ext cx="114214" cy="114214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251917" y="1619941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Arial MT"/>
                <a:cs typeface="Arial MT"/>
              </a:rPr>
              <a:t>2</a:t>
            </a:r>
            <a:endParaRPr sz="600">
              <a:latin typeface="Arial MT"/>
              <a:cs typeface="Arial MT"/>
            </a:endParaRPr>
          </a:p>
        </p:txBody>
      </p:sp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7672" y="1842906"/>
            <a:ext cx="114214" cy="114214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251917" y="1829973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Arial MT"/>
                <a:cs typeface="Arial MT"/>
              </a:rPr>
              <a:t>3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77532" y="1324938"/>
            <a:ext cx="3801745" cy="65595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sz="1100" b="1" dirty="0">
                <a:solidFill>
                  <a:srgbClr val="191933"/>
                </a:solidFill>
                <a:latin typeface="Arial"/>
                <a:cs typeface="Arial"/>
              </a:rPr>
              <a:t>Step</a:t>
            </a:r>
            <a:r>
              <a:rPr sz="1100" b="1" spc="1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191933"/>
                </a:solidFill>
                <a:latin typeface="Arial"/>
                <a:cs typeface="Arial"/>
              </a:rPr>
              <a:t>1:</a:t>
            </a:r>
            <a:r>
              <a:rPr sz="1100" b="1" spc="8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Identify</a:t>
            </a:r>
            <a:r>
              <a:rPr sz="1100" spc="-5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user’s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role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i="1" spc="-10" dirty="0">
                <a:solidFill>
                  <a:srgbClr val="191933"/>
                </a:solidFill>
                <a:latin typeface="Calibri"/>
                <a:cs typeface="Calibri"/>
              </a:rPr>
              <a:t>U.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role.</a:t>
            </a:r>
            <a:endParaRPr sz="110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334"/>
              </a:spcBef>
            </a:pPr>
            <a:r>
              <a:rPr sz="1100" b="1" dirty="0">
                <a:solidFill>
                  <a:srgbClr val="191933"/>
                </a:solidFill>
                <a:latin typeface="Arial"/>
                <a:cs typeface="Arial"/>
              </a:rPr>
              <a:t>Step</a:t>
            </a:r>
            <a:r>
              <a:rPr sz="1100" b="1" spc="1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191933"/>
                </a:solidFill>
                <a:latin typeface="Arial"/>
                <a:cs typeface="Arial"/>
              </a:rPr>
              <a:t>2:</a:t>
            </a:r>
            <a:r>
              <a:rPr sz="1100" b="1" spc="9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Retrieve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permissions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 associated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with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i="1" dirty="0">
                <a:solidFill>
                  <a:srgbClr val="191933"/>
                </a:solidFill>
                <a:latin typeface="Calibri"/>
                <a:cs typeface="Calibri"/>
              </a:rPr>
              <a:t>U.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role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from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i="1" spc="-10" dirty="0">
                <a:solidFill>
                  <a:srgbClr val="191933"/>
                </a:solidFill>
                <a:latin typeface="Calibri"/>
                <a:cs typeface="Calibri"/>
              </a:rPr>
              <a:t>P</a:t>
            </a:r>
            <a:r>
              <a:rPr sz="1200" i="1" spc="-15" baseline="-13888" dirty="0">
                <a:solidFill>
                  <a:srgbClr val="191933"/>
                </a:solidFill>
                <a:latin typeface="Calibri"/>
                <a:cs typeface="Calibri"/>
              </a:rPr>
              <a:t>rbac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330"/>
              </a:spcBef>
            </a:pPr>
            <a:r>
              <a:rPr sz="1100" b="1" dirty="0">
                <a:solidFill>
                  <a:srgbClr val="191933"/>
                </a:solidFill>
                <a:latin typeface="Arial"/>
                <a:cs typeface="Arial"/>
              </a:rPr>
              <a:t>Step</a:t>
            </a:r>
            <a:r>
              <a:rPr sz="1100" b="1" spc="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191933"/>
                </a:solidFill>
                <a:latin typeface="Arial"/>
                <a:cs typeface="Arial"/>
              </a:rPr>
              <a:t>3:</a:t>
            </a:r>
            <a:r>
              <a:rPr sz="1100" b="1" spc="8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Check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if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the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55" dirty="0">
                <a:solidFill>
                  <a:srgbClr val="191933"/>
                </a:solidFill>
                <a:latin typeface="Tahoma"/>
                <a:cs typeface="Tahoma"/>
              </a:rPr>
              <a:t>requested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action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is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within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the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permissions: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23492" y="2100045"/>
            <a:ext cx="28378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If</a:t>
            </a:r>
            <a:r>
              <a:rPr sz="1100" spc="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i="1" dirty="0">
                <a:solidFill>
                  <a:srgbClr val="191933"/>
                </a:solidFill>
                <a:latin typeface="Calibri"/>
                <a:cs typeface="Calibri"/>
              </a:rPr>
              <a:t>R.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action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55" dirty="0">
                <a:solidFill>
                  <a:srgbClr val="191933"/>
                </a:solidFill>
                <a:latin typeface="Lucida Sans Unicode"/>
                <a:cs typeface="Lucida Sans Unicode"/>
              </a:rPr>
              <a:t>∈</a:t>
            </a:r>
            <a:r>
              <a:rPr sz="1100" spc="-45" dirty="0">
                <a:solidFill>
                  <a:srgbClr val="191933"/>
                </a:solidFill>
                <a:latin typeface="Lucida Sans Unicode"/>
                <a:cs typeface="Lucida Sans Unicode"/>
              </a:rPr>
              <a:t> </a:t>
            </a:r>
            <a:r>
              <a:rPr sz="1100" i="1" spc="-10" dirty="0">
                <a:solidFill>
                  <a:srgbClr val="191933"/>
                </a:solidFill>
                <a:latin typeface="Calibri"/>
                <a:cs typeface="Calibri"/>
              </a:rPr>
              <a:t>P</a:t>
            </a:r>
            <a:r>
              <a:rPr sz="1200" i="1" spc="-15" baseline="-13888" dirty="0">
                <a:solidFill>
                  <a:srgbClr val="191933"/>
                </a:solidFill>
                <a:latin typeface="Calibri"/>
                <a:cs typeface="Calibri"/>
              </a:rPr>
              <a:t>rbac</a:t>
            </a:r>
            <a:r>
              <a:rPr sz="1100" i="1" spc="-10" dirty="0">
                <a:solidFill>
                  <a:srgbClr val="191933"/>
                </a:solidFill>
                <a:latin typeface="Calibri"/>
                <a:cs typeface="Calibri"/>
              </a:rPr>
              <a:t>.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permissions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Lucida Sans Unicode"/>
                <a:cs typeface="Lucida Sans Unicode"/>
              </a:rPr>
              <a:t>⇒</a:t>
            </a:r>
            <a:r>
              <a:rPr sz="1100" spc="-45" dirty="0">
                <a:solidFill>
                  <a:srgbClr val="191933"/>
                </a:solidFill>
                <a:latin typeface="Lucida Sans Unicode"/>
                <a:cs typeface="Lucida Sans Unicode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Grant</a:t>
            </a:r>
            <a:r>
              <a:rPr sz="1100" spc="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Access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20" name="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7672" y="2465409"/>
            <a:ext cx="114214" cy="114214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251917" y="2452476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Arial MT"/>
                <a:cs typeface="Arial MT"/>
              </a:rPr>
              <a:t>4</a:t>
            </a:r>
            <a:endParaRPr sz="600">
              <a:latin typeface="Arial MT"/>
              <a:cs typeface="Arial MT"/>
            </a:endParaRPr>
          </a:p>
        </p:txBody>
      </p:sp>
      <p:pic>
        <p:nvPicPr>
          <p:cNvPr id="22" name="object 2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27672" y="2675442"/>
            <a:ext cx="114214" cy="114214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251917" y="2662509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Arial MT"/>
                <a:cs typeface="Arial MT"/>
              </a:rPr>
              <a:t>5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02932" y="2367519"/>
            <a:ext cx="3704590" cy="44577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b="1" dirty="0">
                <a:solidFill>
                  <a:srgbClr val="191933"/>
                </a:solidFill>
                <a:latin typeface="Arial"/>
                <a:cs typeface="Arial"/>
              </a:rPr>
              <a:t>Step</a:t>
            </a:r>
            <a:r>
              <a:rPr sz="1100" b="1" spc="-1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191933"/>
                </a:solidFill>
                <a:latin typeface="Arial"/>
                <a:cs typeface="Arial"/>
              </a:rPr>
              <a:t>4:</a:t>
            </a:r>
            <a:r>
              <a:rPr sz="1100" b="1" spc="8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Log</a:t>
            </a:r>
            <a:r>
              <a:rPr sz="1100" spc="-5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the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 access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request 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and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outcome.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sz="1100" b="1" dirty="0">
                <a:solidFill>
                  <a:srgbClr val="191933"/>
                </a:solidFill>
                <a:latin typeface="Arial"/>
                <a:cs typeface="Arial"/>
              </a:rPr>
              <a:t>Step</a:t>
            </a:r>
            <a:r>
              <a:rPr sz="1100" b="1" spc="3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191933"/>
                </a:solidFill>
                <a:latin typeface="Arial"/>
                <a:cs typeface="Arial"/>
              </a:rPr>
              <a:t>5:</a:t>
            </a:r>
            <a:r>
              <a:rPr sz="1100" b="1" spc="12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191933"/>
                </a:solidFill>
                <a:latin typeface="Arial"/>
                <a:cs typeface="Arial"/>
              </a:rPr>
              <a:t>If</a:t>
            </a:r>
            <a:r>
              <a:rPr sz="1100" b="1" spc="9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spc="-55" dirty="0">
                <a:solidFill>
                  <a:srgbClr val="191933"/>
                </a:solidFill>
                <a:latin typeface="Tahoma"/>
                <a:cs typeface="Tahoma"/>
              </a:rPr>
              <a:t>access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is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denied,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55" dirty="0">
                <a:solidFill>
                  <a:srgbClr val="191933"/>
                </a:solidFill>
                <a:latin typeface="Tahoma"/>
                <a:cs typeface="Tahoma"/>
              </a:rPr>
              <a:t>generate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a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security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incident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report.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26" name="object 26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4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74</a:t>
            </a:r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93</a:t>
            </a:r>
          </a:p>
        </p:txBody>
      </p:sp>
    </p:spTree>
  </p:cSld>
  <p:clrMapOvr>
    <a:masterClrMapping/>
  </p:clrMapOvr>
  <p:transition>
    <p:cut/>
  </p:transition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1013"/>
            <a:ext cx="247586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Detailed</a:t>
            </a:r>
            <a:r>
              <a:rPr spc="5" dirty="0"/>
              <a:t> </a:t>
            </a:r>
            <a:r>
              <a:rPr dirty="0"/>
              <a:t>RBAC</a:t>
            </a:r>
            <a:r>
              <a:rPr spc="5" dirty="0"/>
              <a:t> </a:t>
            </a:r>
            <a:r>
              <a:rPr spc="-25" dirty="0"/>
              <a:t>Algorithm</a:t>
            </a:r>
            <a:r>
              <a:rPr spc="5" dirty="0"/>
              <a:t> </a:t>
            </a:r>
            <a:r>
              <a:rPr spc="-30" dirty="0"/>
              <a:t>Example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702373"/>
            <a:ext cx="4432935" cy="198755"/>
          </a:xfrm>
          <a:custGeom>
            <a:avLst/>
            <a:gdLst/>
            <a:ahLst/>
            <a:cxnLst/>
            <a:rect l="l" t="t" r="r" b="b"/>
            <a:pathLst>
              <a:path w="4432935" h="198755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4432566" y="198367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2672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8544" y="730821"/>
            <a:ext cx="109029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50" dirty="0">
                <a:solidFill>
                  <a:srgbClr val="FFFFFF"/>
                </a:solidFill>
                <a:latin typeface="Tahoma"/>
                <a:cs typeface="Tahoma"/>
              </a:rPr>
              <a:t>Example</a:t>
            </a:r>
            <a:r>
              <a:rPr sz="12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65" dirty="0">
                <a:solidFill>
                  <a:srgbClr val="FFFFFF"/>
                </a:solidFill>
                <a:latin typeface="Tahoma"/>
                <a:cs typeface="Tahoma"/>
              </a:rPr>
              <a:t>Scenario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28955" y="901427"/>
            <a:ext cx="4283075" cy="144272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86055">
              <a:lnSpc>
                <a:spcPct val="100000"/>
              </a:lnSpc>
              <a:spcBef>
                <a:spcPts val="375"/>
              </a:spcBef>
            </a:pPr>
            <a:r>
              <a:rPr sz="600" b="1" spc="-20" dirty="0">
                <a:solidFill>
                  <a:srgbClr val="191933"/>
                </a:solidFill>
                <a:latin typeface="Arial"/>
                <a:cs typeface="Arial"/>
              </a:rPr>
              <a:t>User</a:t>
            </a:r>
            <a:r>
              <a:rPr sz="600" b="1" spc="6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b="1" spc="-10" dirty="0">
                <a:solidFill>
                  <a:srgbClr val="191933"/>
                </a:solidFill>
                <a:latin typeface="Arial"/>
                <a:cs typeface="Arial"/>
              </a:rPr>
              <a:t>Role:</a:t>
            </a:r>
            <a:r>
              <a:rPr sz="600" b="1" spc="12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John</a:t>
            </a:r>
            <a:r>
              <a:rPr sz="600" spc="6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is</a:t>
            </a:r>
            <a:r>
              <a:rPr sz="600" spc="6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30" dirty="0">
                <a:solidFill>
                  <a:srgbClr val="191933"/>
                </a:solidFill>
                <a:latin typeface="Arial MT"/>
                <a:cs typeface="Arial MT"/>
              </a:rPr>
              <a:t>assigned</a:t>
            </a:r>
            <a:r>
              <a:rPr sz="600" spc="6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600" spc="6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role</a:t>
            </a:r>
            <a:r>
              <a:rPr sz="600" spc="6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600" spc="6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”Network</a:t>
            </a:r>
            <a:r>
              <a:rPr sz="600" spc="6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Administrator”</a:t>
            </a:r>
            <a:r>
              <a:rPr sz="600" spc="6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i="1" dirty="0">
                <a:solidFill>
                  <a:srgbClr val="191933"/>
                </a:solidFill>
                <a:latin typeface="Calibri"/>
                <a:cs typeface="Calibri"/>
              </a:rPr>
              <a:t>U.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role</a:t>
            </a:r>
            <a:r>
              <a:rPr sz="600" spc="6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254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600" spc="9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”Network</a:t>
            </a:r>
            <a:r>
              <a:rPr sz="600" spc="6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Admin”.</a:t>
            </a:r>
            <a:endParaRPr sz="600">
              <a:latin typeface="Arial MT"/>
              <a:cs typeface="Arial MT"/>
            </a:endParaRPr>
          </a:p>
          <a:p>
            <a:pPr marL="186055" marR="68580">
              <a:lnSpc>
                <a:spcPts val="700"/>
              </a:lnSpc>
              <a:spcBef>
                <a:spcPts val="315"/>
              </a:spcBef>
            </a:pPr>
            <a:r>
              <a:rPr sz="600" b="1" dirty="0">
                <a:solidFill>
                  <a:srgbClr val="191933"/>
                </a:solidFill>
                <a:latin typeface="Arial"/>
                <a:cs typeface="Arial"/>
              </a:rPr>
              <a:t>RBAC</a:t>
            </a:r>
            <a:r>
              <a:rPr sz="600" b="1" spc="6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b="1" spc="-10" dirty="0">
                <a:solidFill>
                  <a:srgbClr val="191933"/>
                </a:solidFill>
                <a:latin typeface="Arial"/>
                <a:cs typeface="Arial"/>
              </a:rPr>
              <a:t>Policy:</a:t>
            </a:r>
            <a:r>
              <a:rPr sz="600" b="1" spc="12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6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RBAC</a:t>
            </a:r>
            <a:r>
              <a:rPr sz="600" spc="5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Policy</a:t>
            </a:r>
            <a:r>
              <a:rPr sz="600" spc="6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i="1" spc="100" dirty="0">
                <a:solidFill>
                  <a:srgbClr val="191933"/>
                </a:solidFill>
                <a:latin typeface="Calibri"/>
                <a:cs typeface="Calibri"/>
              </a:rPr>
              <a:t>P</a:t>
            </a:r>
            <a:r>
              <a:rPr sz="750" i="1" spc="150" baseline="-16666" dirty="0">
                <a:solidFill>
                  <a:srgbClr val="191933"/>
                </a:solidFill>
                <a:latin typeface="Georgia"/>
                <a:cs typeface="Georgia"/>
              </a:rPr>
              <a:t>rbac</a:t>
            </a:r>
            <a:r>
              <a:rPr sz="750" i="1" spc="240" baseline="-16666" dirty="0">
                <a:solidFill>
                  <a:srgbClr val="191933"/>
                </a:solidFill>
                <a:latin typeface="Georgia"/>
                <a:cs typeface="Georgia"/>
              </a:rPr>
              <a:t> </a:t>
            </a:r>
            <a:r>
              <a:rPr sz="600" spc="-20" dirty="0">
                <a:solidFill>
                  <a:srgbClr val="191933"/>
                </a:solidFill>
                <a:latin typeface="Arial MT"/>
                <a:cs typeface="Arial MT"/>
              </a:rPr>
              <a:t>specifies</a:t>
            </a:r>
            <a:r>
              <a:rPr sz="6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that</a:t>
            </a:r>
            <a:r>
              <a:rPr sz="6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600" spc="6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”Network</a:t>
            </a:r>
            <a:r>
              <a:rPr sz="6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Admin”</a:t>
            </a:r>
            <a:r>
              <a:rPr sz="6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role</a:t>
            </a:r>
            <a:r>
              <a:rPr sz="600" spc="6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0" dirty="0">
                <a:solidFill>
                  <a:srgbClr val="191933"/>
                </a:solidFill>
                <a:latin typeface="Arial MT"/>
                <a:cs typeface="Arial MT"/>
              </a:rPr>
              <a:t>has</a:t>
            </a:r>
            <a:r>
              <a:rPr sz="6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0" dirty="0">
                <a:solidFill>
                  <a:srgbClr val="191933"/>
                </a:solidFill>
                <a:latin typeface="Arial MT"/>
                <a:cs typeface="Arial MT"/>
              </a:rPr>
              <a:t>permissions</a:t>
            </a:r>
            <a:r>
              <a:rPr sz="6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600" spc="6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”Monitor</a:t>
            </a:r>
            <a:r>
              <a:rPr sz="6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Traffic”</a:t>
            </a:r>
            <a:r>
              <a:rPr sz="600" spc="5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and</a:t>
            </a:r>
            <a:r>
              <a:rPr sz="6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”Configure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Routers.”</a:t>
            </a:r>
            <a:endParaRPr sz="600">
              <a:latin typeface="Arial MT"/>
              <a:cs typeface="Arial MT"/>
            </a:endParaRPr>
          </a:p>
          <a:p>
            <a:pPr marL="186055">
              <a:lnSpc>
                <a:spcPct val="100000"/>
              </a:lnSpc>
              <a:spcBef>
                <a:spcPts val="254"/>
              </a:spcBef>
            </a:pPr>
            <a:r>
              <a:rPr sz="600" b="1" dirty="0">
                <a:solidFill>
                  <a:srgbClr val="191933"/>
                </a:solidFill>
                <a:latin typeface="Arial"/>
                <a:cs typeface="Arial"/>
              </a:rPr>
              <a:t>Output:</a:t>
            </a:r>
            <a:r>
              <a:rPr sz="600" b="1" spc="5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spc="-30" dirty="0">
                <a:solidFill>
                  <a:srgbClr val="191933"/>
                </a:solidFill>
                <a:latin typeface="Arial MT"/>
                <a:cs typeface="Arial MT"/>
              </a:rPr>
              <a:t>Access</a:t>
            </a:r>
            <a:r>
              <a:rPr sz="6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granted</a:t>
            </a:r>
            <a:r>
              <a:rPr sz="6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or</a:t>
            </a:r>
            <a:r>
              <a:rPr sz="6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denied</a:t>
            </a:r>
            <a:r>
              <a:rPr sz="6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5" dirty="0">
                <a:solidFill>
                  <a:srgbClr val="191933"/>
                </a:solidFill>
                <a:latin typeface="Arial MT"/>
                <a:cs typeface="Arial MT"/>
              </a:rPr>
              <a:t>based</a:t>
            </a:r>
            <a:r>
              <a:rPr sz="6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on</a:t>
            </a:r>
            <a:r>
              <a:rPr sz="6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John’s</a:t>
            </a:r>
            <a:r>
              <a:rPr sz="6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role</a:t>
            </a:r>
            <a:r>
              <a:rPr sz="6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and</a:t>
            </a:r>
            <a:r>
              <a:rPr sz="6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6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0" dirty="0">
                <a:solidFill>
                  <a:srgbClr val="191933"/>
                </a:solidFill>
                <a:latin typeface="Arial MT"/>
                <a:cs typeface="Arial MT"/>
              </a:rPr>
              <a:t>requested</a:t>
            </a:r>
            <a:r>
              <a:rPr sz="6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action.</a:t>
            </a:r>
            <a:endParaRPr sz="600">
              <a:latin typeface="Arial MT"/>
              <a:cs typeface="Arial MT"/>
            </a:endParaRPr>
          </a:p>
          <a:p>
            <a:pPr marL="184150" indent="-120650">
              <a:lnSpc>
                <a:spcPct val="100000"/>
              </a:lnSpc>
              <a:spcBef>
                <a:spcPts val="575"/>
              </a:spcBef>
              <a:buClr>
                <a:srgbClr val="FFFFFF"/>
              </a:buClr>
              <a:buFont typeface="Arial MT"/>
              <a:buAutoNum type="arabicPlain"/>
              <a:tabLst>
                <a:tab pos="184150" algn="l"/>
              </a:tabLst>
            </a:pPr>
            <a:r>
              <a:rPr sz="600" b="1" dirty="0">
                <a:solidFill>
                  <a:srgbClr val="191933"/>
                </a:solidFill>
                <a:latin typeface="Arial"/>
                <a:cs typeface="Arial"/>
              </a:rPr>
              <a:t>Step</a:t>
            </a:r>
            <a:r>
              <a:rPr sz="600" b="1" spc="5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191933"/>
                </a:solidFill>
                <a:latin typeface="Arial"/>
                <a:cs typeface="Arial"/>
              </a:rPr>
              <a:t>1:</a:t>
            </a:r>
            <a:r>
              <a:rPr sz="600" b="1" spc="11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Identify</a:t>
            </a:r>
            <a:r>
              <a:rPr sz="600" spc="5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John’s</a:t>
            </a:r>
            <a:r>
              <a:rPr sz="600" spc="5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role</a:t>
            </a:r>
            <a:r>
              <a:rPr sz="6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i="1" dirty="0">
                <a:solidFill>
                  <a:srgbClr val="191933"/>
                </a:solidFill>
                <a:latin typeface="Calibri"/>
                <a:cs typeface="Calibri"/>
              </a:rPr>
              <a:t>U.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role</a:t>
            </a:r>
            <a:r>
              <a:rPr sz="600" spc="5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254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600" spc="8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”Network</a:t>
            </a:r>
            <a:r>
              <a:rPr sz="6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Admin”.</a:t>
            </a:r>
            <a:endParaRPr sz="600">
              <a:latin typeface="Arial MT"/>
              <a:cs typeface="Arial MT"/>
            </a:endParaRPr>
          </a:p>
          <a:p>
            <a:pPr marL="183515" marR="1184910" indent="-120650">
              <a:lnSpc>
                <a:spcPct val="124500"/>
              </a:lnSpc>
              <a:spcBef>
                <a:spcPts val="600"/>
              </a:spcBef>
              <a:buClr>
                <a:srgbClr val="FFFFFF"/>
              </a:buClr>
              <a:buFont typeface="Arial MT"/>
              <a:buAutoNum type="arabicPlain"/>
              <a:tabLst>
                <a:tab pos="463550" algn="l"/>
              </a:tabLst>
            </a:pPr>
            <a:r>
              <a:rPr sz="600" b="1" dirty="0">
                <a:solidFill>
                  <a:srgbClr val="191933"/>
                </a:solidFill>
                <a:latin typeface="Arial"/>
                <a:cs typeface="Arial"/>
              </a:rPr>
              <a:t>Step</a:t>
            </a:r>
            <a:r>
              <a:rPr sz="600" b="1" spc="5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191933"/>
                </a:solidFill>
                <a:latin typeface="Arial"/>
                <a:cs typeface="Arial"/>
              </a:rPr>
              <a:t>2:</a:t>
            </a:r>
            <a:r>
              <a:rPr sz="600" b="1" spc="12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Retrieve</a:t>
            </a:r>
            <a:r>
              <a:rPr sz="6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0" dirty="0">
                <a:solidFill>
                  <a:srgbClr val="191933"/>
                </a:solidFill>
                <a:latin typeface="Arial MT"/>
                <a:cs typeface="Arial MT"/>
              </a:rPr>
              <a:t>permissions</a:t>
            </a:r>
            <a:r>
              <a:rPr sz="6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0" dirty="0">
                <a:solidFill>
                  <a:srgbClr val="191933"/>
                </a:solidFill>
                <a:latin typeface="Arial MT"/>
                <a:cs typeface="Arial MT"/>
              </a:rPr>
              <a:t>associated</a:t>
            </a:r>
            <a:r>
              <a:rPr sz="600" spc="5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with</a:t>
            </a:r>
            <a:r>
              <a:rPr sz="6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6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”Network</a:t>
            </a:r>
            <a:r>
              <a:rPr sz="6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Admin”</a:t>
            </a:r>
            <a:r>
              <a:rPr sz="6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role</a:t>
            </a:r>
            <a:r>
              <a:rPr sz="6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from</a:t>
            </a:r>
            <a:r>
              <a:rPr sz="6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i="1" spc="85" dirty="0">
                <a:solidFill>
                  <a:srgbClr val="191933"/>
                </a:solidFill>
                <a:latin typeface="Calibri"/>
                <a:cs typeface="Calibri"/>
              </a:rPr>
              <a:t>P</a:t>
            </a:r>
            <a:r>
              <a:rPr sz="750" i="1" spc="127" baseline="-16666" dirty="0">
                <a:solidFill>
                  <a:srgbClr val="191933"/>
                </a:solidFill>
                <a:latin typeface="Georgia"/>
                <a:cs typeface="Georgia"/>
              </a:rPr>
              <a:t>rbac</a:t>
            </a:r>
            <a:r>
              <a:rPr sz="600" spc="85" dirty="0">
                <a:solidFill>
                  <a:srgbClr val="191933"/>
                </a:solidFill>
                <a:latin typeface="Arial MT"/>
                <a:cs typeface="Arial MT"/>
              </a:rPr>
              <a:t>. 	</a:t>
            </a:r>
            <a:r>
              <a:rPr sz="600" spc="-25" dirty="0">
                <a:solidFill>
                  <a:srgbClr val="191933"/>
                </a:solidFill>
                <a:latin typeface="Arial MT"/>
                <a:cs typeface="Arial MT"/>
              </a:rPr>
              <a:t>Permissions</a:t>
            </a:r>
            <a:r>
              <a:rPr sz="600" spc="1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retrieved:</a:t>
            </a:r>
            <a:r>
              <a:rPr sz="600" spc="18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”Monitor</a:t>
            </a:r>
            <a:r>
              <a:rPr sz="600" spc="1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Traffic,”</a:t>
            </a:r>
            <a:r>
              <a:rPr sz="600" spc="10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”Configure</a:t>
            </a:r>
            <a:r>
              <a:rPr sz="600" spc="10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Routers.”</a:t>
            </a:r>
            <a:endParaRPr sz="600">
              <a:latin typeface="Arial MT"/>
              <a:cs typeface="Arial MT"/>
            </a:endParaRPr>
          </a:p>
          <a:p>
            <a:pPr marL="184150" indent="-120650">
              <a:lnSpc>
                <a:spcPct val="100000"/>
              </a:lnSpc>
              <a:spcBef>
                <a:spcPts val="275"/>
              </a:spcBef>
              <a:buClr>
                <a:srgbClr val="FFFFFF"/>
              </a:buClr>
              <a:buFont typeface="Arial MT"/>
              <a:buAutoNum type="arabicPlain"/>
              <a:tabLst>
                <a:tab pos="184150" algn="l"/>
              </a:tabLst>
            </a:pPr>
            <a:r>
              <a:rPr sz="600" b="1" dirty="0">
                <a:solidFill>
                  <a:srgbClr val="191933"/>
                </a:solidFill>
                <a:latin typeface="Arial"/>
                <a:cs typeface="Arial"/>
              </a:rPr>
              <a:t>Step</a:t>
            </a:r>
            <a:r>
              <a:rPr sz="600" b="1" spc="3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191933"/>
                </a:solidFill>
                <a:latin typeface="Arial"/>
                <a:cs typeface="Arial"/>
              </a:rPr>
              <a:t>3:</a:t>
            </a:r>
            <a:r>
              <a:rPr sz="600" b="1" spc="9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Check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if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0" dirty="0">
                <a:solidFill>
                  <a:srgbClr val="191933"/>
                </a:solidFill>
                <a:latin typeface="Arial MT"/>
                <a:cs typeface="Arial MT"/>
              </a:rPr>
              <a:t>requested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action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is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within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permissions:</a:t>
            </a:r>
            <a:endParaRPr sz="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80"/>
              </a:spcBef>
            </a:pPr>
            <a:endParaRPr sz="600">
              <a:latin typeface="Arial MT"/>
              <a:cs typeface="Arial MT"/>
            </a:endParaRPr>
          </a:p>
          <a:p>
            <a:pPr marL="987425">
              <a:lnSpc>
                <a:spcPct val="100000"/>
              </a:lnSpc>
              <a:spcBef>
                <a:spcPts val="5"/>
              </a:spcBef>
            </a:pPr>
            <a:r>
              <a:rPr sz="600" spc="-25" dirty="0">
                <a:solidFill>
                  <a:srgbClr val="191933"/>
                </a:solidFill>
                <a:latin typeface="Arial MT"/>
                <a:cs typeface="Arial MT"/>
              </a:rPr>
              <a:t>Requested</a:t>
            </a:r>
            <a:r>
              <a:rPr sz="600" spc="9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action:</a:t>
            </a:r>
            <a:r>
              <a:rPr sz="600" spc="17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”Monitor</a:t>
            </a:r>
            <a:r>
              <a:rPr sz="600" spc="1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Traffic”</a:t>
            </a:r>
            <a:endParaRPr sz="600">
              <a:latin typeface="Arial MT"/>
              <a:cs typeface="Arial MT"/>
            </a:endParaRPr>
          </a:p>
          <a:p>
            <a:pPr marL="987425">
              <a:lnSpc>
                <a:spcPct val="100000"/>
              </a:lnSpc>
              <a:spcBef>
                <a:spcPts val="275"/>
              </a:spcBef>
            </a:pP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If</a:t>
            </a:r>
            <a:r>
              <a:rPr sz="600" spc="6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i="1" spc="20" dirty="0">
                <a:solidFill>
                  <a:srgbClr val="191933"/>
                </a:solidFill>
                <a:latin typeface="Calibri"/>
                <a:cs typeface="Calibri"/>
              </a:rPr>
              <a:t>R.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action</a:t>
            </a:r>
            <a:r>
              <a:rPr sz="600" spc="6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254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600" spc="9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”Monitor</a:t>
            </a:r>
            <a:r>
              <a:rPr sz="600" spc="6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Traffic”</a:t>
            </a:r>
            <a:r>
              <a:rPr sz="600" spc="6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120" dirty="0">
                <a:solidFill>
                  <a:srgbClr val="191933"/>
                </a:solidFill>
                <a:latin typeface="Cambria"/>
                <a:cs typeface="Cambria"/>
              </a:rPr>
              <a:t>∈</a:t>
            </a:r>
            <a:r>
              <a:rPr sz="600" spc="100" dirty="0">
                <a:solidFill>
                  <a:srgbClr val="191933"/>
                </a:solidFill>
                <a:latin typeface="Cambria"/>
                <a:cs typeface="Cambria"/>
              </a:rPr>
              <a:t> </a:t>
            </a:r>
            <a:r>
              <a:rPr sz="600" i="1" spc="20" dirty="0">
                <a:solidFill>
                  <a:srgbClr val="191933"/>
                </a:solidFill>
                <a:latin typeface="Calibri"/>
                <a:cs typeface="Calibri"/>
              </a:rPr>
              <a:t>P</a:t>
            </a:r>
            <a:r>
              <a:rPr sz="750" i="1" spc="30" baseline="-16666" dirty="0">
                <a:solidFill>
                  <a:srgbClr val="191933"/>
                </a:solidFill>
                <a:latin typeface="Georgia"/>
                <a:cs typeface="Georgia"/>
              </a:rPr>
              <a:t>rbac</a:t>
            </a:r>
            <a:r>
              <a:rPr sz="600" i="1" spc="20" dirty="0">
                <a:solidFill>
                  <a:srgbClr val="191933"/>
                </a:solidFill>
                <a:latin typeface="Calibri"/>
                <a:cs typeface="Calibri"/>
              </a:rPr>
              <a:t>.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permissions</a:t>
            </a:r>
            <a:r>
              <a:rPr sz="600" spc="6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200" dirty="0">
                <a:solidFill>
                  <a:srgbClr val="191933"/>
                </a:solidFill>
                <a:latin typeface="Cambria"/>
                <a:cs typeface="Cambria"/>
              </a:rPr>
              <a:t>⇒</a:t>
            </a:r>
            <a:r>
              <a:rPr sz="600" spc="100" dirty="0">
                <a:solidFill>
                  <a:srgbClr val="191933"/>
                </a:solidFill>
                <a:latin typeface="Cambria"/>
                <a:cs typeface="Cambria"/>
              </a:rPr>
              <a:t> </a:t>
            </a:r>
            <a:r>
              <a:rPr sz="600" spc="10" dirty="0">
                <a:solidFill>
                  <a:srgbClr val="191933"/>
                </a:solidFill>
                <a:latin typeface="Arial MT"/>
                <a:cs typeface="Arial MT"/>
              </a:rPr>
              <a:t>Grant</a:t>
            </a:r>
            <a:r>
              <a:rPr sz="600" spc="6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Access</a:t>
            </a:r>
            <a:endParaRPr sz="600">
              <a:latin typeface="Arial MT"/>
              <a:cs typeface="Arial MT"/>
            </a:endParaRPr>
          </a:p>
        </p:txBody>
      </p: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5511" y="2591279"/>
            <a:ext cx="114214" cy="240731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255511" y="2591279"/>
            <a:ext cx="114300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830">
              <a:lnSpc>
                <a:spcPts val="715"/>
              </a:lnSpc>
            </a:pPr>
            <a:r>
              <a:rPr sz="600" spc="-50" dirty="0">
                <a:solidFill>
                  <a:srgbClr val="FFFFFF"/>
                </a:solidFill>
                <a:latin typeface="Arial MT"/>
                <a:cs typeface="Arial MT"/>
              </a:rPr>
              <a:t>4</a:t>
            </a:r>
            <a:endParaRPr sz="600">
              <a:latin typeface="Arial MT"/>
              <a:cs typeface="Arial MT"/>
            </a:endParaRPr>
          </a:p>
          <a:p>
            <a:pPr marL="36830">
              <a:lnSpc>
                <a:spcPct val="100000"/>
              </a:lnSpc>
              <a:spcBef>
                <a:spcPts val="275"/>
              </a:spcBef>
            </a:pPr>
            <a:r>
              <a:rPr sz="600" spc="-50" dirty="0">
                <a:solidFill>
                  <a:srgbClr val="FFFFFF"/>
                </a:solidFill>
                <a:latin typeface="Arial MT"/>
                <a:cs typeface="Arial MT"/>
              </a:rPr>
              <a:t>5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02932" y="2419737"/>
            <a:ext cx="2355850" cy="40513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Since</a:t>
            </a:r>
            <a:r>
              <a:rPr sz="600" spc="7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”Monitor</a:t>
            </a:r>
            <a:r>
              <a:rPr sz="600" spc="7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Traffic”</a:t>
            </a:r>
            <a:r>
              <a:rPr sz="600" spc="7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is</a:t>
            </a:r>
            <a:r>
              <a:rPr sz="600" spc="7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within</a:t>
            </a:r>
            <a:r>
              <a:rPr sz="600" spc="7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600" spc="7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0" dirty="0">
                <a:solidFill>
                  <a:srgbClr val="191933"/>
                </a:solidFill>
                <a:latin typeface="Arial MT"/>
                <a:cs typeface="Arial MT"/>
              </a:rPr>
              <a:t>permissions,</a:t>
            </a:r>
            <a:r>
              <a:rPr sz="600" spc="7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35" dirty="0">
                <a:solidFill>
                  <a:srgbClr val="191933"/>
                </a:solidFill>
                <a:latin typeface="Arial MT"/>
                <a:cs typeface="Arial MT"/>
              </a:rPr>
              <a:t>access</a:t>
            </a:r>
            <a:r>
              <a:rPr sz="600" spc="7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is</a:t>
            </a:r>
            <a:r>
              <a:rPr sz="600" spc="7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granted.</a:t>
            </a:r>
            <a:endParaRPr sz="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sz="600" b="1" dirty="0">
                <a:solidFill>
                  <a:srgbClr val="191933"/>
                </a:solidFill>
                <a:latin typeface="Arial"/>
                <a:cs typeface="Arial"/>
              </a:rPr>
              <a:t>Step</a:t>
            </a:r>
            <a:r>
              <a:rPr sz="600" b="1" spc="1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191933"/>
                </a:solidFill>
                <a:latin typeface="Arial"/>
                <a:cs typeface="Arial"/>
              </a:rPr>
              <a:t>4:</a:t>
            </a:r>
            <a:r>
              <a:rPr sz="600" b="1" spc="5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Log</a:t>
            </a:r>
            <a:r>
              <a:rPr sz="6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6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35" dirty="0">
                <a:solidFill>
                  <a:srgbClr val="191933"/>
                </a:solidFill>
                <a:latin typeface="Arial MT"/>
                <a:cs typeface="Arial MT"/>
              </a:rPr>
              <a:t>access</a:t>
            </a:r>
            <a:r>
              <a:rPr sz="6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request</a:t>
            </a:r>
            <a:r>
              <a:rPr sz="6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and</a:t>
            </a:r>
            <a:r>
              <a:rPr sz="6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outcome</a:t>
            </a:r>
            <a:r>
              <a:rPr sz="6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0" dirty="0">
                <a:solidFill>
                  <a:srgbClr val="191933"/>
                </a:solidFill>
                <a:latin typeface="Arial MT"/>
                <a:cs typeface="Arial MT"/>
              </a:rPr>
              <a:t>(Access</a:t>
            </a:r>
            <a:r>
              <a:rPr sz="6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granted).</a:t>
            </a:r>
            <a:endParaRPr sz="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600" b="1" dirty="0">
                <a:solidFill>
                  <a:srgbClr val="191933"/>
                </a:solidFill>
                <a:latin typeface="Arial"/>
                <a:cs typeface="Arial"/>
              </a:rPr>
              <a:t>Step</a:t>
            </a:r>
            <a:r>
              <a:rPr sz="600" b="1" spc="2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191933"/>
                </a:solidFill>
                <a:latin typeface="Arial"/>
                <a:cs typeface="Arial"/>
              </a:rPr>
              <a:t>5:</a:t>
            </a:r>
            <a:r>
              <a:rPr sz="600" b="1" spc="7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No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security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incident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report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is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0" dirty="0">
                <a:solidFill>
                  <a:srgbClr val="191933"/>
                </a:solidFill>
                <a:latin typeface="Arial MT"/>
                <a:cs typeface="Arial MT"/>
              </a:rPr>
              <a:t>generated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0" dirty="0">
                <a:solidFill>
                  <a:srgbClr val="191933"/>
                </a:solidFill>
                <a:latin typeface="Arial MT"/>
                <a:cs typeface="Arial MT"/>
              </a:rPr>
              <a:t>as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35" dirty="0">
                <a:solidFill>
                  <a:srgbClr val="191933"/>
                </a:solidFill>
                <a:latin typeface="Arial MT"/>
                <a:cs typeface="Arial MT"/>
              </a:rPr>
              <a:t>access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is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granted.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21" name="object 21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4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75</a:t>
            </a:r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93</a:t>
            </a:r>
          </a:p>
        </p:txBody>
      </p:sp>
    </p:spTree>
  </p:cSld>
  <p:clrMapOvr>
    <a:masterClrMapping/>
  </p:clrMapOvr>
  <p:transition>
    <p:cut/>
  </p:transition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Detailed</a:t>
            </a:r>
            <a:r>
              <a:rPr spc="5" dirty="0"/>
              <a:t> </a:t>
            </a:r>
            <a:r>
              <a:rPr dirty="0"/>
              <a:t>DAC</a:t>
            </a:r>
            <a:r>
              <a:rPr spc="5" dirty="0"/>
              <a:t> </a:t>
            </a:r>
            <a:r>
              <a:rPr spc="-25" dirty="0"/>
              <a:t>Algorithm</a:t>
            </a:r>
            <a:r>
              <a:rPr spc="10" dirty="0"/>
              <a:t> </a:t>
            </a:r>
            <a:r>
              <a:rPr dirty="0"/>
              <a:t>for</a:t>
            </a:r>
            <a:r>
              <a:rPr spc="5" dirty="0"/>
              <a:t> </a:t>
            </a:r>
            <a:r>
              <a:rPr dirty="0"/>
              <a:t>Worm</a:t>
            </a:r>
            <a:r>
              <a:rPr spc="5" dirty="0"/>
              <a:t> </a:t>
            </a:r>
            <a:r>
              <a:rPr spc="-25" dirty="0"/>
              <a:t>Prevention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960487"/>
            <a:ext cx="4432935" cy="198755"/>
          </a:xfrm>
          <a:custGeom>
            <a:avLst/>
            <a:gdLst/>
            <a:ahLst/>
            <a:cxnLst/>
            <a:rect l="l" t="t" r="r" b="b"/>
            <a:pathLst>
              <a:path w="4432935" h="198755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4432566" y="198367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2672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8544" y="988935"/>
            <a:ext cx="99631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35" dirty="0">
                <a:solidFill>
                  <a:srgbClr val="FFFFFF"/>
                </a:solidFill>
                <a:latin typeface="Tahoma"/>
                <a:cs typeface="Tahoma"/>
              </a:rPr>
              <a:t>Algorithm</a:t>
            </a:r>
            <a:r>
              <a:rPr sz="120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60" dirty="0">
                <a:solidFill>
                  <a:srgbClr val="FFFFFF"/>
                </a:solidFill>
                <a:latin typeface="Tahoma"/>
                <a:cs typeface="Tahoma"/>
              </a:rPr>
              <a:t>Steps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8544" y="1017406"/>
            <a:ext cx="4432935" cy="15024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600">
              <a:latin typeface="Times New Roman"/>
              <a:cs typeface="Times New Roman"/>
            </a:endParaRPr>
          </a:p>
          <a:p>
            <a:pPr marL="276860">
              <a:lnSpc>
                <a:spcPct val="100000"/>
              </a:lnSpc>
            </a:pPr>
            <a:r>
              <a:rPr sz="600" b="1" dirty="0">
                <a:solidFill>
                  <a:srgbClr val="191933"/>
                </a:solidFill>
                <a:latin typeface="Arial"/>
                <a:cs typeface="Arial"/>
              </a:rPr>
              <a:t>Input:</a:t>
            </a:r>
            <a:r>
              <a:rPr sz="600" b="1" spc="7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User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i="1" spc="110" dirty="0">
                <a:solidFill>
                  <a:srgbClr val="191933"/>
                </a:solidFill>
                <a:latin typeface="Calibri"/>
                <a:cs typeface="Calibri"/>
              </a:rPr>
              <a:t>U</a:t>
            </a:r>
            <a:r>
              <a:rPr sz="600" i="1" spc="-7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,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30" dirty="0">
                <a:solidFill>
                  <a:srgbClr val="191933"/>
                </a:solidFill>
                <a:latin typeface="Arial MT"/>
                <a:cs typeface="Arial MT"/>
              </a:rPr>
              <a:t>Resource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i="1" spc="100" dirty="0">
                <a:solidFill>
                  <a:srgbClr val="191933"/>
                </a:solidFill>
                <a:latin typeface="Calibri"/>
                <a:cs typeface="Calibri"/>
              </a:rPr>
              <a:t>Res</a:t>
            </a:r>
            <a:r>
              <a:rPr sz="600" spc="100" dirty="0">
                <a:solidFill>
                  <a:srgbClr val="191933"/>
                </a:solidFill>
                <a:latin typeface="Arial MT"/>
                <a:cs typeface="Arial MT"/>
              </a:rPr>
              <a:t>,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DAC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Policy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i="1" spc="75" dirty="0">
                <a:solidFill>
                  <a:srgbClr val="191933"/>
                </a:solidFill>
                <a:latin typeface="Calibri"/>
                <a:cs typeface="Calibri"/>
              </a:rPr>
              <a:t>P</a:t>
            </a:r>
            <a:r>
              <a:rPr sz="750" i="1" spc="112" baseline="-16666" dirty="0">
                <a:solidFill>
                  <a:srgbClr val="191933"/>
                </a:solidFill>
                <a:latin typeface="Georgia"/>
                <a:cs typeface="Georgia"/>
              </a:rPr>
              <a:t>dac</a:t>
            </a:r>
            <a:r>
              <a:rPr sz="600" spc="75" dirty="0">
                <a:solidFill>
                  <a:srgbClr val="191933"/>
                </a:solidFill>
                <a:latin typeface="Arial MT"/>
                <a:cs typeface="Arial MT"/>
              </a:rPr>
              <a:t>.</a:t>
            </a:r>
            <a:endParaRPr sz="600">
              <a:latin typeface="Arial MT"/>
              <a:cs typeface="Arial MT"/>
            </a:endParaRPr>
          </a:p>
          <a:p>
            <a:pPr marL="276860">
              <a:lnSpc>
                <a:spcPct val="100000"/>
              </a:lnSpc>
              <a:spcBef>
                <a:spcPts val="275"/>
              </a:spcBef>
            </a:pPr>
            <a:r>
              <a:rPr sz="600" b="1" dirty="0">
                <a:solidFill>
                  <a:srgbClr val="191933"/>
                </a:solidFill>
                <a:latin typeface="Arial"/>
                <a:cs typeface="Arial"/>
              </a:rPr>
              <a:t>Output:</a:t>
            </a:r>
            <a:r>
              <a:rPr sz="600" b="1" spc="6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spc="-30" dirty="0">
                <a:solidFill>
                  <a:srgbClr val="191933"/>
                </a:solidFill>
                <a:latin typeface="Arial MT"/>
                <a:cs typeface="Arial MT"/>
              </a:rPr>
              <a:t>Access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granted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or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denied.</a:t>
            </a:r>
            <a:endParaRPr sz="600">
              <a:latin typeface="Arial MT"/>
              <a:cs typeface="Arial MT"/>
            </a:endParaRPr>
          </a:p>
          <a:p>
            <a:pPr marL="274320" indent="-120650">
              <a:lnSpc>
                <a:spcPct val="100000"/>
              </a:lnSpc>
              <a:spcBef>
                <a:spcPts val="575"/>
              </a:spcBef>
              <a:buClr>
                <a:srgbClr val="FFFFFF"/>
              </a:buClr>
              <a:buFont typeface="Arial MT"/>
              <a:buAutoNum type="arabicPlain"/>
              <a:tabLst>
                <a:tab pos="274320" algn="l"/>
              </a:tabLst>
            </a:pPr>
            <a:r>
              <a:rPr sz="600" b="1" dirty="0">
                <a:solidFill>
                  <a:srgbClr val="191933"/>
                </a:solidFill>
                <a:latin typeface="Arial"/>
                <a:cs typeface="Arial"/>
              </a:rPr>
              <a:t>Step</a:t>
            </a:r>
            <a:r>
              <a:rPr sz="600" b="1" spc="2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191933"/>
                </a:solidFill>
                <a:latin typeface="Arial"/>
                <a:cs typeface="Arial"/>
              </a:rPr>
              <a:t>1:</a:t>
            </a:r>
            <a:r>
              <a:rPr sz="600" b="1" spc="7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Check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if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user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i="1" spc="110" dirty="0">
                <a:solidFill>
                  <a:srgbClr val="191933"/>
                </a:solidFill>
                <a:latin typeface="Calibri"/>
                <a:cs typeface="Calibri"/>
              </a:rPr>
              <a:t>U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is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owner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0" dirty="0">
                <a:solidFill>
                  <a:srgbClr val="191933"/>
                </a:solidFill>
                <a:latin typeface="Arial MT"/>
                <a:cs typeface="Arial MT"/>
              </a:rPr>
              <a:t>resource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i="1" spc="80" dirty="0">
                <a:solidFill>
                  <a:srgbClr val="191933"/>
                </a:solidFill>
                <a:latin typeface="Calibri"/>
                <a:cs typeface="Calibri"/>
              </a:rPr>
              <a:t>Res</a:t>
            </a:r>
            <a:r>
              <a:rPr sz="600" spc="80" dirty="0">
                <a:solidFill>
                  <a:srgbClr val="191933"/>
                </a:solidFill>
                <a:latin typeface="Arial MT"/>
                <a:cs typeface="Arial MT"/>
              </a:rPr>
              <a:t>.</a:t>
            </a:r>
            <a:endParaRPr sz="600">
              <a:latin typeface="Arial MT"/>
              <a:cs typeface="Arial MT"/>
            </a:endParaRPr>
          </a:p>
          <a:p>
            <a:pPr marL="274320" indent="-120650">
              <a:lnSpc>
                <a:spcPct val="100000"/>
              </a:lnSpc>
              <a:spcBef>
                <a:spcPts val="275"/>
              </a:spcBef>
              <a:buClr>
                <a:srgbClr val="FFFFFF"/>
              </a:buClr>
              <a:buFont typeface="Arial MT"/>
              <a:buAutoNum type="arabicPlain"/>
              <a:tabLst>
                <a:tab pos="274320" algn="l"/>
              </a:tabLst>
            </a:pPr>
            <a:r>
              <a:rPr sz="600" b="1" dirty="0">
                <a:solidFill>
                  <a:srgbClr val="191933"/>
                </a:solidFill>
                <a:latin typeface="Arial"/>
                <a:cs typeface="Arial"/>
              </a:rPr>
              <a:t>Step</a:t>
            </a:r>
            <a:r>
              <a:rPr sz="600" b="1" spc="3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191933"/>
                </a:solidFill>
                <a:latin typeface="Arial"/>
                <a:cs typeface="Arial"/>
              </a:rPr>
              <a:t>2:</a:t>
            </a:r>
            <a:r>
              <a:rPr sz="600" b="1" spc="8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Evaluate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35" dirty="0">
                <a:solidFill>
                  <a:srgbClr val="191933"/>
                </a:solidFill>
                <a:latin typeface="Arial MT"/>
                <a:cs typeface="Arial MT"/>
              </a:rPr>
              <a:t>access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rights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from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i="1" spc="85" dirty="0">
                <a:solidFill>
                  <a:srgbClr val="191933"/>
                </a:solidFill>
                <a:latin typeface="Calibri"/>
                <a:cs typeface="Calibri"/>
              </a:rPr>
              <a:t>P</a:t>
            </a:r>
            <a:r>
              <a:rPr sz="750" i="1" spc="127" baseline="-16666" dirty="0">
                <a:solidFill>
                  <a:srgbClr val="191933"/>
                </a:solidFill>
                <a:latin typeface="Georgia"/>
                <a:cs typeface="Georgia"/>
              </a:rPr>
              <a:t>dac</a:t>
            </a:r>
            <a:r>
              <a:rPr sz="600" spc="85" dirty="0">
                <a:solidFill>
                  <a:srgbClr val="191933"/>
                </a:solidFill>
                <a:latin typeface="Arial MT"/>
                <a:cs typeface="Arial MT"/>
              </a:rPr>
              <a:t>:</a:t>
            </a:r>
            <a:endParaRPr sz="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85"/>
              </a:spcBef>
              <a:buClr>
                <a:srgbClr val="FFFFFF"/>
              </a:buClr>
              <a:buFont typeface="Arial MT"/>
              <a:buAutoNum type="arabicPlain"/>
            </a:pPr>
            <a:endParaRPr sz="600">
              <a:latin typeface="Arial MT"/>
              <a:cs typeface="Arial MT"/>
            </a:endParaRPr>
          </a:p>
          <a:p>
            <a:pPr marL="1283335">
              <a:lnSpc>
                <a:spcPct val="100000"/>
              </a:lnSpc>
            </a:pP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If</a:t>
            </a:r>
            <a:r>
              <a:rPr sz="600" spc="1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105" dirty="0">
                <a:solidFill>
                  <a:srgbClr val="191933"/>
                </a:solidFill>
                <a:latin typeface="Calibri"/>
                <a:cs typeface="Calibri"/>
              </a:rPr>
              <a:t>(</a:t>
            </a:r>
            <a:r>
              <a:rPr sz="600" i="1" spc="105" dirty="0">
                <a:solidFill>
                  <a:srgbClr val="191933"/>
                </a:solidFill>
                <a:latin typeface="Calibri"/>
                <a:cs typeface="Calibri"/>
              </a:rPr>
              <a:t>U</a:t>
            </a:r>
            <a:r>
              <a:rPr sz="600" i="1" spc="24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spc="254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600" spc="15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i="1" dirty="0">
                <a:solidFill>
                  <a:srgbClr val="191933"/>
                </a:solidFill>
                <a:latin typeface="Calibri"/>
                <a:cs typeface="Calibri"/>
              </a:rPr>
              <a:t>Res.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owner</a:t>
            </a:r>
            <a:r>
              <a:rPr sz="600" dirty="0">
                <a:solidFill>
                  <a:srgbClr val="191933"/>
                </a:solidFill>
                <a:latin typeface="Calibri"/>
                <a:cs typeface="Calibri"/>
              </a:rPr>
              <a:t>)</a:t>
            </a:r>
            <a:r>
              <a:rPr sz="600" spc="9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spc="145" dirty="0">
                <a:solidFill>
                  <a:srgbClr val="191933"/>
                </a:solidFill>
                <a:latin typeface="Cambria"/>
                <a:cs typeface="Cambria"/>
              </a:rPr>
              <a:t>∨</a:t>
            </a:r>
            <a:r>
              <a:rPr sz="600" spc="100" dirty="0">
                <a:solidFill>
                  <a:srgbClr val="191933"/>
                </a:solidFill>
                <a:latin typeface="Cambria"/>
                <a:cs typeface="Cambria"/>
              </a:rPr>
              <a:t> </a:t>
            </a:r>
            <a:r>
              <a:rPr sz="600" dirty="0">
                <a:solidFill>
                  <a:srgbClr val="191933"/>
                </a:solidFill>
                <a:latin typeface="Calibri"/>
                <a:cs typeface="Calibri"/>
              </a:rPr>
              <a:t>(</a:t>
            </a:r>
            <a:r>
              <a:rPr sz="600" i="1" dirty="0">
                <a:solidFill>
                  <a:srgbClr val="191933"/>
                </a:solidFill>
                <a:latin typeface="Calibri"/>
                <a:cs typeface="Calibri"/>
              </a:rPr>
              <a:t>U.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role</a:t>
            </a:r>
            <a:r>
              <a:rPr sz="600" spc="1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254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600" spc="15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admin</a:t>
            </a:r>
            <a:r>
              <a:rPr sz="600" dirty="0">
                <a:solidFill>
                  <a:srgbClr val="191933"/>
                </a:solidFill>
                <a:latin typeface="Calibri"/>
                <a:cs typeface="Calibri"/>
              </a:rPr>
              <a:t>)</a:t>
            </a:r>
            <a:r>
              <a:rPr sz="600" spc="15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spc="200" dirty="0">
                <a:solidFill>
                  <a:srgbClr val="191933"/>
                </a:solidFill>
                <a:latin typeface="Cambria"/>
                <a:cs typeface="Cambria"/>
              </a:rPr>
              <a:t>⇒</a:t>
            </a:r>
            <a:r>
              <a:rPr sz="600" spc="160" dirty="0">
                <a:solidFill>
                  <a:srgbClr val="191933"/>
                </a:solidFill>
                <a:latin typeface="Cambria"/>
                <a:cs typeface="Cambria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Grant</a:t>
            </a:r>
            <a:r>
              <a:rPr sz="600" spc="1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Access</a:t>
            </a:r>
            <a:endParaRPr sz="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85"/>
              </a:spcBef>
            </a:pPr>
            <a:endParaRPr sz="600">
              <a:latin typeface="Arial MT"/>
              <a:cs typeface="Arial MT"/>
            </a:endParaRPr>
          </a:p>
          <a:p>
            <a:pPr marL="274320" indent="-120650">
              <a:lnSpc>
                <a:spcPct val="100000"/>
              </a:lnSpc>
              <a:buClr>
                <a:srgbClr val="FFFFFF"/>
              </a:buClr>
              <a:buFont typeface="Arial MT"/>
              <a:buAutoNum type="arabicPlain" startAt="3"/>
              <a:tabLst>
                <a:tab pos="274320" algn="l"/>
              </a:tabLst>
            </a:pPr>
            <a:r>
              <a:rPr sz="600" b="1" dirty="0">
                <a:solidFill>
                  <a:srgbClr val="191933"/>
                </a:solidFill>
                <a:latin typeface="Arial"/>
                <a:cs typeface="Arial"/>
              </a:rPr>
              <a:t>Step</a:t>
            </a:r>
            <a:r>
              <a:rPr sz="600" b="1" spc="2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191933"/>
                </a:solidFill>
                <a:latin typeface="Arial"/>
                <a:cs typeface="Arial"/>
              </a:rPr>
              <a:t>3:</a:t>
            </a:r>
            <a:r>
              <a:rPr sz="600" b="1" spc="7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If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no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explicit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permission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is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found,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deny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access.</a:t>
            </a:r>
            <a:endParaRPr sz="600">
              <a:latin typeface="Arial MT"/>
              <a:cs typeface="Arial MT"/>
            </a:endParaRPr>
          </a:p>
          <a:p>
            <a:pPr marL="274320" indent="-120650">
              <a:lnSpc>
                <a:spcPct val="100000"/>
              </a:lnSpc>
              <a:spcBef>
                <a:spcPts val="275"/>
              </a:spcBef>
              <a:buClr>
                <a:srgbClr val="FFFFFF"/>
              </a:buClr>
              <a:buFont typeface="Arial MT"/>
              <a:buAutoNum type="arabicPlain" startAt="3"/>
              <a:tabLst>
                <a:tab pos="274320" algn="l"/>
              </a:tabLst>
            </a:pPr>
            <a:r>
              <a:rPr sz="600" b="1" dirty="0">
                <a:solidFill>
                  <a:srgbClr val="191933"/>
                </a:solidFill>
                <a:latin typeface="Arial"/>
                <a:cs typeface="Arial"/>
              </a:rPr>
              <a:t>Step</a:t>
            </a:r>
            <a:r>
              <a:rPr sz="600" b="1" spc="1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191933"/>
                </a:solidFill>
                <a:latin typeface="Arial"/>
                <a:cs typeface="Arial"/>
              </a:rPr>
              <a:t>4:</a:t>
            </a:r>
            <a:r>
              <a:rPr sz="600" b="1" spc="5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Log</a:t>
            </a:r>
            <a:r>
              <a:rPr sz="6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6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35" dirty="0">
                <a:solidFill>
                  <a:srgbClr val="191933"/>
                </a:solidFill>
                <a:latin typeface="Arial MT"/>
                <a:cs typeface="Arial MT"/>
              </a:rPr>
              <a:t>access</a:t>
            </a:r>
            <a:r>
              <a:rPr sz="6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request</a:t>
            </a:r>
            <a:r>
              <a:rPr sz="6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and</a:t>
            </a:r>
            <a:r>
              <a:rPr sz="6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outcome.</a:t>
            </a:r>
            <a:endParaRPr sz="600">
              <a:latin typeface="Arial MT"/>
              <a:cs typeface="Arial MT"/>
            </a:endParaRPr>
          </a:p>
          <a:p>
            <a:pPr marL="274320" indent="-120650">
              <a:lnSpc>
                <a:spcPct val="100000"/>
              </a:lnSpc>
              <a:spcBef>
                <a:spcPts val="275"/>
              </a:spcBef>
              <a:buClr>
                <a:srgbClr val="FFFFFF"/>
              </a:buClr>
              <a:buFont typeface="Arial MT"/>
              <a:buAutoNum type="arabicPlain" startAt="3"/>
              <a:tabLst>
                <a:tab pos="274320" algn="l"/>
              </a:tabLst>
            </a:pPr>
            <a:r>
              <a:rPr sz="600" b="1" dirty="0">
                <a:solidFill>
                  <a:srgbClr val="191933"/>
                </a:solidFill>
                <a:latin typeface="Arial"/>
                <a:cs typeface="Arial"/>
              </a:rPr>
              <a:t>Step</a:t>
            </a:r>
            <a:r>
              <a:rPr sz="600" b="1" spc="3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191933"/>
                </a:solidFill>
                <a:latin typeface="Arial"/>
                <a:cs typeface="Arial"/>
              </a:rPr>
              <a:t>5:</a:t>
            </a:r>
            <a:r>
              <a:rPr sz="600" b="1" spc="8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191933"/>
                </a:solidFill>
                <a:latin typeface="Arial"/>
                <a:cs typeface="Arial"/>
              </a:rPr>
              <a:t>If</a:t>
            </a:r>
            <a:r>
              <a:rPr sz="600" b="1" spc="6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denied,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0" dirty="0">
                <a:solidFill>
                  <a:srgbClr val="191933"/>
                </a:solidFill>
                <a:latin typeface="Arial MT"/>
                <a:cs typeface="Arial MT"/>
              </a:rPr>
              <a:t>escalate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owner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review.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5" name="object 15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4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76</a:t>
            </a:r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93</a:t>
            </a:r>
          </a:p>
        </p:txBody>
      </p:sp>
    </p:spTree>
  </p:cSld>
  <p:clrMapOvr>
    <a:masterClrMapping/>
  </p:clrMapOvr>
  <p:transition>
    <p:cut/>
  </p:transition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1013"/>
            <a:ext cx="237363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Detailed</a:t>
            </a:r>
            <a:r>
              <a:rPr spc="20" dirty="0"/>
              <a:t> </a:t>
            </a:r>
            <a:r>
              <a:rPr dirty="0"/>
              <a:t>DAC</a:t>
            </a:r>
            <a:r>
              <a:rPr spc="20" dirty="0"/>
              <a:t> </a:t>
            </a:r>
            <a:r>
              <a:rPr spc="-25" dirty="0"/>
              <a:t>Algorithm</a:t>
            </a:r>
            <a:r>
              <a:rPr spc="25" dirty="0"/>
              <a:t> </a:t>
            </a:r>
            <a:r>
              <a:rPr spc="-30" dirty="0"/>
              <a:t>Example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606208"/>
            <a:ext cx="4432935" cy="198755"/>
          </a:xfrm>
          <a:custGeom>
            <a:avLst/>
            <a:gdLst/>
            <a:ahLst/>
            <a:cxnLst/>
            <a:rect l="l" t="t" r="r" b="b"/>
            <a:pathLst>
              <a:path w="4432935" h="198754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4432566" y="198367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2672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8544" y="634669"/>
            <a:ext cx="109029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50" dirty="0">
                <a:solidFill>
                  <a:srgbClr val="FFFFFF"/>
                </a:solidFill>
                <a:latin typeface="Tahoma"/>
                <a:cs typeface="Tahoma"/>
              </a:rPr>
              <a:t>Example</a:t>
            </a:r>
            <a:r>
              <a:rPr sz="12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65" dirty="0">
                <a:solidFill>
                  <a:srgbClr val="FFFFFF"/>
                </a:solidFill>
                <a:latin typeface="Tahoma"/>
                <a:cs typeface="Tahoma"/>
              </a:rPr>
              <a:t>Scenario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16255" y="805288"/>
            <a:ext cx="3637915" cy="216408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98755">
              <a:lnSpc>
                <a:spcPct val="100000"/>
              </a:lnSpc>
              <a:spcBef>
                <a:spcPts val="375"/>
              </a:spcBef>
            </a:pPr>
            <a:r>
              <a:rPr sz="600" b="1" spc="-10" dirty="0">
                <a:solidFill>
                  <a:srgbClr val="191933"/>
                </a:solidFill>
                <a:latin typeface="Arial"/>
                <a:cs typeface="Arial"/>
              </a:rPr>
              <a:t>User:</a:t>
            </a:r>
            <a:r>
              <a:rPr sz="600" b="1" spc="7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Alice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0" dirty="0">
                <a:solidFill>
                  <a:srgbClr val="191933"/>
                </a:solidFill>
                <a:latin typeface="Arial MT"/>
                <a:cs typeface="Arial MT"/>
              </a:rPr>
              <a:t>requests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35" dirty="0">
                <a:solidFill>
                  <a:srgbClr val="191933"/>
                </a:solidFill>
                <a:latin typeface="Arial MT"/>
                <a:cs typeface="Arial MT"/>
              </a:rPr>
              <a:t>access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proprietary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0" dirty="0">
                <a:solidFill>
                  <a:srgbClr val="191933"/>
                </a:solidFill>
                <a:latin typeface="Arial MT"/>
                <a:cs typeface="Arial MT"/>
              </a:rPr>
              <a:t>design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document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i="1" spc="80" dirty="0">
                <a:solidFill>
                  <a:srgbClr val="191933"/>
                </a:solidFill>
                <a:latin typeface="Calibri"/>
                <a:cs typeface="Calibri"/>
              </a:rPr>
              <a:t>Res</a:t>
            </a:r>
            <a:r>
              <a:rPr sz="600" spc="80" dirty="0">
                <a:solidFill>
                  <a:srgbClr val="191933"/>
                </a:solidFill>
                <a:latin typeface="Arial MT"/>
                <a:cs typeface="Arial MT"/>
              </a:rPr>
              <a:t>.</a:t>
            </a:r>
            <a:endParaRPr sz="600">
              <a:latin typeface="Arial MT"/>
              <a:cs typeface="Arial MT"/>
            </a:endParaRPr>
          </a:p>
          <a:p>
            <a:pPr marL="198755">
              <a:lnSpc>
                <a:spcPct val="100000"/>
              </a:lnSpc>
              <a:spcBef>
                <a:spcPts val="275"/>
              </a:spcBef>
            </a:pPr>
            <a:r>
              <a:rPr sz="600" b="1" spc="-35" dirty="0">
                <a:solidFill>
                  <a:srgbClr val="191933"/>
                </a:solidFill>
                <a:latin typeface="Arial"/>
                <a:cs typeface="Arial"/>
              </a:rPr>
              <a:t>Resource</a:t>
            </a:r>
            <a:r>
              <a:rPr sz="600" b="1" spc="6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b="1" spc="-10" dirty="0">
                <a:solidFill>
                  <a:srgbClr val="191933"/>
                </a:solidFill>
                <a:latin typeface="Arial"/>
                <a:cs typeface="Arial"/>
              </a:rPr>
              <a:t>Owner:</a:t>
            </a:r>
            <a:r>
              <a:rPr sz="600" b="1" spc="12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6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document</a:t>
            </a:r>
            <a:r>
              <a:rPr sz="600" spc="6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is</a:t>
            </a:r>
            <a:r>
              <a:rPr sz="6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0" dirty="0">
                <a:solidFill>
                  <a:srgbClr val="191933"/>
                </a:solidFill>
                <a:latin typeface="Arial MT"/>
                <a:cs typeface="Arial MT"/>
              </a:rPr>
              <a:t>owned</a:t>
            </a:r>
            <a:r>
              <a:rPr sz="6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by</a:t>
            </a:r>
            <a:r>
              <a:rPr sz="600" spc="6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Bob</a:t>
            </a:r>
            <a:r>
              <a:rPr sz="6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i="1" dirty="0">
                <a:solidFill>
                  <a:srgbClr val="191933"/>
                </a:solidFill>
                <a:latin typeface="Calibri"/>
                <a:cs typeface="Calibri"/>
              </a:rPr>
              <a:t>Res.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owner</a:t>
            </a:r>
            <a:r>
              <a:rPr sz="6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254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600" spc="9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”Bob”.</a:t>
            </a:r>
            <a:endParaRPr sz="600">
              <a:latin typeface="Arial MT"/>
              <a:cs typeface="Arial MT"/>
            </a:endParaRPr>
          </a:p>
          <a:p>
            <a:pPr marL="198755">
              <a:lnSpc>
                <a:spcPct val="100000"/>
              </a:lnSpc>
              <a:spcBef>
                <a:spcPts val="280"/>
              </a:spcBef>
            </a:pPr>
            <a:r>
              <a:rPr sz="600" b="1" dirty="0">
                <a:solidFill>
                  <a:srgbClr val="191933"/>
                </a:solidFill>
                <a:latin typeface="Arial"/>
                <a:cs typeface="Arial"/>
              </a:rPr>
              <a:t>DAC</a:t>
            </a:r>
            <a:r>
              <a:rPr sz="600" b="1" spc="2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b="1" spc="-10" dirty="0">
                <a:solidFill>
                  <a:srgbClr val="191933"/>
                </a:solidFill>
                <a:latin typeface="Arial"/>
                <a:cs typeface="Arial"/>
              </a:rPr>
              <a:t>Policy:</a:t>
            </a:r>
            <a:r>
              <a:rPr sz="600" b="1" spc="8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policy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i="1" spc="105" dirty="0">
                <a:solidFill>
                  <a:srgbClr val="191933"/>
                </a:solidFill>
                <a:latin typeface="Calibri"/>
                <a:cs typeface="Calibri"/>
              </a:rPr>
              <a:t>P</a:t>
            </a:r>
            <a:r>
              <a:rPr sz="750" i="1" spc="157" baseline="-16666" dirty="0">
                <a:solidFill>
                  <a:srgbClr val="191933"/>
                </a:solidFill>
                <a:latin typeface="Georgia"/>
                <a:cs typeface="Georgia"/>
              </a:rPr>
              <a:t>dac</a:t>
            </a:r>
            <a:r>
              <a:rPr sz="750" i="1" spc="172" baseline="-16666" dirty="0">
                <a:solidFill>
                  <a:srgbClr val="191933"/>
                </a:solidFill>
                <a:latin typeface="Georgia"/>
                <a:cs typeface="Georgia"/>
              </a:rPr>
              <a:t> </a:t>
            </a:r>
            <a:r>
              <a:rPr sz="600" spc="-20" dirty="0">
                <a:solidFill>
                  <a:srgbClr val="191933"/>
                </a:solidFill>
                <a:latin typeface="Arial MT"/>
                <a:cs typeface="Arial MT"/>
              </a:rPr>
              <a:t>specifies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that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35" dirty="0">
                <a:solidFill>
                  <a:srgbClr val="191933"/>
                </a:solidFill>
                <a:latin typeface="Arial MT"/>
                <a:cs typeface="Arial MT"/>
              </a:rPr>
              <a:t>access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is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granted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if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user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is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owner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or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an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admin.</a:t>
            </a:r>
            <a:endParaRPr sz="600">
              <a:latin typeface="Arial MT"/>
              <a:cs typeface="Arial MT"/>
            </a:endParaRPr>
          </a:p>
          <a:p>
            <a:pPr marL="198755">
              <a:lnSpc>
                <a:spcPct val="100000"/>
              </a:lnSpc>
              <a:spcBef>
                <a:spcPts val="275"/>
              </a:spcBef>
            </a:pPr>
            <a:r>
              <a:rPr sz="600" b="1" dirty="0">
                <a:solidFill>
                  <a:srgbClr val="191933"/>
                </a:solidFill>
                <a:latin typeface="Arial"/>
                <a:cs typeface="Arial"/>
              </a:rPr>
              <a:t>Output:</a:t>
            </a:r>
            <a:r>
              <a:rPr sz="600" b="1" spc="6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spc="-30" dirty="0">
                <a:solidFill>
                  <a:srgbClr val="191933"/>
                </a:solidFill>
                <a:latin typeface="Arial MT"/>
                <a:cs typeface="Arial MT"/>
              </a:rPr>
              <a:t>Access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granted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or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denied.</a:t>
            </a:r>
            <a:endParaRPr sz="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600">
              <a:latin typeface="Arial MT"/>
              <a:cs typeface="Arial MT"/>
            </a:endParaRPr>
          </a:p>
          <a:p>
            <a:pPr marL="196215" marR="1406525" indent="-120650">
              <a:lnSpc>
                <a:spcPct val="124500"/>
              </a:lnSpc>
              <a:buClr>
                <a:srgbClr val="FFFFFF"/>
              </a:buClr>
              <a:buFont typeface="Arial MT"/>
              <a:buAutoNum type="arabicPlain"/>
              <a:tabLst>
                <a:tab pos="476250" algn="l"/>
              </a:tabLst>
            </a:pPr>
            <a:r>
              <a:rPr sz="600" b="1" dirty="0">
                <a:solidFill>
                  <a:srgbClr val="191933"/>
                </a:solidFill>
                <a:latin typeface="Arial"/>
                <a:cs typeface="Arial"/>
              </a:rPr>
              <a:t>Step</a:t>
            </a:r>
            <a:r>
              <a:rPr sz="600" b="1" spc="2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191933"/>
                </a:solidFill>
                <a:latin typeface="Arial"/>
                <a:cs typeface="Arial"/>
              </a:rPr>
              <a:t>1:</a:t>
            </a:r>
            <a:r>
              <a:rPr sz="600" b="1" spc="8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Check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if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Alice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i="1" spc="110" dirty="0">
                <a:solidFill>
                  <a:srgbClr val="191933"/>
                </a:solidFill>
                <a:latin typeface="Calibri"/>
                <a:cs typeface="Calibri"/>
              </a:rPr>
              <a:t>U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is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owner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0" dirty="0">
                <a:solidFill>
                  <a:srgbClr val="191933"/>
                </a:solidFill>
                <a:latin typeface="Arial MT"/>
                <a:cs typeface="Arial MT"/>
              </a:rPr>
              <a:t>resource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i="1" spc="80" dirty="0">
                <a:solidFill>
                  <a:srgbClr val="191933"/>
                </a:solidFill>
                <a:latin typeface="Calibri"/>
                <a:cs typeface="Calibri"/>
              </a:rPr>
              <a:t>Res</a:t>
            </a:r>
            <a:r>
              <a:rPr sz="600" spc="80" dirty="0">
                <a:solidFill>
                  <a:srgbClr val="191933"/>
                </a:solidFill>
                <a:latin typeface="Arial MT"/>
                <a:cs typeface="Arial MT"/>
              </a:rPr>
              <a:t>: 	</a:t>
            </a:r>
            <a:r>
              <a:rPr sz="600" i="1" spc="110" dirty="0">
                <a:solidFill>
                  <a:srgbClr val="191933"/>
                </a:solidFill>
                <a:latin typeface="Calibri"/>
                <a:cs typeface="Calibri"/>
              </a:rPr>
              <a:t>U</a:t>
            </a:r>
            <a:r>
              <a:rPr sz="600" i="1" spc="14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spc="254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600" spc="8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”Alice”</a:t>
            </a:r>
            <a:endParaRPr sz="600">
              <a:latin typeface="Arial MT"/>
              <a:cs typeface="Arial MT"/>
            </a:endParaRPr>
          </a:p>
          <a:p>
            <a:pPr marL="476250">
              <a:lnSpc>
                <a:spcPts val="695"/>
              </a:lnSpc>
            </a:pPr>
            <a:r>
              <a:rPr sz="600" i="1" spc="20" dirty="0">
                <a:solidFill>
                  <a:srgbClr val="191933"/>
                </a:solidFill>
                <a:latin typeface="Calibri"/>
                <a:cs typeface="Calibri"/>
              </a:rPr>
              <a:t>Res.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owner</a:t>
            </a:r>
            <a:r>
              <a:rPr sz="600" spc="1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254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600" spc="17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”Bob”</a:t>
            </a:r>
            <a:endParaRPr sz="600">
              <a:latin typeface="Arial MT"/>
              <a:cs typeface="Arial MT"/>
            </a:endParaRPr>
          </a:p>
          <a:p>
            <a:pPr marL="198755">
              <a:lnSpc>
                <a:spcPct val="100000"/>
              </a:lnSpc>
              <a:spcBef>
                <a:spcPts val="180"/>
              </a:spcBef>
            </a:pP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Alice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is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not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owner.</a:t>
            </a:r>
            <a:endParaRPr sz="600">
              <a:latin typeface="Arial MT"/>
              <a:cs typeface="Arial MT"/>
            </a:endParaRPr>
          </a:p>
          <a:p>
            <a:pPr marL="196850" indent="-120650">
              <a:lnSpc>
                <a:spcPct val="100000"/>
              </a:lnSpc>
              <a:spcBef>
                <a:spcPts val="275"/>
              </a:spcBef>
              <a:buClr>
                <a:srgbClr val="FFFFFF"/>
              </a:buClr>
              <a:buFont typeface="Arial MT"/>
              <a:buAutoNum type="arabicPlain" startAt="2"/>
              <a:tabLst>
                <a:tab pos="196850" algn="l"/>
              </a:tabLst>
            </a:pPr>
            <a:r>
              <a:rPr sz="600" b="1" dirty="0">
                <a:solidFill>
                  <a:srgbClr val="191933"/>
                </a:solidFill>
                <a:latin typeface="Arial"/>
                <a:cs typeface="Arial"/>
              </a:rPr>
              <a:t>Step</a:t>
            </a:r>
            <a:r>
              <a:rPr sz="600" b="1" spc="3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191933"/>
                </a:solidFill>
                <a:latin typeface="Arial"/>
                <a:cs typeface="Arial"/>
              </a:rPr>
              <a:t>2:</a:t>
            </a:r>
            <a:r>
              <a:rPr sz="600" b="1" spc="8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Evaluate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35" dirty="0">
                <a:solidFill>
                  <a:srgbClr val="191933"/>
                </a:solidFill>
                <a:latin typeface="Arial MT"/>
                <a:cs typeface="Arial MT"/>
              </a:rPr>
              <a:t>access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rights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from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i="1" spc="85" dirty="0">
                <a:solidFill>
                  <a:srgbClr val="191933"/>
                </a:solidFill>
                <a:latin typeface="Calibri"/>
                <a:cs typeface="Calibri"/>
              </a:rPr>
              <a:t>P</a:t>
            </a:r>
            <a:r>
              <a:rPr sz="750" i="1" spc="127" baseline="-16666" dirty="0">
                <a:solidFill>
                  <a:srgbClr val="191933"/>
                </a:solidFill>
                <a:latin typeface="Georgia"/>
                <a:cs typeface="Georgia"/>
              </a:rPr>
              <a:t>dac</a:t>
            </a:r>
            <a:r>
              <a:rPr sz="600" spc="85" dirty="0">
                <a:solidFill>
                  <a:srgbClr val="191933"/>
                </a:solidFill>
                <a:latin typeface="Arial MT"/>
                <a:cs typeface="Arial MT"/>
              </a:rPr>
              <a:t>:</a:t>
            </a:r>
            <a:endParaRPr sz="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80"/>
              </a:spcBef>
              <a:buClr>
                <a:srgbClr val="FFFFFF"/>
              </a:buClr>
              <a:buFont typeface="Arial MT"/>
              <a:buAutoNum type="arabicPlain" startAt="2"/>
            </a:pPr>
            <a:endParaRPr sz="600">
              <a:latin typeface="Arial MT"/>
              <a:cs typeface="Arial MT"/>
            </a:endParaRPr>
          </a:p>
          <a:p>
            <a:pPr marL="814705" algn="ctr">
              <a:lnSpc>
                <a:spcPct val="100000"/>
              </a:lnSpc>
            </a:pPr>
            <a:r>
              <a:rPr sz="600" spc="10" dirty="0">
                <a:solidFill>
                  <a:srgbClr val="191933"/>
                </a:solidFill>
                <a:latin typeface="Arial MT"/>
                <a:cs typeface="Arial MT"/>
              </a:rPr>
              <a:t>If</a:t>
            </a:r>
            <a:r>
              <a:rPr sz="600" spc="8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105" dirty="0">
                <a:solidFill>
                  <a:srgbClr val="191933"/>
                </a:solidFill>
                <a:latin typeface="Calibri"/>
                <a:cs typeface="Calibri"/>
              </a:rPr>
              <a:t>(</a:t>
            </a:r>
            <a:r>
              <a:rPr sz="600" i="1" spc="105" dirty="0">
                <a:solidFill>
                  <a:srgbClr val="191933"/>
                </a:solidFill>
                <a:latin typeface="Calibri"/>
                <a:cs typeface="Calibri"/>
              </a:rPr>
              <a:t>U</a:t>
            </a:r>
            <a:r>
              <a:rPr sz="600" i="1" spc="19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spc="254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600" spc="11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spc="10" dirty="0">
                <a:solidFill>
                  <a:srgbClr val="191933"/>
                </a:solidFill>
                <a:latin typeface="Arial MT"/>
                <a:cs typeface="Arial MT"/>
              </a:rPr>
              <a:t>”Alice”</a:t>
            </a:r>
            <a:r>
              <a:rPr sz="600" spc="8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125" dirty="0">
                <a:solidFill>
                  <a:srgbClr val="191933"/>
                </a:solidFill>
                <a:latin typeface="Cambria"/>
                <a:cs typeface="Cambria"/>
              </a:rPr>
              <a:t≯</a:t>
            </a:r>
            <a:r>
              <a:rPr sz="600" spc="125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600" spc="114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spc="50" dirty="0">
                <a:solidFill>
                  <a:srgbClr val="191933"/>
                </a:solidFill>
                <a:latin typeface="Arial MT"/>
                <a:cs typeface="Arial MT"/>
              </a:rPr>
              <a:t>”Bob”</a:t>
            </a:r>
            <a:r>
              <a:rPr sz="600" spc="50" dirty="0">
                <a:solidFill>
                  <a:srgbClr val="191933"/>
                </a:solidFill>
                <a:latin typeface="Calibri"/>
                <a:cs typeface="Calibri"/>
              </a:rPr>
              <a:t>)</a:t>
            </a:r>
            <a:r>
              <a:rPr sz="600" spc="6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spc="145" dirty="0">
                <a:solidFill>
                  <a:srgbClr val="191933"/>
                </a:solidFill>
                <a:latin typeface="Cambria"/>
                <a:cs typeface="Cambria"/>
              </a:rPr>
              <a:t>∨</a:t>
            </a:r>
            <a:r>
              <a:rPr sz="600" spc="70" dirty="0">
                <a:solidFill>
                  <a:srgbClr val="191933"/>
                </a:solidFill>
                <a:latin typeface="Cambria"/>
                <a:cs typeface="Cambria"/>
              </a:rPr>
              <a:t> </a:t>
            </a:r>
            <a:r>
              <a:rPr sz="600" spc="10" dirty="0">
                <a:solidFill>
                  <a:srgbClr val="191933"/>
                </a:solidFill>
                <a:latin typeface="Calibri"/>
                <a:cs typeface="Calibri"/>
              </a:rPr>
              <a:t>(</a:t>
            </a:r>
            <a:r>
              <a:rPr sz="600" i="1" spc="10" dirty="0">
                <a:solidFill>
                  <a:srgbClr val="191933"/>
                </a:solidFill>
                <a:latin typeface="Calibri"/>
                <a:cs typeface="Calibri"/>
              </a:rPr>
              <a:t>U.</a:t>
            </a:r>
            <a:r>
              <a:rPr sz="600" spc="10" dirty="0">
                <a:solidFill>
                  <a:srgbClr val="191933"/>
                </a:solidFill>
                <a:latin typeface="Arial MT"/>
                <a:cs typeface="Arial MT"/>
              </a:rPr>
              <a:t>role</a:t>
            </a:r>
            <a:r>
              <a:rPr sz="600" spc="8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254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600" spc="114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admin</a:t>
            </a:r>
            <a:r>
              <a:rPr sz="600" spc="-10" dirty="0">
                <a:solidFill>
                  <a:srgbClr val="191933"/>
                </a:solidFill>
                <a:latin typeface="Calibri"/>
                <a:cs typeface="Calibri"/>
              </a:rPr>
              <a:t>)</a:t>
            </a:r>
            <a:endParaRPr sz="600">
              <a:latin typeface="Calibri"/>
              <a:cs typeface="Calibri"/>
            </a:endParaRPr>
          </a:p>
          <a:p>
            <a:pPr marR="67945" algn="ctr">
              <a:lnSpc>
                <a:spcPct val="100000"/>
              </a:lnSpc>
              <a:spcBef>
                <a:spcPts val="280"/>
              </a:spcBef>
            </a:pPr>
            <a:r>
              <a:rPr sz="600" spc="200" dirty="0">
                <a:solidFill>
                  <a:srgbClr val="191933"/>
                </a:solidFill>
                <a:latin typeface="Cambria"/>
                <a:cs typeface="Cambria"/>
              </a:rPr>
              <a:t>⇒</a:t>
            </a:r>
            <a:r>
              <a:rPr sz="600" spc="80" dirty="0">
                <a:solidFill>
                  <a:srgbClr val="191933"/>
                </a:solidFill>
                <a:latin typeface="Cambria"/>
                <a:cs typeface="Cambria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Grant</a:t>
            </a:r>
            <a:r>
              <a:rPr sz="6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Access</a:t>
            </a:r>
            <a:endParaRPr sz="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80"/>
              </a:spcBef>
            </a:pPr>
            <a:endParaRPr sz="600">
              <a:latin typeface="Arial MT"/>
              <a:cs typeface="Arial MT"/>
            </a:endParaRPr>
          </a:p>
          <a:p>
            <a:pPr marL="198755">
              <a:lnSpc>
                <a:spcPct val="100000"/>
              </a:lnSpc>
            </a:pP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Since</a:t>
            </a:r>
            <a:r>
              <a:rPr sz="6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Alice</a:t>
            </a:r>
            <a:r>
              <a:rPr sz="6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is</a:t>
            </a:r>
            <a:r>
              <a:rPr sz="6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neither</a:t>
            </a:r>
            <a:r>
              <a:rPr sz="6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6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owner</a:t>
            </a:r>
            <a:r>
              <a:rPr sz="6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nor</a:t>
            </a:r>
            <a:r>
              <a:rPr sz="6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an</a:t>
            </a:r>
            <a:r>
              <a:rPr sz="6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admin,</a:t>
            </a:r>
            <a:r>
              <a:rPr sz="6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35" dirty="0">
                <a:solidFill>
                  <a:srgbClr val="191933"/>
                </a:solidFill>
                <a:latin typeface="Arial MT"/>
                <a:cs typeface="Arial MT"/>
              </a:rPr>
              <a:t>access</a:t>
            </a:r>
            <a:r>
              <a:rPr sz="6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is</a:t>
            </a:r>
            <a:r>
              <a:rPr sz="6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denied.</a:t>
            </a:r>
            <a:endParaRPr sz="600">
              <a:latin typeface="Arial MT"/>
              <a:cs typeface="Arial MT"/>
            </a:endParaRPr>
          </a:p>
          <a:p>
            <a:pPr marL="196850" indent="-120650">
              <a:lnSpc>
                <a:spcPct val="100000"/>
              </a:lnSpc>
              <a:spcBef>
                <a:spcPts val="280"/>
              </a:spcBef>
              <a:buClr>
                <a:srgbClr val="FFFFFF"/>
              </a:buClr>
              <a:buFont typeface="Arial MT"/>
              <a:buAutoNum type="arabicPlain" startAt="3"/>
              <a:tabLst>
                <a:tab pos="196850" algn="l"/>
              </a:tabLst>
            </a:pPr>
            <a:r>
              <a:rPr sz="600" b="1" dirty="0">
                <a:solidFill>
                  <a:srgbClr val="191933"/>
                </a:solidFill>
                <a:latin typeface="Arial"/>
                <a:cs typeface="Arial"/>
              </a:rPr>
              <a:t>Step</a:t>
            </a:r>
            <a:r>
              <a:rPr sz="600" b="1" spc="2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191933"/>
                </a:solidFill>
                <a:latin typeface="Arial"/>
                <a:cs typeface="Arial"/>
              </a:rPr>
              <a:t>3:</a:t>
            </a:r>
            <a:r>
              <a:rPr sz="600" b="1" spc="7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No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explicit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permission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is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found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for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Alice.</a:t>
            </a:r>
            <a:r>
              <a:rPr sz="600" spc="7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30" dirty="0">
                <a:solidFill>
                  <a:srgbClr val="191933"/>
                </a:solidFill>
                <a:latin typeface="Arial MT"/>
                <a:cs typeface="Arial MT"/>
              </a:rPr>
              <a:t>Access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is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denied.</a:t>
            </a:r>
            <a:endParaRPr sz="600">
              <a:latin typeface="Arial MT"/>
              <a:cs typeface="Arial MT"/>
            </a:endParaRPr>
          </a:p>
          <a:p>
            <a:pPr marL="196850" indent="-120650">
              <a:lnSpc>
                <a:spcPct val="100000"/>
              </a:lnSpc>
              <a:spcBef>
                <a:spcPts val="275"/>
              </a:spcBef>
              <a:buClr>
                <a:srgbClr val="FFFFFF"/>
              </a:buClr>
              <a:buFont typeface="Arial MT"/>
              <a:buAutoNum type="arabicPlain" startAt="3"/>
              <a:tabLst>
                <a:tab pos="196850" algn="l"/>
              </a:tabLst>
            </a:pPr>
            <a:r>
              <a:rPr sz="600" b="1" dirty="0">
                <a:solidFill>
                  <a:srgbClr val="191933"/>
                </a:solidFill>
                <a:latin typeface="Arial"/>
                <a:cs typeface="Arial"/>
              </a:rPr>
              <a:t>Step</a:t>
            </a:r>
            <a:r>
              <a:rPr sz="600" b="1" spc="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191933"/>
                </a:solidFill>
                <a:latin typeface="Arial"/>
                <a:cs typeface="Arial"/>
              </a:rPr>
              <a:t>4:</a:t>
            </a:r>
            <a:r>
              <a:rPr sz="600" b="1" spc="5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Log</a:t>
            </a:r>
            <a:r>
              <a:rPr sz="6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Alice’s</a:t>
            </a:r>
            <a:r>
              <a:rPr sz="6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35" dirty="0">
                <a:solidFill>
                  <a:srgbClr val="191933"/>
                </a:solidFill>
                <a:latin typeface="Arial MT"/>
                <a:cs typeface="Arial MT"/>
              </a:rPr>
              <a:t>access</a:t>
            </a:r>
            <a:r>
              <a:rPr sz="6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request</a:t>
            </a:r>
            <a:r>
              <a:rPr sz="6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and</a:t>
            </a:r>
            <a:r>
              <a:rPr sz="6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6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outcome</a:t>
            </a:r>
            <a:r>
              <a:rPr sz="6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0" dirty="0">
                <a:solidFill>
                  <a:srgbClr val="191933"/>
                </a:solidFill>
                <a:latin typeface="Arial MT"/>
                <a:cs typeface="Arial MT"/>
              </a:rPr>
              <a:t>(Access</a:t>
            </a:r>
            <a:r>
              <a:rPr sz="6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denied).</a:t>
            </a:r>
            <a:endParaRPr sz="600">
              <a:latin typeface="Arial MT"/>
              <a:cs typeface="Arial MT"/>
            </a:endParaRPr>
          </a:p>
          <a:p>
            <a:pPr marL="196850" indent="-120650">
              <a:lnSpc>
                <a:spcPct val="100000"/>
              </a:lnSpc>
              <a:spcBef>
                <a:spcPts val="275"/>
              </a:spcBef>
              <a:buClr>
                <a:srgbClr val="FFFFFF"/>
              </a:buClr>
              <a:buFont typeface="Arial MT"/>
              <a:buAutoNum type="arabicPlain" startAt="3"/>
              <a:tabLst>
                <a:tab pos="196850" algn="l"/>
              </a:tabLst>
            </a:pPr>
            <a:r>
              <a:rPr sz="600" b="1" dirty="0">
                <a:solidFill>
                  <a:srgbClr val="191933"/>
                </a:solidFill>
                <a:latin typeface="Arial"/>
                <a:cs typeface="Arial"/>
              </a:rPr>
              <a:t>Step</a:t>
            </a:r>
            <a:r>
              <a:rPr sz="600" b="1" spc="2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191933"/>
                </a:solidFill>
                <a:latin typeface="Arial"/>
                <a:cs typeface="Arial"/>
              </a:rPr>
              <a:t>5:</a:t>
            </a:r>
            <a:r>
              <a:rPr sz="600" b="1" spc="7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Since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35" dirty="0">
                <a:solidFill>
                  <a:srgbClr val="191933"/>
                </a:solidFill>
                <a:latin typeface="Arial MT"/>
                <a:cs typeface="Arial MT"/>
              </a:rPr>
              <a:t>access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is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denied,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0" dirty="0">
                <a:solidFill>
                  <a:srgbClr val="191933"/>
                </a:solidFill>
                <a:latin typeface="Arial MT"/>
                <a:cs typeface="Arial MT"/>
              </a:rPr>
              <a:t>escalate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request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0" dirty="0">
                <a:solidFill>
                  <a:srgbClr val="191933"/>
                </a:solidFill>
                <a:latin typeface="Arial MT"/>
                <a:cs typeface="Arial MT"/>
              </a:rPr>
              <a:t>resource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owner,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Bob,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for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review.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20" name="object 20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4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77</a:t>
            </a:r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93</a:t>
            </a:r>
          </a:p>
        </p:txBody>
      </p:sp>
    </p:spTree>
  </p:cSld>
  <p:clrMapOvr>
    <a:masterClrMapping/>
  </p:clrMapOvr>
  <p:transition>
    <p:cut/>
  </p:transition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1013"/>
            <a:ext cx="336550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Best </a:t>
            </a:r>
            <a:r>
              <a:rPr spc="-30" dirty="0"/>
              <a:t>Practices</a:t>
            </a:r>
            <a:r>
              <a:rPr dirty="0"/>
              <a:t> for</a:t>
            </a:r>
            <a:r>
              <a:rPr spc="-5" dirty="0"/>
              <a:t> </a:t>
            </a:r>
            <a:r>
              <a:rPr spc="-25" dirty="0"/>
              <a:t>Implementing</a:t>
            </a:r>
            <a:r>
              <a:rPr dirty="0"/>
              <a:t> </a:t>
            </a:r>
            <a:r>
              <a:rPr spc="-80" dirty="0"/>
              <a:t>Access</a:t>
            </a:r>
            <a:r>
              <a:rPr dirty="0"/>
              <a:t> </a:t>
            </a:r>
            <a:r>
              <a:rPr spc="-10" dirty="0"/>
              <a:t>Control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150721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360754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742859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952891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2162924"/>
            <a:ext cx="65265" cy="65265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0808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pc="-35" dirty="0"/>
              <a:t>Regularly</a:t>
            </a:r>
            <a:r>
              <a:rPr spc="-40" dirty="0"/>
              <a:t> </a:t>
            </a:r>
            <a:r>
              <a:rPr spc="-30" dirty="0"/>
              <a:t>update</a:t>
            </a:r>
            <a:r>
              <a:rPr spc="-25" dirty="0"/>
              <a:t> </a:t>
            </a:r>
            <a:r>
              <a:rPr spc="-50" dirty="0"/>
              <a:t>access</a:t>
            </a:r>
            <a:r>
              <a:rPr spc="-35" dirty="0"/>
              <a:t> </a:t>
            </a:r>
            <a:r>
              <a:rPr spc="-20" dirty="0"/>
              <a:t>control</a:t>
            </a:r>
            <a:r>
              <a:rPr spc="-30" dirty="0"/>
              <a:t> </a:t>
            </a:r>
            <a:r>
              <a:rPr spc="-25" dirty="0"/>
              <a:t>policies</a:t>
            </a:r>
            <a:r>
              <a:rPr spc="-30" dirty="0"/>
              <a:t> </a:t>
            </a:r>
            <a:r>
              <a:rPr dirty="0"/>
              <a:t>to</a:t>
            </a:r>
            <a:r>
              <a:rPr spc="-30" dirty="0"/>
              <a:t> </a:t>
            </a:r>
            <a:r>
              <a:rPr spc="-25" dirty="0"/>
              <a:t>adapt</a:t>
            </a:r>
            <a:r>
              <a:rPr spc="-35" dirty="0"/>
              <a:t> </a:t>
            </a:r>
            <a:r>
              <a:rPr dirty="0"/>
              <a:t>to</a:t>
            </a:r>
            <a:r>
              <a:rPr spc="-30" dirty="0"/>
              <a:t> </a:t>
            </a:r>
            <a:r>
              <a:rPr spc="-65" dirty="0"/>
              <a:t>new</a:t>
            </a:r>
            <a:r>
              <a:rPr spc="-25" dirty="0"/>
              <a:t> </a:t>
            </a:r>
            <a:r>
              <a:rPr spc="-10" dirty="0"/>
              <a:t>threats.</a:t>
            </a:r>
          </a:p>
          <a:p>
            <a:pPr marL="12700" marR="531495">
              <a:lnSpc>
                <a:spcPct val="102600"/>
              </a:lnSpc>
              <a:spcBef>
                <a:spcPts val="300"/>
              </a:spcBef>
            </a:pPr>
            <a:r>
              <a:rPr spc="-20" dirty="0"/>
              <a:t>Use</a:t>
            </a:r>
            <a:r>
              <a:rPr spc="-55" dirty="0"/>
              <a:t> </a:t>
            </a:r>
            <a:r>
              <a:rPr spc="-10" dirty="0"/>
              <a:t>the</a:t>
            </a:r>
            <a:r>
              <a:rPr spc="-55" dirty="0"/>
              <a:t> </a:t>
            </a:r>
            <a:r>
              <a:rPr spc="-30" dirty="0"/>
              <a:t>principle</a:t>
            </a:r>
            <a:r>
              <a:rPr spc="-55" dirty="0"/>
              <a:t> </a:t>
            </a:r>
            <a:r>
              <a:rPr dirty="0"/>
              <a:t>of</a:t>
            </a:r>
            <a:r>
              <a:rPr spc="-55" dirty="0"/>
              <a:t> </a:t>
            </a:r>
            <a:r>
              <a:rPr spc="-25" dirty="0"/>
              <a:t>least</a:t>
            </a:r>
            <a:r>
              <a:rPr spc="-60" dirty="0"/>
              <a:t> </a:t>
            </a:r>
            <a:r>
              <a:rPr spc="-35" dirty="0"/>
              <a:t>privilege:</a:t>
            </a:r>
            <a:r>
              <a:rPr spc="40" dirty="0"/>
              <a:t> </a:t>
            </a:r>
            <a:r>
              <a:rPr spc="-20" dirty="0"/>
              <a:t>grant</a:t>
            </a:r>
            <a:r>
              <a:rPr spc="-55" dirty="0"/>
              <a:t> </a:t>
            </a:r>
            <a:r>
              <a:rPr spc="-30" dirty="0"/>
              <a:t>minimum</a:t>
            </a:r>
            <a:r>
              <a:rPr spc="-50" dirty="0"/>
              <a:t> </a:t>
            </a:r>
            <a:r>
              <a:rPr spc="-65" dirty="0"/>
              <a:t>necessary </a:t>
            </a:r>
            <a:r>
              <a:rPr spc="-10" dirty="0"/>
              <a:t>permissions.</a:t>
            </a:r>
          </a:p>
          <a:p>
            <a:pPr marL="12700" marR="5080">
              <a:lnSpc>
                <a:spcPct val="125299"/>
              </a:lnSpc>
            </a:pPr>
            <a:r>
              <a:rPr spc="-50" dirty="0"/>
              <a:t>Implement</a:t>
            </a:r>
            <a:r>
              <a:rPr dirty="0"/>
              <a:t> </a:t>
            </a:r>
            <a:r>
              <a:rPr spc="-35" dirty="0"/>
              <a:t>multi-</a:t>
            </a:r>
            <a:r>
              <a:rPr spc="-10" dirty="0"/>
              <a:t>factor</a:t>
            </a:r>
            <a:r>
              <a:rPr spc="10" dirty="0"/>
              <a:t> </a:t>
            </a:r>
            <a:r>
              <a:rPr spc="-30" dirty="0"/>
              <a:t>authentication</a:t>
            </a:r>
            <a:r>
              <a:rPr spc="10" dirty="0"/>
              <a:t> </a:t>
            </a:r>
            <a:r>
              <a:rPr dirty="0"/>
              <a:t>(MFA)</a:t>
            </a:r>
            <a:r>
              <a:rPr spc="5" dirty="0"/>
              <a:t> </a:t>
            </a:r>
            <a:r>
              <a:rPr spc="-20" dirty="0"/>
              <a:t>for</a:t>
            </a:r>
            <a:r>
              <a:rPr spc="10" dirty="0"/>
              <a:t> </a:t>
            </a:r>
            <a:r>
              <a:rPr spc="-35" dirty="0"/>
              <a:t>sensitive</a:t>
            </a:r>
            <a:r>
              <a:rPr spc="10" dirty="0"/>
              <a:t> </a:t>
            </a:r>
            <a:r>
              <a:rPr spc="-40" dirty="0"/>
              <a:t>operations. </a:t>
            </a:r>
            <a:r>
              <a:rPr spc="-20" dirty="0"/>
              <a:t>Conduct</a:t>
            </a:r>
            <a:r>
              <a:rPr spc="-40" dirty="0"/>
              <a:t> </a:t>
            </a:r>
            <a:r>
              <a:rPr spc="-25" dirty="0"/>
              <a:t>periodic</a:t>
            </a:r>
            <a:r>
              <a:rPr spc="-30" dirty="0"/>
              <a:t> </a:t>
            </a:r>
            <a:r>
              <a:rPr spc="-25" dirty="0"/>
              <a:t>audits</a:t>
            </a:r>
            <a:r>
              <a:rPr spc="-35" dirty="0"/>
              <a:t> and</a:t>
            </a:r>
            <a:r>
              <a:rPr spc="-25" dirty="0"/>
              <a:t> </a:t>
            </a:r>
            <a:r>
              <a:rPr spc="-50" dirty="0"/>
              <a:t>reviews</a:t>
            </a:r>
            <a:r>
              <a:rPr spc="-35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spc="-60" dirty="0"/>
              <a:t>access</a:t>
            </a:r>
            <a:r>
              <a:rPr spc="-25" dirty="0"/>
              <a:t> </a:t>
            </a:r>
            <a:r>
              <a:rPr spc="-20" dirty="0"/>
              <a:t>control</a:t>
            </a:r>
            <a:r>
              <a:rPr spc="-30" dirty="0"/>
              <a:t> </a:t>
            </a:r>
            <a:r>
              <a:rPr spc="-10" dirty="0"/>
              <a:t>settings.</a:t>
            </a: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-25" dirty="0"/>
              <a:t>Educate</a:t>
            </a:r>
            <a:r>
              <a:rPr spc="-35" dirty="0"/>
              <a:t> </a:t>
            </a:r>
            <a:r>
              <a:rPr spc="-65" dirty="0"/>
              <a:t>users</a:t>
            </a:r>
            <a:r>
              <a:rPr spc="-20" dirty="0"/>
              <a:t> about</a:t>
            </a:r>
            <a:r>
              <a:rPr spc="-25" dirty="0"/>
              <a:t> </a:t>
            </a:r>
            <a:r>
              <a:rPr spc="-10" dirty="0"/>
              <a:t>the</a:t>
            </a:r>
            <a:r>
              <a:rPr spc="-30" dirty="0"/>
              <a:t> </a:t>
            </a:r>
            <a:r>
              <a:rPr spc="-40" dirty="0"/>
              <a:t>importance</a:t>
            </a:r>
            <a:r>
              <a:rPr spc="-25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spc="-55" dirty="0"/>
              <a:t>secure</a:t>
            </a:r>
            <a:r>
              <a:rPr spc="-30" dirty="0"/>
              <a:t> </a:t>
            </a:r>
            <a:r>
              <a:rPr spc="-55" dirty="0"/>
              <a:t>access</a:t>
            </a:r>
            <a:r>
              <a:rPr spc="-25" dirty="0"/>
              <a:t> </a:t>
            </a:r>
            <a:r>
              <a:rPr spc="-10" dirty="0"/>
              <a:t>practices.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0" name="object 10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4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78</a:t>
            </a:r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93</a:t>
            </a:r>
          </a:p>
        </p:txBody>
      </p:sp>
    </p:spTree>
  </p:cSld>
  <p:clrMapOvr>
    <a:masterClrMapping/>
  </p:clrMapOvr>
  <p:transition>
    <p:cut/>
  </p:transition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1013"/>
            <a:ext cx="118364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Important </a:t>
            </a:r>
            <a:r>
              <a:rPr spc="-10" dirty="0"/>
              <a:t>Notes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191856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573961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956079"/>
            <a:ext cx="65265" cy="6526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02932" y="1108416"/>
            <a:ext cx="3953510" cy="112839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95250">
              <a:lnSpc>
                <a:spcPct val="102600"/>
              </a:lnSpc>
              <a:spcBef>
                <a:spcPts val="55"/>
              </a:spcBef>
            </a:pP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Effective 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access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control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is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essential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to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prevent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unauthorized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55" dirty="0">
                <a:solidFill>
                  <a:srgbClr val="191933"/>
                </a:solidFill>
                <a:latin typeface="Tahoma"/>
                <a:cs typeface="Tahoma"/>
              </a:rPr>
              <a:t>access 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and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191933"/>
                </a:solidFill>
                <a:latin typeface="Tahoma"/>
                <a:cs typeface="Tahoma"/>
              </a:rPr>
              <a:t>reduce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65" dirty="0">
                <a:solidFill>
                  <a:srgbClr val="191933"/>
                </a:solidFill>
                <a:latin typeface="Tahoma"/>
                <a:cs typeface="Tahoma"/>
              </a:rPr>
              <a:t>worm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 propagation.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02600"/>
              </a:lnSpc>
              <a:spcBef>
                <a:spcPts val="300"/>
              </a:spcBef>
            </a:pP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Different</a:t>
            </a:r>
            <a:r>
              <a:rPr sz="1100" spc="4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models</a:t>
            </a:r>
            <a:r>
              <a:rPr sz="1100" spc="4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(DAC,</a:t>
            </a:r>
            <a:r>
              <a:rPr sz="1100" spc="4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MAC,</a:t>
            </a:r>
            <a:r>
              <a:rPr sz="1100" spc="4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RBAC,</a:t>
            </a:r>
            <a:r>
              <a:rPr sz="1100" spc="4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ABAC)</a:t>
            </a:r>
            <a:r>
              <a:rPr sz="1100" spc="4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offer</a:t>
            </a:r>
            <a:r>
              <a:rPr sz="1100" spc="4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varying</a:t>
            </a:r>
            <a:r>
              <a:rPr sz="1100" spc="4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levels</a:t>
            </a:r>
            <a:r>
              <a:rPr sz="1100" spc="4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of 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control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and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flexibility.</a:t>
            </a:r>
            <a:endParaRPr sz="1100">
              <a:latin typeface="Tahoma"/>
              <a:cs typeface="Tahoma"/>
            </a:endParaRPr>
          </a:p>
          <a:p>
            <a:pPr marL="12700" marR="201930">
              <a:lnSpc>
                <a:spcPct val="102600"/>
              </a:lnSpc>
              <a:spcBef>
                <a:spcPts val="300"/>
              </a:spcBef>
            </a:pP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Implementing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best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practices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65" dirty="0">
                <a:solidFill>
                  <a:srgbClr val="191933"/>
                </a:solidFill>
                <a:latin typeface="Tahoma"/>
                <a:cs typeface="Tahoma"/>
              </a:rPr>
              <a:t>ensures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the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security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and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integrity of 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sensitive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information.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8" name="object 8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4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79</a:t>
            </a:r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93</a:t>
            </a:r>
          </a:p>
        </p:txBody>
      </p:sp>
    </p:spTree>
  </p:cSld>
  <p:clrMapOvr>
    <a:masterClrMapping/>
  </p:clrMapOvr>
  <p:transition>
    <p:cut/>
  </p:transition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Network</a:t>
            </a:r>
            <a:r>
              <a:rPr dirty="0"/>
              <a:t> </a:t>
            </a:r>
            <a:r>
              <a:rPr spc="-30" dirty="0"/>
              <a:t>Segmentation</a:t>
            </a:r>
            <a:r>
              <a:rPr spc="5" dirty="0"/>
              <a:t> </a:t>
            </a:r>
            <a:r>
              <a:rPr dirty="0"/>
              <a:t>for Worm</a:t>
            </a:r>
            <a:r>
              <a:rPr spc="5" dirty="0"/>
              <a:t> </a:t>
            </a:r>
            <a:r>
              <a:rPr spc="-30" dirty="0"/>
              <a:t>Prevention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417702"/>
            <a:ext cx="4432935" cy="187960"/>
          </a:xfrm>
          <a:custGeom>
            <a:avLst/>
            <a:gdLst/>
            <a:ahLst/>
            <a:cxnLst/>
            <a:rect l="l" t="t" r="r" b="b"/>
            <a:pathLst>
              <a:path w="4432935" h="187959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4432566" y="187823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2672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8544" y="446150"/>
            <a:ext cx="56451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75" dirty="0">
                <a:solidFill>
                  <a:srgbClr val="FFFFFF"/>
                </a:solidFill>
                <a:latin typeface="Tahoma"/>
                <a:cs typeface="Tahoma"/>
              </a:rPr>
              <a:t>Overview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8544" y="626559"/>
            <a:ext cx="4432935" cy="20510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R="352425">
              <a:lnSpc>
                <a:spcPts val="700"/>
              </a:lnSpc>
              <a:spcBef>
                <a:spcPts val="135"/>
              </a:spcBef>
            </a:pP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Network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segmentation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involves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dividing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network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into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smaller,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isolated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5" dirty="0">
                <a:solidFill>
                  <a:srgbClr val="191933"/>
                </a:solidFill>
                <a:latin typeface="Arial MT"/>
                <a:cs typeface="Arial MT"/>
              </a:rPr>
              <a:t>segments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limit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5" dirty="0">
                <a:solidFill>
                  <a:srgbClr val="191933"/>
                </a:solidFill>
                <a:latin typeface="Arial MT"/>
                <a:cs typeface="Arial MT"/>
              </a:rPr>
              <a:t>spread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worms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and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other</a:t>
            </a:r>
            <a:r>
              <a:rPr sz="600" spc="5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malicious</a:t>
            </a:r>
            <a:r>
              <a:rPr sz="6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activities.</a:t>
            </a:r>
            <a:r>
              <a:rPr sz="600" spc="10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This</a:t>
            </a:r>
            <a:r>
              <a:rPr sz="6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0" dirty="0">
                <a:solidFill>
                  <a:srgbClr val="191933"/>
                </a:solidFill>
                <a:latin typeface="Arial MT"/>
                <a:cs typeface="Arial MT"/>
              </a:rPr>
              <a:t>approach</a:t>
            </a:r>
            <a:r>
              <a:rPr sz="6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30" dirty="0">
                <a:solidFill>
                  <a:srgbClr val="191933"/>
                </a:solidFill>
                <a:latin typeface="Arial MT"/>
                <a:cs typeface="Arial MT"/>
              </a:rPr>
              <a:t>enhances</a:t>
            </a:r>
            <a:r>
              <a:rPr sz="6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security</a:t>
            </a:r>
            <a:r>
              <a:rPr sz="6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by</a:t>
            </a:r>
            <a:r>
              <a:rPr sz="6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controlling</a:t>
            </a:r>
            <a:r>
              <a:rPr sz="6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traffic</a:t>
            </a:r>
            <a:r>
              <a:rPr sz="6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flow</a:t>
            </a:r>
            <a:r>
              <a:rPr sz="6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and</a:t>
            </a:r>
            <a:r>
              <a:rPr sz="6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reducing</a:t>
            </a:r>
            <a:r>
              <a:rPr sz="6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6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attack</a:t>
            </a:r>
            <a:r>
              <a:rPr sz="6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surface.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34" name="object 34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4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80</a:t>
            </a:r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93</a:t>
            </a:r>
          </a:p>
        </p:txBody>
      </p:sp>
    </p:spTree>
  </p:cSld>
  <p:clrMapOvr>
    <a:masterClrMapping/>
  </p:clrMapOvr>
  <p:transition>
    <p:cut/>
  </p:transition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Network</a:t>
            </a:r>
            <a:r>
              <a:rPr dirty="0"/>
              <a:t> </a:t>
            </a:r>
            <a:r>
              <a:rPr spc="-30" dirty="0"/>
              <a:t>Segmentation</a:t>
            </a:r>
            <a:r>
              <a:rPr spc="5" dirty="0"/>
              <a:t> </a:t>
            </a:r>
            <a:r>
              <a:rPr dirty="0"/>
              <a:t>for Worm</a:t>
            </a:r>
            <a:r>
              <a:rPr spc="5" dirty="0"/>
              <a:t> </a:t>
            </a:r>
            <a:r>
              <a:rPr spc="-30" dirty="0"/>
              <a:t>Prevention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489546"/>
            <a:ext cx="4432935" cy="198755"/>
          </a:xfrm>
          <a:custGeom>
            <a:avLst/>
            <a:gdLst/>
            <a:ahLst/>
            <a:cxnLst/>
            <a:rect l="l" t="t" r="r" b="b"/>
            <a:pathLst>
              <a:path w="4432935" h="198754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4432566" y="198367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2672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8544" y="518007"/>
            <a:ext cx="109029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50" dirty="0">
                <a:solidFill>
                  <a:srgbClr val="FFFFFF"/>
                </a:solidFill>
                <a:latin typeface="Tahoma"/>
                <a:cs typeface="Tahoma"/>
              </a:rPr>
              <a:t>Example</a:t>
            </a:r>
            <a:r>
              <a:rPr sz="12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65" dirty="0">
                <a:solidFill>
                  <a:srgbClr val="FFFFFF"/>
                </a:solidFill>
                <a:latin typeface="Tahoma"/>
                <a:cs typeface="Tahoma"/>
              </a:rPr>
              <a:t>Scenario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5844" y="689824"/>
            <a:ext cx="4240530" cy="12712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spc="55" dirty="0">
                <a:solidFill>
                  <a:srgbClr val="191933"/>
                </a:solidFill>
                <a:latin typeface="Tahoma"/>
                <a:cs typeface="Tahoma"/>
              </a:rPr>
              <a:t>A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company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implements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network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segmentation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to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prevent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the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65" dirty="0">
                <a:solidFill>
                  <a:srgbClr val="191933"/>
                </a:solidFill>
                <a:latin typeface="Tahoma"/>
                <a:cs typeface="Tahoma"/>
              </a:rPr>
              <a:t>spread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of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a </a:t>
            </a:r>
            <a:r>
              <a:rPr sz="1100" spc="-65" dirty="0">
                <a:solidFill>
                  <a:srgbClr val="191933"/>
                </a:solidFill>
                <a:latin typeface="Tahoma"/>
                <a:cs typeface="Tahoma"/>
              </a:rPr>
              <a:t>worm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infection.</a:t>
            </a:r>
            <a:r>
              <a:rPr sz="1100" spc="4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The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191933"/>
                </a:solidFill>
                <a:latin typeface="Tahoma"/>
                <a:cs typeface="Tahoma"/>
              </a:rPr>
              <a:t>network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is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divided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into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four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segments:</a:t>
            </a:r>
            <a:endParaRPr sz="1100">
              <a:latin typeface="Tahoma"/>
              <a:cs typeface="Tahoma"/>
            </a:endParaRPr>
          </a:p>
          <a:p>
            <a:pPr marL="289560" marR="3503295">
              <a:lnSpc>
                <a:spcPct val="138400"/>
              </a:lnSpc>
              <a:spcBef>
                <a:spcPts val="50"/>
              </a:spcBef>
            </a:pPr>
            <a:r>
              <a:rPr sz="600" spc="-20" dirty="0">
                <a:solidFill>
                  <a:srgbClr val="191933"/>
                </a:solidFill>
                <a:latin typeface="Arial MT"/>
                <a:cs typeface="Arial MT"/>
              </a:rPr>
              <a:t>Development</a:t>
            </a:r>
            <a:r>
              <a:rPr sz="600" spc="5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Marketing</a:t>
            </a:r>
            <a:r>
              <a:rPr sz="600" spc="5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Finance</a:t>
            </a:r>
            <a:endParaRPr sz="600">
              <a:latin typeface="Arial MT"/>
              <a:cs typeface="Arial MT"/>
            </a:endParaRPr>
          </a:p>
          <a:p>
            <a:pPr marL="289560">
              <a:lnSpc>
                <a:spcPct val="100000"/>
              </a:lnSpc>
              <a:spcBef>
                <a:spcPts val="275"/>
              </a:spcBef>
            </a:pPr>
            <a:r>
              <a:rPr sz="600" spc="-25" dirty="0">
                <a:solidFill>
                  <a:srgbClr val="191933"/>
                </a:solidFill>
                <a:latin typeface="Arial MT"/>
                <a:cs typeface="Arial MT"/>
              </a:rPr>
              <a:t>HR</a:t>
            </a:r>
            <a:endParaRPr sz="600">
              <a:latin typeface="Arial MT"/>
              <a:cs typeface="Arial MT"/>
            </a:endParaRPr>
          </a:p>
          <a:p>
            <a:pPr marL="12700" marR="160020">
              <a:lnSpc>
                <a:spcPct val="102600"/>
              </a:lnSpc>
              <a:spcBef>
                <a:spcPts val="400"/>
              </a:spcBef>
            </a:pP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The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aim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is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to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contain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any </a:t>
            </a:r>
            <a:r>
              <a:rPr sz="1100" spc="-65" dirty="0">
                <a:solidFill>
                  <a:srgbClr val="191933"/>
                </a:solidFill>
                <a:latin typeface="Tahoma"/>
                <a:cs typeface="Tahoma"/>
              </a:rPr>
              <a:t>worm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infection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within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a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Tahoma"/>
                <a:cs typeface="Tahoma"/>
              </a:rPr>
              <a:t>single</a:t>
            </a:r>
            <a:r>
              <a:rPr sz="1100" spc="-3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191933"/>
                </a:solidFill>
                <a:latin typeface="Tahoma"/>
                <a:cs typeface="Tahoma"/>
              </a:rPr>
              <a:t>segment</a:t>
            </a:r>
            <a:r>
              <a:rPr sz="1100" spc="-2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Tahoma"/>
                <a:cs typeface="Tahoma"/>
              </a:rPr>
              <a:t>and </a:t>
            </a:r>
            <a:r>
              <a:rPr sz="1100" spc="-45" dirty="0">
                <a:solidFill>
                  <a:srgbClr val="191933"/>
                </a:solidFill>
                <a:latin typeface="Tahoma"/>
                <a:cs typeface="Tahoma"/>
              </a:rPr>
              <a:t>prevent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it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Tahoma"/>
                <a:cs typeface="Tahoma"/>
              </a:rPr>
              <a:t>from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Tahoma"/>
                <a:cs typeface="Tahoma"/>
              </a:rPr>
              <a:t>spreading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91933"/>
                </a:solidFill>
                <a:latin typeface="Tahoma"/>
                <a:cs typeface="Tahoma"/>
              </a:rPr>
              <a:t>to</a:t>
            </a:r>
            <a:r>
              <a:rPr sz="1100" spc="-15" dirty="0">
                <a:solidFill>
                  <a:srgbClr val="1919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Tahoma"/>
                <a:cs typeface="Tahoma"/>
              </a:rPr>
              <a:t>others.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7743" y="2143467"/>
            <a:ext cx="4432935" cy="198755"/>
          </a:xfrm>
          <a:custGeom>
            <a:avLst/>
            <a:gdLst/>
            <a:ahLst/>
            <a:cxnLst/>
            <a:rect l="l" t="t" r="r" b="b"/>
            <a:pathLst>
              <a:path w="4432935" h="198755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4432566" y="198367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2672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38544" y="2171915"/>
            <a:ext cx="134429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65" dirty="0">
                <a:solidFill>
                  <a:srgbClr val="FFFFFF"/>
                </a:solidFill>
                <a:latin typeface="Tahoma"/>
                <a:cs typeface="Tahoma"/>
              </a:rPr>
              <a:t>Implementation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50" dirty="0">
                <a:solidFill>
                  <a:srgbClr val="FFFFFF"/>
                </a:solidFill>
                <a:latin typeface="Tahoma"/>
                <a:cs typeface="Tahoma"/>
              </a:rPr>
              <a:t>Steps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38544" y="2342521"/>
            <a:ext cx="4432935" cy="79756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76860">
              <a:lnSpc>
                <a:spcPct val="100000"/>
              </a:lnSpc>
              <a:spcBef>
                <a:spcPts val="375"/>
              </a:spcBef>
            </a:pPr>
            <a:r>
              <a:rPr sz="600" b="1" dirty="0">
                <a:solidFill>
                  <a:srgbClr val="191933"/>
                </a:solidFill>
                <a:latin typeface="Arial"/>
                <a:cs typeface="Arial"/>
              </a:rPr>
              <a:t>Input:</a:t>
            </a:r>
            <a:r>
              <a:rPr sz="600" b="1" spc="7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Network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topology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i="1" spc="185" dirty="0">
                <a:solidFill>
                  <a:srgbClr val="191933"/>
                </a:solidFill>
                <a:latin typeface="Calibri"/>
                <a:cs typeface="Calibri"/>
              </a:rPr>
              <a:t>N</a:t>
            </a:r>
            <a:r>
              <a:rPr sz="600" i="1" spc="-7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,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Segmentation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policy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i="1" spc="105" dirty="0">
                <a:solidFill>
                  <a:srgbClr val="191933"/>
                </a:solidFill>
                <a:latin typeface="Calibri"/>
                <a:cs typeface="Calibri"/>
              </a:rPr>
              <a:t>S</a:t>
            </a:r>
            <a:r>
              <a:rPr sz="600" spc="105" dirty="0">
                <a:solidFill>
                  <a:srgbClr val="191933"/>
                </a:solidFill>
                <a:latin typeface="Arial MT"/>
                <a:cs typeface="Arial MT"/>
              </a:rPr>
              <a:t>,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Traffic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rules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i="1" spc="145" dirty="0">
                <a:solidFill>
                  <a:srgbClr val="191933"/>
                </a:solidFill>
                <a:latin typeface="Calibri"/>
                <a:cs typeface="Calibri"/>
              </a:rPr>
              <a:t>T</a:t>
            </a:r>
            <a:r>
              <a:rPr sz="600" i="1" spc="-4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,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Security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controls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i="1" spc="105" dirty="0">
                <a:solidFill>
                  <a:srgbClr val="191933"/>
                </a:solidFill>
                <a:latin typeface="Calibri"/>
                <a:cs typeface="Calibri"/>
              </a:rPr>
              <a:t>C</a:t>
            </a:r>
            <a:r>
              <a:rPr sz="600" spc="105" dirty="0">
                <a:solidFill>
                  <a:srgbClr val="191933"/>
                </a:solidFill>
                <a:latin typeface="Arial MT"/>
                <a:cs typeface="Arial MT"/>
              </a:rPr>
              <a:t>.</a:t>
            </a:r>
            <a:endParaRPr sz="600">
              <a:latin typeface="Arial MT"/>
              <a:cs typeface="Arial MT"/>
            </a:endParaRPr>
          </a:p>
          <a:p>
            <a:pPr marL="276860">
              <a:lnSpc>
                <a:spcPct val="100000"/>
              </a:lnSpc>
              <a:spcBef>
                <a:spcPts val="275"/>
              </a:spcBef>
            </a:pPr>
            <a:r>
              <a:rPr sz="600" b="1" dirty="0">
                <a:solidFill>
                  <a:srgbClr val="191933"/>
                </a:solidFill>
                <a:latin typeface="Arial"/>
                <a:cs typeface="Arial"/>
              </a:rPr>
              <a:t>Output:</a:t>
            </a:r>
            <a:r>
              <a:rPr sz="600" b="1" spc="6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191933"/>
                </a:solidFill>
                <a:latin typeface="Arial MT"/>
                <a:cs typeface="Arial MT"/>
              </a:rPr>
              <a:t>Secured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and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isolated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network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segments.</a:t>
            </a:r>
            <a:endParaRPr sz="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85"/>
              </a:spcBef>
            </a:pPr>
            <a:endParaRPr sz="600">
              <a:latin typeface="Arial MT"/>
              <a:cs typeface="Arial MT"/>
            </a:endParaRPr>
          </a:p>
          <a:p>
            <a:pPr marL="153670">
              <a:lnSpc>
                <a:spcPct val="100000"/>
              </a:lnSpc>
            </a:pPr>
            <a:r>
              <a:rPr sz="900" baseline="4629" dirty="0">
                <a:solidFill>
                  <a:srgbClr val="FFFFFF"/>
                </a:solidFill>
                <a:latin typeface="Arial MT"/>
                <a:cs typeface="Arial MT"/>
              </a:rPr>
              <a:t>1</a:t>
            </a:r>
            <a:r>
              <a:rPr sz="900" spc="577" baseline="4629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00" b="1" dirty="0">
                <a:solidFill>
                  <a:srgbClr val="191933"/>
                </a:solidFill>
                <a:latin typeface="Arial"/>
                <a:cs typeface="Arial"/>
              </a:rPr>
              <a:t>Step</a:t>
            </a:r>
            <a:r>
              <a:rPr sz="600" b="1" spc="2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191933"/>
                </a:solidFill>
                <a:latin typeface="Arial"/>
                <a:cs typeface="Arial"/>
              </a:rPr>
              <a:t>1:</a:t>
            </a:r>
            <a:r>
              <a:rPr sz="600" b="1" spc="7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Segment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network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i="1" spc="185" dirty="0">
                <a:solidFill>
                  <a:srgbClr val="191933"/>
                </a:solidFill>
                <a:latin typeface="Calibri"/>
                <a:cs typeface="Calibri"/>
              </a:rPr>
              <a:t>N</a:t>
            </a:r>
            <a:r>
              <a:rPr sz="600" i="1" spc="-7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spc="-50" dirty="0">
                <a:solidFill>
                  <a:srgbClr val="191933"/>
                </a:solidFill>
                <a:latin typeface="Arial MT"/>
                <a:cs typeface="Arial MT"/>
              </a:rPr>
              <a:t>.</a:t>
            </a:r>
            <a:endParaRPr sz="600">
              <a:latin typeface="Arial MT"/>
              <a:cs typeface="Arial MT"/>
            </a:endParaRPr>
          </a:p>
          <a:p>
            <a:pPr marL="553720">
              <a:lnSpc>
                <a:spcPct val="100000"/>
              </a:lnSpc>
              <a:spcBef>
                <a:spcPts val="175"/>
              </a:spcBef>
            </a:pP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Define</a:t>
            </a:r>
            <a:r>
              <a:rPr sz="6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5" dirty="0">
                <a:solidFill>
                  <a:srgbClr val="191933"/>
                </a:solidFill>
                <a:latin typeface="Arial MT"/>
                <a:cs typeface="Arial MT"/>
              </a:rPr>
              <a:t>segments</a:t>
            </a:r>
            <a:r>
              <a:rPr sz="6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5" dirty="0">
                <a:solidFill>
                  <a:srgbClr val="191933"/>
                </a:solidFill>
                <a:latin typeface="Arial MT"/>
                <a:cs typeface="Arial MT"/>
              </a:rPr>
              <a:t>based</a:t>
            </a:r>
            <a:r>
              <a:rPr sz="6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on</a:t>
            </a:r>
            <a:r>
              <a:rPr sz="6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departments.</a:t>
            </a:r>
            <a:endParaRPr sz="600">
              <a:latin typeface="Arial MT"/>
              <a:cs typeface="Arial MT"/>
            </a:endParaRPr>
          </a:p>
          <a:p>
            <a:pPr marL="452120" algn="ctr">
              <a:lnSpc>
                <a:spcPct val="100000"/>
              </a:lnSpc>
              <a:spcBef>
                <a:spcPts val="675"/>
              </a:spcBef>
            </a:pPr>
            <a:r>
              <a:rPr sz="600" i="1" spc="185" dirty="0">
                <a:solidFill>
                  <a:srgbClr val="191933"/>
                </a:solidFill>
                <a:latin typeface="Calibri"/>
                <a:cs typeface="Calibri"/>
              </a:rPr>
              <a:t>N</a:t>
            </a:r>
            <a:r>
              <a:rPr sz="600" i="1" spc="20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spc="254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600" spc="12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spc="20" dirty="0">
                <a:solidFill>
                  <a:srgbClr val="191933"/>
                </a:solidFill>
                <a:latin typeface="Cambria"/>
                <a:cs typeface="Cambria"/>
              </a:rPr>
              <a:t>{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Dev</a:t>
            </a:r>
            <a:r>
              <a:rPr sz="600" i="1" spc="20" dirty="0">
                <a:solidFill>
                  <a:srgbClr val="191933"/>
                </a:solidFill>
                <a:latin typeface="Calibri"/>
                <a:cs typeface="Calibri"/>
              </a:rPr>
              <a:t>,</a:t>
            </a:r>
            <a:r>
              <a:rPr sz="600" i="1" spc="1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Mkt</a:t>
            </a:r>
            <a:r>
              <a:rPr sz="600" i="1" spc="20" dirty="0">
                <a:solidFill>
                  <a:srgbClr val="191933"/>
                </a:solidFill>
                <a:latin typeface="Calibri"/>
                <a:cs typeface="Calibri"/>
              </a:rPr>
              <a:t>, 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Fin</a:t>
            </a:r>
            <a:r>
              <a:rPr sz="600" i="1" spc="20" dirty="0">
                <a:solidFill>
                  <a:srgbClr val="191933"/>
                </a:solidFill>
                <a:latin typeface="Calibri"/>
                <a:cs typeface="Calibri"/>
              </a:rPr>
              <a:t>, </a:t>
            </a:r>
            <a:r>
              <a:rPr sz="600" spc="-25" dirty="0">
                <a:solidFill>
                  <a:srgbClr val="191933"/>
                </a:solidFill>
                <a:latin typeface="Arial MT"/>
                <a:cs typeface="Arial MT"/>
              </a:rPr>
              <a:t>HR</a:t>
            </a:r>
            <a:r>
              <a:rPr sz="600" spc="-25" dirty="0">
                <a:solidFill>
                  <a:srgbClr val="191933"/>
                </a:solidFill>
                <a:latin typeface="Cambria"/>
                <a:cs typeface="Cambria"/>
              </a:rPr>
              <a:t>}</a:t>
            </a:r>
            <a:endParaRPr sz="600">
              <a:latin typeface="Cambria"/>
              <a:cs typeface="Cambria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27" name="object 27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4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82</a:t>
            </a:r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93</a:t>
            </a:r>
          </a:p>
        </p:txBody>
      </p:sp>
    </p:spTree>
  </p:cSld>
  <p:clrMapOvr>
    <a:masterClrMapping/>
  </p:clrMapOvr>
  <p:transition>
    <p:cut/>
  </p:transition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Network</a:t>
            </a:r>
            <a:r>
              <a:rPr dirty="0"/>
              <a:t> </a:t>
            </a:r>
            <a:r>
              <a:rPr spc="-30" dirty="0"/>
              <a:t>Segmentation</a:t>
            </a:r>
            <a:r>
              <a:rPr spc="5" dirty="0"/>
              <a:t> </a:t>
            </a:r>
            <a:r>
              <a:rPr dirty="0"/>
              <a:t>for Worm</a:t>
            </a:r>
            <a:r>
              <a:rPr spc="5" dirty="0"/>
              <a:t> </a:t>
            </a:r>
            <a:r>
              <a:rPr spc="-30" dirty="0"/>
              <a:t>Prevention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729043"/>
            <a:ext cx="4432935" cy="198755"/>
          </a:xfrm>
          <a:custGeom>
            <a:avLst/>
            <a:gdLst/>
            <a:ahLst/>
            <a:cxnLst/>
            <a:rect l="l" t="t" r="r" b="b"/>
            <a:pathLst>
              <a:path w="4432935" h="198755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4432566" y="198367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2672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8544" y="757491"/>
            <a:ext cx="134429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65" dirty="0">
                <a:solidFill>
                  <a:srgbClr val="FFFFFF"/>
                </a:solidFill>
                <a:latin typeface="Tahoma"/>
                <a:cs typeface="Tahoma"/>
              </a:rPr>
              <a:t>Implementation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50" dirty="0">
                <a:solidFill>
                  <a:srgbClr val="FFFFFF"/>
                </a:solidFill>
                <a:latin typeface="Tahoma"/>
                <a:cs typeface="Tahoma"/>
              </a:rPr>
              <a:t>Steps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5511" y="960980"/>
            <a:ext cx="114300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830">
              <a:lnSpc>
                <a:spcPts val="715"/>
              </a:lnSpc>
            </a:pPr>
            <a:r>
              <a:rPr sz="600" spc="-50" dirty="0">
                <a:solidFill>
                  <a:srgbClr val="FFFFFF"/>
                </a:solidFill>
                <a:latin typeface="Arial MT"/>
                <a:cs typeface="Arial MT"/>
              </a:rPr>
              <a:t>1</a:t>
            </a:r>
            <a:endParaRPr sz="600">
              <a:latin typeface="Arial MT"/>
              <a:cs typeface="Arial MT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0865" y="1098765"/>
            <a:ext cx="52590" cy="52590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402932" y="928630"/>
            <a:ext cx="2299335" cy="25336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sz="600" b="1" dirty="0">
                <a:solidFill>
                  <a:srgbClr val="191933"/>
                </a:solidFill>
                <a:latin typeface="Arial"/>
                <a:cs typeface="Arial"/>
              </a:rPr>
              <a:t>Step</a:t>
            </a:r>
            <a:r>
              <a:rPr sz="600" b="1" spc="1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191933"/>
                </a:solidFill>
                <a:latin typeface="Arial"/>
                <a:cs typeface="Arial"/>
              </a:rPr>
              <a:t>2:</a:t>
            </a:r>
            <a:r>
              <a:rPr sz="600" b="1" spc="6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Define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35" dirty="0">
                <a:solidFill>
                  <a:srgbClr val="191933"/>
                </a:solidFill>
                <a:latin typeface="Arial MT"/>
                <a:cs typeface="Arial MT"/>
              </a:rPr>
              <a:t>access</a:t>
            </a:r>
            <a:r>
              <a:rPr sz="6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rules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i="1" spc="145" dirty="0">
                <a:solidFill>
                  <a:srgbClr val="191933"/>
                </a:solidFill>
                <a:latin typeface="Calibri"/>
                <a:cs typeface="Calibri"/>
              </a:rPr>
              <a:t>T</a:t>
            </a:r>
            <a:r>
              <a:rPr sz="600" i="1" spc="12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spc="-20" dirty="0">
                <a:solidFill>
                  <a:srgbClr val="191933"/>
                </a:solidFill>
                <a:latin typeface="Arial MT"/>
                <a:cs typeface="Arial MT"/>
              </a:rPr>
              <a:t>between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segments.</a:t>
            </a:r>
            <a:endParaRPr sz="600">
              <a:latin typeface="Arial MT"/>
              <a:cs typeface="Arial MT"/>
            </a:endParaRPr>
          </a:p>
          <a:p>
            <a:pPr marL="289560">
              <a:lnSpc>
                <a:spcPct val="100000"/>
              </a:lnSpc>
              <a:spcBef>
                <a:spcPts val="175"/>
              </a:spcBef>
            </a:pP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Control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which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5" dirty="0">
                <a:solidFill>
                  <a:srgbClr val="191933"/>
                </a:solidFill>
                <a:latin typeface="Arial MT"/>
                <a:cs typeface="Arial MT"/>
              </a:rPr>
              <a:t>segments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can</a:t>
            </a:r>
            <a:r>
              <a:rPr sz="6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communicate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with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0" dirty="0">
                <a:solidFill>
                  <a:srgbClr val="191933"/>
                </a:solidFill>
                <a:latin typeface="Arial MT"/>
                <a:cs typeface="Arial MT"/>
              </a:rPr>
              <a:t>each</a:t>
            </a:r>
            <a:r>
              <a:rPr sz="6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other.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55511" y="1187335"/>
            <a:ext cx="368300" cy="1474470"/>
            <a:chOff x="255511" y="1187335"/>
            <a:chExt cx="368300" cy="1474470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0864" y="1187335"/>
              <a:ext cx="52590" cy="5259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0864" y="1571422"/>
              <a:ext cx="52590" cy="5259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5511" y="1863823"/>
              <a:ext cx="114214" cy="11421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70864" y="2001609"/>
              <a:ext cx="52590" cy="5259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70864" y="2090178"/>
              <a:ext cx="52590" cy="5259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55511" y="2382567"/>
              <a:ext cx="114214" cy="114214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70864" y="2520365"/>
              <a:ext cx="52590" cy="5259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70864" y="2608923"/>
              <a:ext cx="52590" cy="52590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1296390" y="1328009"/>
            <a:ext cx="9652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i="1" spc="100" dirty="0">
                <a:solidFill>
                  <a:srgbClr val="191933"/>
                </a:solidFill>
                <a:latin typeface="Georgia"/>
                <a:cs typeface="Georgia"/>
              </a:rPr>
              <a:t>ij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240891" y="1299342"/>
            <a:ext cx="26035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145" dirty="0">
                <a:solidFill>
                  <a:srgbClr val="191933"/>
                </a:solidFill>
                <a:latin typeface="Calibri"/>
                <a:cs typeface="Calibri"/>
              </a:rPr>
              <a:t>T</a:t>
            </a:r>
            <a:r>
              <a:rPr sz="600" i="1" spc="290" dirty="0">
                <a:solidFill>
                  <a:srgbClr val="191933"/>
                </a:solidFill>
                <a:latin typeface="Calibri"/>
                <a:cs typeface="Calibri"/>
              </a:rPr>
              <a:t>  </a:t>
            </a:r>
            <a:r>
              <a:rPr sz="600" spc="204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502295" y="1170183"/>
            <a:ext cx="9588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300" dirty="0">
                <a:solidFill>
                  <a:srgbClr val="191933"/>
                </a:solidFill>
                <a:latin typeface="Arial MT"/>
                <a:cs typeface="Arial MT"/>
              </a:rPr>
              <a:t>(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276220" y="1281464"/>
            <a:ext cx="57023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20065" algn="l"/>
              </a:tabLst>
            </a:pPr>
            <a:r>
              <a:rPr sz="500" i="1" spc="65" dirty="0">
                <a:solidFill>
                  <a:srgbClr val="191933"/>
                </a:solidFill>
                <a:latin typeface="Georgia"/>
                <a:cs typeface="Georgia"/>
              </a:rPr>
              <a:t>i</a:t>
            </a:r>
            <a:r>
              <a:rPr sz="500" i="1" dirty="0">
                <a:solidFill>
                  <a:srgbClr val="191933"/>
                </a:solidFill>
                <a:latin typeface="Georgia"/>
                <a:cs typeface="Georgia"/>
              </a:rPr>
              <a:t>	</a:t>
            </a:r>
            <a:r>
              <a:rPr sz="500" i="1" spc="90" dirty="0">
                <a:solidFill>
                  <a:srgbClr val="191933"/>
                </a:solidFill>
                <a:latin typeface="Georgia"/>
                <a:cs typeface="Georgia"/>
              </a:rPr>
              <a:t>j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572412" y="1247729"/>
            <a:ext cx="233362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Allowed</a:t>
            </a:r>
            <a:r>
              <a:rPr sz="600" spc="37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if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Segment</a:t>
            </a:r>
            <a:r>
              <a:rPr sz="600" spc="29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and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Segment</a:t>
            </a:r>
            <a:r>
              <a:rPr sz="600" spc="3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are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permitted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communicate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572412" y="1355514"/>
            <a:ext cx="68262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Denied</a:t>
            </a:r>
            <a:r>
              <a:rPr sz="600" spc="204" dirty="0">
                <a:solidFill>
                  <a:srgbClr val="191933"/>
                </a:solidFill>
                <a:latin typeface="Arial MT"/>
                <a:cs typeface="Arial MT"/>
              </a:rPr>
              <a:t> 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otherwise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80034" y="1537924"/>
            <a:ext cx="3327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Example: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28955" y="1626494"/>
            <a:ext cx="3458845" cy="11544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45870" algn="ctr">
              <a:lnSpc>
                <a:spcPct val="100000"/>
              </a:lnSpc>
              <a:spcBef>
                <a:spcPts val="95"/>
              </a:spcBef>
            </a:pPr>
            <a:r>
              <a:rPr sz="600" i="1" dirty="0">
                <a:solidFill>
                  <a:srgbClr val="191933"/>
                </a:solidFill>
                <a:latin typeface="Calibri"/>
                <a:cs typeface="Calibri"/>
              </a:rPr>
              <a:t>T</a:t>
            </a:r>
            <a:r>
              <a:rPr sz="750" baseline="-16666" dirty="0">
                <a:solidFill>
                  <a:srgbClr val="191933"/>
                </a:solidFill>
                <a:latin typeface="Arial MT"/>
                <a:cs typeface="Arial MT"/>
              </a:rPr>
              <a:t>Dev,</a:t>
            </a:r>
            <a:r>
              <a:rPr sz="750" spc="97" baseline="-16666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750" baseline="-16666" dirty="0">
                <a:solidFill>
                  <a:srgbClr val="191933"/>
                </a:solidFill>
                <a:latin typeface="Arial MT"/>
                <a:cs typeface="Arial MT"/>
              </a:rPr>
              <a:t>Mkt</a:t>
            </a:r>
            <a:r>
              <a:rPr sz="750" spc="240" baseline="-16666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254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600" spc="114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Allowed</a:t>
            </a:r>
            <a:r>
              <a:rPr sz="600" i="1" dirty="0">
                <a:solidFill>
                  <a:srgbClr val="191933"/>
                </a:solidFill>
                <a:latin typeface="Calibri"/>
                <a:cs typeface="Calibri"/>
              </a:rPr>
              <a:t>,</a:t>
            </a:r>
            <a:r>
              <a:rPr sz="600" i="1" spc="315" dirty="0">
                <a:solidFill>
                  <a:srgbClr val="191933"/>
                </a:solidFill>
                <a:latin typeface="Calibri"/>
                <a:cs typeface="Calibri"/>
              </a:rPr>
              <a:t>  </a:t>
            </a:r>
            <a:r>
              <a:rPr sz="600" i="1" dirty="0">
                <a:solidFill>
                  <a:srgbClr val="191933"/>
                </a:solidFill>
                <a:latin typeface="Calibri"/>
                <a:cs typeface="Calibri"/>
              </a:rPr>
              <a:t>T</a:t>
            </a:r>
            <a:r>
              <a:rPr sz="750" baseline="-16666" dirty="0">
                <a:solidFill>
                  <a:srgbClr val="191933"/>
                </a:solidFill>
                <a:latin typeface="Arial MT"/>
                <a:cs typeface="Arial MT"/>
              </a:rPr>
              <a:t>Dev,</a:t>
            </a:r>
            <a:r>
              <a:rPr sz="750" spc="97" baseline="-16666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750" baseline="-16666" dirty="0">
                <a:solidFill>
                  <a:srgbClr val="191933"/>
                </a:solidFill>
                <a:latin typeface="Arial MT"/>
                <a:cs typeface="Arial MT"/>
              </a:rPr>
              <a:t>Fin</a:t>
            </a:r>
            <a:r>
              <a:rPr sz="750" spc="240" baseline="-16666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254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600" spc="114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Denied</a:t>
            </a:r>
            <a:endParaRPr sz="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600">
              <a:latin typeface="Arial MT"/>
              <a:cs typeface="Arial MT"/>
            </a:endParaRPr>
          </a:p>
          <a:p>
            <a:pPr marL="183515" marR="1326515" indent="-120650">
              <a:lnSpc>
                <a:spcPct val="124500"/>
              </a:lnSpc>
              <a:spcBef>
                <a:spcPts val="5"/>
              </a:spcBef>
              <a:buClr>
                <a:srgbClr val="FFFFFF"/>
              </a:buClr>
              <a:buFont typeface="Arial MT"/>
              <a:buAutoNum type="arabicPlain" startAt="2"/>
              <a:tabLst>
                <a:tab pos="463550" algn="l"/>
              </a:tabLst>
            </a:pPr>
            <a:r>
              <a:rPr sz="600" b="1" dirty="0">
                <a:solidFill>
                  <a:srgbClr val="191933"/>
                </a:solidFill>
                <a:latin typeface="Arial"/>
                <a:cs typeface="Arial"/>
              </a:rPr>
              <a:t>Step</a:t>
            </a:r>
            <a:r>
              <a:rPr sz="600" b="1" spc="2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191933"/>
                </a:solidFill>
                <a:latin typeface="Arial"/>
                <a:cs typeface="Arial"/>
              </a:rPr>
              <a:t>3:</a:t>
            </a:r>
            <a:r>
              <a:rPr sz="600" b="1" spc="7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Implement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security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controls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i="1" spc="210" dirty="0">
                <a:solidFill>
                  <a:srgbClr val="191933"/>
                </a:solidFill>
                <a:latin typeface="Calibri"/>
                <a:cs typeface="Calibri"/>
              </a:rPr>
              <a:t>C</a:t>
            </a:r>
            <a:r>
              <a:rPr sz="600" i="1" spc="8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for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0" dirty="0">
                <a:solidFill>
                  <a:srgbClr val="191933"/>
                </a:solidFill>
                <a:latin typeface="Arial MT"/>
                <a:cs typeface="Arial MT"/>
              </a:rPr>
              <a:t>each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segment.</a:t>
            </a:r>
            <a:r>
              <a:rPr sz="600" spc="500" dirty="0">
                <a:solidFill>
                  <a:srgbClr val="191933"/>
                </a:solidFill>
                <a:latin typeface="Arial MT"/>
                <a:cs typeface="Arial MT"/>
              </a:rPr>
              <a:t> 	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Apply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firewalls,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IDS,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and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35" dirty="0">
                <a:solidFill>
                  <a:srgbClr val="191933"/>
                </a:solidFill>
                <a:latin typeface="Arial MT"/>
                <a:cs typeface="Arial MT"/>
              </a:rPr>
              <a:t>access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controls.</a:t>
            </a:r>
            <a:endParaRPr sz="600">
              <a:latin typeface="Arial MT"/>
              <a:cs typeface="Arial MT"/>
            </a:endParaRPr>
          </a:p>
          <a:p>
            <a:pPr marL="1245870" algn="ctr">
              <a:lnSpc>
                <a:spcPct val="100000"/>
              </a:lnSpc>
              <a:spcBef>
                <a:spcPts val="675"/>
              </a:spcBef>
            </a:pPr>
            <a:r>
              <a:rPr sz="600" i="1" spc="210" dirty="0">
                <a:solidFill>
                  <a:srgbClr val="191933"/>
                </a:solidFill>
                <a:latin typeface="Calibri"/>
                <a:cs typeface="Calibri"/>
              </a:rPr>
              <a:t>C</a:t>
            </a:r>
            <a:r>
              <a:rPr sz="600" i="1" spc="14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spc="254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600" spc="10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dirty="0">
                <a:solidFill>
                  <a:srgbClr val="191933"/>
                </a:solidFill>
                <a:latin typeface="Cambria"/>
                <a:cs typeface="Cambria"/>
              </a:rPr>
              <a:t>{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Firewall</a:t>
            </a:r>
            <a:r>
              <a:rPr sz="600" spc="6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for</a:t>
            </a:r>
            <a:r>
              <a:rPr sz="600" spc="7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Dev</a:t>
            </a:r>
            <a:r>
              <a:rPr sz="600" i="1" dirty="0">
                <a:solidFill>
                  <a:srgbClr val="191933"/>
                </a:solidFill>
                <a:latin typeface="Calibri"/>
                <a:cs typeface="Calibri"/>
              </a:rPr>
              <a:t>,</a:t>
            </a:r>
            <a:r>
              <a:rPr sz="600" i="1" spc="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IDS</a:t>
            </a:r>
            <a:r>
              <a:rPr sz="600" spc="7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for</a:t>
            </a:r>
            <a:r>
              <a:rPr sz="600" spc="7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Mkt</a:t>
            </a:r>
            <a:r>
              <a:rPr sz="600" i="1" dirty="0">
                <a:solidFill>
                  <a:srgbClr val="191933"/>
                </a:solidFill>
                <a:latin typeface="Calibri"/>
                <a:cs typeface="Calibri"/>
              </a:rPr>
              <a:t>,</a:t>
            </a:r>
            <a:r>
              <a:rPr sz="600" i="1" spc="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spc="-30" dirty="0">
                <a:solidFill>
                  <a:srgbClr val="191933"/>
                </a:solidFill>
                <a:latin typeface="Arial MT"/>
                <a:cs typeface="Arial MT"/>
              </a:rPr>
              <a:t>Access</a:t>
            </a:r>
            <a:r>
              <a:rPr sz="600" spc="7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Controls</a:t>
            </a:r>
            <a:r>
              <a:rPr sz="600" spc="7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for</a:t>
            </a:r>
            <a:r>
              <a:rPr sz="600" spc="7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5" dirty="0">
                <a:solidFill>
                  <a:srgbClr val="191933"/>
                </a:solidFill>
                <a:latin typeface="Arial MT"/>
                <a:cs typeface="Arial MT"/>
              </a:rPr>
              <a:t>HR</a:t>
            </a:r>
            <a:r>
              <a:rPr sz="600" spc="-25" dirty="0">
                <a:solidFill>
                  <a:srgbClr val="191933"/>
                </a:solidFill>
                <a:latin typeface="Cambria"/>
                <a:cs typeface="Cambria"/>
              </a:rPr>
              <a:t>}</a:t>
            </a:r>
            <a:endParaRPr sz="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z="600">
              <a:latin typeface="Cambria"/>
              <a:cs typeface="Cambria"/>
            </a:endParaRPr>
          </a:p>
          <a:p>
            <a:pPr marL="184150" indent="-120650">
              <a:lnSpc>
                <a:spcPct val="100000"/>
              </a:lnSpc>
              <a:spcBef>
                <a:spcPts val="5"/>
              </a:spcBef>
              <a:buClr>
                <a:srgbClr val="FFFFFF"/>
              </a:buClr>
              <a:buFont typeface="Arial MT"/>
              <a:buAutoNum type="arabicPlain" startAt="3"/>
              <a:tabLst>
                <a:tab pos="184150" algn="l"/>
              </a:tabLst>
            </a:pPr>
            <a:r>
              <a:rPr sz="600" b="1" dirty="0">
                <a:solidFill>
                  <a:srgbClr val="191933"/>
                </a:solidFill>
                <a:latin typeface="Arial"/>
                <a:cs typeface="Arial"/>
              </a:rPr>
              <a:t>Step</a:t>
            </a:r>
            <a:r>
              <a:rPr sz="600" b="1" spc="5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191933"/>
                </a:solidFill>
                <a:latin typeface="Arial"/>
                <a:cs typeface="Arial"/>
              </a:rPr>
              <a:t>4:</a:t>
            </a:r>
            <a:r>
              <a:rPr sz="600" b="1" spc="114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Monitor</a:t>
            </a:r>
            <a:r>
              <a:rPr sz="6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traffic</a:t>
            </a:r>
            <a:r>
              <a:rPr sz="600" spc="5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0" dirty="0">
                <a:solidFill>
                  <a:srgbClr val="191933"/>
                </a:solidFill>
                <a:latin typeface="Arial MT"/>
                <a:cs typeface="Arial MT"/>
              </a:rPr>
              <a:t>between</a:t>
            </a:r>
            <a:r>
              <a:rPr sz="6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segments.</a:t>
            </a:r>
            <a:endParaRPr sz="600">
              <a:latin typeface="Arial MT"/>
              <a:cs typeface="Arial MT"/>
            </a:endParaRPr>
          </a:p>
          <a:p>
            <a:pPr marL="463550">
              <a:lnSpc>
                <a:spcPct val="100000"/>
              </a:lnSpc>
              <a:spcBef>
                <a:spcPts val="175"/>
              </a:spcBef>
            </a:pP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Track</a:t>
            </a:r>
            <a:r>
              <a:rPr sz="6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and</a:t>
            </a:r>
            <a:r>
              <a:rPr sz="6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0" dirty="0">
                <a:solidFill>
                  <a:srgbClr val="191933"/>
                </a:solidFill>
                <a:latin typeface="Arial MT"/>
                <a:cs typeface="Arial MT"/>
              </a:rPr>
              <a:t>analyze</a:t>
            </a:r>
            <a:r>
              <a:rPr sz="6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traffic</a:t>
            </a:r>
            <a:r>
              <a:rPr sz="6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6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detect</a:t>
            </a:r>
            <a:r>
              <a:rPr sz="6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any</a:t>
            </a:r>
            <a:r>
              <a:rPr sz="6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0" dirty="0">
                <a:solidFill>
                  <a:srgbClr val="191933"/>
                </a:solidFill>
                <a:latin typeface="Arial MT"/>
                <a:cs typeface="Arial MT"/>
              </a:rPr>
              <a:t>anomalies</a:t>
            </a:r>
            <a:r>
              <a:rPr sz="6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or</a:t>
            </a:r>
            <a:r>
              <a:rPr sz="6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attempts</a:t>
            </a:r>
            <a:r>
              <a:rPr sz="6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6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0" dirty="0">
                <a:solidFill>
                  <a:srgbClr val="191933"/>
                </a:solidFill>
                <a:latin typeface="Arial MT"/>
                <a:cs typeface="Arial MT"/>
              </a:rPr>
              <a:t>breach</a:t>
            </a:r>
            <a:r>
              <a:rPr sz="6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segmentation.</a:t>
            </a:r>
            <a:endParaRPr sz="600">
              <a:latin typeface="Arial MT"/>
              <a:cs typeface="Arial MT"/>
            </a:endParaRPr>
          </a:p>
          <a:p>
            <a:pPr marL="1245870" algn="ctr">
              <a:lnSpc>
                <a:spcPct val="100000"/>
              </a:lnSpc>
              <a:spcBef>
                <a:spcPts val="675"/>
              </a:spcBef>
            </a:pPr>
            <a:r>
              <a:rPr sz="600" spc="45" dirty="0">
                <a:solidFill>
                  <a:srgbClr val="191933"/>
                </a:solidFill>
                <a:latin typeface="Arial MT"/>
                <a:cs typeface="Arial MT"/>
              </a:rPr>
              <a:t>Monitor</a:t>
            </a:r>
            <a:r>
              <a:rPr sz="600" spc="45" dirty="0">
                <a:solidFill>
                  <a:srgbClr val="191933"/>
                </a:solidFill>
                <a:latin typeface="Calibri"/>
                <a:cs typeface="Calibri"/>
              </a:rPr>
              <a:t>(</a:t>
            </a:r>
            <a:r>
              <a:rPr sz="600" i="1" spc="45" dirty="0">
                <a:solidFill>
                  <a:srgbClr val="191933"/>
                </a:solidFill>
                <a:latin typeface="Calibri"/>
                <a:cs typeface="Calibri"/>
              </a:rPr>
              <a:t>N,</a:t>
            </a:r>
            <a:r>
              <a:rPr sz="600" i="1" spc="-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i="1" spc="135" dirty="0">
                <a:solidFill>
                  <a:srgbClr val="191933"/>
                </a:solidFill>
                <a:latin typeface="Calibri"/>
                <a:cs typeface="Calibri"/>
              </a:rPr>
              <a:t>T,</a:t>
            </a:r>
            <a:r>
              <a:rPr sz="600" i="1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i="1" spc="150" dirty="0">
                <a:solidFill>
                  <a:srgbClr val="191933"/>
                </a:solidFill>
                <a:latin typeface="Calibri"/>
                <a:cs typeface="Calibri"/>
              </a:rPr>
              <a:t>C</a:t>
            </a:r>
            <a:r>
              <a:rPr sz="600" spc="150" dirty="0">
                <a:solidFill>
                  <a:srgbClr val="191933"/>
                </a:solidFill>
                <a:latin typeface="Calibri"/>
                <a:cs typeface="Calibri"/>
              </a:rPr>
              <a:t>)</a:t>
            </a:r>
            <a:endParaRPr sz="60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31" name="object 31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4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83</a:t>
            </a:r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93</a:t>
            </a:r>
          </a:p>
        </p:txBody>
      </p:sp>
    </p:spTree>
  </p:cSld>
  <p:clrMapOvr>
    <a:masterClrMapping/>
  </p:clrMapOvr>
  <p:transition>
    <p:cut/>
  </p:transition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Network</a:t>
            </a:r>
            <a:r>
              <a:rPr dirty="0"/>
              <a:t> </a:t>
            </a:r>
            <a:r>
              <a:rPr spc="-30" dirty="0"/>
              <a:t>Segmentation</a:t>
            </a:r>
            <a:r>
              <a:rPr spc="5" dirty="0"/>
              <a:t> </a:t>
            </a:r>
            <a:r>
              <a:rPr dirty="0"/>
              <a:t>for Worm</a:t>
            </a:r>
            <a:r>
              <a:rPr spc="5" dirty="0"/>
              <a:t> </a:t>
            </a:r>
            <a:r>
              <a:rPr spc="-30" dirty="0"/>
              <a:t>Prevention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700684"/>
            <a:ext cx="4432935" cy="198755"/>
          </a:xfrm>
          <a:custGeom>
            <a:avLst/>
            <a:gdLst/>
            <a:ahLst/>
            <a:cxnLst/>
            <a:rect l="l" t="t" r="r" b="b"/>
            <a:pathLst>
              <a:path w="4432935" h="198755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4432566" y="198367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2672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8544" y="729131"/>
            <a:ext cx="1193800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40" dirty="0">
                <a:solidFill>
                  <a:srgbClr val="FFFFFF"/>
                </a:solidFill>
                <a:latin typeface="Tahoma"/>
                <a:cs typeface="Tahoma"/>
              </a:rPr>
              <a:t>Numerical</a:t>
            </a:r>
            <a:r>
              <a:rPr sz="1200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65" dirty="0">
                <a:solidFill>
                  <a:srgbClr val="FFFFFF"/>
                </a:solidFill>
                <a:latin typeface="Tahoma"/>
                <a:cs typeface="Tahoma"/>
              </a:rPr>
              <a:t>Example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57846" y="2087812"/>
            <a:ext cx="9652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i="1" spc="100" dirty="0">
                <a:solidFill>
                  <a:srgbClr val="191933"/>
                </a:solidFill>
                <a:latin typeface="Georgia"/>
                <a:cs typeface="Georgia"/>
              </a:rPr>
              <a:t>ij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02347" y="2059145"/>
            <a:ext cx="26035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145" dirty="0">
                <a:solidFill>
                  <a:srgbClr val="191933"/>
                </a:solidFill>
                <a:latin typeface="Calibri"/>
                <a:cs typeface="Calibri"/>
              </a:rPr>
              <a:t>T</a:t>
            </a:r>
            <a:r>
              <a:rPr sz="600" i="1" spc="290" dirty="0">
                <a:solidFill>
                  <a:srgbClr val="191933"/>
                </a:solidFill>
                <a:latin typeface="Calibri"/>
                <a:cs typeface="Calibri"/>
              </a:rPr>
              <a:t>  </a:t>
            </a:r>
            <a:r>
              <a:rPr sz="600" spc="204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7744" y="884676"/>
            <a:ext cx="3640454" cy="1162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7660" marR="1122045" indent="-277495">
              <a:lnSpc>
                <a:spcPct val="138400"/>
              </a:lnSpc>
              <a:spcBef>
                <a:spcPts val="100"/>
              </a:spcBef>
            </a:pPr>
            <a:r>
              <a:rPr sz="600" spc="-20" dirty="0">
                <a:solidFill>
                  <a:srgbClr val="191933"/>
                </a:solidFill>
                <a:latin typeface="Arial MT"/>
                <a:cs typeface="Arial MT"/>
              </a:rPr>
              <a:t>Consider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network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with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following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topology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and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segmentation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policy:</a:t>
            </a:r>
            <a:r>
              <a:rPr sz="600" spc="5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Network</a:t>
            </a:r>
            <a:r>
              <a:rPr sz="600" spc="-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Topology</a:t>
            </a:r>
            <a:r>
              <a:rPr sz="600" spc="-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i="1" spc="185" dirty="0">
                <a:solidFill>
                  <a:srgbClr val="191933"/>
                </a:solidFill>
                <a:latin typeface="Calibri"/>
                <a:cs typeface="Calibri"/>
              </a:rPr>
              <a:t>N</a:t>
            </a:r>
            <a:r>
              <a:rPr sz="600" i="1" spc="-7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spc="-50" dirty="0">
                <a:solidFill>
                  <a:srgbClr val="191933"/>
                </a:solidFill>
                <a:latin typeface="Arial MT"/>
                <a:cs typeface="Arial MT"/>
              </a:rPr>
              <a:t>:</a:t>
            </a:r>
            <a:endParaRPr sz="600">
              <a:latin typeface="Arial MT"/>
              <a:cs typeface="Arial MT"/>
            </a:endParaRPr>
          </a:p>
          <a:p>
            <a:pPr marL="1069340" algn="ctr">
              <a:lnSpc>
                <a:spcPts val="695"/>
              </a:lnSpc>
            </a:pPr>
            <a:r>
              <a:rPr sz="600" i="1" spc="185" dirty="0">
                <a:solidFill>
                  <a:srgbClr val="191933"/>
                </a:solidFill>
                <a:latin typeface="Calibri"/>
                <a:cs typeface="Calibri"/>
              </a:rPr>
              <a:t>N</a:t>
            </a:r>
            <a:r>
              <a:rPr sz="600" i="1" spc="204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spc="254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600" spc="13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spc="75" dirty="0">
                <a:solidFill>
                  <a:srgbClr val="191933"/>
                </a:solidFill>
                <a:latin typeface="Cambria"/>
                <a:cs typeface="Cambria"/>
              </a:rPr>
              <a:t>{</a:t>
            </a:r>
            <a:r>
              <a:rPr sz="600" spc="75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600" i="1" spc="75" dirty="0">
                <a:solidFill>
                  <a:srgbClr val="191933"/>
                </a:solidFill>
                <a:latin typeface="Calibri"/>
                <a:cs typeface="Calibri"/>
              </a:rPr>
              <a:t>,</a:t>
            </a:r>
            <a:r>
              <a:rPr sz="600" i="1" spc="2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B</a:t>
            </a:r>
            <a:r>
              <a:rPr sz="600" i="1" dirty="0">
                <a:solidFill>
                  <a:srgbClr val="191933"/>
                </a:solidFill>
                <a:latin typeface="Calibri"/>
                <a:cs typeface="Calibri"/>
              </a:rPr>
              <a:t>,</a:t>
            </a:r>
            <a:r>
              <a:rPr sz="600" i="1" spc="2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C</a:t>
            </a:r>
            <a:r>
              <a:rPr sz="600" i="1" dirty="0">
                <a:solidFill>
                  <a:srgbClr val="191933"/>
                </a:solidFill>
                <a:latin typeface="Calibri"/>
                <a:cs typeface="Calibri"/>
              </a:rPr>
              <a:t>,</a:t>
            </a:r>
            <a:r>
              <a:rPr sz="600" i="1" spc="2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D</a:t>
            </a:r>
            <a:r>
              <a:rPr sz="600" i="1" dirty="0">
                <a:solidFill>
                  <a:srgbClr val="191933"/>
                </a:solidFill>
                <a:latin typeface="Calibri"/>
                <a:cs typeface="Calibri"/>
              </a:rPr>
              <a:t>,</a:t>
            </a:r>
            <a:r>
              <a:rPr sz="600" i="1" spc="2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E</a:t>
            </a:r>
            <a:r>
              <a:rPr sz="600" spc="35" dirty="0">
                <a:solidFill>
                  <a:srgbClr val="191933"/>
                </a:solidFill>
                <a:latin typeface="Cambria"/>
                <a:cs typeface="Cambria"/>
              </a:rPr>
              <a:t>}</a:t>
            </a:r>
            <a:endParaRPr sz="600">
              <a:latin typeface="Cambria"/>
              <a:cs typeface="Cambria"/>
            </a:endParaRPr>
          </a:p>
          <a:p>
            <a:pPr marL="327660">
              <a:lnSpc>
                <a:spcPct val="100000"/>
              </a:lnSpc>
              <a:spcBef>
                <a:spcPts val="625"/>
              </a:spcBef>
            </a:pP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Segmentation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Policy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i="1" spc="80" dirty="0">
                <a:solidFill>
                  <a:srgbClr val="191933"/>
                </a:solidFill>
                <a:latin typeface="Calibri"/>
                <a:cs typeface="Calibri"/>
              </a:rPr>
              <a:t>S</a:t>
            </a:r>
            <a:r>
              <a:rPr sz="600" spc="80" dirty="0">
                <a:solidFill>
                  <a:srgbClr val="191933"/>
                </a:solidFill>
                <a:latin typeface="Arial MT"/>
                <a:cs typeface="Arial MT"/>
              </a:rPr>
              <a:t>:</a:t>
            </a:r>
            <a:endParaRPr sz="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80"/>
              </a:spcBef>
            </a:pPr>
            <a:endParaRPr sz="600">
              <a:latin typeface="Arial MT"/>
              <a:cs typeface="Arial MT"/>
            </a:endParaRPr>
          </a:p>
          <a:p>
            <a:pPr marL="1069340" algn="ctr">
              <a:lnSpc>
                <a:spcPct val="100000"/>
              </a:lnSpc>
            </a:pPr>
            <a:r>
              <a:rPr sz="600" i="1" spc="175" dirty="0">
                <a:solidFill>
                  <a:srgbClr val="191933"/>
                </a:solidFill>
                <a:latin typeface="Calibri"/>
                <a:cs typeface="Calibri"/>
              </a:rPr>
              <a:t>S</a:t>
            </a:r>
            <a:r>
              <a:rPr sz="600" i="1" spc="11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spc="254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600" spc="8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dirty="0">
                <a:solidFill>
                  <a:srgbClr val="191933"/>
                </a:solidFill>
                <a:latin typeface="Cambria"/>
                <a:cs typeface="Cambria"/>
              </a:rPr>
              <a:t>{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Segment</a:t>
            </a:r>
            <a:r>
              <a:rPr sz="750" baseline="-16666" dirty="0">
                <a:solidFill>
                  <a:srgbClr val="191933"/>
                </a:solidFill>
                <a:latin typeface="Calibri"/>
                <a:cs typeface="Calibri"/>
              </a:rPr>
              <a:t>1</a:t>
            </a:r>
            <a:r>
              <a:rPr sz="750" spc="225" baseline="-16666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spc="254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600" spc="8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spc="75" dirty="0">
                <a:solidFill>
                  <a:srgbClr val="191933"/>
                </a:solidFill>
                <a:latin typeface="Cambria"/>
                <a:cs typeface="Cambria"/>
              </a:rPr>
              <a:t>{</a:t>
            </a:r>
            <a:r>
              <a:rPr sz="600" spc="75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600" i="1" spc="75" dirty="0">
                <a:solidFill>
                  <a:srgbClr val="191933"/>
                </a:solidFill>
                <a:latin typeface="Calibri"/>
                <a:cs typeface="Calibri"/>
              </a:rPr>
              <a:t>,</a:t>
            </a:r>
            <a:r>
              <a:rPr sz="600" i="1" spc="-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spc="75" dirty="0">
                <a:solidFill>
                  <a:srgbClr val="191933"/>
                </a:solidFill>
                <a:latin typeface="Arial MT"/>
                <a:cs typeface="Arial MT"/>
              </a:rPr>
              <a:t>B</a:t>
            </a:r>
            <a:r>
              <a:rPr sz="600" spc="75" dirty="0">
                <a:solidFill>
                  <a:srgbClr val="191933"/>
                </a:solidFill>
                <a:latin typeface="Cambria"/>
                <a:cs typeface="Cambria"/>
              </a:rPr>
              <a:t>}</a:t>
            </a:r>
            <a:r>
              <a:rPr sz="600" i="1" spc="75" dirty="0">
                <a:solidFill>
                  <a:srgbClr val="191933"/>
                </a:solidFill>
                <a:latin typeface="Calibri"/>
                <a:cs typeface="Calibri"/>
              </a:rPr>
              <a:t>,</a:t>
            </a:r>
            <a:r>
              <a:rPr sz="600" i="1" spc="-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Segment</a:t>
            </a:r>
            <a:r>
              <a:rPr sz="750" baseline="-16666" dirty="0">
                <a:solidFill>
                  <a:srgbClr val="191933"/>
                </a:solidFill>
                <a:latin typeface="Calibri"/>
                <a:cs typeface="Calibri"/>
              </a:rPr>
              <a:t>2</a:t>
            </a:r>
            <a:r>
              <a:rPr sz="750" spc="225" baseline="-16666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spc="254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600" spc="8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spc="80" dirty="0">
                <a:solidFill>
                  <a:srgbClr val="191933"/>
                </a:solidFill>
                <a:latin typeface="Cambria"/>
                <a:cs typeface="Cambria"/>
              </a:rPr>
              <a:t>{</a:t>
            </a:r>
            <a:r>
              <a:rPr sz="600" spc="80" dirty="0">
                <a:solidFill>
                  <a:srgbClr val="191933"/>
                </a:solidFill>
                <a:latin typeface="Arial MT"/>
                <a:cs typeface="Arial MT"/>
              </a:rPr>
              <a:t>C</a:t>
            </a:r>
            <a:r>
              <a:rPr sz="600" spc="80" dirty="0">
                <a:solidFill>
                  <a:srgbClr val="191933"/>
                </a:solidFill>
                <a:latin typeface="Cambria"/>
                <a:cs typeface="Cambria"/>
              </a:rPr>
              <a:t>}</a:t>
            </a:r>
            <a:r>
              <a:rPr sz="600" i="1" spc="80" dirty="0">
                <a:solidFill>
                  <a:srgbClr val="191933"/>
                </a:solidFill>
                <a:latin typeface="Calibri"/>
                <a:cs typeface="Calibri"/>
              </a:rPr>
              <a:t>,</a:t>
            </a:r>
            <a:r>
              <a:rPr sz="600" i="1" spc="-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Segment</a:t>
            </a:r>
            <a:r>
              <a:rPr sz="750" baseline="-16666" dirty="0">
                <a:solidFill>
                  <a:srgbClr val="191933"/>
                </a:solidFill>
                <a:latin typeface="Calibri"/>
                <a:cs typeface="Calibri"/>
              </a:rPr>
              <a:t>3</a:t>
            </a:r>
            <a:r>
              <a:rPr sz="750" spc="232" baseline="-16666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spc="254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600" spc="8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spc="75" dirty="0">
                <a:solidFill>
                  <a:srgbClr val="191933"/>
                </a:solidFill>
                <a:latin typeface="Cambria"/>
                <a:cs typeface="Cambria"/>
              </a:rPr>
              <a:t>{</a:t>
            </a:r>
            <a:r>
              <a:rPr sz="600" spc="75" dirty="0">
                <a:solidFill>
                  <a:srgbClr val="191933"/>
                </a:solidFill>
                <a:latin typeface="Arial MT"/>
                <a:cs typeface="Arial MT"/>
              </a:rPr>
              <a:t>D</a:t>
            </a:r>
            <a:r>
              <a:rPr sz="600" i="1" spc="75" dirty="0">
                <a:solidFill>
                  <a:srgbClr val="191933"/>
                </a:solidFill>
                <a:latin typeface="Calibri"/>
                <a:cs typeface="Calibri"/>
              </a:rPr>
              <a:t>,</a:t>
            </a:r>
            <a:r>
              <a:rPr sz="600" i="1" spc="-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spc="60" dirty="0">
                <a:solidFill>
                  <a:srgbClr val="191933"/>
                </a:solidFill>
                <a:latin typeface="Arial MT"/>
                <a:cs typeface="Arial MT"/>
              </a:rPr>
              <a:t>E</a:t>
            </a:r>
            <a:r>
              <a:rPr sz="600" spc="60" dirty="0">
                <a:solidFill>
                  <a:srgbClr val="191933"/>
                </a:solidFill>
                <a:latin typeface="Cambria"/>
                <a:cs typeface="Cambria"/>
              </a:rPr>
              <a:t>}}</a:t>
            </a:r>
            <a:endParaRPr sz="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75"/>
              </a:spcBef>
            </a:pPr>
            <a:endParaRPr sz="600">
              <a:latin typeface="Cambria"/>
              <a:cs typeface="Cambria"/>
            </a:endParaRPr>
          </a:p>
          <a:p>
            <a:pPr marL="327660">
              <a:lnSpc>
                <a:spcPct val="100000"/>
              </a:lnSpc>
            </a:pP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Traffic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0" dirty="0">
                <a:solidFill>
                  <a:srgbClr val="191933"/>
                </a:solidFill>
                <a:latin typeface="Arial MT"/>
                <a:cs typeface="Arial MT"/>
              </a:rPr>
              <a:t>Rules</a:t>
            </a:r>
            <a:r>
              <a:rPr sz="6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i="1" spc="145" dirty="0">
                <a:solidFill>
                  <a:srgbClr val="191933"/>
                </a:solidFill>
                <a:latin typeface="Calibri"/>
                <a:cs typeface="Calibri"/>
              </a:rPr>
              <a:t>T</a:t>
            </a:r>
            <a:r>
              <a:rPr sz="600" i="1" spc="-4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spc="-50" dirty="0">
                <a:solidFill>
                  <a:srgbClr val="191933"/>
                </a:solidFill>
                <a:latin typeface="Arial MT"/>
                <a:cs typeface="Arial MT"/>
              </a:rPr>
              <a:t>:</a:t>
            </a:r>
            <a:endParaRPr sz="600">
              <a:latin typeface="Arial MT"/>
              <a:cs typeface="Arial MT"/>
            </a:endParaRPr>
          </a:p>
          <a:p>
            <a:pPr marR="984250" algn="ctr">
              <a:lnSpc>
                <a:spcPct val="100000"/>
              </a:lnSpc>
              <a:spcBef>
                <a:spcPts val="505"/>
              </a:spcBef>
            </a:pPr>
            <a:r>
              <a:rPr sz="600" spc="300" dirty="0">
                <a:solidFill>
                  <a:srgbClr val="191933"/>
                </a:solidFill>
                <a:latin typeface="Arial MT"/>
                <a:cs typeface="Arial MT"/>
              </a:rPr>
              <a:t>(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137676" y="2041267"/>
            <a:ext cx="57023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20065" algn="l"/>
              </a:tabLst>
            </a:pPr>
            <a:r>
              <a:rPr sz="500" i="1" spc="65" dirty="0">
                <a:solidFill>
                  <a:srgbClr val="191933"/>
                </a:solidFill>
                <a:latin typeface="Georgia"/>
                <a:cs typeface="Georgia"/>
              </a:rPr>
              <a:t>i</a:t>
            </a:r>
            <a:r>
              <a:rPr sz="500" i="1" dirty="0">
                <a:solidFill>
                  <a:srgbClr val="191933"/>
                </a:solidFill>
                <a:latin typeface="Georgia"/>
                <a:cs typeface="Georgia"/>
              </a:rPr>
              <a:t>	</a:t>
            </a:r>
            <a:r>
              <a:rPr sz="500" i="1" spc="90" dirty="0">
                <a:solidFill>
                  <a:srgbClr val="191933"/>
                </a:solidFill>
                <a:latin typeface="Georgia"/>
                <a:cs typeface="Georgia"/>
              </a:rPr>
              <a:t>j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433868" y="2007532"/>
            <a:ext cx="233362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Allowed</a:t>
            </a:r>
            <a:r>
              <a:rPr sz="600" spc="37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if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Segment</a:t>
            </a:r>
            <a:r>
              <a:rPr sz="600" spc="29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and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Segment</a:t>
            </a:r>
            <a:r>
              <a:rPr sz="600" spc="3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are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permitted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communicate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433868" y="2115317"/>
            <a:ext cx="68262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Denied</a:t>
            </a:r>
            <a:r>
              <a:rPr sz="600" spc="204" dirty="0">
                <a:solidFill>
                  <a:srgbClr val="191933"/>
                </a:solidFill>
                <a:latin typeface="Arial MT"/>
                <a:cs typeface="Arial MT"/>
              </a:rPr>
              <a:t> 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otherwise</a:t>
            </a:r>
            <a:endParaRPr sz="600">
              <a:latin typeface="Arial MT"/>
              <a:cs typeface="Arial MT"/>
            </a:endParaRPr>
          </a:p>
        </p:txBody>
      </p:sp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2638780"/>
            <a:ext cx="65265" cy="65265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364832" y="2358585"/>
            <a:ext cx="3381375" cy="4648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ts val="710"/>
              </a:lnSpc>
              <a:spcBef>
                <a:spcPts val="95"/>
              </a:spcBef>
            </a:pP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For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example:</a:t>
            </a:r>
            <a:endParaRPr sz="600">
              <a:latin typeface="Arial MT"/>
              <a:cs typeface="Arial MT"/>
            </a:endParaRPr>
          </a:p>
          <a:p>
            <a:pPr marL="774065" algn="ctr">
              <a:lnSpc>
                <a:spcPts val="710"/>
              </a:lnSpc>
            </a:pPr>
            <a:r>
              <a:rPr sz="600" i="1" spc="105" dirty="0">
                <a:solidFill>
                  <a:srgbClr val="191933"/>
                </a:solidFill>
                <a:latin typeface="Calibri"/>
                <a:cs typeface="Calibri"/>
              </a:rPr>
              <a:t>T</a:t>
            </a:r>
            <a:r>
              <a:rPr sz="750" spc="157" baseline="-11111" dirty="0">
                <a:solidFill>
                  <a:srgbClr val="191933"/>
                </a:solidFill>
                <a:latin typeface="Calibri"/>
                <a:cs typeface="Calibri"/>
              </a:rPr>
              <a:t>12</a:t>
            </a:r>
            <a:r>
              <a:rPr sz="750" spc="209" baseline="-11111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spc="254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600" spc="7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Allowed</a:t>
            </a:r>
            <a:r>
              <a:rPr sz="600" i="1" dirty="0">
                <a:solidFill>
                  <a:srgbClr val="191933"/>
                </a:solidFill>
                <a:latin typeface="Calibri"/>
                <a:cs typeface="Calibri"/>
              </a:rPr>
              <a:t>,</a:t>
            </a:r>
            <a:r>
              <a:rPr sz="600" i="1" spc="245" dirty="0">
                <a:solidFill>
                  <a:srgbClr val="191933"/>
                </a:solidFill>
                <a:latin typeface="Calibri"/>
                <a:cs typeface="Calibri"/>
              </a:rPr>
              <a:t>  </a:t>
            </a:r>
            <a:r>
              <a:rPr sz="600" i="1" spc="105" dirty="0">
                <a:solidFill>
                  <a:srgbClr val="191933"/>
                </a:solidFill>
                <a:latin typeface="Calibri"/>
                <a:cs typeface="Calibri"/>
              </a:rPr>
              <a:t>T</a:t>
            </a:r>
            <a:r>
              <a:rPr sz="750" spc="157" baseline="-11111" dirty="0">
                <a:solidFill>
                  <a:srgbClr val="191933"/>
                </a:solidFill>
                <a:latin typeface="Calibri"/>
                <a:cs typeface="Calibri"/>
              </a:rPr>
              <a:t>13</a:t>
            </a:r>
            <a:r>
              <a:rPr sz="750" spc="225" baseline="-11111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spc="254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600" spc="7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Denied</a:t>
            </a:r>
            <a:r>
              <a:rPr sz="600" i="1" dirty="0">
                <a:solidFill>
                  <a:srgbClr val="191933"/>
                </a:solidFill>
                <a:latin typeface="Calibri"/>
                <a:cs typeface="Calibri"/>
              </a:rPr>
              <a:t>,</a:t>
            </a:r>
            <a:r>
              <a:rPr sz="600" i="1" spc="245" dirty="0">
                <a:solidFill>
                  <a:srgbClr val="191933"/>
                </a:solidFill>
                <a:latin typeface="Calibri"/>
                <a:cs typeface="Calibri"/>
              </a:rPr>
              <a:t>  </a:t>
            </a:r>
            <a:r>
              <a:rPr sz="600" i="1" spc="105" dirty="0">
                <a:solidFill>
                  <a:srgbClr val="191933"/>
                </a:solidFill>
                <a:latin typeface="Calibri"/>
                <a:cs typeface="Calibri"/>
              </a:rPr>
              <a:t>T</a:t>
            </a:r>
            <a:r>
              <a:rPr sz="750" spc="157" baseline="-11111" dirty="0">
                <a:solidFill>
                  <a:srgbClr val="191933"/>
                </a:solidFill>
                <a:latin typeface="Calibri"/>
                <a:cs typeface="Calibri"/>
              </a:rPr>
              <a:t>23</a:t>
            </a:r>
            <a:r>
              <a:rPr sz="750" spc="217" baseline="-11111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spc="254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600" spc="7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Allowed</a:t>
            </a:r>
            <a:r>
              <a:rPr sz="600" i="1" dirty="0">
                <a:solidFill>
                  <a:srgbClr val="191933"/>
                </a:solidFill>
                <a:latin typeface="Calibri"/>
                <a:cs typeface="Calibri"/>
              </a:rPr>
              <a:t>,</a:t>
            </a:r>
            <a:r>
              <a:rPr sz="600" i="1" spc="245" dirty="0">
                <a:solidFill>
                  <a:srgbClr val="191933"/>
                </a:solidFill>
                <a:latin typeface="Calibri"/>
                <a:cs typeface="Calibri"/>
              </a:rPr>
              <a:t>  </a:t>
            </a:r>
            <a:r>
              <a:rPr sz="600" i="1" spc="105" dirty="0">
                <a:solidFill>
                  <a:srgbClr val="191933"/>
                </a:solidFill>
                <a:latin typeface="Calibri"/>
                <a:cs typeface="Calibri"/>
              </a:rPr>
              <a:t>T</a:t>
            </a:r>
            <a:r>
              <a:rPr sz="750" spc="157" baseline="-11111" dirty="0">
                <a:solidFill>
                  <a:srgbClr val="191933"/>
                </a:solidFill>
                <a:latin typeface="Calibri"/>
                <a:cs typeface="Calibri"/>
              </a:rPr>
              <a:t>24</a:t>
            </a:r>
            <a:r>
              <a:rPr sz="750" spc="225" baseline="-11111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spc="254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600" spc="7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Denied</a:t>
            </a:r>
            <a:endParaRPr sz="600">
              <a:latin typeface="Arial MT"/>
              <a:cs typeface="Arial MT"/>
            </a:endParaRPr>
          </a:p>
          <a:p>
            <a:pPr marL="50800">
              <a:lnSpc>
                <a:spcPts val="710"/>
              </a:lnSpc>
              <a:spcBef>
                <a:spcPts val="625"/>
              </a:spcBef>
            </a:pP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Security</a:t>
            </a:r>
            <a:r>
              <a:rPr sz="600" spc="-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Controls</a:t>
            </a:r>
            <a:r>
              <a:rPr sz="600" spc="-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i="1" spc="90" dirty="0">
                <a:solidFill>
                  <a:srgbClr val="191933"/>
                </a:solidFill>
                <a:latin typeface="Calibri"/>
                <a:cs typeface="Calibri"/>
              </a:rPr>
              <a:t>R</a:t>
            </a:r>
            <a:r>
              <a:rPr sz="600" spc="90" dirty="0">
                <a:solidFill>
                  <a:srgbClr val="191933"/>
                </a:solidFill>
                <a:latin typeface="Arial MT"/>
                <a:cs typeface="Arial MT"/>
              </a:rPr>
              <a:t>:</a:t>
            </a:r>
            <a:endParaRPr sz="600">
              <a:latin typeface="Arial MT"/>
              <a:cs typeface="Arial MT"/>
            </a:endParaRPr>
          </a:p>
          <a:p>
            <a:pPr marL="773430" algn="ctr">
              <a:lnSpc>
                <a:spcPts val="710"/>
              </a:lnSpc>
            </a:pPr>
            <a:r>
              <a:rPr sz="600" i="1" spc="220" dirty="0">
                <a:solidFill>
                  <a:srgbClr val="191933"/>
                </a:solidFill>
                <a:latin typeface="Calibri"/>
                <a:cs typeface="Calibri"/>
              </a:rPr>
              <a:t>R</a:t>
            </a:r>
            <a:r>
              <a:rPr sz="600" i="1" spc="11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spc="254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600" spc="11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dirty="0">
                <a:solidFill>
                  <a:srgbClr val="191933"/>
                </a:solidFill>
                <a:latin typeface="Cambria"/>
                <a:cs typeface="Cambria"/>
              </a:rPr>
              <a:t>{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Firewalls</a:t>
            </a:r>
            <a:r>
              <a:rPr sz="600" i="1" dirty="0">
                <a:solidFill>
                  <a:srgbClr val="191933"/>
                </a:solidFill>
                <a:latin typeface="Calibri"/>
                <a:cs typeface="Calibri"/>
              </a:rPr>
              <a:t>,</a:t>
            </a:r>
            <a:r>
              <a:rPr sz="600" i="1" spc="1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IDS</a:t>
            </a:r>
            <a:r>
              <a:rPr sz="600" i="1" dirty="0">
                <a:solidFill>
                  <a:srgbClr val="191933"/>
                </a:solidFill>
                <a:latin typeface="Calibri"/>
                <a:cs typeface="Calibri"/>
              </a:rPr>
              <a:t>,</a:t>
            </a:r>
            <a:r>
              <a:rPr sz="600" i="1" spc="1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spc="-30" dirty="0">
                <a:solidFill>
                  <a:srgbClr val="191933"/>
                </a:solidFill>
                <a:latin typeface="Arial MT"/>
                <a:cs typeface="Arial MT"/>
              </a:rPr>
              <a:t>Access</a:t>
            </a:r>
            <a:r>
              <a:rPr sz="600" spc="8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Controls</a:t>
            </a:r>
            <a:r>
              <a:rPr sz="600" spc="-10" dirty="0">
                <a:solidFill>
                  <a:srgbClr val="191933"/>
                </a:solidFill>
                <a:latin typeface="Cambria"/>
                <a:cs typeface="Cambria"/>
              </a:rPr>
              <a:t>}</a:t>
            </a:r>
            <a:endParaRPr sz="600">
              <a:latin typeface="Cambria"/>
              <a:cs typeface="Cambri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21" name="object 21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4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84</a:t>
            </a:r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93</a:t>
            </a:r>
          </a:p>
        </p:txBody>
      </p:sp>
    </p:spTree>
  </p:cSld>
  <p:clrMapOvr>
    <a:masterClrMapping/>
  </p:clrMapOvr>
  <p:transition>
    <p:cut/>
  </p:transition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Network</a:t>
            </a:r>
            <a:r>
              <a:rPr dirty="0"/>
              <a:t> </a:t>
            </a:r>
            <a:r>
              <a:rPr spc="-30" dirty="0"/>
              <a:t>Segmentation</a:t>
            </a:r>
            <a:r>
              <a:rPr spc="5" dirty="0"/>
              <a:t> </a:t>
            </a:r>
            <a:r>
              <a:rPr dirty="0"/>
              <a:t>for Worm</a:t>
            </a:r>
            <a:r>
              <a:rPr spc="5" dirty="0"/>
              <a:t> </a:t>
            </a:r>
            <a:r>
              <a:rPr spc="-30" dirty="0"/>
              <a:t>Prevention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775880"/>
            <a:ext cx="4432935" cy="215265"/>
          </a:xfrm>
          <a:custGeom>
            <a:avLst/>
            <a:gdLst/>
            <a:ahLst/>
            <a:cxnLst/>
            <a:rect l="l" t="t" r="r" b="b"/>
            <a:pathLst>
              <a:path w="4432935" h="215265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15238"/>
                </a:lnTo>
                <a:lnTo>
                  <a:pt x="4432566" y="215238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2672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8544" y="812774"/>
            <a:ext cx="196024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40" dirty="0">
                <a:solidFill>
                  <a:srgbClr val="FFFFFF"/>
                </a:solidFill>
                <a:latin typeface="Tahoma"/>
                <a:cs typeface="Tahoma"/>
              </a:rPr>
              <a:t>Numerical </a:t>
            </a:r>
            <a:r>
              <a:rPr sz="1200" spc="-50" dirty="0">
                <a:solidFill>
                  <a:srgbClr val="FFFFFF"/>
                </a:solidFill>
                <a:latin typeface="Tahoma"/>
                <a:cs typeface="Tahoma"/>
              </a:rPr>
              <a:t>Example</a:t>
            </a:r>
            <a:r>
              <a:rPr sz="12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50" dirty="0">
                <a:solidFill>
                  <a:srgbClr val="FFFFFF"/>
                </a:solidFill>
                <a:latin typeface="Tahoma"/>
                <a:cs typeface="Tahoma"/>
              </a:rPr>
              <a:t>(continued)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8544" y="832799"/>
            <a:ext cx="4432935" cy="19640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Applying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policy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and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rules:</a:t>
            </a:r>
            <a:endParaRPr sz="600">
              <a:latin typeface="Arial MT"/>
              <a:cs typeface="Arial MT"/>
            </a:endParaRPr>
          </a:p>
          <a:p>
            <a:pPr marL="276860">
              <a:lnSpc>
                <a:spcPct val="100000"/>
              </a:lnSpc>
              <a:spcBef>
                <a:spcPts val="275"/>
              </a:spcBef>
            </a:pP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For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Segment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1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(Nodes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A,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5" dirty="0">
                <a:solidFill>
                  <a:srgbClr val="191933"/>
                </a:solidFill>
                <a:latin typeface="Arial MT"/>
                <a:cs typeface="Arial MT"/>
              </a:rPr>
              <a:t>B):</a:t>
            </a:r>
            <a:endParaRPr sz="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80"/>
              </a:spcBef>
            </a:pPr>
            <a:endParaRPr sz="600">
              <a:latin typeface="Arial MT"/>
              <a:cs typeface="Arial MT"/>
            </a:endParaRPr>
          </a:p>
          <a:p>
            <a:pPr marL="174625" algn="ctr">
              <a:lnSpc>
                <a:spcPct val="100000"/>
              </a:lnSpc>
              <a:spcBef>
                <a:spcPts val="5"/>
              </a:spcBef>
            </a:pP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Traffic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Rules:</a:t>
            </a:r>
            <a:r>
              <a:rPr sz="600" spc="4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i="1" spc="105" dirty="0">
                <a:solidFill>
                  <a:srgbClr val="191933"/>
                </a:solidFill>
                <a:latin typeface="Calibri"/>
                <a:cs typeface="Calibri"/>
              </a:rPr>
              <a:t>T</a:t>
            </a:r>
            <a:r>
              <a:rPr sz="750" spc="157" baseline="-11111" dirty="0">
                <a:solidFill>
                  <a:srgbClr val="191933"/>
                </a:solidFill>
                <a:latin typeface="Calibri"/>
                <a:cs typeface="Calibri"/>
              </a:rPr>
              <a:t>12</a:t>
            </a:r>
            <a:r>
              <a:rPr sz="750" spc="195" baseline="-11111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spc="254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600" spc="6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Allowed</a:t>
            </a:r>
            <a:r>
              <a:rPr sz="600" i="1" dirty="0">
                <a:solidFill>
                  <a:srgbClr val="191933"/>
                </a:solidFill>
                <a:latin typeface="Calibri"/>
                <a:cs typeface="Calibri"/>
              </a:rPr>
              <a:t>,</a:t>
            </a:r>
            <a:r>
              <a:rPr sz="600" i="1" spc="229" dirty="0">
                <a:solidFill>
                  <a:srgbClr val="191933"/>
                </a:solidFill>
                <a:latin typeface="Calibri"/>
                <a:cs typeface="Calibri"/>
              </a:rPr>
              <a:t> 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Firewalls:Allow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internal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segment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communication.</a:t>
            </a:r>
            <a:endParaRPr sz="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80"/>
              </a:spcBef>
            </a:pPr>
            <a:endParaRPr sz="600">
              <a:latin typeface="Arial MT"/>
              <a:cs typeface="Arial MT"/>
            </a:endParaRPr>
          </a:p>
          <a:p>
            <a:pPr marL="276860">
              <a:lnSpc>
                <a:spcPct val="100000"/>
              </a:lnSpc>
            </a:pP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For</a:t>
            </a:r>
            <a:r>
              <a:rPr sz="6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Segment</a:t>
            </a:r>
            <a:r>
              <a:rPr sz="6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2</a:t>
            </a:r>
            <a:r>
              <a:rPr sz="6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(Node</a:t>
            </a:r>
            <a:r>
              <a:rPr sz="6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5" dirty="0">
                <a:solidFill>
                  <a:srgbClr val="191933"/>
                </a:solidFill>
                <a:latin typeface="Arial MT"/>
                <a:cs typeface="Arial MT"/>
              </a:rPr>
              <a:t>C):</a:t>
            </a:r>
            <a:endParaRPr sz="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85"/>
              </a:spcBef>
            </a:pPr>
            <a:endParaRPr sz="600">
              <a:latin typeface="Arial MT"/>
              <a:cs typeface="Arial MT"/>
            </a:endParaRPr>
          </a:p>
          <a:p>
            <a:pPr marL="174625" algn="ctr">
              <a:lnSpc>
                <a:spcPct val="100000"/>
              </a:lnSpc>
            </a:pP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Traffic</a:t>
            </a:r>
            <a:r>
              <a:rPr sz="600" spc="5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Rules:</a:t>
            </a:r>
            <a:r>
              <a:rPr sz="600" spc="47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i="1" spc="105" dirty="0">
                <a:solidFill>
                  <a:srgbClr val="191933"/>
                </a:solidFill>
                <a:latin typeface="Calibri"/>
                <a:cs typeface="Calibri"/>
              </a:rPr>
              <a:t>T</a:t>
            </a:r>
            <a:r>
              <a:rPr sz="750" spc="157" baseline="-11111" dirty="0">
                <a:solidFill>
                  <a:srgbClr val="191933"/>
                </a:solidFill>
                <a:latin typeface="Calibri"/>
                <a:cs typeface="Calibri"/>
              </a:rPr>
              <a:t>13</a:t>
            </a:r>
            <a:r>
              <a:rPr sz="750" spc="232" baseline="-11111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spc="254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600" spc="8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Denied</a:t>
            </a:r>
            <a:r>
              <a:rPr sz="600" i="1" dirty="0">
                <a:solidFill>
                  <a:srgbClr val="191933"/>
                </a:solidFill>
                <a:latin typeface="Calibri"/>
                <a:cs typeface="Calibri"/>
              </a:rPr>
              <a:t>,</a:t>
            </a:r>
            <a:r>
              <a:rPr sz="600" i="1" spc="260" dirty="0">
                <a:solidFill>
                  <a:srgbClr val="191933"/>
                </a:solidFill>
                <a:latin typeface="Calibri"/>
                <a:cs typeface="Calibri"/>
              </a:rPr>
              <a:t> 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IDS:</a:t>
            </a:r>
            <a:r>
              <a:rPr sz="6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Monitor</a:t>
            </a:r>
            <a:r>
              <a:rPr sz="600" spc="5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traffic</a:t>
            </a:r>
            <a:r>
              <a:rPr sz="6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to/from</a:t>
            </a:r>
            <a:r>
              <a:rPr sz="600" spc="5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0" dirty="0">
                <a:solidFill>
                  <a:srgbClr val="191933"/>
                </a:solidFill>
                <a:latin typeface="Arial MT"/>
                <a:cs typeface="Arial MT"/>
              </a:rPr>
              <a:t>Segments</a:t>
            </a:r>
            <a:r>
              <a:rPr sz="600" spc="5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1</a:t>
            </a:r>
            <a:r>
              <a:rPr sz="6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and</a:t>
            </a:r>
            <a:r>
              <a:rPr sz="600" spc="5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5" dirty="0">
                <a:solidFill>
                  <a:srgbClr val="191933"/>
                </a:solidFill>
                <a:latin typeface="Arial MT"/>
                <a:cs typeface="Arial MT"/>
              </a:rPr>
              <a:t>3.</a:t>
            </a:r>
            <a:endParaRPr sz="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80"/>
              </a:spcBef>
            </a:pPr>
            <a:endParaRPr sz="600">
              <a:latin typeface="Arial MT"/>
              <a:cs typeface="Arial MT"/>
            </a:endParaRPr>
          </a:p>
          <a:p>
            <a:pPr marL="276860">
              <a:lnSpc>
                <a:spcPct val="100000"/>
              </a:lnSpc>
              <a:spcBef>
                <a:spcPts val="5"/>
              </a:spcBef>
            </a:pP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For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Segment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3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(Nodes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D,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5" dirty="0">
                <a:solidFill>
                  <a:srgbClr val="191933"/>
                </a:solidFill>
                <a:latin typeface="Arial MT"/>
                <a:cs typeface="Arial MT"/>
              </a:rPr>
              <a:t>E):</a:t>
            </a:r>
            <a:endParaRPr sz="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80"/>
              </a:spcBef>
            </a:pPr>
            <a:endParaRPr sz="600">
              <a:latin typeface="Arial MT"/>
              <a:cs typeface="Arial MT"/>
            </a:endParaRPr>
          </a:p>
          <a:p>
            <a:pPr marL="174625" algn="ctr">
              <a:lnSpc>
                <a:spcPct val="100000"/>
              </a:lnSpc>
            </a:pP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Traffic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Rules:</a:t>
            </a:r>
            <a:r>
              <a:rPr sz="600" spc="40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i="1" spc="105" dirty="0">
                <a:solidFill>
                  <a:srgbClr val="191933"/>
                </a:solidFill>
                <a:latin typeface="Calibri"/>
                <a:cs typeface="Calibri"/>
              </a:rPr>
              <a:t>T</a:t>
            </a:r>
            <a:r>
              <a:rPr sz="750" spc="157" baseline="-11111" dirty="0">
                <a:solidFill>
                  <a:srgbClr val="191933"/>
                </a:solidFill>
                <a:latin typeface="Calibri"/>
                <a:cs typeface="Calibri"/>
              </a:rPr>
              <a:t>24</a:t>
            </a:r>
            <a:r>
              <a:rPr sz="750" spc="187" baseline="-11111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spc="254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600" spc="6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Denied</a:t>
            </a:r>
            <a:r>
              <a:rPr sz="600" i="1" dirty="0">
                <a:solidFill>
                  <a:srgbClr val="191933"/>
                </a:solidFill>
                <a:latin typeface="Calibri"/>
                <a:cs typeface="Calibri"/>
              </a:rPr>
              <a:t>,</a:t>
            </a:r>
            <a:r>
              <a:rPr sz="600" i="1" spc="220" dirty="0">
                <a:solidFill>
                  <a:srgbClr val="191933"/>
                </a:solidFill>
                <a:latin typeface="Calibri"/>
                <a:cs typeface="Calibri"/>
              </a:rPr>
              <a:t>  </a:t>
            </a:r>
            <a:r>
              <a:rPr sz="600" spc="-30" dirty="0">
                <a:solidFill>
                  <a:srgbClr val="191933"/>
                </a:solidFill>
                <a:latin typeface="Arial MT"/>
                <a:cs typeface="Arial MT"/>
              </a:rPr>
              <a:t>Access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Controls:</a:t>
            </a:r>
            <a:r>
              <a:rPr sz="600" spc="8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Restrict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external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35" dirty="0">
                <a:solidFill>
                  <a:srgbClr val="191933"/>
                </a:solidFill>
                <a:latin typeface="Arial MT"/>
                <a:cs typeface="Arial MT"/>
              </a:rPr>
              <a:t>access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segment.</a:t>
            </a:r>
            <a:endParaRPr sz="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85"/>
              </a:spcBef>
            </a:pPr>
            <a:endParaRPr sz="600">
              <a:latin typeface="Arial MT"/>
              <a:cs typeface="Arial MT"/>
            </a:endParaRPr>
          </a:p>
          <a:p>
            <a:pPr>
              <a:lnSpc>
                <a:spcPts val="710"/>
              </a:lnSpc>
            </a:pP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Monitoring:</a:t>
            </a:r>
            <a:endParaRPr sz="600">
              <a:latin typeface="Arial MT"/>
              <a:cs typeface="Arial MT"/>
            </a:endParaRPr>
          </a:p>
          <a:p>
            <a:pPr marL="711200">
              <a:lnSpc>
                <a:spcPts val="710"/>
              </a:lnSpc>
            </a:pPr>
            <a:r>
              <a:rPr sz="600" spc="45" dirty="0">
                <a:solidFill>
                  <a:srgbClr val="191933"/>
                </a:solidFill>
                <a:latin typeface="Arial MT"/>
                <a:cs typeface="Arial MT"/>
              </a:rPr>
              <a:t>Monitor</a:t>
            </a:r>
            <a:r>
              <a:rPr sz="600" spc="45" dirty="0">
                <a:solidFill>
                  <a:srgbClr val="191933"/>
                </a:solidFill>
                <a:latin typeface="Calibri"/>
                <a:cs typeface="Calibri"/>
              </a:rPr>
              <a:t>(</a:t>
            </a:r>
            <a:r>
              <a:rPr sz="600" i="1" spc="45" dirty="0">
                <a:solidFill>
                  <a:srgbClr val="191933"/>
                </a:solidFill>
                <a:latin typeface="Calibri"/>
                <a:cs typeface="Calibri"/>
              </a:rPr>
              <a:t>N,</a:t>
            </a:r>
            <a:r>
              <a:rPr sz="600" i="1" spc="-1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i="1" spc="120" dirty="0">
                <a:solidFill>
                  <a:srgbClr val="191933"/>
                </a:solidFill>
                <a:latin typeface="Calibri"/>
                <a:cs typeface="Calibri"/>
              </a:rPr>
              <a:t>S,</a:t>
            </a:r>
            <a:r>
              <a:rPr sz="600" i="1" spc="-1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i="1" spc="135" dirty="0">
                <a:solidFill>
                  <a:srgbClr val="191933"/>
                </a:solidFill>
                <a:latin typeface="Calibri"/>
                <a:cs typeface="Calibri"/>
              </a:rPr>
              <a:t>T,</a:t>
            </a:r>
            <a:r>
              <a:rPr sz="600" i="1" spc="-1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i="1" spc="160" dirty="0">
                <a:solidFill>
                  <a:srgbClr val="191933"/>
                </a:solidFill>
                <a:latin typeface="Calibri"/>
                <a:cs typeface="Calibri"/>
              </a:rPr>
              <a:t>R</a:t>
            </a:r>
            <a:r>
              <a:rPr sz="600" spc="160" dirty="0">
                <a:solidFill>
                  <a:srgbClr val="191933"/>
                </a:solidFill>
                <a:latin typeface="Calibri"/>
                <a:cs typeface="Calibri"/>
              </a:rPr>
              <a:t>)</a:t>
            </a:r>
            <a:r>
              <a:rPr sz="600" spc="65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spc="254" dirty="0">
                <a:solidFill>
                  <a:srgbClr val="191933"/>
                </a:solidFill>
                <a:latin typeface="Calibri"/>
                <a:cs typeface="Calibri"/>
              </a:rPr>
              <a:t>=</a:t>
            </a:r>
            <a:r>
              <a:rPr sz="600" spc="70" dirty="0">
                <a:solidFill>
                  <a:srgbClr val="191933"/>
                </a:solidFill>
                <a:latin typeface="Calibri"/>
                <a:cs typeface="Calibri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Evaluate</a:t>
            </a:r>
            <a:r>
              <a:rPr sz="6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0" dirty="0">
                <a:solidFill>
                  <a:srgbClr val="191933"/>
                </a:solidFill>
                <a:latin typeface="Arial MT"/>
                <a:cs typeface="Arial MT"/>
              </a:rPr>
              <a:t>effectiveness</a:t>
            </a:r>
            <a:r>
              <a:rPr sz="6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6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segmentation</a:t>
            </a:r>
            <a:r>
              <a:rPr sz="6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and</a:t>
            </a:r>
            <a:r>
              <a:rPr sz="6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security</a:t>
            </a:r>
            <a:r>
              <a:rPr sz="6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controls.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4" name="object 14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4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85</a:t>
            </a:r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93</a:t>
            </a:r>
          </a:p>
        </p:txBody>
      </p:sp>
    </p:spTree>
  </p:cSld>
  <p:clrMapOvr>
    <a:masterClrMapping/>
  </p:clrMapOvr>
  <p:transition>
    <p:cut/>
  </p:transition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51013"/>
            <a:ext cx="78994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Thank</a:t>
            </a:r>
            <a:r>
              <a:rPr sz="1200" b="1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-45" dirty="0">
                <a:solidFill>
                  <a:srgbClr val="FFFFFF"/>
                </a:solidFill>
                <a:latin typeface="Arial"/>
                <a:cs typeface="Arial"/>
              </a:rPr>
              <a:t>You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403984" y="782827"/>
            <a:ext cx="1800225" cy="1800225"/>
          </a:xfrm>
          <a:custGeom>
            <a:avLst/>
            <a:gdLst/>
            <a:ahLst/>
            <a:cxnLst/>
            <a:rect l="l" t="t" r="r" b="b"/>
            <a:pathLst>
              <a:path w="1800225" h="1800225">
                <a:moveTo>
                  <a:pt x="900011" y="0"/>
                </a:moveTo>
                <a:lnTo>
                  <a:pt x="852212" y="1247"/>
                </a:lnTo>
                <a:lnTo>
                  <a:pt x="805062" y="4948"/>
                </a:lnTo>
                <a:lnTo>
                  <a:pt x="758625" y="11041"/>
                </a:lnTo>
                <a:lnTo>
                  <a:pt x="712962" y="19462"/>
                </a:lnTo>
                <a:lnTo>
                  <a:pt x="668135" y="30151"/>
                </a:lnTo>
                <a:lnTo>
                  <a:pt x="624207" y="43044"/>
                </a:lnTo>
                <a:lnTo>
                  <a:pt x="581240" y="58080"/>
                </a:lnTo>
                <a:lnTo>
                  <a:pt x="539296" y="75197"/>
                </a:lnTo>
                <a:lnTo>
                  <a:pt x="498438" y="94331"/>
                </a:lnTo>
                <a:lnTo>
                  <a:pt x="458726" y="115422"/>
                </a:lnTo>
                <a:lnTo>
                  <a:pt x="420225" y="138406"/>
                </a:lnTo>
                <a:lnTo>
                  <a:pt x="382995" y="163222"/>
                </a:lnTo>
                <a:lnTo>
                  <a:pt x="347099" y="189808"/>
                </a:lnTo>
                <a:lnTo>
                  <a:pt x="312600" y="218100"/>
                </a:lnTo>
                <a:lnTo>
                  <a:pt x="279559" y="248038"/>
                </a:lnTo>
                <a:lnTo>
                  <a:pt x="248038" y="279559"/>
                </a:lnTo>
                <a:lnTo>
                  <a:pt x="218100" y="312600"/>
                </a:lnTo>
                <a:lnTo>
                  <a:pt x="189808" y="347099"/>
                </a:lnTo>
                <a:lnTo>
                  <a:pt x="163222" y="382995"/>
                </a:lnTo>
                <a:lnTo>
                  <a:pt x="138406" y="420225"/>
                </a:lnTo>
                <a:lnTo>
                  <a:pt x="115422" y="458726"/>
                </a:lnTo>
                <a:lnTo>
                  <a:pt x="94331" y="498438"/>
                </a:lnTo>
                <a:lnTo>
                  <a:pt x="75197" y="539296"/>
                </a:lnTo>
                <a:lnTo>
                  <a:pt x="58080" y="581240"/>
                </a:lnTo>
                <a:lnTo>
                  <a:pt x="43044" y="624207"/>
                </a:lnTo>
                <a:lnTo>
                  <a:pt x="30151" y="668135"/>
                </a:lnTo>
                <a:lnTo>
                  <a:pt x="19462" y="712962"/>
                </a:lnTo>
                <a:lnTo>
                  <a:pt x="11041" y="758625"/>
                </a:lnTo>
                <a:lnTo>
                  <a:pt x="4948" y="805062"/>
                </a:lnTo>
                <a:lnTo>
                  <a:pt x="1247" y="852212"/>
                </a:lnTo>
                <a:lnTo>
                  <a:pt x="0" y="900011"/>
                </a:lnTo>
                <a:lnTo>
                  <a:pt x="1247" y="947810"/>
                </a:lnTo>
                <a:lnTo>
                  <a:pt x="4948" y="994959"/>
                </a:lnTo>
                <a:lnTo>
                  <a:pt x="11041" y="1041397"/>
                </a:lnTo>
                <a:lnTo>
                  <a:pt x="19462" y="1087060"/>
                </a:lnTo>
                <a:lnTo>
                  <a:pt x="30151" y="1131886"/>
                </a:lnTo>
                <a:lnTo>
                  <a:pt x="43044" y="1175814"/>
                </a:lnTo>
                <a:lnTo>
                  <a:pt x="58080" y="1218781"/>
                </a:lnTo>
                <a:lnTo>
                  <a:pt x="75197" y="1260725"/>
                </a:lnTo>
                <a:lnTo>
                  <a:pt x="94331" y="1301584"/>
                </a:lnTo>
                <a:lnTo>
                  <a:pt x="115422" y="1341295"/>
                </a:lnTo>
                <a:lnTo>
                  <a:pt x="138406" y="1379797"/>
                </a:lnTo>
                <a:lnTo>
                  <a:pt x="163222" y="1417027"/>
                </a:lnTo>
                <a:lnTo>
                  <a:pt x="189808" y="1452922"/>
                </a:lnTo>
                <a:lnTo>
                  <a:pt x="218100" y="1487422"/>
                </a:lnTo>
                <a:lnTo>
                  <a:pt x="248038" y="1520463"/>
                </a:lnTo>
                <a:lnTo>
                  <a:pt x="279559" y="1551984"/>
                </a:lnTo>
                <a:lnTo>
                  <a:pt x="312600" y="1581921"/>
                </a:lnTo>
                <a:lnTo>
                  <a:pt x="347099" y="1610214"/>
                </a:lnTo>
                <a:lnTo>
                  <a:pt x="382995" y="1636799"/>
                </a:lnTo>
                <a:lnTo>
                  <a:pt x="420225" y="1661615"/>
                </a:lnTo>
                <a:lnTo>
                  <a:pt x="458726" y="1684600"/>
                </a:lnTo>
                <a:lnTo>
                  <a:pt x="498438" y="1705690"/>
                </a:lnTo>
                <a:lnTo>
                  <a:pt x="539296" y="1724825"/>
                </a:lnTo>
                <a:lnTo>
                  <a:pt x="581240" y="1741941"/>
                </a:lnTo>
                <a:lnTo>
                  <a:pt x="624207" y="1756977"/>
                </a:lnTo>
                <a:lnTo>
                  <a:pt x="668135" y="1769871"/>
                </a:lnTo>
                <a:lnTo>
                  <a:pt x="712962" y="1780559"/>
                </a:lnTo>
                <a:lnTo>
                  <a:pt x="758625" y="1788981"/>
                </a:lnTo>
                <a:lnTo>
                  <a:pt x="805062" y="1795073"/>
                </a:lnTo>
                <a:lnTo>
                  <a:pt x="852212" y="1798775"/>
                </a:lnTo>
                <a:lnTo>
                  <a:pt x="900011" y="1800022"/>
                </a:lnTo>
                <a:lnTo>
                  <a:pt x="947810" y="1798775"/>
                </a:lnTo>
                <a:lnTo>
                  <a:pt x="994959" y="1795073"/>
                </a:lnTo>
                <a:lnTo>
                  <a:pt x="1041397" y="1788981"/>
                </a:lnTo>
                <a:lnTo>
                  <a:pt x="1087060" y="1780559"/>
                </a:lnTo>
                <a:lnTo>
                  <a:pt x="1131886" y="1769871"/>
                </a:lnTo>
                <a:lnTo>
                  <a:pt x="1175814" y="1756977"/>
                </a:lnTo>
                <a:lnTo>
                  <a:pt x="1218781" y="1741941"/>
                </a:lnTo>
                <a:lnTo>
                  <a:pt x="1260725" y="1724825"/>
                </a:lnTo>
                <a:lnTo>
                  <a:pt x="1301584" y="1705690"/>
                </a:lnTo>
                <a:lnTo>
                  <a:pt x="1341295" y="1684600"/>
                </a:lnTo>
                <a:lnTo>
                  <a:pt x="1379797" y="1661615"/>
                </a:lnTo>
                <a:lnTo>
                  <a:pt x="1417027" y="1636799"/>
                </a:lnTo>
                <a:lnTo>
                  <a:pt x="1452922" y="1610214"/>
                </a:lnTo>
                <a:lnTo>
                  <a:pt x="1487422" y="1581921"/>
                </a:lnTo>
                <a:lnTo>
                  <a:pt x="1520463" y="1551984"/>
                </a:lnTo>
                <a:lnTo>
                  <a:pt x="1551984" y="1520463"/>
                </a:lnTo>
                <a:lnTo>
                  <a:pt x="1581921" y="1487422"/>
                </a:lnTo>
                <a:lnTo>
                  <a:pt x="1610214" y="1452922"/>
                </a:lnTo>
                <a:lnTo>
                  <a:pt x="1636799" y="1417027"/>
                </a:lnTo>
                <a:lnTo>
                  <a:pt x="1661615" y="1379797"/>
                </a:lnTo>
                <a:lnTo>
                  <a:pt x="1684600" y="1341295"/>
                </a:lnTo>
                <a:lnTo>
                  <a:pt x="1705690" y="1301584"/>
                </a:lnTo>
                <a:lnTo>
                  <a:pt x="1724825" y="1260725"/>
                </a:lnTo>
                <a:lnTo>
                  <a:pt x="1741941" y="1218781"/>
                </a:lnTo>
                <a:lnTo>
                  <a:pt x="1756977" y="1175814"/>
                </a:lnTo>
                <a:lnTo>
                  <a:pt x="1769871" y="1131886"/>
                </a:lnTo>
                <a:lnTo>
                  <a:pt x="1780559" y="1087060"/>
                </a:lnTo>
                <a:lnTo>
                  <a:pt x="1788981" y="1041397"/>
                </a:lnTo>
                <a:lnTo>
                  <a:pt x="1795073" y="994959"/>
                </a:lnTo>
                <a:lnTo>
                  <a:pt x="1798775" y="947810"/>
                </a:lnTo>
                <a:lnTo>
                  <a:pt x="1800022" y="900011"/>
                </a:lnTo>
                <a:lnTo>
                  <a:pt x="1798775" y="852212"/>
                </a:lnTo>
                <a:lnTo>
                  <a:pt x="1795073" y="805062"/>
                </a:lnTo>
                <a:lnTo>
                  <a:pt x="1788981" y="758625"/>
                </a:lnTo>
                <a:lnTo>
                  <a:pt x="1780559" y="712962"/>
                </a:lnTo>
                <a:lnTo>
                  <a:pt x="1769871" y="668135"/>
                </a:lnTo>
                <a:lnTo>
                  <a:pt x="1756977" y="624207"/>
                </a:lnTo>
                <a:lnTo>
                  <a:pt x="1741941" y="581240"/>
                </a:lnTo>
                <a:lnTo>
                  <a:pt x="1724825" y="539296"/>
                </a:lnTo>
                <a:lnTo>
                  <a:pt x="1705690" y="498438"/>
                </a:lnTo>
                <a:lnTo>
                  <a:pt x="1684600" y="458726"/>
                </a:lnTo>
                <a:lnTo>
                  <a:pt x="1661615" y="420225"/>
                </a:lnTo>
                <a:lnTo>
                  <a:pt x="1636799" y="382995"/>
                </a:lnTo>
                <a:lnTo>
                  <a:pt x="1610214" y="347099"/>
                </a:lnTo>
                <a:lnTo>
                  <a:pt x="1581921" y="312600"/>
                </a:lnTo>
                <a:lnTo>
                  <a:pt x="1551984" y="279559"/>
                </a:lnTo>
                <a:lnTo>
                  <a:pt x="1520463" y="248038"/>
                </a:lnTo>
                <a:lnTo>
                  <a:pt x="1487422" y="218100"/>
                </a:lnTo>
                <a:lnTo>
                  <a:pt x="1452922" y="189808"/>
                </a:lnTo>
                <a:lnTo>
                  <a:pt x="1417027" y="163222"/>
                </a:lnTo>
                <a:lnTo>
                  <a:pt x="1379797" y="138406"/>
                </a:lnTo>
                <a:lnTo>
                  <a:pt x="1341295" y="115422"/>
                </a:lnTo>
                <a:lnTo>
                  <a:pt x="1301584" y="94331"/>
                </a:lnTo>
                <a:lnTo>
                  <a:pt x="1260725" y="75197"/>
                </a:lnTo>
                <a:lnTo>
                  <a:pt x="1218781" y="58080"/>
                </a:lnTo>
                <a:lnTo>
                  <a:pt x="1175814" y="43044"/>
                </a:lnTo>
                <a:lnTo>
                  <a:pt x="1131886" y="30151"/>
                </a:lnTo>
                <a:lnTo>
                  <a:pt x="1087060" y="19462"/>
                </a:lnTo>
                <a:lnTo>
                  <a:pt x="1041397" y="11041"/>
                </a:lnTo>
                <a:lnTo>
                  <a:pt x="994959" y="4948"/>
                </a:lnTo>
                <a:lnTo>
                  <a:pt x="947810" y="1247"/>
                </a:lnTo>
                <a:lnTo>
                  <a:pt x="900011" y="0"/>
                </a:lnTo>
                <a:close/>
              </a:path>
            </a:pathLst>
          </a:custGeom>
          <a:solidFill>
            <a:srgbClr val="CCC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441792" y="1464651"/>
            <a:ext cx="1725930" cy="4032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450" b="1" dirty="0">
                <a:latin typeface="Arial"/>
                <a:cs typeface="Arial"/>
              </a:rPr>
              <a:t>Thank</a:t>
            </a:r>
            <a:r>
              <a:rPr sz="2450" b="1" spc="150" dirty="0">
                <a:latin typeface="Arial"/>
                <a:cs typeface="Arial"/>
              </a:rPr>
              <a:t> </a:t>
            </a:r>
            <a:r>
              <a:rPr sz="2450" b="1" spc="-25" dirty="0">
                <a:latin typeface="Arial"/>
                <a:cs typeface="Arial"/>
              </a:rPr>
              <a:t>You!</a:t>
            </a:r>
            <a:endParaRPr sz="24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60335" y="2433495"/>
            <a:ext cx="268732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latin typeface="Tahoma"/>
                <a:cs typeface="Tahoma"/>
              </a:rPr>
              <a:t>For</a:t>
            </a:r>
            <a:r>
              <a:rPr sz="1400" spc="-45" dirty="0">
                <a:latin typeface="Tahoma"/>
                <a:cs typeface="Tahoma"/>
              </a:rPr>
              <a:t> your </a:t>
            </a:r>
            <a:r>
              <a:rPr sz="1400" spc="-20" dirty="0">
                <a:latin typeface="Tahoma"/>
                <a:cs typeface="Tahoma"/>
              </a:rPr>
              <a:t>attention</a:t>
            </a:r>
            <a:r>
              <a:rPr sz="1400" spc="-40" dirty="0">
                <a:latin typeface="Tahoma"/>
                <a:cs typeface="Tahoma"/>
              </a:rPr>
              <a:t> </a:t>
            </a:r>
            <a:r>
              <a:rPr sz="1400" spc="-30" dirty="0">
                <a:latin typeface="Tahoma"/>
                <a:cs typeface="Tahoma"/>
              </a:rPr>
              <a:t>and</a:t>
            </a:r>
            <a:r>
              <a:rPr sz="1400" spc="-45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participation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7" name="object 7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4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93</a:t>
            </a:r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93</a:t>
            </a: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579731EF4AC17418DD61BA71806550D" ma:contentTypeVersion="6" ma:contentTypeDescription="Create a new document." ma:contentTypeScope="" ma:versionID="17510bbf7b7796fcc5ac5b4f5fa94b3b">
  <xsd:schema xmlns:xsd="http://www.w3.org/2001/XMLSchema" xmlns:xs="http://www.w3.org/2001/XMLSchema" xmlns:p="http://schemas.microsoft.com/office/2006/metadata/properties" xmlns:ns3="402dcb60-90af-4779-b57d-1d68dc2d6925" targetNamespace="http://schemas.microsoft.com/office/2006/metadata/properties" ma:root="true" ma:fieldsID="469a90975eca7d294ccea0263b9fc331" ns3:_="">
    <xsd:import namespace="402dcb60-90af-4779-b57d-1d68dc2d6925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2dcb60-90af-4779-b57d-1d68dc2d6925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02dcb60-90af-4779-b57d-1d68dc2d6925" xsi:nil="true"/>
  </documentManagement>
</p:properties>
</file>

<file path=customXml/itemProps1.xml><?xml version="1.0" encoding="utf-8"?>
<ds:datastoreItem xmlns:ds="http://schemas.openxmlformats.org/officeDocument/2006/customXml" ds:itemID="{B81C0330-7E1D-435E-88C0-F091D0E3BB5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02dcb60-90af-4779-b57d-1d68dc2d692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3B43737-459A-4294-9A12-8D894242471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FE9E5C7-B07C-4E92-AE62-801A1377EE75}">
  <ds:schemaRefs>
    <ds:schemaRef ds:uri="402dcb60-90af-4779-b57d-1d68dc2d6925"/>
    <ds:schemaRef ds:uri="http://purl.org/dc/terms/"/>
    <ds:schemaRef ds:uri="http://schemas.openxmlformats.org/package/2006/metadata/core-properties"/>
    <ds:schemaRef ds:uri="http://schemas.microsoft.com/office/2006/metadata/properties"/>
    <ds:schemaRef ds:uri="http://purl.org/dc/elements/1.1/"/>
    <ds:schemaRef ds:uri="http://purl.org/dc/dcmitype/"/>
    <ds:schemaRef ds:uri="http://schemas.microsoft.com/office/2006/documentManagement/types"/>
    <ds:schemaRef ds:uri="http://schemas.microsoft.com/office/infopath/2007/PartnerControl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</TotalTime>
  <Words>10682</Words>
  <Application>Microsoft Office PowerPoint</Application>
  <PresentationFormat>Custom</PresentationFormat>
  <Paragraphs>1219</Paragraphs>
  <Slides>108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108</vt:i4>
      </vt:variant>
    </vt:vector>
  </HeadingPairs>
  <TitlesOfParts>
    <vt:vector size="118" baseType="lpstr">
      <vt:lpstr>Arial</vt:lpstr>
      <vt:lpstr>Arial MT</vt:lpstr>
      <vt:lpstr>Calibri</vt:lpstr>
      <vt:lpstr>Cambria</vt:lpstr>
      <vt:lpstr>Georgia</vt:lpstr>
      <vt:lpstr>Lucida Sans Unicode</vt:lpstr>
      <vt:lpstr>Tahoma</vt:lpstr>
      <vt:lpstr>Times New Roman</vt:lpstr>
      <vt:lpstr>Trebuchet MS</vt:lpstr>
      <vt:lpstr>Office Theme</vt:lpstr>
      <vt:lpstr>PowerPoint Presentation</vt:lpstr>
      <vt:lpstr>Table of Contents</vt:lpstr>
      <vt:lpstr>Impact of Worms</vt:lpstr>
      <vt:lpstr>Characteristics of Worms</vt:lpstr>
      <vt:lpstr>How Worms Spread</vt:lpstr>
      <vt:lpstr>Notable Examples of Worms (1/2)</vt:lpstr>
      <vt:lpstr>Notable Examples of Worms (2/2)</vt:lpstr>
      <vt:lpstr>Worm Propagation Process</vt:lpstr>
      <vt:lpstr>Impact of Worms</vt:lpstr>
      <vt:lpstr>Prevention and Protection Against Worms (1/2)</vt:lpstr>
      <vt:lpstr>Prevention and Protection Against Worms (2/2)</vt:lpstr>
      <vt:lpstr>Detection and Prevention Algorithms</vt:lpstr>
      <vt:lpstr>Signature-Based Prevention Algorithm</vt:lpstr>
      <vt:lpstr>Signature-Based Prevention Algorithm</vt:lpstr>
      <vt:lpstr>Signature-Based Prevention Algorithm</vt:lpstr>
      <vt:lpstr>Signature-Based Prevention Algorithm</vt:lpstr>
      <vt:lpstr>Example: Byte Sequence Matching</vt:lpstr>
      <vt:lpstr>Example: Byte Sequence Matching</vt:lpstr>
      <vt:lpstr>Example: Byte Sequence Matching</vt:lpstr>
      <vt:lpstr>Example: Byte Sequence Matching</vt:lpstr>
      <vt:lpstr>Example: Byte Sequence Matching</vt:lpstr>
      <vt:lpstr>Limitations and Mathematical Extensions</vt:lpstr>
      <vt:lpstr>Behavioral Prevention Algorithm</vt:lpstr>
      <vt:lpstr>Behavioral Prevention Algorithm (Step 1):Data Collection and Profiling</vt:lpstr>
      <vt:lpstr>Behavioral Prevention Algorithm (Step 2):Behavior Analysis</vt:lpstr>
      <vt:lpstr>Behavioral Prevention Algorithm (Step 3):Response Mechanism</vt:lpstr>
      <vt:lpstr>PowerPoint Presentation</vt:lpstr>
      <vt:lpstr>Network-Based Prevention</vt:lpstr>
      <vt:lpstr>Network-Based Prevention</vt:lpstr>
      <vt:lpstr>Network-Based Prevention</vt:lpstr>
      <vt:lpstr>Network-Based Prevention</vt:lpstr>
      <vt:lpstr>Mathematical Modeling of Network Traffic</vt:lpstr>
      <vt:lpstr>Differential Equations for Worm Propagation</vt:lpstr>
      <vt:lpstr>Prevention Strategy</vt:lpstr>
      <vt:lpstr>Numerical Example - Initial Conditions</vt:lpstr>
      <vt:lpstr>Mathematical Equations</vt:lpstr>
      <vt:lpstr>PowerPoint Presentation</vt:lpstr>
      <vt:lpstr>Time Step 1 (t = 1)</vt:lpstr>
      <vt:lpstr>Updated Values at Time Step 1</vt:lpstr>
      <vt:lpstr>Time Step 2 (t = 2)</vt:lpstr>
      <vt:lpstr>Updated Values at Time Step 2</vt:lpstr>
      <vt:lpstr>Real-Time SIR Model Extension</vt:lpstr>
      <vt:lpstr>Example 2: Initial Setup</vt:lpstr>
      <vt:lpstr>Dynamic Update at t = 1 Minute</vt:lpstr>
      <vt:lpstr>Dynamic Update at t = 2 Minutes</vt:lpstr>
      <vt:lpstr>PowerPoint Presentation</vt:lpstr>
      <vt:lpstr>PowerPoint Presentation</vt:lpstr>
      <vt:lpstr>Introduction to Patch Management</vt:lpstr>
      <vt:lpstr>Importance of Patch Management</vt:lpstr>
      <vt:lpstr>Comparison of Patch Management Methods for Worm Prevention</vt:lpstr>
      <vt:lpstr>Patch Management Methods and Example Tools</vt:lpstr>
      <vt:lpstr>Scenario Setup</vt:lpstr>
      <vt:lpstr>Initial Conditions</vt:lpstr>
      <vt:lpstr>Day 1: Patch Management and Infection Spread</vt:lpstr>
      <vt:lpstr>Day 2: Patch Management and Infection Spread</vt:lpstr>
      <vt:lpstr>Day 3: Patch Management and Infection Spread</vt:lpstr>
      <vt:lpstr>Day 4: Patch Management and Infection Spread</vt:lpstr>
      <vt:lpstr>Analysis of Results</vt:lpstr>
      <vt:lpstr>Example 1: Automated Patch Management Tools</vt:lpstr>
      <vt:lpstr>Example 1: Automated Patch Management Tools</vt:lpstr>
      <vt:lpstr>Example 1: Automated Patch Management Tools</vt:lpstr>
      <vt:lpstr>Example 2: Centralized Patch Management</vt:lpstr>
      <vt:lpstr>Example 2: Centralized Patch Management</vt:lpstr>
      <vt:lpstr>Example 2: Centralized Patch Management</vt:lpstr>
      <vt:lpstr>Example 2: Centralized Patch Management</vt:lpstr>
      <vt:lpstr>Example 3: Patch Prioritization and Risk Assessment</vt:lpstr>
      <vt:lpstr>Example 3: Patch Prioritization and Risk Assessment</vt:lpstr>
      <vt:lpstr>Example 3: Patch Prioritization and Risk Assessment</vt:lpstr>
      <vt:lpstr>Example 3: Patch Prioritization and Risk Assessment</vt:lpstr>
      <vt:lpstr>Example 4: Emergency Patch Deployment Protocol</vt:lpstr>
      <vt:lpstr>Example 5: Cloud-Based Patch Management Solutions</vt:lpstr>
      <vt:lpstr>Example 5: Cloud-Based Patch Management Solutions</vt:lpstr>
      <vt:lpstr>Example 5: Cloud-Based Patch Management Solutions</vt:lpstr>
      <vt:lpstr>Example 5: Cloud-Based Patch Management Solutions</vt:lpstr>
      <vt:lpstr>Example 6: Third-Party Patch Management</vt:lpstr>
      <vt:lpstr>Example 6: Third-Party Patch Management</vt:lpstr>
      <vt:lpstr>Example 6: Third-Party Patch Management</vt:lpstr>
      <vt:lpstr>Key Insights</vt:lpstr>
      <vt:lpstr>Patch Management Lifecycle</vt:lpstr>
      <vt:lpstr>Patch Management Algorithm</vt:lpstr>
      <vt:lpstr>Examples of Patches for Worm Prevention</vt:lpstr>
      <vt:lpstr>Best Practices in Patch Management</vt:lpstr>
      <vt:lpstr>Introduction to Access Control Management</vt:lpstr>
      <vt:lpstr>Importance of Access Control in Worm Prevention</vt:lpstr>
      <vt:lpstr>Types of Access Control Models</vt:lpstr>
      <vt:lpstr>Access Control Algorithm for Worm Prevention</vt:lpstr>
      <vt:lpstr>Scenario Setup</vt:lpstr>
      <vt:lpstr>Algorithm Execution</vt:lpstr>
      <vt:lpstr>Result</vt:lpstr>
      <vt:lpstr>Access Control Algorithm Example</vt:lpstr>
      <vt:lpstr>Detailed ABAC Algorithm for Worm Prevention</vt:lpstr>
      <vt:lpstr>Scenario Setup</vt:lpstr>
      <vt:lpstr>Algorithm Execution</vt:lpstr>
      <vt:lpstr>Result</vt:lpstr>
      <vt:lpstr>Detailed ABAC Algorithm Example</vt:lpstr>
      <vt:lpstr>Detailed ABAC Algorithm Example</vt:lpstr>
      <vt:lpstr>Detailed RBAC Algorithm for Worm Prevention</vt:lpstr>
      <vt:lpstr>Detailed RBAC Algorithm Example</vt:lpstr>
      <vt:lpstr>Detailed DAC Algorithm for Worm Prevention</vt:lpstr>
      <vt:lpstr>Detailed DAC Algorithm Example</vt:lpstr>
      <vt:lpstr>Best Practices for Implementing Access Control</vt:lpstr>
      <vt:lpstr>Important Notes</vt:lpstr>
      <vt:lpstr>Network Segmentation for Worm Prevention</vt:lpstr>
      <vt:lpstr>Network Segmentation for Worm Prevention</vt:lpstr>
      <vt:lpstr>Network Segmentation for Worm Prevention</vt:lpstr>
      <vt:lpstr>Network Segmentation for Worm Prevention</vt:lpstr>
      <vt:lpstr>Network Segmentation for Worm Prevention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WORMS - UNIT II: Malware and Vulnerability</dc:title>
  <dc:creator>Adarsh Kumar  Professor, Systems, School of Computer Science, UPES, Dehradun, Uttarakhand, India  adarsh.kumar@ddn.upes.ac.in</dc:creator>
  <cp:lastModifiedBy>Abhishek Yadav</cp:lastModifiedBy>
  <cp:revision>4</cp:revision>
  <dcterms:created xsi:type="dcterms:W3CDTF">2025-01-17T05:44:33Z</dcterms:created>
  <dcterms:modified xsi:type="dcterms:W3CDTF">2025-02-27T10:47:45Z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2025-01-17T00:00:00Z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2025-01-17T00:00:00Z</vt:filetime>
  </property>
  <property fmtid="{D5CDD505-2E9C-101B-9397-08002B2CF9AE}" pid="5" name="PTEX.Fullbanner">
    <vt:lpwstr>This is pdfTeX, Version 3.141592653-2.6-1.40.26 (TeX Live 2024) kpathsea version 6.4.0</vt:lpwstr>
  </property>
  <property fmtid="{D5CDD505-2E9C-101B-9397-08002B2CF9AE}" pid="6" name="Producer">
    <vt:lpwstr>pdfTeX-1.40.26</vt:lpwstr>
  </property>
  <property fmtid="{D5CDD505-2E9C-101B-9397-08002B2CF9AE}" pid="7" name="ContentTypeId">
    <vt:lpwstr>0x0101003579731EF4AC17418DD61BA71806550D</vt:lpwstr>
  </property>
</Properties>
</file>